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19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58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ED9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81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操作教學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6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8.png"/><Relationship Id="rId10" Type="http://schemas.openxmlformats.org/officeDocument/2006/relationships/image" Target="../media/image24.svg"/><Relationship Id="rId4" Type="http://schemas.openxmlformats.org/officeDocument/2006/relationships/image" Target="../media/image19.svg"/><Relationship Id="rId9" Type="http://schemas.openxmlformats.org/officeDocument/2006/relationships/image" Target="../media/image6.png"/><Relationship Id="rId1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10.png"/><Relationship Id="rId10" Type="http://schemas.openxmlformats.org/officeDocument/2006/relationships/image" Target="../media/image40.svg"/><Relationship Id="rId4" Type="http://schemas.openxmlformats.org/officeDocument/2006/relationships/image" Target="../media/image35.sv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7.svg"/><Relationship Id="rId4" Type="http://schemas.openxmlformats.org/officeDocument/2006/relationships/image" Target="../media/image28.sv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16.png"/><Relationship Id="rId18" Type="http://schemas.openxmlformats.org/officeDocument/2006/relationships/image" Target="../media/image58.svg"/><Relationship Id="rId3" Type="http://schemas.openxmlformats.org/officeDocument/2006/relationships/image" Target="../media/image30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53.png"/><Relationship Id="rId5" Type="http://schemas.openxmlformats.org/officeDocument/2006/relationships/image" Target="../media/image8.png"/><Relationship Id="rId15" Type="http://schemas.openxmlformats.org/officeDocument/2006/relationships/image" Target="../media/image56.png"/><Relationship Id="rId10" Type="http://schemas.openxmlformats.org/officeDocument/2006/relationships/image" Target="../media/image52.svg"/><Relationship Id="rId4" Type="http://schemas.openxmlformats.org/officeDocument/2006/relationships/image" Target="../media/image48.svg"/><Relationship Id="rId9" Type="http://schemas.openxmlformats.org/officeDocument/2006/relationships/image" Target="../media/image51.png"/><Relationship Id="rId14" Type="http://schemas.openxmlformats.org/officeDocument/2006/relationships/image" Target="../media/image5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3" Type="http://schemas.openxmlformats.org/officeDocument/2006/relationships/image" Target="../media/image14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svg"/><Relationship Id="rId4" Type="http://schemas.openxmlformats.org/officeDocument/2006/relationships/image" Target="../media/image15.svg"/><Relationship Id="rId9" Type="http://schemas.openxmlformats.org/officeDocument/2006/relationships/image" Target="../media/image63.png"/><Relationship Id="rId14" Type="http://schemas.openxmlformats.org/officeDocument/2006/relationships/image" Target="../media/image6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39.png"/><Relationship Id="rId3" Type="http://schemas.openxmlformats.org/officeDocument/2006/relationships/image" Target="../media/image43.png"/><Relationship Id="rId7" Type="http://schemas.openxmlformats.org/officeDocument/2006/relationships/image" Target="../media/image8.png"/><Relationship Id="rId12" Type="http://schemas.openxmlformats.org/officeDocument/2006/relationships/image" Target="../media/image7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65.png"/><Relationship Id="rId5" Type="http://schemas.openxmlformats.org/officeDocument/2006/relationships/image" Target="../media/image14.png"/><Relationship Id="rId10" Type="http://schemas.openxmlformats.org/officeDocument/2006/relationships/image" Target="../media/image48.svg"/><Relationship Id="rId4" Type="http://schemas.openxmlformats.org/officeDocument/2006/relationships/image" Target="../media/image58.svg"/><Relationship Id="rId9" Type="http://schemas.openxmlformats.org/officeDocument/2006/relationships/image" Target="../media/image30.png"/><Relationship Id="rId1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7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0.png"/><Relationship Id="rId4" Type="http://schemas.openxmlformats.org/officeDocument/2006/relationships/image" Target="../media/image7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77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11" Type="http://schemas.openxmlformats.org/officeDocument/2006/relationships/image" Target="../media/image37.png"/><Relationship Id="rId5" Type="http://schemas.openxmlformats.org/officeDocument/2006/relationships/image" Target="../media/image25.png"/><Relationship Id="rId10" Type="http://schemas.openxmlformats.org/officeDocument/2006/relationships/image" Target="../media/image42.svg"/><Relationship Id="rId4" Type="http://schemas.openxmlformats.org/officeDocument/2006/relationships/image" Target="../media/image75.svg"/><Relationship Id="rId9" Type="http://schemas.openxmlformats.org/officeDocument/2006/relationships/image" Target="../media/image41.png"/><Relationship Id="rId14" Type="http://schemas.openxmlformats.org/officeDocument/2006/relationships/image" Target="../media/image7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143000"/>
            <a:ext cx="960120" cy="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768096"/>
            <a:ext cx="1005840" cy="603504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371600"/>
            <a:ext cx="1005840" cy="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914400"/>
            <a:ext cx="411480" cy="105156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371600"/>
            <a:ext cx="1417320" cy="59436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1371600"/>
            <a:ext cx="0" cy="64008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011680"/>
            <a:ext cx="1188720" cy="36576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2377440"/>
            <a:ext cx="1143000" cy="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2520" y="2011680"/>
            <a:ext cx="0" cy="73152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2743200"/>
            <a:ext cx="1325880" cy="59436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32520" y="2011680"/>
            <a:ext cx="502920" cy="132588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5440" y="3337560"/>
            <a:ext cx="1188720" cy="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3108960"/>
            <a:ext cx="640080" cy="86868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3977640"/>
            <a:ext cx="0" cy="50292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3108960"/>
            <a:ext cx="0" cy="137160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3337560"/>
            <a:ext cx="0" cy="82296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4160520"/>
            <a:ext cx="0" cy="64008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4800600"/>
            <a:ext cx="1325880" cy="50292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160520"/>
            <a:ext cx="457200" cy="114300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5303520"/>
            <a:ext cx="1280160" cy="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166360"/>
            <a:ext cx="914400" cy="45720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4480560"/>
            <a:ext cx="411480" cy="685800"/>
          </a:xfrm>
          <a:prstGeom prst="line">
            <a:avLst/>
          </a:prstGeom>
          <a:noFill/>
          <a:ln w="19050">
            <a:solidFill>
              <a:srgbClr val="6A717A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7928" y="694944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73768" y="129844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79608" y="84124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91088" y="1892808"/>
            <a:ext cx="146304" cy="14630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48088" y="230428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193852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36408" y="267004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62288" y="3264408"/>
            <a:ext cx="146304" cy="14630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51008" y="303580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91088" y="390448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440740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087368"/>
            <a:ext cx="146304" cy="14630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62088" y="472744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87968" y="523036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68128" y="5093208"/>
            <a:ext cx="146304" cy="146304"/>
          </a:xfrm>
          <a:prstGeom prst="ellipse">
            <a:avLst/>
          </a:prstGeom>
          <a:solidFill>
            <a:srgbClr val="9CA3AA"/>
          </a:solidFill>
          <a:ln w="12700">
            <a:solidFill>
              <a:srgbClr val="9CA3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82528" y="5550408"/>
            <a:ext cx="146304" cy="14630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73152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3A3F46"/>
          </a:solidFill>
          <a:ln w="12700">
            <a:solidFill>
              <a:srgbClr val="3A3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78638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AUTOMATION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13232" y="141732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操作教學</a:t>
            </a:r>
            <a:endParaRPr lang="en-US" sz="3900" dirty="0"/>
          </a:p>
        </p:txBody>
      </p:sp>
      <p:sp>
        <p:nvSpPr>
          <p:cNvPr id="44" name="Text 42"/>
          <p:cNvSpPr/>
          <p:nvPr/>
        </p:nvSpPr>
        <p:spPr>
          <a:xfrm>
            <a:off x="749808" y="230428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DD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從基本操作、資料流到常用 Node，一次建立可實作的工作流概念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49808" y="3090672"/>
            <a:ext cx="5166360" cy="0"/>
          </a:xfrm>
          <a:prstGeom prst="line">
            <a:avLst/>
          </a:prstGeom>
          <a:noFill/>
          <a:ln w="31750">
            <a:solidFill>
              <a:srgbClr val="FF6D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3355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0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適合：初次使用 n8n／需要快速上手自動化流程的使用者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49808" y="5989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CA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操作教學簡報｜2026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先理解 n8n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今天會學到什麼？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先建立 workflow 的基本心智模型，再熟悉最常用的節點。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49808" y="1572768"/>
            <a:ext cx="102870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D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2821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27632" y="1691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與 Workflow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17099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流程、Node、Trigger、Execution</a:t>
            </a:r>
            <a:endParaRPr lang="en-US" sz="11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1320" y="1783080"/>
            <a:ext cx="146304" cy="1463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9808" y="2414016"/>
            <a:ext cx="102870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D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569464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27632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69080" y="25511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 Node、連線、測試、發佈</a:t>
            </a:r>
            <a:endParaRPr lang="en-US" sz="114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1320" y="2624328"/>
            <a:ext cx="146304" cy="1463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49808" y="3255264"/>
            <a:ext cx="102870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DE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0120" y="341071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627632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資料與 Expression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069080" y="339242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 Input / Output 與資料引用</a:t>
            </a:r>
            <a:endParaRPr lang="en-US" sz="114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1320" y="3465576"/>
            <a:ext cx="146304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9808" y="4096512"/>
            <a:ext cx="10287000" cy="621792"/>
          </a:xfrm>
          <a:prstGeom prst="roundRect">
            <a:avLst>
              <a:gd name="adj" fmla="val 10294"/>
            </a:avLst>
          </a:prstGeom>
          <a:solidFill>
            <a:srgbClr val="FFF0EC"/>
          </a:solidFill>
          <a:ln w="12700">
            <a:solidFill>
              <a:srgbClr val="FFB4A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60120" y="4251960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627632" y="4215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 Node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069080" y="42336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觸發、判斷、轉換、API、通知、資料庫</a:t>
            </a:r>
            <a:endParaRPr lang="en-US" sz="114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1320" y="4306824"/>
            <a:ext cx="146304" cy="14630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49808" y="4937760"/>
            <a:ext cx="102870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DE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60120" y="5093208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627632" y="5056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實作與除錯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069080" y="50749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從小流程開始，找到錯誤並重跑</a:t>
            </a:r>
            <a:endParaRPr lang="en-US" sz="114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1320" y="5148072"/>
            <a:ext cx="146304" cy="146304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先理解 n8n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是什麼？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把「事件 → 資料處理 → 判斷 → 系統動作」組成可視化自動化流程。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20116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blurRad="22860" dist="889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22128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88" y="2318004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Trigger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36192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什麼時候開始？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3063240" y="2057400"/>
            <a:ext cx="20116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blurRad="290322000" dist="11290300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22128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7268" y="2318004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76472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776472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取得或處理資料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5303520" y="2057400"/>
            <a:ext cx="20116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22392" y="22128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7A67C7"/>
          </a:solidFill>
          <a:ln w="12700">
            <a:solidFill>
              <a:srgbClr val="7A67C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7548" y="2318004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16752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Logic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016752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判斷、分流、合併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7543800" y="2057400"/>
            <a:ext cx="201168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62672" y="22128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7828" y="2318004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57032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257032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通知、寫入、呼叫 API</a:t>
            </a:r>
            <a:endParaRPr lang="en-US" sz="940" dirty="0"/>
          </a:p>
        </p:txBody>
      </p:sp>
      <p:sp>
        <p:nvSpPr>
          <p:cNvPr id="27" name="Shape 21"/>
          <p:cNvSpPr/>
          <p:nvPr/>
        </p:nvSpPr>
        <p:spPr>
          <a:xfrm>
            <a:off x="2834640" y="2532888"/>
            <a:ext cx="22860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074920" y="2532888"/>
            <a:ext cx="22860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315200" y="2532888"/>
            <a:ext cx="22860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829800" y="1691640"/>
            <a:ext cx="1508760" cy="1627632"/>
          </a:xfrm>
          <a:prstGeom prst="roundRect">
            <a:avLst>
              <a:gd name="adj" fmla="val 4848"/>
            </a:avLst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058400" y="1874520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10058400" y="2212848"/>
            <a:ext cx="1051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多個 Node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串成一個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自動化流程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22960" y="406908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7552" y="4242816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89888" y="4233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低程式碼，但不是「零邏輯」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87552" y="4654296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多數操作用節點設定完成；複雜資料轉換可用 Expression 或 Code。</a:t>
            </a:r>
            <a:endParaRPr lang="en-US" sz="1120" dirty="0"/>
          </a:p>
        </p:txBody>
      </p:sp>
      <p:sp>
        <p:nvSpPr>
          <p:cNvPr id="37" name="Shape 30"/>
          <p:cNvSpPr/>
          <p:nvPr/>
        </p:nvSpPr>
        <p:spPr>
          <a:xfrm>
            <a:off x="4343400" y="406908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07992" y="4242816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910328" y="4233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串接系統與 API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4507992" y="4654296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內建整合不夠時，可用 HTTP Request 直接呼叫 REST API。</a:t>
            </a:r>
            <a:endParaRPr lang="en-US" sz="1120" dirty="0"/>
          </a:p>
        </p:txBody>
      </p:sp>
      <p:sp>
        <p:nvSpPr>
          <p:cNvPr id="41" name="Shape 33"/>
          <p:cNvSpPr/>
          <p:nvPr/>
        </p:nvSpPr>
        <p:spPr>
          <a:xfrm>
            <a:off x="7863840" y="406908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28432" y="4242816"/>
            <a:ext cx="310896" cy="31089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430768" y="4233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適合重複與規則型工作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8028432" y="4654296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排程、資料同步、通知、ETL、API 串接與 AI 流程都很常見。</a:t>
            </a:r>
            <a:endParaRPr lang="en-US" sz="1120" dirty="0"/>
          </a:p>
        </p:txBody>
      </p:sp>
      <p:sp>
        <p:nvSpPr>
          <p:cNvPr id="45" name="Text 36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Welcome / Create and run workflows</a:t>
            </a:r>
            <a:endParaRPr lang="en-US" sz="68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Editor：先認識 5 個操作區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實際使用時，大多數時間都在 Canvas、Node 設定與 Input/Output 之間切換。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8001000" cy="4553712"/>
          </a:xfrm>
          <a:prstGeom prst="roundRect">
            <a:avLst>
              <a:gd name="adj" fmla="val 1606"/>
            </a:avLst>
          </a:prstGeom>
          <a:solidFill>
            <a:srgbClr val="F1EFEC"/>
          </a:solidFill>
          <a:ln w="13970">
            <a:solidFill>
              <a:srgbClr val="D7D1C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17320"/>
            <a:ext cx="80010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453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My workflow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3800" y="1490472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1545336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Publish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13232" y="1856232"/>
            <a:ext cx="493776" cy="4114800"/>
          </a:xfrm>
          <a:prstGeom prst="rect">
            <a:avLst/>
          </a:prstGeom>
          <a:solidFill>
            <a:srgbClr val="282C32"/>
          </a:solidFill>
          <a:ln w="12700">
            <a:solidFill>
              <a:srgbClr val="282C3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536" y="2139696"/>
            <a:ext cx="182880" cy="18288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536" y="2852928"/>
            <a:ext cx="182880" cy="18288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9536" y="3566160"/>
            <a:ext cx="182880" cy="18288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9536" y="4279392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600200" y="2852928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1719072" y="300837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24228" y="3113532"/>
            <a:ext cx="265176" cy="2651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313432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Trigger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2313432" y="3300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測試流程</a:t>
            </a:r>
            <a:endParaRPr lang="en-US" sz="940" dirty="0"/>
          </a:p>
        </p:txBody>
      </p:sp>
      <p:sp>
        <p:nvSpPr>
          <p:cNvPr id="22" name="Shape 15"/>
          <p:cNvSpPr/>
          <p:nvPr/>
        </p:nvSpPr>
        <p:spPr>
          <a:xfrm>
            <a:off x="3703320" y="2852928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822192" y="300837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7348" y="3113532"/>
            <a:ext cx="265176" cy="26517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416552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416552" y="3300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呼叫 API</a:t>
            </a:r>
            <a:endParaRPr lang="en-US" sz="940" dirty="0"/>
          </a:p>
        </p:txBody>
      </p:sp>
      <p:sp>
        <p:nvSpPr>
          <p:cNvPr id="27" name="Shape 19"/>
          <p:cNvSpPr/>
          <p:nvPr/>
        </p:nvSpPr>
        <p:spPr>
          <a:xfrm>
            <a:off x="5806440" y="2852928"/>
            <a:ext cx="16002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925312" y="300837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7A67C7"/>
          </a:solidFill>
          <a:ln w="12700">
            <a:solidFill>
              <a:srgbClr val="7A67C7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30468" y="3113532"/>
            <a:ext cx="265176" cy="26517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519672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6519672" y="3300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條件分流</a:t>
            </a:r>
            <a:endParaRPr lang="en-US" sz="940" dirty="0"/>
          </a:p>
        </p:txBody>
      </p:sp>
      <p:sp>
        <p:nvSpPr>
          <p:cNvPr id="32" name="Shape 23"/>
          <p:cNvSpPr/>
          <p:nvPr/>
        </p:nvSpPr>
        <p:spPr>
          <a:xfrm>
            <a:off x="3200400" y="3273552"/>
            <a:ext cx="5029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5303520" y="3273552"/>
            <a:ext cx="5029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2487168" y="4681728"/>
            <a:ext cx="3154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D6CF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97480" y="4828032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971800" y="4773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Execute workflow / Execute step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9162288" y="1527048"/>
            <a:ext cx="329184" cy="329184"/>
          </a:xfrm>
          <a:prstGeom prst="ellipse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9162288" y="159105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964692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 Node</a:t>
            </a:r>
            <a:endParaRPr lang="en-US" sz="1230" dirty="0"/>
          </a:p>
        </p:txBody>
      </p:sp>
      <p:sp>
        <p:nvSpPr>
          <p:cNvPr id="40" name="Text 30"/>
          <p:cNvSpPr/>
          <p:nvPr/>
        </p:nvSpPr>
        <p:spPr>
          <a:xfrm>
            <a:off x="9646920" y="18013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點「+」搜尋節點</a:t>
            </a:r>
            <a:endParaRPr lang="en-US" sz="960" dirty="0"/>
          </a:p>
        </p:txBody>
      </p:sp>
      <p:sp>
        <p:nvSpPr>
          <p:cNvPr id="41" name="Shape 31"/>
          <p:cNvSpPr/>
          <p:nvPr/>
        </p:nvSpPr>
        <p:spPr>
          <a:xfrm>
            <a:off x="9162288" y="2377440"/>
            <a:ext cx="329184" cy="329184"/>
          </a:xfrm>
          <a:prstGeom prst="ellipse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9162288" y="244144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850" dirty="0"/>
          </a:p>
        </p:txBody>
      </p:sp>
      <p:sp>
        <p:nvSpPr>
          <p:cNvPr id="43" name="Text 33"/>
          <p:cNvSpPr/>
          <p:nvPr/>
        </p:nvSpPr>
        <p:spPr>
          <a:xfrm>
            <a:off x="9646920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設定參數</a:t>
            </a:r>
            <a:endParaRPr lang="en-US" sz="1230" dirty="0"/>
          </a:p>
        </p:txBody>
      </p:sp>
      <p:sp>
        <p:nvSpPr>
          <p:cNvPr id="44" name="Text 34"/>
          <p:cNvSpPr/>
          <p:nvPr/>
        </p:nvSpPr>
        <p:spPr>
          <a:xfrm>
            <a:off x="9646920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填寫 Operation、欄位或 Credential</a:t>
            </a:r>
            <a:endParaRPr lang="en-US" sz="960" dirty="0"/>
          </a:p>
        </p:txBody>
      </p:sp>
      <p:sp>
        <p:nvSpPr>
          <p:cNvPr id="45" name="Shape 35"/>
          <p:cNvSpPr/>
          <p:nvPr/>
        </p:nvSpPr>
        <p:spPr>
          <a:xfrm>
            <a:off x="9162288" y="3227832"/>
            <a:ext cx="329184" cy="329184"/>
          </a:xfrm>
          <a:prstGeom prst="ellipse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9162288" y="329184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850" dirty="0"/>
          </a:p>
        </p:txBody>
      </p:sp>
      <p:sp>
        <p:nvSpPr>
          <p:cNvPr id="47" name="Text 37"/>
          <p:cNvSpPr/>
          <p:nvPr/>
        </p:nvSpPr>
        <p:spPr>
          <a:xfrm>
            <a:off x="9646920" y="32095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連接流程</a:t>
            </a:r>
            <a:endParaRPr lang="en-US" sz="1230" dirty="0"/>
          </a:p>
        </p:txBody>
      </p:sp>
      <p:sp>
        <p:nvSpPr>
          <p:cNvPr id="48" name="Text 38"/>
          <p:cNvSpPr/>
          <p:nvPr/>
        </p:nvSpPr>
        <p:spPr>
          <a:xfrm>
            <a:off x="9646920" y="35021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拖拉節點端點建立資料流</a:t>
            </a:r>
            <a:endParaRPr lang="en-US" sz="960" dirty="0"/>
          </a:p>
        </p:txBody>
      </p:sp>
      <p:sp>
        <p:nvSpPr>
          <p:cNvPr id="49" name="Shape 39"/>
          <p:cNvSpPr/>
          <p:nvPr/>
        </p:nvSpPr>
        <p:spPr>
          <a:xfrm>
            <a:off x="9162288" y="4078224"/>
            <a:ext cx="329184" cy="329184"/>
          </a:xfrm>
          <a:prstGeom prst="ellipse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9162288" y="414223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Text 41"/>
          <p:cNvSpPr/>
          <p:nvPr/>
        </p:nvSpPr>
        <p:spPr>
          <a:xfrm>
            <a:off x="9646920" y="40599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</a:t>
            </a:r>
            <a:endParaRPr lang="en-US" sz="1230" dirty="0"/>
          </a:p>
        </p:txBody>
      </p:sp>
      <p:sp>
        <p:nvSpPr>
          <p:cNvPr id="52" name="Text 42"/>
          <p:cNvSpPr/>
          <p:nvPr/>
        </p:nvSpPr>
        <p:spPr>
          <a:xfrm>
            <a:off x="9646920" y="43525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執行單一 Node 或整個 Workflow</a:t>
            </a:r>
            <a:endParaRPr lang="en-US" sz="960" dirty="0"/>
          </a:p>
        </p:txBody>
      </p:sp>
      <p:sp>
        <p:nvSpPr>
          <p:cNvPr id="53" name="Shape 43"/>
          <p:cNvSpPr/>
          <p:nvPr/>
        </p:nvSpPr>
        <p:spPr>
          <a:xfrm>
            <a:off x="9162288" y="4928616"/>
            <a:ext cx="329184" cy="329184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9162288" y="49926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850" dirty="0"/>
          </a:p>
        </p:txBody>
      </p:sp>
      <p:sp>
        <p:nvSpPr>
          <p:cNvPr id="55" name="Text 45"/>
          <p:cNvSpPr/>
          <p:nvPr/>
        </p:nvSpPr>
        <p:spPr>
          <a:xfrm>
            <a:off x="9646920" y="4910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發佈</a:t>
            </a:r>
            <a:endParaRPr lang="en-US" sz="1230" dirty="0"/>
          </a:p>
        </p:txBody>
      </p:sp>
      <p:sp>
        <p:nvSpPr>
          <p:cNvPr id="56" name="Text 46"/>
          <p:cNvSpPr/>
          <p:nvPr/>
        </p:nvSpPr>
        <p:spPr>
          <a:xfrm>
            <a:off x="9646920" y="5202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確認沒問題後啟用正式流程</a:t>
            </a:r>
            <a:endParaRPr lang="en-US" sz="960" dirty="0"/>
          </a:p>
        </p:txBody>
      </p:sp>
      <p:sp>
        <p:nvSpPr>
          <p:cNvPr id="57" name="Text 47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Create and run workflows / Save and publish workflows</a:t>
            </a:r>
            <a:endParaRPr lang="en-US" sz="68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看懂資料：Input / Output / Item / Expression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的資料會一個 Node 接一個 Node 往下傳；Expression 用來引用前面節點的值。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 Node 都在處理「Items」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1965960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212848"/>
            <a:ext cx="352044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"json":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"name": "Wendy",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"status": "OK",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"count": 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5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22192" y="1673352"/>
            <a:ext cx="621792" cy="310896"/>
          </a:xfrm>
          <a:prstGeom prst="roundRect">
            <a:avLst>
              <a:gd name="adj" fmla="val 23529"/>
            </a:avLst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17282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8E0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item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285232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Expression：把上一個 Node 的值帶進來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85232" y="1965960"/>
            <a:ext cx="5669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4C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04688" y="21854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Subject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5352" y="2084832"/>
            <a:ext cx="4315968" cy="4572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12700">
            <a:solidFill>
              <a:srgbClr val="D8D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221992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FF6D5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服務狀態：{{ $json.status }}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285232" y="3246120"/>
            <a:ext cx="5669280" cy="1481328"/>
          </a:xfrm>
          <a:prstGeom prst="roundRect">
            <a:avLst>
              <a:gd name="adj" fmla="val 4545"/>
            </a:avLst>
          </a:prstGeom>
          <a:solidFill>
            <a:srgbClr val="FFF0EC"/>
          </a:solidFill>
          <a:ln w="12700">
            <a:solidFill>
              <a:srgbClr val="FFB4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快速技巧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840480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75818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可直接從 INPUT 面板拖欄位到參數欄位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5486400" y="4105656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402336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拖拉後 n8n 會自動產生 Expression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486400" y="4370832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42885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要跨多個節點取值，可用節點名稱引用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04672" y="489204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5065776"/>
            <a:ext cx="310896" cy="3108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5056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 Output 再寫 Expression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69264" y="5477256"/>
            <a:ext cx="2825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不知道欄位名稱時，不要猜；先執行上一個 Node。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4160520" y="489204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5112" y="5065776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27448" y="50566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資料轉換 ≠ 資料引用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325112" y="5477256"/>
            <a:ext cx="28254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 Fields / Code 用於改資料；Expression 用於取資料。</a:t>
            </a:r>
            <a:endParaRPr lang="en-US" sz="1120" dirty="0"/>
          </a:p>
        </p:txBody>
      </p:sp>
      <p:sp>
        <p:nvSpPr>
          <p:cNvPr id="33" name="Shape 29"/>
          <p:cNvSpPr/>
          <p:nvPr/>
        </p:nvSpPr>
        <p:spPr>
          <a:xfrm>
            <a:off x="7516368" y="4892040"/>
            <a:ext cx="343814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0960" y="5065776"/>
            <a:ext cx="310896" cy="31089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083296" y="505663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 Item 會一路對應下去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7680960" y="5477256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處理多筆資料時，要留意每個 Item 的對應關係。</a:t>
            </a:r>
            <a:endParaRPr lang="en-US" sz="1120" dirty="0"/>
          </a:p>
        </p:txBody>
      </p:sp>
      <p:sp>
        <p:nvSpPr>
          <p:cNvPr id="37" name="Text 32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Data structure / Referencing data in the UI</a:t>
            </a:r>
            <a:endParaRPr lang="en-US" sz="68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Credential：把帳密與 API 金鑰從流程邏輯分開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需要登入外部服務時，Node 通常會要求選擇或建立 Credential。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1517904"/>
            <a:ext cx="32918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16916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Credential 是什麼？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87552" y="2103120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集中保存 API Key、Basic Auth、OAuth2、資料庫帳密等連線資訊，讓 Workflow 只專注在流程。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343400" y="1517904"/>
            <a:ext cx="32918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992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0328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怎麼使用？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07992" y="2103120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Node 的「Credential to connect with」選擇既有 Credential，或建立新的連線設定。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7863840" y="1517904"/>
            <a:ext cx="32918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8432" y="16916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權限觀念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28432" y="2103120"/>
            <a:ext cx="29626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只給流程真正需要的權限；共用 Workflow 時也要注意 Credential 的共享與可編輯權限。</a:t>
            </a:r>
            <a:endParaRPr lang="en-US" sz="1120" dirty="0"/>
          </a:p>
        </p:txBody>
      </p:sp>
      <p:sp>
        <p:nvSpPr>
          <p:cNvPr id="19" name="Shape 14"/>
          <p:cNvSpPr/>
          <p:nvPr/>
        </p:nvSpPr>
        <p:spPr>
          <a:xfrm>
            <a:off x="822960" y="33832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EEF8F1"/>
          </a:solidFill>
          <a:ln w="12700">
            <a:solidFill>
              <a:srgbClr val="CDE9D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8992" y="36393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1790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建議做法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1078992" y="4160520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243584" y="4078224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Credential 依系統／環境命名清楚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1078992" y="4471416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243584" y="438912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Key 使用最小權限與定期輪替</a:t>
            </a:r>
            <a:endParaRPr lang="en-US" sz="1130" dirty="0"/>
          </a:p>
        </p:txBody>
      </p:sp>
      <p:sp>
        <p:nvSpPr>
          <p:cNvPr id="26" name="Shape 20"/>
          <p:cNvSpPr/>
          <p:nvPr/>
        </p:nvSpPr>
        <p:spPr>
          <a:xfrm>
            <a:off x="1078992" y="4782312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243584" y="470001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正式流程避免把密碼直接寫在 Expression / Code</a:t>
            </a:r>
            <a:endParaRPr lang="en-US" sz="1130" dirty="0"/>
          </a:p>
        </p:txBody>
      </p:sp>
      <p:sp>
        <p:nvSpPr>
          <p:cNvPr id="28" name="Shape 22"/>
          <p:cNvSpPr/>
          <p:nvPr/>
        </p:nvSpPr>
        <p:spPr>
          <a:xfrm>
            <a:off x="6080760" y="33832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1F1"/>
          </a:solidFill>
          <a:ln w="12700">
            <a:solidFill>
              <a:srgbClr val="F3D0D0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6792" y="363931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7570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常見問題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6336792" y="4160520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501384" y="4078224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OAuth Callback URL 不符合外部系統設定</a:t>
            </a:r>
            <a:endParaRPr lang="en-US" sz="1130" dirty="0"/>
          </a:p>
        </p:txBody>
      </p:sp>
      <p:sp>
        <p:nvSpPr>
          <p:cNvPr id="33" name="Shape 26"/>
          <p:cNvSpPr/>
          <p:nvPr/>
        </p:nvSpPr>
        <p:spPr>
          <a:xfrm>
            <a:off x="6336792" y="4471416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501384" y="438912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憑證有權限，但 API Scope 不足</a:t>
            </a:r>
            <a:endParaRPr lang="en-US" sz="1130" dirty="0"/>
          </a:p>
        </p:txBody>
      </p:sp>
      <p:sp>
        <p:nvSpPr>
          <p:cNvPr id="35" name="Shape 28"/>
          <p:cNvSpPr/>
          <p:nvPr/>
        </p:nvSpPr>
        <p:spPr>
          <a:xfrm>
            <a:off x="6336792" y="4782312"/>
            <a:ext cx="82296" cy="82296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501384" y="4700016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測試環境 Credential 被誤用到正式環境</a:t>
            </a:r>
            <a:endParaRPr lang="en-US" sz="1130" dirty="0"/>
          </a:p>
        </p:txBody>
      </p:sp>
      <p:sp>
        <p:nvSpPr>
          <p:cNvPr id="37" name="Text 30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Manage credentials / Workflow sharing</a:t>
            </a:r>
            <a:endParaRPr lang="en-US" sz="68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 Node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Trigger 類：決定 Workflow 何時開始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一個自動化流程通常從 Trigger 開始；選對 Trigger，就決定了流程的啟動方式。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04672" y="1572768"/>
            <a:ext cx="33375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17465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Trigger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9264" y="2157984"/>
            <a:ext cx="300837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用途：開發與測試。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特點：只有手動執行時才會啟動，適合先驗證後面流程是否正確。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416552" y="1572768"/>
            <a:ext cx="33375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1144" y="17465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Trigger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81144" y="2157984"/>
            <a:ext cx="300837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用途：定時工作。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特點：可依固定時間或間隔執行，常見於報表、同步、監控。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8028432" y="1572768"/>
            <a:ext cx="33375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3024" y="17465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1737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Webhook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93024" y="2157984"/>
            <a:ext cx="300837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用途：事件即時觸發。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特點：提供 URL 給外部系統呼叫，收到 HTTP 請求後開始 Workflow。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8229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怎麼選？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4400" y="4443984"/>
            <a:ext cx="9784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15568" y="4544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我要自己按按鈕測試</a:t>
            </a:r>
            <a:endParaRPr lang="en-US" sz="113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0" y="4553712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53328" y="4526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Trigger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14400" y="4946904"/>
            <a:ext cx="9784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15568" y="504748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每天 08:00 自動跑</a:t>
            </a:r>
            <a:endParaRPr lang="en-US" sz="113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0" y="5056632"/>
            <a:ext cx="146304" cy="1463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53328" y="502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Trigger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914400" y="5449824"/>
            <a:ext cx="9784080" cy="365760"/>
          </a:xfrm>
          <a:prstGeom prst="roundRect">
            <a:avLst>
              <a:gd name="adj" fmla="val 10000"/>
            </a:avLst>
          </a:prstGeom>
          <a:solidFill>
            <a:srgbClr val="E8F6F2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115568" y="555040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外部系統有事件就通知 n8n</a:t>
            </a:r>
            <a:endParaRPr lang="en-US" sz="113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0" y="5559552"/>
            <a:ext cx="146304" cy="14630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053328" y="5532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A58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Webhook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9400032" y="5943600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9473184" y="59984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注意時區</a:t>
            </a:r>
            <a:endParaRPr lang="en-US" sz="920" dirty="0"/>
          </a:p>
        </p:txBody>
      </p:sp>
      <p:sp>
        <p:nvSpPr>
          <p:cNvPr id="34" name="Text 26"/>
          <p:cNvSpPr/>
          <p:nvPr/>
        </p:nvSpPr>
        <p:spPr>
          <a:xfrm>
            <a:off x="7315200" y="6016752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Trigger 執行時間與 n8n 時區設定有關。</a:t>
            </a:r>
            <a:endParaRPr lang="en-US" sz="870" dirty="0"/>
          </a:p>
        </p:txBody>
      </p:sp>
      <p:sp>
        <p:nvSpPr>
          <p:cNvPr id="35" name="Text 27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Manual Trigger / Schedule Trigger / Webhook</a:t>
            </a:r>
            <a:endParaRPr lang="en-US" sz="6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 Node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資料處理與流程控制：最常用的「中間節點」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把資料整理好、分流、合併，再交給下一個系統。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167335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136" y="17922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27632" y="1673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 Fields (Set)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3456432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新增／修改／保留需要的欄位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2784" y="1673352"/>
            <a:ext cx="493776" cy="493776"/>
          </a:xfrm>
          <a:prstGeom prst="roundRect">
            <a:avLst>
              <a:gd name="adj" fmla="val 9259"/>
            </a:avLst>
          </a:prstGeom>
          <a:solidFill>
            <a:srgbClr val="7A67C7"/>
          </a:solidFill>
          <a:ln w="12700">
            <a:solidFill>
              <a:srgbClr val="7A67C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1656" y="179222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31152" y="1673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8759952" y="1691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二選一條件：true / false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822960" y="2679192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9264" y="2843784"/>
            <a:ext cx="493776" cy="493776"/>
          </a:xfrm>
          <a:prstGeom prst="roundRect">
            <a:avLst>
              <a:gd name="adj" fmla="val 9259"/>
            </a:avLst>
          </a:prstGeom>
          <a:solidFill>
            <a:srgbClr val="7A67C7"/>
          </a:solidFill>
          <a:ln w="12700">
            <a:solidFill>
              <a:srgbClr val="7A67C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8136" y="29626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27632" y="2843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Switch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3456432" y="2862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多條件、多分支路由</a:t>
            </a:r>
            <a:endParaRPr lang="en-US" sz="970" dirty="0"/>
          </a:p>
        </p:txBody>
      </p:sp>
      <p:sp>
        <p:nvSpPr>
          <p:cNvPr id="22" name="Shape 17"/>
          <p:cNvSpPr/>
          <p:nvPr/>
        </p:nvSpPr>
        <p:spPr>
          <a:xfrm>
            <a:off x="6126480" y="2679192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72784" y="2843784"/>
            <a:ext cx="493776" cy="493776"/>
          </a:xfrm>
          <a:prstGeom prst="roundRect">
            <a:avLst>
              <a:gd name="adj" fmla="val 9259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1656" y="29626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31152" y="2843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Filter</a:t>
            </a:r>
            <a:endParaRPr lang="en-US" sz="1320" dirty="0"/>
          </a:p>
        </p:txBody>
      </p:sp>
      <p:sp>
        <p:nvSpPr>
          <p:cNvPr id="26" name="Text 20"/>
          <p:cNvSpPr/>
          <p:nvPr/>
        </p:nvSpPr>
        <p:spPr>
          <a:xfrm>
            <a:off x="8759952" y="28620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只保留符合條件的 Items</a:t>
            </a:r>
            <a:endParaRPr lang="en-US" sz="970" dirty="0"/>
          </a:p>
        </p:txBody>
      </p:sp>
      <p:sp>
        <p:nvSpPr>
          <p:cNvPr id="27" name="Shape 21"/>
          <p:cNvSpPr/>
          <p:nvPr/>
        </p:nvSpPr>
        <p:spPr>
          <a:xfrm>
            <a:off x="822960" y="3849624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69264" y="401421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136" y="413308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27632" y="40142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Merge</a:t>
            </a:r>
            <a:endParaRPr lang="en-US" sz="1320" dirty="0"/>
          </a:p>
        </p:txBody>
      </p:sp>
      <p:sp>
        <p:nvSpPr>
          <p:cNvPr id="31" name="Text 24"/>
          <p:cNvSpPr/>
          <p:nvPr/>
        </p:nvSpPr>
        <p:spPr>
          <a:xfrm>
            <a:off x="3456432" y="40325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把兩條或多條資料流合併</a:t>
            </a:r>
            <a:endParaRPr lang="en-US" sz="970" dirty="0"/>
          </a:p>
        </p:txBody>
      </p:sp>
      <p:sp>
        <p:nvSpPr>
          <p:cNvPr id="32" name="Shape 25"/>
          <p:cNvSpPr/>
          <p:nvPr/>
        </p:nvSpPr>
        <p:spPr>
          <a:xfrm>
            <a:off x="6126480" y="3849624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72784" y="4014216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91656" y="4133088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31152" y="40142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Loop Over Items</a:t>
            </a:r>
            <a:endParaRPr lang="en-US" sz="1320" dirty="0"/>
          </a:p>
        </p:txBody>
      </p:sp>
      <p:sp>
        <p:nvSpPr>
          <p:cNvPr id="36" name="Text 28"/>
          <p:cNvSpPr/>
          <p:nvPr/>
        </p:nvSpPr>
        <p:spPr>
          <a:xfrm>
            <a:off x="8759952" y="40325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需要分批或逐批處理資料時使用</a:t>
            </a:r>
            <a:endParaRPr lang="en-US" sz="970" dirty="0"/>
          </a:p>
        </p:txBody>
      </p:sp>
      <p:sp>
        <p:nvSpPr>
          <p:cNvPr id="37" name="Shape 29"/>
          <p:cNvSpPr/>
          <p:nvPr/>
        </p:nvSpPr>
        <p:spPr>
          <a:xfrm>
            <a:off x="822960" y="5020056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969264" y="518464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8136" y="5303520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627632" y="5184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Code</a:t>
            </a:r>
            <a:endParaRPr lang="en-US" sz="1320" dirty="0"/>
          </a:p>
        </p:txBody>
      </p:sp>
      <p:sp>
        <p:nvSpPr>
          <p:cNvPr id="41" name="Text 32"/>
          <p:cNvSpPr/>
          <p:nvPr/>
        </p:nvSpPr>
        <p:spPr>
          <a:xfrm>
            <a:off x="3456432" y="5202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內建節點做不到時，用 JS / Python 補邏輯</a:t>
            </a:r>
            <a:endParaRPr lang="en-US" sz="970" dirty="0"/>
          </a:p>
        </p:txBody>
      </p:sp>
      <p:sp>
        <p:nvSpPr>
          <p:cNvPr id="42" name="Shape 33"/>
          <p:cNvSpPr/>
          <p:nvPr/>
        </p:nvSpPr>
        <p:spPr>
          <a:xfrm>
            <a:off x="6126480" y="5020056"/>
            <a:ext cx="489204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272784" y="5184648"/>
            <a:ext cx="493776" cy="493776"/>
          </a:xfrm>
          <a:prstGeom prst="roundRect">
            <a:avLst>
              <a:gd name="adj" fmla="val 9259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91656" y="5303520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931152" y="5184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Date &amp; Time / Sort</a:t>
            </a:r>
            <a:endParaRPr lang="en-US" sz="1320" dirty="0"/>
          </a:p>
        </p:txBody>
      </p:sp>
      <p:sp>
        <p:nvSpPr>
          <p:cNvPr id="46" name="Text 36"/>
          <p:cNvSpPr/>
          <p:nvPr/>
        </p:nvSpPr>
        <p:spPr>
          <a:xfrm>
            <a:off x="8759952" y="5202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常用輔助：日期處理、排序與格式整理</a:t>
            </a:r>
            <a:endParaRPr lang="en-US" sz="970" dirty="0"/>
          </a:p>
        </p:txBody>
      </p:sp>
      <p:sp>
        <p:nvSpPr>
          <p:cNvPr id="47" name="Text 37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Edit Fields / If / Merge / Loop Over Items / Code</a:t>
            </a:r>
            <a:endParaRPr lang="en-US" sz="68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 Node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系統整合類：把 n8n 接到你的 API、資料庫與通知工具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實務上最常見的是「讀資料 → 判斷 → 寫入／通知」。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77240" y="1536192"/>
            <a:ext cx="2788920" cy="42519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36192"/>
            <a:ext cx="2788920" cy="49377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91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/ Web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235915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0472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100584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任何有 API 的系統幾乎都能串</a:t>
            </a:r>
            <a:endParaRPr lang="en-US" sz="1010" dirty="0"/>
          </a:p>
        </p:txBody>
      </p:sp>
      <p:sp>
        <p:nvSpPr>
          <p:cNvPr id="13" name="Shape 10"/>
          <p:cNvSpPr/>
          <p:nvPr/>
        </p:nvSpPr>
        <p:spPr>
          <a:xfrm>
            <a:off x="1005840" y="3529584"/>
            <a:ext cx="2331720" cy="0"/>
          </a:xfrm>
          <a:prstGeom prst="line">
            <a:avLst/>
          </a:prstGeom>
          <a:noFill/>
          <a:ln w="12700">
            <a:solidFill>
              <a:srgbClr val="EAE5E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38679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90472" y="3849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Webhook</a:t>
            </a:r>
            <a:endParaRPr lang="en-US" sz="1260" dirty="0"/>
          </a:p>
        </p:txBody>
      </p:sp>
      <p:sp>
        <p:nvSpPr>
          <p:cNvPr id="16" name="Text 12"/>
          <p:cNvSpPr/>
          <p:nvPr/>
        </p:nvSpPr>
        <p:spPr>
          <a:xfrm>
            <a:off x="1005840" y="4343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讓外部系統主動推事件進來</a:t>
            </a:r>
            <a:endParaRPr lang="en-US" sz="1010" dirty="0"/>
          </a:p>
        </p:txBody>
      </p:sp>
      <p:sp>
        <p:nvSpPr>
          <p:cNvPr id="17" name="Shape 13"/>
          <p:cNvSpPr/>
          <p:nvPr/>
        </p:nvSpPr>
        <p:spPr>
          <a:xfrm>
            <a:off x="3886200" y="1536192"/>
            <a:ext cx="2788920" cy="42519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86200" y="1536192"/>
            <a:ext cx="2788920" cy="493776"/>
          </a:xfrm>
          <a:prstGeom prst="rect">
            <a:avLst/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050792" y="1691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4800" y="235915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99432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Postgres / MySQL / MSSQL</a:t>
            </a:r>
            <a:endParaRPr lang="en-US" sz="1260" dirty="0"/>
          </a:p>
        </p:txBody>
      </p:sp>
      <p:sp>
        <p:nvSpPr>
          <p:cNvPr id="22" name="Text 17"/>
          <p:cNvSpPr/>
          <p:nvPr/>
        </p:nvSpPr>
        <p:spPr>
          <a:xfrm>
            <a:off x="411480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查詢、寫入與更新資料庫</a:t>
            </a:r>
            <a:endParaRPr lang="en-US" sz="1010" dirty="0"/>
          </a:p>
        </p:txBody>
      </p:sp>
      <p:sp>
        <p:nvSpPr>
          <p:cNvPr id="23" name="Shape 18"/>
          <p:cNvSpPr/>
          <p:nvPr/>
        </p:nvSpPr>
        <p:spPr>
          <a:xfrm>
            <a:off x="4114800" y="3529584"/>
            <a:ext cx="2331720" cy="0"/>
          </a:xfrm>
          <a:prstGeom prst="line">
            <a:avLst/>
          </a:prstGeom>
          <a:noFill/>
          <a:ln w="12700">
            <a:solidFill>
              <a:srgbClr val="EAE5E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4800" y="386791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99432" y="3849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Google Sheets</a:t>
            </a:r>
            <a:endParaRPr lang="en-US" sz="1260" dirty="0"/>
          </a:p>
        </p:txBody>
      </p:sp>
      <p:sp>
        <p:nvSpPr>
          <p:cNvPr id="26" name="Text 20"/>
          <p:cNvSpPr/>
          <p:nvPr/>
        </p:nvSpPr>
        <p:spPr>
          <a:xfrm>
            <a:off x="4114800" y="4343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快速做清單、簡易資料交換</a:t>
            </a:r>
            <a:endParaRPr lang="en-US" sz="1010" dirty="0"/>
          </a:p>
        </p:txBody>
      </p:sp>
      <p:sp>
        <p:nvSpPr>
          <p:cNvPr id="27" name="Shape 21"/>
          <p:cNvSpPr/>
          <p:nvPr/>
        </p:nvSpPr>
        <p:spPr>
          <a:xfrm>
            <a:off x="6995160" y="1536192"/>
            <a:ext cx="2788920" cy="42519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995160" y="1536192"/>
            <a:ext cx="2788920" cy="493776"/>
          </a:xfrm>
          <a:prstGeom prst="rect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59752" y="1691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Notify / Apps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760" y="2359152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08392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Gmail / Send Email</a:t>
            </a:r>
            <a:endParaRPr lang="en-US" sz="1260" dirty="0"/>
          </a:p>
        </p:txBody>
      </p:sp>
      <p:sp>
        <p:nvSpPr>
          <p:cNvPr id="32" name="Text 25"/>
          <p:cNvSpPr/>
          <p:nvPr/>
        </p:nvSpPr>
        <p:spPr>
          <a:xfrm>
            <a:off x="7223760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寄信、回覆與通知</a:t>
            </a:r>
            <a:endParaRPr lang="en-US" sz="1010" dirty="0"/>
          </a:p>
        </p:txBody>
      </p:sp>
      <p:sp>
        <p:nvSpPr>
          <p:cNvPr id="33" name="Shape 26"/>
          <p:cNvSpPr/>
          <p:nvPr/>
        </p:nvSpPr>
        <p:spPr>
          <a:xfrm>
            <a:off x="7223760" y="3529584"/>
            <a:ext cx="2331720" cy="0"/>
          </a:xfrm>
          <a:prstGeom prst="line">
            <a:avLst/>
          </a:prstGeom>
          <a:noFill/>
          <a:ln w="12700">
            <a:solidFill>
              <a:srgbClr val="EAE5E0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0" y="3867912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708392" y="3849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Slack / Telegram / Teams</a:t>
            </a:r>
            <a:endParaRPr lang="en-US" sz="1260" dirty="0"/>
          </a:p>
        </p:txBody>
      </p:sp>
      <p:sp>
        <p:nvSpPr>
          <p:cNvPr id="36" name="Text 28"/>
          <p:cNvSpPr/>
          <p:nvPr/>
        </p:nvSpPr>
        <p:spPr>
          <a:xfrm>
            <a:off x="7223760" y="4343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把結果送到協作工具</a:t>
            </a:r>
            <a:endParaRPr lang="en-US" sz="1010" dirty="0"/>
          </a:p>
        </p:txBody>
      </p:sp>
      <p:sp>
        <p:nvSpPr>
          <p:cNvPr id="37" name="Shape 29"/>
          <p:cNvSpPr/>
          <p:nvPr/>
        </p:nvSpPr>
        <p:spPr>
          <a:xfrm>
            <a:off x="10040112" y="1536192"/>
            <a:ext cx="1234440" cy="4251960"/>
          </a:xfrm>
          <a:prstGeom prst="roundRect">
            <a:avLst>
              <a:gd name="adj" fmla="val 6667"/>
            </a:avLst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05872" y="1883664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195560" y="25786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 Node 的原則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10186416" y="3218688"/>
            <a:ext cx="9601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有官方整合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先用官方 Node</a:t>
            </a:r>
            <a:endParaRPr lang="en-US" sz="960" dirty="0"/>
          </a:p>
          <a:p>
            <a:pPr marL="0" indent="0" algn="ctr">
              <a:buNone/>
            </a:pP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沒有操作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HTTP Request</a:t>
            </a:r>
            <a:endParaRPr lang="en-US" sz="960" dirty="0"/>
          </a:p>
          <a:p>
            <a:pPr marL="0" indent="0" algn="ctr">
              <a:buNone/>
            </a:pP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複雜轉換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D9DEE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Code</a:t>
            </a:r>
            <a:endParaRPr lang="en-US" sz="960" dirty="0"/>
          </a:p>
        </p:txBody>
      </p:sp>
      <p:sp>
        <p:nvSpPr>
          <p:cNvPr id="41" name="Text 32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Built-in nodes / HTTP Request</a:t>
            </a:r>
            <a:endParaRPr lang="en-US" sz="68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重點操作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Request：最值得先學會的萬用 Node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當內建 Node 不支援某個操作時，HTTP Request 通常是第一個替代方案。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86384" y="1444752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D7D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17007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17099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2494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Method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130552" y="2176272"/>
            <a:ext cx="3456432" cy="411480"/>
          </a:xfrm>
          <a:prstGeom prst="roundRect">
            <a:avLst>
              <a:gd name="adj" fmla="val 6667"/>
            </a:avLst>
          </a:prstGeom>
          <a:solidFill>
            <a:srgbClr val="F8F6F3"/>
          </a:solidFill>
          <a:ln w="12700">
            <a:solidFill>
              <a:srgbClr val="DDD7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04288" y="226771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1051560" y="2889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URL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130552" y="2816352"/>
            <a:ext cx="3456432" cy="411480"/>
          </a:xfrm>
          <a:prstGeom prst="roundRect">
            <a:avLst>
              <a:gd name="adj" fmla="val 6667"/>
            </a:avLst>
          </a:prstGeom>
          <a:solidFill>
            <a:srgbClr val="F8F6F3"/>
          </a:solidFill>
          <a:ln w="12700">
            <a:solidFill>
              <a:srgbClr val="DDD7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04288" y="290779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4472C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https://api.example.com/status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1051560" y="35295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Authentication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2130552" y="3456432"/>
            <a:ext cx="3456432" cy="411480"/>
          </a:xfrm>
          <a:prstGeom prst="roundRect">
            <a:avLst>
              <a:gd name="adj" fmla="val 6667"/>
            </a:avLst>
          </a:prstGeom>
          <a:solidFill>
            <a:srgbClr val="F8F6F3"/>
          </a:solidFill>
          <a:ln w="12700">
            <a:solidFill>
              <a:srgbClr val="DDD7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04288" y="354787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Predefined / Generic / None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1051560" y="41696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Query / Header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2130552" y="4096512"/>
            <a:ext cx="3456432" cy="411480"/>
          </a:xfrm>
          <a:prstGeom prst="roundRect">
            <a:avLst>
              <a:gd name="adj" fmla="val 6667"/>
            </a:avLst>
          </a:prstGeom>
          <a:solidFill>
            <a:srgbClr val="F8F6F3"/>
          </a:solidFill>
          <a:ln w="12700">
            <a:solidFill>
              <a:srgbClr val="DDD7D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04288" y="418795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API 規格設定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1051560" y="480974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Body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2130552" y="4736592"/>
            <a:ext cx="3456432" cy="411480"/>
          </a:xfrm>
          <a:prstGeom prst="roundRect">
            <a:avLst>
              <a:gd name="adj" fmla="val 6667"/>
            </a:avLst>
          </a:prstGeom>
          <a:solidFill>
            <a:srgbClr val="F8F6F3"/>
          </a:solidFill>
          <a:ln w="12700">
            <a:solidFill>
              <a:srgbClr val="DDD7D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04288" y="482803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 PUT 時常用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4251960" y="533095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25112" y="53858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Execute step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473952" y="155448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DBD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6832" y="1709928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17785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7114032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 API 文件</a:t>
            </a:r>
            <a:endParaRPr lang="en-US" sz="1180" dirty="0"/>
          </a:p>
        </p:txBody>
      </p:sp>
      <p:sp>
        <p:nvSpPr>
          <p:cNvPr id="31" name="Text 28"/>
          <p:cNvSpPr/>
          <p:nvPr/>
        </p:nvSpPr>
        <p:spPr>
          <a:xfrm>
            <a:off x="8732520" y="16550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Method、URL、Auth、Header、Body、Response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6473952" y="239572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DBD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656832" y="2551176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56832" y="261975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114032" y="2514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先用固定值測通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8732520" y="24963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不要一開始就塞一堆 Expression</a:t>
            </a:r>
            <a:endParaRPr lang="en-US" sz="910" dirty="0"/>
          </a:p>
        </p:txBody>
      </p:sp>
      <p:sp>
        <p:nvSpPr>
          <p:cNvPr id="37" name="Shape 34"/>
          <p:cNvSpPr/>
          <p:nvPr/>
        </p:nvSpPr>
        <p:spPr>
          <a:xfrm>
            <a:off x="6473952" y="3236976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DBD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656832" y="3392424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56832" y="34610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7114032" y="33558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 Output JSON</a:t>
            </a:r>
            <a:endParaRPr lang="en-US" sz="1180" dirty="0"/>
          </a:p>
        </p:txBody>
      </p:sp>
      <p:sp>
        <p:nvSpPr>
          <p:cNvPr id="41" name="Text 38"/>
          <p:cNvSpPr/>
          <p:nvPr/>
        </p:nvSpPr>
        <p:spPr>
          <a:xfrm>
            <a:off x="873252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找到真正要用的欄位與狀態碼</a:t>
            </a:r>
            <a:endParaRPr lang="en-US" sz="910" dirty="0"/>
          </a:p>
        </p:txBody>
      </p:sp>
      <p:sp>
        <p:nvSpPr>
          <p:cNvPr id="42" name="Shape 39"/>
          <p:cNvSpPr/>
          <p:nvPr/>
        </p:nvSpPr>
        <p:spPr>
          <a:xfrm>
            <a:off x="6473952" y="4078224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DBD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56832" y="4233672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56832" y="43022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760" dirty="0"/>
          </a:p>
        </p:txBody>
      </p:sp>
      <p:sp>
        <p:nvSpPr>
          <p:cNvPr id="45" name="Text 42"/>
          <p:cNvSpPr/>
          <p:nvPr/>
        </p:nvSpPr>
        <p:spPr>
          <a:xfrm>
            <a:off x="7114032" y="4197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再改成動態 Expression</a:t>
            </a:r>
            <a:endParaRPr lang="en-US" sz="1180" dirty="0"/>
          </a:p>
        </p:txBody>
      </p:sp>
      <p:sp>
        <p:nvSpPr>
          <p:cNvPr id="46" name="Text 43"/>
          <p:cNvSpPr/>
          <p:nvPr/>
        </p:nvSpPr>
        <p:spPr>
          <a:xfrm>
            <a:off x="8732520" y="41788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例如 URL、Query、Body 從前一節點帶入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6473952" y="4919472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2F2"/>
          </a:solidFill>
          <a:ln w="12700">
            <a:solidFill>
              <a:srgbClr val="F2CAC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656832" y="5074920"/>
            <a:ext cx="292608" cy="292608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56832" y="51435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760" dirty="0"/>
          </a:p>
        </p:txBody>
      </p:sp>
      <p:sp>
        <p:nvSpPr>
          <p:cNvPr id="50" name="Text 47"/>
          <p:cNvSpPr/>
          <p:nvPr/>
        </p:nvSpPr>
        <p:spPr>
          <a:xfrm>
            <a:off x="7114032" y="5038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補上錯誤處理</a:t>
            </a:r>
            <a:endParaRPr lang="en-US" sz="1180" dirty="0"/>
          </a:p>
        </p:txBody>
      </p:sp>
      <p:sp>
        <p:nvSpPr>
          <p:cNvPr id="51" name="Text 48"/>
          <p:cNvSpPr/>
          <p:nvPr/>
        </p:nvSpPr>
        <p:spPr>
          <a:xfrm>
            <a:off x="8732520" y="50200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Timeout、非 2xx、重試與通知</a:t>
            </a:r>
            <a:endParaRPr lang="en-US" sz="910" dirty="0"/>
          </a:p>
        </p:txBody>
      </p:sp>
      <p:sp>
        <p:nvSpPr>
          <p:cNvPr id="52" name="Text 49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HTTP Request node</a:t>
            </a:r>
            <a:endParaRPr lang="en-US" sz="68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重點操作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實作範例：API 健康檢查 → 異常才寄通知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5 個常用 Node 串出一條完整、容易理解的實務流程。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874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388" y="183337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7592" y="1737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Trigger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07592" y="20208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 5 分鐘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2743200" y="1572768"/>
            <a:ext cx="1874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62072" y="17282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7228" y="183337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1737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56432" y="20208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/health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4892040" y="1572768"/>
            <a:ext cx="1874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10912" y="17282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7A67C7"/>
          </a:solidFill>
          <a:ln w="12700">
            <a:solidFill>
              <a:srgbClr val="7A67C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6068" y="183337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05272" y="1737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605272" y="20208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status == "UP" ?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7040880" y="1572768"/>
            <a:ext cx="1874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59752" y="17282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4908" y="1833372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54112" y="1737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 Fields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754112" y="20208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整理告警內容</a:t>
            </a:r>
            <a:endParaRPr lang="en-US" sz="940" dirty="0"/>
          </a:p>
        </p:txBody>
      </p:sp>
      <p:sp>
        <p:nvSpPr>
          <p:cNvPr id="27" name="Shape 21"/>
          <p:cNvSpPr/>
          <p:nvPr/>
        </p:nvSpPr>
        <p:spPr>
          <a:xfrm>
            <a:off x="9189720" y="1572768"/>
            <a:ext cx="18745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DED9D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308592" y="17282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2CA58D"/>
          </a:solidFill>
          <a:ln w="12700">
            <a:solidFill>
              <a:srgbClr val="2CA58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13748" y="1833372"/>
            <a:ext cx="265176" cy="26517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02952" y="17373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Send Email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902952" y="20208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寄出異常通知</a:t>
            </a:r>
            <a:endParaRPr lang="en-US" sz="940" dirty="0"/>
          </a:p>
        </p:txBody>
      </p:sp>
      <p:sp>
        <p:nvSpPr>
          <p:cNvPr id="32" name="Shape 25"/>
          <p:cNvSpPr/>
          <p:nvPr/>
        </p:nvSpPr>
        <p:spPr>
          <a:xfrm>
            <a:off x="2468880" y="2039112"/>
            <a:ext cx="2743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4617720" y="2039112"/>
            <a:ext cx="2743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6766560" y="2039112"/>
            <a:ext cx="2743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8915400" y="2039112"/>
            <a:ext cx="274320" cy="0"/>
          </a:xfrm>
          <a:prstGeom prst="line">
            <a:avLst/>
          </a:prstGeom>
          <a:noFill/>
          <a:ln w="25400">
            <a:solidFill>
              <a:srgbClr val="B7B0A8"/>
            </a:solidFill>
            <a:prstDash val="solid"/>
            <a:headEnd type="none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5833872" y="2505456"/>
            <a:ext cx="0" cy="914400"/>
          </a:xfrm>
          <a:prstGeom prst="line">
            <a:avLst/>
          </a:prstGeom>
          <a:noFill/>
          <a:ln w="25400">
            <a:solidFill>
              <a:srgbClr val="42A866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5989320" y="263347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EEF8F1"/>
          </a:solidFill>
          <a:ln w="12700">
            <a:solidFill>
              <a:srgbClr val="EEF8F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062472" y="26883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2A8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true</a:t>
            </a:r>
            <a:endParaRPr lang="en-US" sz="920" dirty="0"/>
          </a:p>
        </p:txBody>
      </p:sp>
      <p:sp>
        <p:nvSpPr>
          <p:cNvPr id="39" name="Shape 32"/>
          <p:cNvSpPr/>
          <p:nvPr/>
        </p:nvSpPr>
        <p:spPr>
          <a:xfrm>
            <a:off x="4983480" y="3529584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EF8F1"/>
          </a:solidFill>
          <a:ln w="12700">
            <a:solidFill>
              <a:srgbClr val="CDE9D4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93792" y="3685032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504688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42A8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正常 → 結束</a:t>
            </a:r>
            <a:endParaRPr lang="en-US" sz="1020" dirty="0"/>
          </a:p>
        </p:txBody>
      </p:sp>
      <p:sp>
        <p:nvSpPr>
          <p:cNvPr id="42" name="Shape 34"/>
          <p:cNvSpPr/>
          <p:nvPr/>
        </p:nvSpPr>
        <p:spPr>
          <a:xfrm>
            <a:off x="6588252" y="1591056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661404" y="16459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false</a:t>
            </a:r>
            <a:endParaRPr lang="en-US" sz="920" dirty="0"/>
          </a:p>
        </p:txBody>
      </p:sp>
      <p:sp>
        <p:nvSpPr>
          <p:cNvPr id="44" name="Shape 36"/>
          <p:cNvSpPr/>
          <p:nvPr/>
        </p:nvSpPr>
        <p:spPr>
          <a:xfrm>
            <a:off x="749808" y="4645152"/>
            <a:ext cx="197510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77824" y="48006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Schedule Trigger</a:t>
            </a:r>
            <a:endParaRPr lang="en-US" sz="1080" dirty="0"/>
          </a:p>
        </p:txBody>
      </p:sp>
      <p:sp>
        <p:nvSpPr>
          <p:cNvPr id="46" name="Text 38"/>
          <p:cNvSpPr/>
          <p:nvPr/>
        </p:nvSpPr>
        <p:spPr>
          <a:xfrm>
            <a:off x="877824" y="513892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固定頻率啟動，不需要人工操作</a:t>
            </a:r>
            <a:endParaRPr lang="en-US" sz="890" dirty="0"/>
          </a:p>
        </p:txBody>
      </p:sp>
      <p:sp>
        <p:nvSpPr>
          <p:cNvPr id="47" name="Shape 39"/>
          <p:cNvSpPr/>
          <p:nvPr/>
        </p:nvSpPr>
        <p:spPr>
          <a:xfrm>
            <a:off x="2990088" y="4645152"/>
            <a:ext cx="197510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3118104" y="48006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HTTP Request</a:t>
            </a:r>
            <a:endParaRPr lang="en-US" sz="1080" dirty="0"/>
          </a:p>
        </p:txBody>
      </p:sp>
      <p:sp>
        <p:nvSpPr>
          <p:cNvPr id="49" name="Text 41"/>
          <p:cNvSpPr/>
          <p:nvPr/>
        </p:nvSpPr>
        <p:spPr>
          <a:xfrm>
            <a:off x="3118104" y="513892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 API 回傳，例如 { status: "UP" }</a:t>
            </a:r>
            <a:endParaRPr lang="en-US" sz="890" dirty="0"/>
          </a:p>
        </p:txBody>
      </p:sp>
      <p:sp>
        <p:nvSpPr>
          <p:cNvPr id="50" name="Shape 42"/>
          <p:cNvSpPr/>
          <p:nvPr/>
        </p:nvSpPr>
        <p:spPr>
          <a:xfrm>
            <a:off x="5230368" y="4645152"/>
            <a:ext cx="197510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58384" y="48006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IF</a:t>
            </a:r>
            <a:endParaRPr lang="en-US" sz="1080" dirty="0"/>
          </a:p>
        </p:txBody>
      </p:sp>
      <p:sp>
        <p:nvSpPr>
          <p:cNvPr id="52" name="Text 44"/>
          <p:cNvSpPr/>
          <p:nvPr/>
        </p:nvSpPr>
        <p:spPr>
          <a:xfrm>
            <a:off x="5358384" y="513892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正常直接結束；異常才往通知支線走</a:t>
            </a:r>
            <a:endParaRPr lang="en-US" sz="890" dirty="0"/>
          </a:p>
        </p:txBody>
      </p:sp>
      <p:sp>
        <p:nvSpPr>
          <p:cNvPr id="53" name="Shape 45"/>
          <p:cNvSpPr/>
          <p:nvPr/>
        </p:nvSpPr>
        <p:spPr>
          <a:xfrm>
            <a:off x="7470648" y="4645152"/>
            <a:ext cx="197510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7598664" y="48006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Edit Fields</a:t>
            </a:r>
            <a:endParaRPr lang="en-US" sz="1080" dirty="0"/>
          </a:p>
        </p:txBody>
      </p:sp>
      <p:sp>
        <p:nvSpPr>
          <p:cNvPr id="55" name="Text 47"/>
          <p:cNvSpPr/>
          <p:nvPr/>
        </p:nvSpPr>
        <p:spPr>
          <a:xfrm>
            <a:off x="7598664" y="513892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system、time、message 等通知欄位</a:t>
            </a:r>
            <a:endParaRPr lang="en-US" sz="890" dirty="0"/>
          </a:p>
        </p:txBody>
      </p:sp>
      <p:sp>
        <p:nvSpPr>
          <p:cNvPr id="56" name="Shape 48"/>
          <p:cNvSpPr/>
          <p:nvPr/>
        </p:nvSpPr>
        <p:spPr>
          <a:xfrm>
            <a:off x="9710928" y="4645152"/>
            <a:ext cx="197510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9838944" y="48006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Send Email</a:t>
            </a:r>
            <a:endParaRPr lang="en-US" sz="1080" dirty="0"/>
          </a:p>
        </p:txBody>
      </p:sp>
      <p:sp>
        <p:nvSpPr>
          <p:cNvPr id="58" name="Text 50"/>
          <p:cNvSpPr/>
          <p:nvPr/>
        </p:nvSpPr>
        <p:spPr>
          <a:xfrm>
            <a:off x="9838944" y="5138928"/>
            <a:ext cx="1719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把整理後的內容寄給維運人員</a:t>
            </a:r>
            <a:endParaRPr lang="en-US" sz="89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實作與除錯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除錯：從「哪一個 Node 開始錯」往回找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的優勢之一，是可以看到每個 Node 的 Input / Output 與 Execution 狀態。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04672" y="1572768"/>
            <a:ext cx="3291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17465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看失敗的 Node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9264" y="2157984"/>
            <a:ext cx="2962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先找到紅色錯誤節點，讀 Error Message 與 HTTP / API 回應。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343400" y="1572768"/>
            <a:ext cx="3291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7992" y="17465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0328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回看 Input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07992" y="2157984"/>
            <a:ext cx="2962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確認上一個 Node 是否真的有你預期的欄位、資料型別與筆數。</a:t>
            </a:r>
            <a:endParaRPr lang="en-US" sz="1120" dirty="0"/>
          </a:p>
        </p:txBody>
      </p:sp>
      <p:sp>
        <p:nvSpPr>
          <p:cNvPr id="15" name="Shape 11"/>
          <p:cNvSpPr/>
          <p:nvPr/>
        </p:nvSpPr>
        <p:spPr>
          <a:xfrm>
            <a:off x="7882128" y="1572768"/>
            <a:ext cx="3291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720" y="17465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單步重跑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0" y="2157984"/>
            <a:ext cx="2962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修正後先 Execute step；不要每次都從頭跑完整 Workflow。</a:t>
            </a:r>
            <a:endParaRPr lang="en-US" sz="1120" dirty="0"/>
          </a:p>
        </p:txBody>
      </p:sp>
      <p:sp>
        <p:nvSpPr>
          <p:cNvPr id="19" name="Text 14"/>
          <p:cNvSpPr/>
          <p:nvPr/>
        </p:nvSpPr>
        <p:spPr>
          <a:xfrm>
            <a:off x="82296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常見症狀 → 第一個檢查點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822960" y="3767328"/>
            <a:ext cx="10287000" cy="329184"/>
          </a:xfrm>
          <a:prstGeom prst="roundRect">
            <a:avLst>
              <a:gd name="adj" fmla="val 8333"/>
            </a:avLst>
          </a:prstGeom>
          <a:solidFill>
            <a:srgbClr val="FBFAF8"/>
          </a:solidFill>
          <a:ln w="12700">
            <a:solidFill>
              <a:srgbClr val="E6E0D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24128" y="384962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Expression 顯示 undefined</a:t>
            </a:r>
            <a:endParaRPr lang="en-US" sz="1030" dirty="0"/>
          </a:p>
        </p:txBody>
      </p:sp>
      <p:sp>
        <p:nvSpPr>
          <p:cNvPr id="22" name="Text 17"/>
          <p:cNvSpPr/>
          <p:nvPr/>
        </p:nvSpPr>
        <p:spPr>
          <a:xfrm>
            <a:off x="4297680" y="3849624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上一節點的 Output 欄位名稱／路徑</a:t>
            </a:r>
            <a:endParaRPr lang="en-US" sz="1020" dirty="0"/>
          </a:p>
        </p:txBody>
      </p:sp>
      <p:sp>
        <p:nvSpPr>
          <p:cNvPr id="23" name="Shape 18"/>
          <p:cNvSpPr/>
          <p:nvPr/>
        </p:nvSpPr>
        <p:spPr>
          <a:xfrm>
            <a:off x="822960" y="4187952"/>
            <a:ext cx="10287000" cy="329184"/>
          </a:xfrm>
          <a:prstGeom prst="roundRect">
            <a:avLst>
              <a:gd name="adj" fmla="val 8333"/>
            </a:avLst>
          </a:prstGeom>
          <a:solidFill>
            <a:srgbClr val="F3F0EC"/>
          </a:solidFill>
          <a:ln w="12700">
            <a:solidFill>
              <a:srgbClr val="E6E0D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24128" y="42702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401 / 403</a:t>
            </a:r>
            <a:endParaRPr lang="en-US" sz="1030" dirty="0"/>
          </a:p>
        </p:txBody>
      </p:sp>
      <p:sp>
        <p:nvSpPr>
          <p:cNvPr id="25" name="Text 20"/>
          <p:cNvSpPr/>
          <p:nvPr/>
        </p:nvSpPr>
        <p:spPr>
          <a:xfrm>
            <a:off x="4297680" y="4270248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Credential、Token、Scope、Header</a:t>
            </a:r>
            <a:endParaRPr lang="en-US" sz="1020" dirty="0"/>
          </a:p>
        </p:txBody>
      </p:sp>
      <p:sp>
        <p:nvSpPr>
          <p:cNvPr id="26" name="Shape 21"/>
          <p:cNvSpPr/>
          <p:nvPr/>
        </p:nvSpPr>
        <p:spPr>
          <a:xfrm>
            <a:off x="822960" y="4608576"/>
            <a:ext cx="10287000" cy="329184"/>
          </a:xfrm>
          <a:prstGeom prst="roundRect">
            <a:avLst>
              <a:gd name="adj" fmla="val 8333"/>
            </a:avLst>
          </a:prstGeom>
          <a:solidFill>
            <a:srgbClr val="FBFAF8"/>
          </a:solidFill>
          <a:ln w="12700">
            <a:solidFill>
              <a:srgbClr val="E6E0D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24128" y="469087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時間不對</a:t>
            </a:r>
            <a:endParaRPr lang="en-US" sz="1030" dirty="0"/>
          </a:p>
        </p:txBody>
      </p:sp>
      <p:sp>
        <p:nvSpPr>
          <p:cNvPr id="28" name="Text 23"/>
          <p:cNvSpPr/>
          <p:nvPr/>
        </p:nvSpPr>
        <p:spPr>
          <a:xfrm>
            <a:off x="4297680" y="4690872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/ Instance Timezone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822960" y="5029200"/>
            <a:ext cx="10287000" cy="329184"/>
          </a:xfrm>
          <a:prstGeom prst="roundRect">
            <a:avLst>
              <a:gd name="adj" fmla="val 8333"/>
            </a:avLst>
          </a:prstGeom>
          <a:solidFill>
            <a:srgbClr val="F3F0EC"/>
          </a:solidFill>
          <a:ln w="12700">
            <a:solidFill>
              <a:srgbClr val="E6E0D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24128" y="511149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Webhook 收不到</a:t>
            </a:r>
            <a:endParaRPr lang="en-US" sz="1030" dirty="0"/>
          </a:p>
        </p:txBody>
      </p:sp>
      <p:sp>
        <p:nvSpPr>
          <p:cNvPr id="31" name="Text 26"/>
          <p:cNvSpPr/>
          <p:nvPr/>
        </p:nvSpPr>
        <p:spPr>
          <a:xfrm>
            <a:off x="4297680" y="5111496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URL、HTTP Method、網路／反向代理</a:t>
            </a:r>
            <a:endParaRPr lang="en-US" sz="1020" dirty="0"/>
          </a:p>
        </p:txBody>
      </p:sp>
      <p:sp>
        <p:nvSpPr>
          <p:cNvPr id="32" name="Shape 27"/>
          <p:cNvSpPr/>
          <p:nvPr/>
        </p:nvSpPr>
        <p:spPr>
          <a:xfrm>
            <a:off x="822960" y="5449824"/>
            <a:ext cx="10287000" cy="329184"/>
          </a:xfrm>
          <a:prstGeom prst="roundRect">
            <a:avLst>
              <a:gd name="adj" fmla="val 8333"/>
            </a:avLst>
          </a:prstGeom>
          <a:solidFill>
            <a:srgbClr val="FBFAF8"/>
          </a:solidFill>
          <a:ln w="12700">
            <a:solidFill>
              <a:srgbClr val="E6E0D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24128" y="553212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資料只處理一部分</a:t>
            </a:r>
            <a:endParaRPr lang="en-US" sz="1030" dirty="0"/>
          </a:p>
        </p:txBody>
      </p:sp>
      <p:sp>
        <p:nvSpPr>
          <p:cNvPr id="34" name="Text 29"/>
          <p:cNvSpPr/>
          <p:nvPr/>
        </p:nvSpPr>
        <p:spPr>
          <a:xfrm>
            <a:off x="4297680" y="5532120"/>
            <a:ext cx="6355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Items 數量、Loop / Limit / Pagination</a:t>
            </a:r>
            <a:endParaRPr lang="en-US" sz="1020" dirty="0"/>
          </a:p>
        </p:txBody>
      </p:sp>
      <p:sp>
        <p:nvSpPr>
          <p:cNvPr id="35" name="Shape 30"/>
          <p:cNvSpPr/>
          <p:nvPr/>
        </p:nvSpPr>
        <p:spPr>
          <a:xfrm>
            <a:off x="9738360" y="5961888"/>
            <a:ext cx="1033272" cy="310896"/>
          </a:xfrm>
          <a:prstGeom prst="roundRect">
            <a:avLst>
              <a:gd name="adj" fmla="val 23529"/>
            </a:avLst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811512" y="601675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Executions</a:t>
            </a:r>
            <a:endParaRPr lang="en-US" sz="920" dirty="0"/>
          </a:p>
        </p:txBody>
      </p:sp>
      <p:sp>
        <p:nvSpPr>
          <p:cNvPr id="37" name="Text 32"/>
          <p:cNvSpPr/>
          <p:nvPr/>
        </p:nvSpPr>
        <p:spPr>
          <a:xfrm>
            <a:off x="6172200" y="6016752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執行紀錄可依狀態篩選，也能針對失敗流程重試。</a:t>
            </a:r>
            <a:endParaRPr lang="en-US" sz="880" dirty="0"/>
          </a:p>
        </p:txBody>
      </p:sp>
      <p:sp>
        <p:nvSpPr>
          <p:cNvPr id="38" name="Text 33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All executions / Common issues</a:t>
            </a:r>
            <a:endParaRPr lang="en-US" sz="68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實作與除錯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實務最佳做法：讓 Workflow 之後還看得懂、改得動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「能跑」只是第一步；穩定、可維護、容易除錯才是正式流程的標準。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04672" y="149961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17190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64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Node 改成有意義的名稱</a:t>
            </a:r>
            <a:endParaRPr lang="en-US" sz="1310" dirty="0"/>
          </a:p>
        </p:txBody>
      </p:sp>
      <p:sp>
        <p:nvSpPr>
          <p:cNvPr id="10" name="Text 7"/>
          <p:cNvSpPr/>
          <p:nvPr/>
        </p:nvSpPr>
        <p:spPr>
          <a:xfrm>
            <a:off x="1463040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API Status、Check Failure、Build Alert Message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6126480" y="149961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7648" y="17190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848" y="1664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先小步測試，再接完整流程</a:t>
            </a:r>
            <a:endParaRPr lang="en-US" sz="1310" dirty="0"/>
          </a:p>
        </p:txBody>
      </p:sp>
      <p:sp>
        <p:nvSpPr>
          <p:cNvPr id="14" name="Text 10"/>
          <p:cNvSpPr/>
          <p:nvPr/>
        </p:nvSpPr>
        <p:spPr>
          <a:xfrm>
            <a:off x="6784848" y="2057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每新增 1–2 個 Node 就執行一次確認 Output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804672" y="296265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" y="3182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127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分支清楚，不要拉成蜘蛛網</a:t>
            </a:r>
            <a:endParaRPr lang="en-US" sz="1310" dirty="0"/>
          </a:p>
        </p:txBody>
      </p:sp>
      <p:sp>
        <p:nvSpPr>
          <p:cNvPr id="18" name="Text 13"/>
          <p:cNvSpPr/>
          <p:nvPr/>
        </p:nvSpPr>
        <p:spPr>
          <a:xfrm>
            <a:off x="1463040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複雜流程可拆 Sub-workflow 或明確分段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6126480" y="296265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7648" y="31821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84848" y="31272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錯誤要有出口</a:t>
            </a:r>
            <a:endParaRPr lang="en-US" sz="1310" dirty="0"/>
          </a:p>
        </p:txBody>
      </p:sp>
      <p:sp>
        <p:nvSpPr>
          <p:cNvPr id="22" name="Text 16"/>
          <p:cNvSpPr/>
          <p:nvPr/>
        </p:nvSpPr>
        <p:spPr>
          <a:xfrm>
            <a:off x="6784848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 API 失敗時要通知、記錄或重試</a:t>
            </a:r>
            <a:endParaRPr lang="en-US" sz="970" dirty="0"/>
          </a:p>
        </p:txBody>
      </p:sp>
      <p:sp>
        <p:nvSpPr>
          <p:cNvPr id="23" name="Shape 17"/>
          <p:cNvSpPr/>
          <p:nvPr/>
        </p:nvSpPr>
        <p:spPr>
          <a:xfrm>
            <a:off x="804672" y="442569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5840" y="464515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590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Credential 與環境要分開</a:t>
            </a:r>
            <a:endParaRPr lang="en-US" sz="1310" dirty="0"/>
          </a:p>
        </p:txBody>
      </p:sp>
      <p:sp>
        <p:nvSpPr>
          <p:cNvPr id="26" name="Text 19"/>
          <p:cNvSpPr/>
          <p:nvPr/>
        </p:nvSpPr>
        <p:spPr>
          <a:xfrm>
            <a:off x="1463040" y="4983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DEV / TEST / PROD 不要共用同一組敏感憑證</a:t>
            </a:r>
            <a:endParaRPr lang="en-US" sz="970" dirty="0"/>
          </a:p>
        </p:txBody>
      </p:sp>
      <p:sp>
        <p:nvSpPr>
          <p:cNvPr id="27" name="Shape 20"/>
          <p:cNvSpPr/>
          <p:nvPr/>
        </p:nvSpPr>
        <p:spPr>
          <a:xfrm>
            <a:off x="6126480" y="4425696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DDD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27648" y="464515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84848" y="4590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大量資料要考慮批次與 Pagination</a:t>
            </a:r>
            <a:endParaRPr lang="en-US" sz="1310" dirty="0"/>
          </a:p>
        </p:txBody>
      </p:sp>
      <p:sp>
        <p:nvSpPr>
          <p:cNvPr id="30" name="Text 22"/>
          <p:cNvSpPr/>
          <p:nvPr/>
        </p:nvSpPr>
        <p:spPr>
          <a:xfrm>
            <a:off x="6784848" y="4983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避免一次載入太多資料造成記憶體與 API 壓力</a:t>
            </a:r>
            <a:endParaRPr lang="en-US" sz="97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74352" y="4663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快速複習</a:t>
            </a:r>
            <a:endParaRPr lang="en-US" sz="920" dirty="0"/>
          </a:p>
        </p:txBody>
      </p:sp>
      <p:sp>
        <p:nvSpPr>
          <p:cNvPr id="3" name="Shape 1"/>
          <p:cNvSpPr/>
          <p:nvPr/>
        </p:nvSpPr>
        <p:spPr>
          <a:xfrm>
            <a:off x="10908792" y="4206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81944" y="47548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58368" y="438912"/>
            <a:ext cx="8732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 Node 速查表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7665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不知道該用哪個 Node 時，先從「我要做的動作」反推。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04672" y="1444752"/>
            <a:ext cx="3246120" cy="420624"/>
          </a:xfrm>
          <a:prstGeom prst="rect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727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444752"/>
            <a:ext cx="3246120" cy="420624"/>
          </a:xfrm>
          <a:prstGeom prst="rect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727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 Node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43800" y="1444752"/>
            <a:ext cx="3429000" cy="420624"/>
          </a:xfrm>
          <a:prstGeom prst="rect">
            <a:avLst/>
          </a:prstGeom>
          <a:solidFill>
            <a:srgbClr val="20242A"/>
          </a:solidFill>
          <a:ln w="12700">
            <a:solidFill>
              <a:srgbClr val="2024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57276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類型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1865376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865376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1865376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19476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手動測試流程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4206240" y="19476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Trigger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7680960" y="194767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測試／開發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804672" y="2203704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203704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2203704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2860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固定時間自動執行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4206240" y="22860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Schedule Trigger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7680960" y="228600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804672" y="2542032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2542032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2542032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262432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外部系統推事件進來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4206240" y="262432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Webhook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7680960" y="262432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即時觸發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04672" y="2880360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9080" y="2880360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2880360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296265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呼叫 REST API</a:t>
            </a:r>
            <a:endParaRPr lang="en-US" sz="910" dirty="0"/>
          </a:p>
        </p:txBody>
      </p:sp>
      <p:sp>
        <p:nvSpPr>
          <p:cNvPr id="35" name="Text 33"/>
          <p:cNvSpPr/>
          <p:nvPr/>
        </p:nvSpPr>
        <p:spPr>
          <a:xfrm>
            <a:off x="4206240" y="296265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6D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7680960" y="296265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系統整合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804672" y="3218688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3218688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3218688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33009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新增或整理欄位</a:t>
            </a:r>
            <a:endParaRPr lang="en-US" sz="910" dirty="0"/>
          </a:p>
        </p:txBody>
      </p:sp>
      <p:sp>
        <p:nvSpPr>
          <p:cNvPr id="41" name="Text 39"/>
          <p:cNvSpPr/>
          <p:nvPr/>
        </p:nvSpPr>
        <p:spPr>
          <a:xfrm>
            <a:off x="4206240" y="33009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Edit Fields (Set)</a:t>
            </a:r>
            <a:endParaRPr lang="en-US" sz="910" dirty="0"/>
          </a:p>
        </p:txBody>
      </p:sp>
      <p:sp>
        <p:nvSpPr>
          <p:cNvPr id="42" name="Text 40"/>
          <p:cNvSpPr/>
          <p:nvPr/>
        </p:nvSpPr>
        <p:spPr>
          <a:xfrm>
            <a:off x="7680960" y="330098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資料轉換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804672" y="3557016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9080" y="3557016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3557016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" y="36393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二分支判斷</a:t>
            </a:r>
            <a:endParaRPr lang="en-US" sz="910" dirty="0"/>
          </a:p>
        </p:txBody>
      </p:sp>
      <p:sp>
        <p:nvSpPr>
          <p:cNvPr id="47" name="Text 45"/>
          <p:cNvSpPr/>
          <p:nvPr/>
        </p:nvSpPr>
        <p:spPr>
          <a:xfrm>
            <a:off x="4206240" y="36393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</a:t>
            </a:r>
            <a:endParaRPr lang="en-US" sz="910" dirty="0"/>
          </a:p>
        </p:txBody>
      </p:sp>
      <p:sp>
        <p:nvSpPr>
          <p:cNvPr id="48" name="Text 46"/>
          <p:cNvSpPr/>
          <p:nvPr/>
        </p:nvSpPr>
        <p:spPr>
          <a:xfrm>
            <a:off x="7680960" y="363931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流程控制</a:t>
            </a:r>
            <a:endParaRPr lang="en-US" sz="910" dirty="0"/>
          </a:p>
        </p:txBody>
      </p:sp>
      <p:sp>
        <p:nvSpPr>
          <p:cNvPr id="49" name="Shape 47"/>
          <p:cNvSpPr/>
          <p:nvPr/>
        </p:nvSpPr>
        <p:spPr>
          <a:xfrm>
            <a:off x="804672" y="3895344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69080" y="3895344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3895344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832" y="39776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多分支判斷</a:t>
            </a:r>
            <a:endParaRPr lang="en-US" sz="910" dirty="0"/>
          </a:p>
        </p:txBody>
      </p:sp>
      <p:sp>
        <p:nvSpPr>
          <p:cNvPr id="53" name="Text 51"/>
          <p:cNvSpPr/>
          <p:nvPr/>
        </p:nvSpPr>
        <p:spPr>
          <a:xfrm>
            <a:off x="4206240" y="397764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Switch</a:t>
            </a:r>
            <a:endParaRPr lang="en-US" sz="910" dirty="0"/>
          </a:p>
        </p:txBody>
      </p:sp>
      <p:sp>
        <p:nvSpPr>
          <p:cNvPr id="54" name="Text 52"/>
          <p:cNvSpPr/>
          <p:nvPr/>
        </p:nvSpPr>
        <p:spPr>
          <a:xfrm>
            <a:off x="7680960" y="397764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流程控制</a:t>
            </a:r>
            <a:endParaRPr lang="en-US" sz="910" dirty="0"/>
          </a:p>
        </p:txBody>
      </p:sp>
      <p:sp>
        <p:nvSpPr>
          <p:cNvPr id="55" name="Shape 53"/>
          <p:cNvSpPr/>
          <p:nvPr/>
        </p:nvSpPr>
        <p:spPr>
          <a:xfrm>
            <a:off x="804672" y="4233672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69080" y="4233672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43800" y="4233672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1832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合併多條資料流</a:t>
            </a:r>
            <a:endParaRPr lang="en-US" sz="910" dirty="0"/>
          </a:p>
        </p:txBody>
      </p:sp>
      <p:sp>
        <p:nvSpPr>
          <p:cNvPr id="59" name="Text 57"/>
          <p:cNvSpPr/>
          <p:nvPr/>
        </p:nvSpPr>
        <p:spPr>
          <a:xfrm>
            <a:off x="4206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Merge</a:t>
            </a:r>
            <a:endParaRPr lang="en-US" sz="910" dirty="0"/>
          </a:p>
        </p:txBody>
      </p:sp>
      <p:sp>
        <p:nvSpPr>
          <p:cNvPr id="60" name="Text 58"/>
          <p:cNvSpPr/>
          <p:nvPr/>
        </p:nvSpPr>
        <p:spPr>
          <a:xfrm>
            <a:off x="7680960" y="431596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資料整合</a:t>
            </a:r>
            <a:endParaRPr lang="en-US" sz="910" dirty="0"/>
          </a:p>
        </p:txBody>
      </p:sp>
      <p:sp>
        <p:nvSpPr>
          <p:cNvPr id="61" name="Shape 59"/>
          <p:cNvSpPr/>
          <p:nvPr/>
        </p:nvSpPr>
        <p:spPr>
          <a:xfrm>
            <a:off x="804672" y="4572000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69080" y="4572000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43800" y="4572000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1832" y="46542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分批處理大量資料</a:t>
            </a:r>
            <a:endParaRPr lang="en-US" sz="910" dirty="0"/>
          </a:p>
        </p:txBody>
      </p:sp>
      <p:sp>
        <p:nvSpPr>
          <p:cNvPr id="65" name="Text 63"/>
          <p:cNvSpPr/>
          <p:nvPr/>
        </p:nvSpPr>
        <p:spPr>
          <a:xfrm>
            <a:off x="4206240" y="46542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Loop Over Items</a:t>
            </a:r>
            <a:endParaRPr lang="en-US" sz="910" dirty="0"/>
          </a:p>
        </p:txBody>
      </p:sp>
      <p:sp>
        <p:nvSpPr>
          <p:cNvPr id="66" name="Text 64"/>
          <p:cNvSpPr/>
          <p:nvPr/>
        </p:nvSpPr>
        <p:spPr>
          <a:xfrm>
            <a:off x="7680960" y="46542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批次處理</a:t>
            </a:r>
            <a:endParaRPr lang="en-US" sz="910" dirty="0"/>
          </a:p>
        </p:txBody>
      </p:sp>
      <p:sp>
        <p:nvSpPr>
          <p:cNvPr id="67" name="Shape 65"/>
          <p:cNvSpPr/>
          <p:nvPr/>
        </p:nvSpPr>
        <p:spPr>
          <a:xfrm>
            <a:off x="804672" y="4910328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69080" y="4910328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43800" y="4910328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1832" y="499262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自訂 JS / Python 邏輯</a:t>
            </a:r>
            <a:endParaRPr lang="en-US" sz="910" dirty="0"/>
          </a:p>
        </p:txBody>
      </p:sp>
      <p:sp>
        <p:nvSpPr>
          <p:cNvPr id="71" name="Text 69"/>
          <p:cNvSpPr/>
          <p:nvPr/>
        </p:nvSpPr>
        <p:spPr>
          <a:xfrm>
            <a:off x="4206240" y="499262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Code</a:t>
            </a:r>
            <a:endParaRPr lang="en-US" sz="910" dirty="0"/>
          </a:p>
        </p:txBody>
      </p:sp>
      <p:sp>
        <p:nvSpPr>
          <p:cNvPr id="72" name="Text 70"/>
          <p:cNvSpPr/>
          <p:nvPr/>
        </p:nvSpPr>
        <p:spPr>
          <a:xfrm>
            <a:off x="7680960" y="499262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進階處理</a:t>
            </a:r>
            <a:endParaRPr lang="en-US" sz="910" dirty="0"/>
          </a:p>
        </p:txBody>
      </p:sp>
      <p:sp>
        <p:nvSpPr>
          <p:cNvPr id="73" name="Shape 71"/>
          <p:cNvSpPr/>
          <p:nvPr/>
        </p:nvSpPr>
        <p:spPr>
          <a:xfrm>
            <a:off x="804672" y="5248656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69080" y="5248656"/>
            <a:ext cx="324612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43800" y="5248656"/>
            <a:ext cx="3429000" cy="338328"/>
          </a:xfrm>
          <a:prstGeom prst="rect">
            <a:avLst/>
          </a:prstGeom>
          <a:solidFill>
            <a:srgbClr val="FBFAF8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41832" y="53309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寄信／傳訊息</a:t>
            </a:r>
            <a:endParaRPr lang="en-US" sz="910" dirty="0"/>
          </a:p>
        </p:txBody>
      </p:sp>
      <p:sp>
        <p:nvSpPr>
          <p:cNvPr id="77" name="Text 75"/>
          <p:cNvSpPr/>
          <p:nvPr/>
        </p:nvSpPr>
        <p:spPr>
          <a:xfrm>
            <a:off x="4206240" y="53309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Email / Gmail / Slack…</a:t>
            </a:r>
            <a:endParaRPr lang="en-US" sz="910" dirty="0"/>
          </a:p>
        </p:txBody>
      </p:sp>
      <p:sp>
        <p:nvSpPr>
          <p:cNvPr id="78" name="Text 76"/>
          <p:cNvSpPr/>
          <p:nvPr/>
        </p:nvSpPr>
        <p:spPr>
          <a:xfrm>
            <a:off x="7680960" y="533095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通知</a:t>
            </a:r>
            <a:endParaRPr lang="en-US" sz="910" dirty="0"/>
          </a:p>
        </p:txBody>
      </p:sp>
      <p:sp>
        <p:nvSpPr>
          <p:cNvPr id="79" name="Shape 77"/>
          <p:cNvSpPr/>
          <p:nvPr/>
        </p:nvSpPr>
        <p:spPr>
          <a:xfrm>
            <a:off x="804672" y="5586984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69080" y="5586984"/>
            <a:ext cx="324612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43800" y="5586984"/>
            <a:ext cx="3429000" cy="338328"/>
          </a:xfrm>
          <a:prstGeom prst="rect">
            <a:avLst/>
          </a:prstGeom>
          <a:solidFill>
            <a:srgbClr val="F2EFEB"/>
          </a:solidFill>
          <a:ln w="6350">
            <a:solidFill>
              <a:srgbClr val="E3DD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1832" y="566928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查詢／寫入資料</a:t>
            </a:r>
            <a:endParaRPr lang="en-US" sz="910" dirty="0"/>
          </a:p>
        </p:txBody>
      </p:sp>
      <p:sp>
        <p:nvSpPr>
          <p:cNvPr id="83" name="Text 81"/>
          <p:cNvSpPr/>
          <p:nvPr/>
        </p:nvSpPr>
        <p:spPr>
          <a:xfrm>
            <a:off x="4206240" y="566928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F29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DB Nodes / Sheets</a:t>
            </a:r>
            <a:endParaRPr lang="en-US" sz="910" dirty="0"/>
          </a:p>
        </p:txBody>
      </p:sp>
      <p:sp>
        <p:nvSpPr>
          <p:cNvPr id="84" name="Text 82"/>
          <p:cNvSpPr/>
          <p:nvPr/>
        </p:nvSpPr>
        <p:spPr>
          <a:xfrm>
            <a:off x="7680960" y="566928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B7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資料來源／目的地</a:t>
            </a:r>
            <a:endParaRPr lang="en-US" sz="910" dirty="0"/>
          </a:p>
        </p:txBody>
      </p:sp>
      <p:sp>
        <p:nvSpPr>
          <p:cNvPr id="85" name="Text 83"/>
          <p:cNvSpPr/>
          <p:nvPr/>
        </p:nvSpPr>
        <p:spPr>
          <a:xfrm>
            <a:off x="7543800" y="6556248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i="1" dirty="0">
                <a:solidFill>
                  <a:srgbClr val="A095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來源：n8n Docs — Built-in nodes</a:t>
            </a:r>
            <a:endParaRPr lang="en-US" sz="680" dirty="0"/>
          </a:p>
        </p:txBody>
      </p:sp>
      <p:sp>
        <p:nvSpPr>
          <p:cNvPr id="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8B8178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65836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3A3F46"/>
          </a:solidFill>
          <a:ln w="12700">
            <a:solidFill>
              <a:srgbClr val="3A3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1323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TAKEAWAYS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記住 3 件事，就能開始做 n8n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30353B"/>
          </a:solidFill>
          <a:ln w="12700">
            <a:solidFill>
              <a:srgbClr val="444A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14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459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先確認資料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4780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1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每一步都看 Input / Output，不要猜欄位。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77240" y="3319272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3A3130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502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先用常用 Node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4655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1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Trigger → HTTP Request → IF → Edit Fields → Output。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4306824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30353B"/>
          </a:solidFill>
          <a:ln w="12700">
            <a:solidFill>
              <a:srgbClr val="444A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4897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從小流程累積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453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1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單步測通、命名清楚、再逐步加上錯誤處理。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818120" y="123444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292E34"/>
          </a:solidFill>
          <a:ln w="12700">
            <a:solidFill>
              <a:srgbClr val="444A51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6448" y="1572768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32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官方參考資料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183880" y="2240280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2167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Welcome to n8n Docs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8183880" y="2679192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26060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 and run workflows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8183880" y="3118104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94192" y="3044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structure &amp; data mapping</a:t>
            </a:r>
            <a:endParaRPr lang="en-US" sz="970" dirty="0"/>
          </a:p>
        </p:txBody>
      </p:sp>
      <p:sp>
        <p:nvSpPr>
          <p:cNvPr id="26" name="Shape 23"/>
          <p:cNvSpPr/>
          <p:nvPr/>
        </p:nvSpPr>
        <p:spPr>
          <a:xfrm>
            <a:off x="8183880" y="3557016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94192" y="34838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 / IF / Merge / Code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8183880" y="3995928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3922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/ Schedule / Webhook</a:t>
            </a:r>
            <a:endParaRPr lang="en-US" sz="970" dirty="0"/>
          </a:p>
        </p:txBody>
      </p:sp>
      <p:sp>
        <p:nvSpPr>
          <p:cNvPr id="30" name="Shape 27"/>
          <p:cNvSpPr/>
          <p:nvPr/>
        </p:nvSpPr>
        <p:spPr>
          <a:xfrm>
            <a:off x="8183880" y="4434840"/>
            <a:ext cx="73152" cy="73152"/>
          </a:xfrm>
          <a:prstGeom prst="ellipse">
            <a:avLst/>
          </a:prstGeom>
          <a:solidFill>
            <a:srgbClr val="FF6D5A"/>
          </a:solidFill>
          <a:ln w="12700">
            <a:solidFill>
              <a:srgbClr val="FF6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94192" y="43616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D0D6D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Executions &amp; troubleshooting</a:t>
            </a:r>
            <a:endParaRPr lang="en-US" sz="970" dirty="0"/>
          </a:p>
        </p:txBody>
      </p:sp>
      <p:sp>
        <p:nvSpPr>
          <p:cNvPr id="32" name="Text 29"/>
          <p:cNvSpPr/>
          <p:nvPr/>
        </p:nvSpPr>
        <p:spPr>
          <a:xfrm>
            <a:off x="8138160" y="498348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929A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介面與功能名稱可能隨 n8n 版本略有差異；本簡報內容依 2026 年官方文件整理。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777240" y="5852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4A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 &amp; A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1402</Words>
  <Application>Microsoft Office PowerPoint</Application>
  <PresentationFormat>寬螢幕</PresentationFormat>
  <Paragraphs>403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DejaVu Sans Mono</vt:lpstr>
      <vt:lpstr>Noto Sans CJK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操作教學</dc:title>
  <dc:subject>n8n 操作教學：基本操作與常用 Node</dc:subject>
  <dc:creator>OpenAI</dc:creator>
  <cp:lastModifiedBy>韻文 曾</cp:lastModifiedBy>
  <cp:revision>3</cp:revision>
  <dcterms:created xsi:type="dcterms:W3CDTF">2026-08-11T11:22:45Z</dcterms:created>
  <dcterms:modified xsi:type="dcterms:W3CDTF">2026-08-11T11:37:17Z</dcterms:modified>
</cp:coreProperties>
</file>
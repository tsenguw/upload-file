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12192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B9E2"/>
    <a:srgbClr val="FF4747"/>
    <a:srgbClr val="B0D498"/>
    <a:srgbClr val="F7F9FC"/>
    <a:srgbClr val="9AC8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move the slide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18D3FB2-51A7-4CEB-BBEF-5F80EC6F872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Micro LED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專案將原本兩頁合併成一頁。先講製程痛點，再講演算法與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校正，最後收斂到成果。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9FCD21-8F0A-4829-AF95-B3F5205F39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1026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82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440" y="6492240"/>
            <a:ext cx="4023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rPr>
              <a:t>曾韻文 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rPr>
              <a:t>|  AI × SYSTEM × CLOUD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66960" y="6492240"/>
            <a:ext cx="1599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rPr>
              <a:t>Self Introduction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612880" y="64738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54C121-2A3C-470D-85CE-6B364E3A6350}" type="slidenum">
              <a: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title text format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9">
            <a:extLst>
              <a:ext uri="{FF2B5EF4-FFF2-40B4-BE49-F238E27FC236}">
                <a16:creationId xmlns:a16="http://schemas.microsoft.com/office/drawing/2014/main" id="{0534888A-5F12-60EF-5928-28E39F418992}"/>
              </a:ext>
            </a:extLst>
          </p:cNvPr>
          <p:cNvSpPr/>
          <p:nvPr/>
        </p:nvSpPr>
        <p:spPr>
          <a:xfrm>
            <a:off x="8316455" y="1588535"/>
            <a:ext cx="3672020" cy="489386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5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9">
            <a:extLst>
              <a:ext uri="{FF2B5EF4-FFF2-40B4-BE49-F238E27FC236}">
                <a16:creationId xmlns:a16="http://schemas.microsoft.com/office/drawing/2014/main" id="{B8322476-BD34-69D0-2844-E0AE0CA39D03}"/>
              </a:ext>
            </a:extLst>
          </p:cNvPr>
          <p:cNvSpPr/>
          <p:nvPr/>
        </p:nvSpPr>
        <p:spPr>
          <a:xfrm>
            <a:off x="4386808" y="1570848"/>
            <a:ext cx="3672020" cy="489386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5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9">
            <a:extLst>
              <a:ext uri="{FF2B5EF4-FFF2-40B4-BE49-F238E27FC236}">
                <a16:creationId xmlns:a16="http://schemas.microsoft.com/office/drawing/2014/main" id="{30947AC6-C647-5234-9098-6DC6E0EF9F99}"/>
              </a:ext>
            </a:extLst>
          </p:cNvPr>
          <p:cNvSpPr/>
          <p:nvPr/>
        </p:nvSpPr>
        <p:spPr>
          <a:xfrm>
            <a:off x="457162" y="1570848"/>
            <a:ext cx="3672020" cy="489386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5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0"/>
          <p:cNvSpPr/>
          <p:nvPr/>
        </p:nvSpPr>
        <p:spPr>
          <a:xfrm>
            <a:off x="658440" y="38412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2563EB"/>
                </a:solidFill>
                <a:effectLst/>
                <a:uFillTx/>
                <a:latin typeface="Noto Sans CJK TC"/>
                <a:ea typeface="Noto Sans CJK TC"/>
              </a:rPr>
              <a:t>PROJECT EXPERIENCE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658440" y="67680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01</a:t>
            </a:r>
            <a:r>
              <a:rPr lang="zh-CN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｜</a:t>
            </a:r>
            <a:r>
              <a:rPr lang="en-US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Micro LED </a:t>
            </a:r>
            <a:r>
              <a:rPr lang="zh-CN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製程演算法與 </a:t>
            </a:r>
            <a:r>
              <a:rPr lang="en-US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AI </a:t>
            </a:r>
            <a:r>
              <a:rPr lang="zh-CN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校正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658440" y="11977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 dirty="0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從製程問題拆解、演算法設計到系統化導入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sldNum" idx="6"/>
          </p:nvPr>
        </p:nvSpPr>
        <p:spPr>
          <a:xfrm>
            <a:off x="11612880" y="64738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2442F7-1505-42A3-AC92-9A14A77EADB2}" type="slidenum">
              <a: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rPr>
              <a:t>1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2F73EC7B-8DC2-B1E0-181A-DCD161CD3721}"/>
              </a:ext>
            </a:extLst>
          </p:cNvPr>
          <p:cNvSpPr/>
          <p:nvPr/>
        </p:nvSpPr>
        <p:spPr>
          <a:xfrm>
            <a:off x="457161" y="1588535"/>
            <a:ext cx="3672021" cy="8901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zh-TW" altLang="en-US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巨量轉移分布</a:t>
            </a:r>
            <a:endParaRPr lang="en-US" altLang="zh-TW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zh-TW" sz="1400" b="0" u="none" strike="noStrike" dirty="0">
                <a:effectLst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LED</a:t>
            </a:r>
            <a:r>
              <a:rPr lang="zh-TW" altLang="en-US" sz="1400" b="0" u="none" strike="noStrike" dirty="0">
                <a:effectLst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混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bin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最佳化</a:t>
            </a:r>
            <a:endParaRPr lang="en-US" sz="1400" b="0" u="none" strike="noStrike" dirty="0">
              <a:effectLst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29E47D19-4F4F-84D0-BFC9-7D02BF269A21}"/>
              </a:ext>
            </a:extLst>
          </p:cNvPr>
          <p:cNvGrpSpPr/>
          <p:nvPr/>
        </p:nvGrpSpPr>
        <p:grpSpPr>
          <a:xfrm>
            <a:off x="4826826" y="2561132"/>
            <a:ext cx="2700000" cy="2700000"/>
            <a:chOff x="5126380" y="3076982"/>
            <a:chExt cx="1992960" cy="1992960"/>
          </a:xfrm>
        </p:grpSpPr>
        <p:sp>
          <p:nvSpPr>
            <p:cNvPr id="21" name="Shape 70">
              <a:extLst>
                <a:ext uri="{FF2B5EF4-FFF2-40B4-BE49-F238E27FC236}">
                  <a16:creationId xmlns:a16="http://schemas.microsoft.com/office/drawing/2014/main" id="{2E75B1D6-954E-5539-ED62-3A7F10EA3CD8}"/>
                </a:ext>
              </a:extLst>
            </p:cNvPr>
            <p:cNvSpPr/>
            <p:nvPr/>
          </p:nvSpPr>
          <p:spPr>
            <a:xfrm>
              <a:off x="5126380" y="3076982"/>
              <a:ext cx="1992960" cy="1992960"/>
            </a:xfrm>
            <a:prstGeom prst="ellipse">
              <a:avLst/>
            </a:prstGeom>
            <a:solidFill>
              <a:srgbClr val="1B2842"/>
            </a:solidFill>
            <a:ln w="15240">
              <a:solidFill>
                <a:srgbClr val="5B7DA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Shape 71">
              <a:extLst>
                <a:ext uri="{FF2B5EF4-FFF2-40B4-BE49-F238E27FC236}">
                  <a16:creationId xmlns:a16="http://schemas.microsoft.com/office/drawing/2014/main" id="{99044177-2465-4666-772B-EF1F0EEBB3FA}"/>
                </a:ext>
              </a:extLst>
            </p:cNvPr>
            <p:cNvSpPr/>
            <p:nvPr/>
          </p:nvSpPr>
          <p:spPr>
            <a:xfrm>
              <a:off x="5494408" y="341070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Shape 72">
              <a:extLst>
                <a:ext uri="{FF2B5EF4-FFF2-40B4-BE49-F238E27FC236}">
                  <a16:creationId xmlns:a16="http://schemas.microsoft.com/office/drawing/2014/main" id="{559925BB-2E0E-F2B9-56B1-8F1C579A491C}"/>
                </a:ext>
              </a:extLst>
            </p:cNvPr>
            <p:cNvSpPr/>
            <p:nvPr/>
          </p:nvSpPr>
          <p:spPr>
            <a:xfrm>
              <a:off x="5695648" y="341070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Shape 73">
              <a:extLst>
                <a:ext uri="{FF2B5EF4-FFF2-40B4-BE49-F238E27FC236}">
                  <a16:creationId xmlns:a16="http://schemas.microsoft.com/office/drawing/2014/main" id="{D8D17871-F201-A271-78D9-B701FD19089F}"/>
                </a:ext>
              </a:extLst>
            </p:cNvPr>
            <p:cNvSpPr/>
            <p:nvPr/>
          </p:nvSpPr>
          <p:spPr>
            <a:xfrm>
              <a:off x="5896528" y="341070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Shape 74">
              <a:extLst>
                <a:ext uri="{FF2B5EF4-FFF2-40B4-BE49-F238E27FC236}">
                  <a16:creationId xmlns:a16="http://schemas.microsoft.com/office/drawing/2014/main" id="{E7921B3F-2839-8494-6713-B94072CB3126}"/>
                </a:ext>
              </a:extLst>
            </p:cNvPr>
            <p:cNvSpPr/>
            <p:nvPr/>
          </p:nvSpPr>
          <p:spPr>
            <a:xfrm>
              <a:off x="6097768" y="341070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Shape 75">
              <a:extLst>
                <a:ext uri="{FF2B5EF4-FFF2-40B4-BE49-F238E27FC236}">
                  <a16:creationId xmlns:a16="http://schemas.microsoft.com/office/drawing/2014/main" id="{BF6C0523-4439-00C7-6017-2AEAD43CF90F}"/>
                </a:ext>
              </a:extLst>
            </p:cNvPr>
            <p:cNvSpPr/>
            <p:nvPr/>
          </p:nvSpPr>
          <p:spPr>
            <a:xfrm>
              <a:off x="6299008" y="341070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Shape 76">
              <a:extLst>
                <a:ext uri="{FF2B5EF4-FFF2-40B4-BE49-F238E27FC236}">
                  <a16:creationId xmlns:a16="http://schemas.microsoft.com/office/drawing/2014/main" id="{45BAE4B8-A91B-0A55-D72E-AEBB904649F2}"/>
                </a:ext>
              </a:extLst>
            </p:cNvPr>
            <p:cNvSpPr/>
            <p:nvPr/>
          </p:nvSpPr>
          <p:spPr>
            <a:xfrm>
              <a:off x="6500248" y="341070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Shape 77">
              <a:extLst>
                <a:ext uri="{FF2B5EF4-FFF2-40B4-BE49-F238E27FC236}">
                  <a16:creationId xmlns:a16="http://schemas.microsoft.com/office/drawing/2014/main" id="{96E2F98A-E8FF-F0BC-A2C4-CA7A2BE12251}"/>
                </a:ext>
              </a:extLst>
            </p:cNvPr>
            <p:cNvSpPr/>
            <p:nvPr/>
          </p:nvSpPr>
          <p:spPr>
            <a:xfrm>
              <a:off x="6701488" y="341070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Shape 78">
              <a:extLst>
                <a:ext uri="{FF2B5EF4-FFF2-40B4-BE49-F238E27FC236}">
                  <a16:creationId xmlns:a16="http://schemas.microsoft.com/office/drawing/2014/main" id="{D4C06580-EB58-6AE8-B310-6F240D0A997D}"/>
                </a:ext>
              </a:extLst>
            </p:cNvPr>
            <p:cNvSpPr/>
            <p:nvPr/>
          </p:nvSpPr>
          <p:spPr>
            <a:xfrm>
              <a:off x="5494408" y="361194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Shape 79">
              <a:extLst>
                <a:ext uri="{FF2B5EF4-FFF2-40B4-BE49-F238E27FC236}">
                  <a16:creationId xmlns:a16="http://schemas.microsoft.com/office/drawing/2014/main" id="{0C1C7DA8-8771-52B1-627D-32DDC322AD05}"/>
                </a:ext>
              </a:extLst>
            </p:cNvPr>
            <p:cNvSpPr/>
            <p:nvPr/>
          </p:nvSpPr>
          <p:spPr>
            <a:xfrm>
              <a:off x="5695648" y="361194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Shape 80">
              <a:extLst>
                <a:ext uri="{FF2B5EF4-FFF2-40B4-BE49-F238E27FC236}">
                  <a16:creationId xmlns:a16="http://schemas.microsoft.com/office/drawing/2014/main" id="{7108F870-BD91-3C9D-3622-70CA67D9AFE9}"/>
                </a:ext>
              </a:extLst>
            </p:cNvPr>
            <p:cNvSpPr/>
            <p:nvPr/>
          </p:nvSpPr>
          <p:spPr>
            <a:xfrm>
              <a:off x="5896528" y="361194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Shape 81">
              <a:extLst>
                <a:ext uri="{FF2B5EF4-FFF2-40B4-BE49-F238E27FC236}">
                  <a16:creationId xmlns:a16="http://schemas.microsoft.com/office/drawing/2014/main" id="{07DBFB48-DB53-BF7E-20C1-10A89C72BF51}"/>
                </a:ext>
              </a:extLst>
            </p:cNvPr>
            <p:cNvSpPr/>
            <p:nvPr/>
          </p:nvSpPr>
          <p:spPr>
            <a:xfrm>
              <a:off x="6097768" y="361194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Shape 82">
              <a:extLst>
                <a:ext uri="{FF2B5EF4-FFF2-40B4-BE49-F238E27FC236}">
                  <a16:creationId xmlns:a16="http://schemas.microsoft.com/office/drawing/2014/main" id="{B7470C3A-52A5-66A7-D7D5-83C08BFBFA32}"/>
                </a:ext>
              </a:extLst>
            </p:cNvPr>
            <p:cNvSpPr/>
            <p:nvPr/>
          </p:nvSpPr>
          <p:spPr>
            <a:xfrm>
              <a:off x="6299008" y="361194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Shape 83">
              <a:extLst>
                <a:ext uri="{FF2B5EF4-FFF2-40B4-BE49-F238E27FC236}">
                  <a16:creationId xmlns:a16="http://schemas.microsoft.com/office/drawing/2014/main" id="{26F68D3F-F8AD-14E8-B58E-835F0BB89CE5}"/>
                </a:ext>
              </a:extLst>
            </p:cNvPr>
            <p:cNvSpPr/>
            <p:nvPr/>
          </p:nvSpPr>
          <p:spPr>
            <a:xfrm>
              <a:off x="6500248" y="361194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Shape 84">
              <a:extLst>
                <a:ext uri="{FF2B5EF4-FFF2-40B4-BE49-F238E27FC236}">
                  <a16:creationId xmlns:a16="http://schemas.microsoft.com/office/drawing/2014/main" id="{23BF1454-DA9D-4F51-AE50-F25706A6F491}"/>
                </a:ext>
              </a:extLst>
            </p:cNvPr>
            <p:cNvSpPr/>
            <p:nvPr/>
          </p:nvSpPr>
          <p:spPr>
            <a:xfrm>
              <a:off x="6701488" y="361194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Shape 85">
              <a:extLst>
                <a:ext uri="{FF2B5EF4-FFF2-40B4-BE49-F238E27FC236}">
                  <a16:creationId xmlns:a16="http://schemas.microsoft.com/office/drawing/2014/main" id="{9502C771-391F-914C-6372-AE5B9348120B}"/>
                </a:ext>
              </a:extLst>
            </p:cNvPr>
            <p:cNvSpPr/>
            <p:nvPr/>
          </p:nvSpPr>
          <p:spPr>
            <a:xfrm>
              <a:off x="5494408" y="381318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Shape 86">
              <a:extLst>
                <a:ext uri="{FF2B5EF4-FFF2-40B4-BE49-F238E27FC236}">
                  <a16:creationId xmlns:a16="http://schemas.microsoft.com/office/drawing/2014/main" id="{6013CE09-ED8F-213E-C0B3-F7C3C7B28858}"/>
                </a:ext>
              </a:extLst>
            </p:cNvPr>
            <p:cNvSpPr/>
            <p:nvPr/>
          </p:nvSpPr>
          <p:spPr>
            <a:xfrm>
              <a:off x="5695648" y="381318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Shape 87">
              <a:extLst>
                <a:ext uri="{FF2B5EF4-FFF2-40B4-BE49-F238E27FC236}">
                  <a16:creationId xmlns:a16="http://schemas.microsoft.com/office/drawing/2014/main" id="{A8726DF4-7F05-4259-D345-2C481C74EED7}"/>
                </a:ext>
              </a:extLst>
            </p:cNvPr>
            <p:cNvSpPr/>
            <p:nvPr/>
          </p:nvSpPr>
          <p:spPr>
            <a:xfrm>
              <a:off x="5896528" y="381318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Shape 88">
              <a:extLst>
                <a:ext uri="{FF2B5EF4-FFF2-40B4-BE49-F238E27FC236}">
                  <a16:creationId xmlns:a16="http://schemas.microsoft.com/office/drawing/2014/main" id="{06D903FA-3E9C-6252-354D-C6E02403813D}"/>
                </a:ext>
              </a:extLst>
            </p:cNvPr>
            <p:cNvSpPr/>
            <p:nvPr/>
          </p:nvSpPr>
          <p:spPr>
            <a:xfrm>
              <a:off x="6097768" y="381318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Shape 89">
              <a:extLst>
                <a:ext uri="{FF2B5EF4-FFF2-40B4-BE49-F238E27FC236}">
                  <a16:creationId xmlns:a16="http://schemas.microsoft.com/office/drawing/2014/main" id="{7907DC26-8B47-9D64-AE76-ED73B92E5A0B}"/>
                </a:ext>
              </a:extLst>
            </p:cNvPr>
            <p:cNvSpPr/>
            <p:nvPr/>
          </p:nvSpPr>
          <p:spPr>
            <a:xfrm>
              <a:off x="6299008" y="381318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Shape 90">
              <a:extLst>
                <a:ext uri="{FF2B5EF4-FFF2-40B4-BE49-F238E27FC236}">
                  <a16:creationId xmlns:a16="http://schemas.microsoft.com/office/drawing/2014/main" id="{E576AE73-3965-6C0B-94B4-EFD0C5533B5F}"/>
                </a:ext>
              </a:extLst>
            </p:cNvPr>
            <p:cNvSpPr/>
            <p:nvPr/>
          </p:nvSpPr>
          <p:spPr>
            <a:xfrm>
              <a:off x="6500248" y="381318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Shape 91">
              <a:extLst>
                <a:ext uri="{FF2B5EF4-FFF2-40B4-BE49-F238E27FC236}">
                  <a16:creationId xmlns:a16="http://schemas.microsoft.com/office/drawing/2014/main" id="{BD94DF94-5450-74F9-6B5F-C2B6812307E7}"/>
                </a:ext>
              </a:extLst>
            </p:cNvPr>
            <p:cNvSpPr/>
            <p:nvPr/>
          </p:nvSpPr>
          <p:spPr>
            <a:xfrm>
              <a:off x="6701488" y="381318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Shape 92">
              <a:extLst>
                <a:ext uri="{FF2B5EF4-FFF2-40B4-BE49-F238E27FC236}">
                  <a16:creationId xmlns:a16="http://schemas.microsoft.com/office/drawing/2014/main" id="{B1AB9B15-47C5-EDEA-04BC-A53198EE49CE}"/>
                </a:ext>
              </a:extLst>
            </p:cNvPr>
            <p:cNvSpPr/>
            <p:nvPr/>
          </p:nvSpPr>
          <p:spPr>
            <a:xfrm>
              <a:off x="5494408" y="401442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Shape 93">
              <a:extLst>
                <a:ext uri="{FF2B5EF4-FFF2-40B4-BE49-F238E27FC236}">
                  <a16:creationId xmlns:a16="http://schemas.microsoft.com/office/drawing/2014/main" id="{D430FB66-09B4-4813-4410-9C6A562D7A7D}"/>
                </a:ext>
              </a:extLst>
            </p:cNvPr>
            <p:cNvSpPr/>
            <p:nvPr/>
          </p:nvSpPr>
          <p:spPr>
            <a:xfrm>
              <a:off x="5695648" y="401442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Shape 94">
              <a:extLst>
                <a:ext uri="{FF2B5EF4-FFF2-40B4-BE49-F238E27FC236}">
                  <a16:creationId xmlns:a16="http://schemas.microsoft.com/office/drawing/2014/main" id="{A80A9B19-CC64-20D6-AF99-BAC5F0C015EA}"/>
                </a:ext>
              </a:extLst>
            </p:cNvPr>
            <p:cNvSpPr/>
            <p:nvPr/>
          </p:nvSpPr>
          <p:spPr>
            <a:xfrm>
              <a:off x="5896528" y="401442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Shape 95">
              <a:extLst>
                <a:ext uri="{FF2B5EF4-FFF2-40B4-BE49-F238E27FC236}">
                  <a16:creationId xmlns:a16="http://schemas.microsoft.com/office/drawing/2014/main" id="{3D74809F-C3E4-2600-30EC-47D64C285E05}"/>
                </a:ext>
              </a:extLst>
            </p:cNvPr>
            <p:cNvSpPr/>
            <p:nvPr/>
          </p:nvSpPr>
          <p:spPr>
            <a:xfrm>
              <a:off x="6097768" y="401442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Shape 96">
              <a:extLst>
                <a:ext uri="{FF2B5EF4-FFF2-40B4-BE49-F238E27FC236}">
                  <a16:creationId xmlns:a16="http://schemas.microsoft.com/office/drawing/2014/main" id="{48649EDF-E7DD-A994-36A8-F997B83DAE96}"/>
                </a:ext>
              </a:extLst>
            </p:cNvPr>
            <p:cNvSpPr/>
            <p:nvPr/>
          </p:nvSpPr>
          <p:spPr>
            <a:xfrm>
              <a:off x="6299008" y="401442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Shape 97">
              <a:extLst>
                <a:ext uri="{FF2B5EF4-FFF2-40B4-BE49-F238E27FC236}">
                  <a16:creationId xmlns:a16="http://schemas.microsoft.com/office/drawing/2014/main" id="{3FA7FC26-F5AA-191A-F2A0-C9F7923A5C34}"/>
                </a:ext>
              </a:extLst>
            </p:cNvPr>
            <p:cNvSpPr/>
            <p:nvPr/>
          </p:nvSpPr>
          <p:spPr>
            <a:xfrm>
              <a:off x="6500248" y="401442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Shape 98">
              <a:extLst>
                <a:ext uri="{FF2B5EF4-FFF2-40B4-BE49-F238E27FC236}">
                  <a16:creationId xmlns:a16="http://schemas.microsoft.com/office/drawing/2014/main" id="{CEA3D439-BCA7-7A39-53B4-7EB1543D893C}"/>
                </a:ext>
              </a:extLst>
            </p:cNvPr>
            <p:cNvSpPr/>
            <p:nvPr/>
          </p:nvSpPr>
          <p:spPr>
            <a:xfrm>
              <a:off x="6701488" y="401442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Shape 99">
              <a:extLst>
                <a:ext uri="{FF2B5EF4-FFF2-40B4-BE49-F238E27FC236}">
                  <a16:creationId xmlns:a16="http://schemas.microsoft.com/office/drawing/2014/main" id="{B20F1A0D-6855-F357-F92E-B7B6D245B280}"/>
                </a:ext>
              </a:extLst>
            </p:cNvPr>
            <p:cNvSpPr/>
            <p:nvPr/>
          </p:nvSpPr>
          <p:spPr>
            <a:xfrm>
              <a:off x="5494408" y="421566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Shape 100">
              <a:extLst>
                <a:ext uri="{FF2B5EF4-FFF2-40B4-BE49-F238E27FC236}">
                  <a16:creationId xmlns:a16="http://schemas.microsoft.com/office/drawing/2014/main" id="{044252CC-D216-9AD9-A904-5B6B3E7C278A}"/>
                </a:ext>
              </a:extLst>
            </p:cNvPr>
            <p:cNvSpPr/>
            <p:nvPr/>
          </p:nvSpPr>
          <p:spPr>
            <a:xfrm>
              <a:off x="5695648" y="421566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Shape 101">
              <a:extLst>
                <a:ext uri="{FF2B5EF4-FFF2-40B4-BE49-F238E27FC236}">
                  <a16:creationId xmlns:a16="http://schemas.microsoft.com/office/drawing/2014/main" id="{B6868FC5-F8E9-359C-E553-4E7296633DA4}"/>
                </a:ext>
              </a:extLst>
            </p:cNvPr>
            <p:cNvSpPr/>
            <p:nvPr/>
          </p:nvSpPr>
          <p:spPr>
            <a:xfrm>
              <a:off x="5896528" y="421566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Shape 102">
              <a:extLst>
                <a:ext uri="{FF2B5EF4-FFF2-40B4-BE49-F238E27FC236}">
                  <a16:creationId xmlns:a16="http://schemas.microsoft.com/office/drawing/2014/main" id="{20EECA7E-3276-D602-9D84-86A34E4C744C}"/>
                </a:ext>
              </a:extLst>
            </p:cNvPr>
            <p:cNvSpPr/>
            <p:nvPr/>
          </p:nvSpPr>
          <p:spPr>
            <a:xfrm>
              <a:off x="6097768" y="421566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Shape 103">
              <a:extLst>
                <a:ext uri="{FF2B5EF4-FFF2-40B4-BE49-F238E27FC236}">
                  <a16:creationId xmlns:a16="http://schemas.microsoft.com/office/drawing/2014/main" id="{E39D2605-CCB6-DA81-10A2-4F05AEE6A6CA}"/>
                </a:ext>
              </a:extLst>
            </p:cNvPr>
            <p:cNvSpPr/>
            <p:nvPr/>
          </p:nvSpPr>
          <p:spPr>
            <a:xfrm>
              <a:off x="6299008" y="421566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Shape 104">
              <a:extLst>
                <a:ext uri="{FF2B5EF4-FFF2-40B4-BE49-F238E27FC236}">
                  <a16:creationId xmlns:a16="http://schemas.microsoft.com/office/drawing/2014/main" id="{782E18EF-9CE3-9C05-5A02-06BD244277C2}"/>
                </a:ext>
              </a:extLst>
            </p:cNvPr>
            <p:cNvSpPr/>
            <p:nvPr/>
          </p:nvSpPr>
          <p:spPr>
            <a:xfrm>
              <a:off x="6500248" y="421566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Shape 105">
              <a:extLst>
                <a:ext uri="{FF2B5EF4-FFF2-40B4-BE49-F238E27FC236}">
                  <a16:creationId xmlns:a16="http://schemas.microsoft.com/office/drawing/2014/main" id="{A4BB6B15-45BA-DA43-6C64-5A2C7AF566A5}"/>
                </a:ext>
              </a:extLst>
            </p:cNvPr>
            <p:cNvSpPr/>
            <p:nvPr/>
          </p:nvSpPr>
          <p:spPr>
            <a:xfrm>
              <a:off x="6701488" y="421566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Shape 106">
              <a:extLst>
                <a:ext uri="{FF2B5EF4-FFF2-40B4-BE49-F238E27FC236}">
                  <a16:creationId xmlns:a16="http://schemas.microsoft.com/office/drawing/2014/main" id="{47EB0C43-2FFF-5CF4-B0CC-F047FD8851E4}"/>
                </a:ext>
              </a:extLst>
            </p:cNvPr>
            <p:cNvSpPr/>
            <p:nvPr/>
          </p:nvSpPr>
          <p:spPr>
            <a:xfrm>
              <a:off x="5494408" y="441654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Shape 107">
              <a:extLst>
                <a:ext uri="{FF2B5EF4-FFF2-40B4-BE49-F238E27FC236}">
                  <a16:creationId xmlns:a16="http://schemas.microsoft.com/office/drawing/2014/main" id="{EE870B98-EEB3-1FFB-E970-D784EAEC6A38}"/>
                </a:ext>
              </a:extLst>
            </p:cNvPr>
            <p:cNvSpPr/>
            <p:nvPr/>
          </p:nvSpPr>
          <p:spPr>
            <a:xfrm>
              <a:off x="5695648" y="441654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Shape 108">
              <a:extLst>
                <a:ext uri="{FF2B5EF4-FFF2-40B4-BE49-F238E27FC236}">
                  <a16:creationId xmlns:a16="http://schemas.microsoft.com/office/drawing/2014/main" id="{10AFE484-7629-CDC6-75F3-3430D10C36CA}"/>
                </a:ext>
              </a:extLst>
            </p:cNvPr>
            <p:cNvSpPr/>
            <p:nvPr/>
          </p:nvSpPr>
          <p:spPr>
            <a:xfrm>
              <a:off x="5896528" y="441654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Shape 109">
              <a:extLst>
                <a:ext uri="{FF2B5EF4-FFF2-40B4-BE49-F238E27FC236}">
                  <a16:creationId xmlns:a16="http://schemas.microsoft.com/office/drawing/2014/main" id="{C4075E32-FFA6-9326-22E7-857428E1F917}"/>
                </a:ext>
              </a:extLst>
            </p:cNvPr>
            <p:cNvSpPr/>
            <p:nvPr/>
          </p:nvSpPr>
          <p:spPr>
            <a:xfrm>
              <a:off x="6097768" y="441654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Shape 110">
              <a:extLst>
                <a:ext uri="{FF2B5EF4-FFF2-40B4-BE49-F238E27FC236}">
                  <a16:creationId xmlns:a16="http://schemas.microsoft.com/office/drawing/2014/main" id="{53D25F0B-5FA0-84E3-8AFD-23FB3892CEBF}"/>
                </a:ext>
              </a:extLst>
            </p:cNvPr>
            <p:cNvSpPr/>
            <p:nvPr/>
          </p:nvSpPr>
          <p:spPr>
            <a:xfrm>
              <a:off x="6299008" y="441654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Shape 111">
              <a:extLst>
                <a:ext uri="{FF2B5EF4-FFF2-40B4-BE49-F238E27FC236}">
                  <a16:creationId xmlns:a16="http://schemas.microsoft.com/office/drawing/2014/main" id="{045B6AE0-DF87-EBAE-8368-02BC366034DF}"/>
                </a:ext>
              </a:extLst>
            </p:cNvPr>
            <p:cNvSpPr/>
            <p:nvPr/>
          </p:nvSpPr>
          <p:spPr>
            <a:xfrm>
              <a:off x="6500248" y="441654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Shape 112">
              <a:extLst>
                <a:ext uri="{FF2B5EF4-FFF2-40B4-BE49-F238E27FC236}">
                  <a16:creationId xmlns:a16="http://schemas.microsoft.com/office/drawing/2014/main" id="{AF075816-FEF9-220B-7406-DA2CC1E60840}"/>
                </a:ext>
              </a:extLst>
            </p:cNvPr>
            <p:cNvSpPr/>
            <p:nvPr/>
          </p:nvSpPr>
          <p:spPr>
            <a:xfrm>
              <a:off x="6701488" y="441654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Shape 113">
              <a:extLst>
                <a:ext uri="{FF2B5EF4-FFF2-40B4-BE49-F238E27FC236}">
                  <a16:creationId xmlns:a16="http://schemas.microsoft.com/office/drawing/2014/main" id="{022E3BA3-2004-2E42-B81E-AA826D48DE6F}"/>
                </a:ext>
              </a:extLst>
            </p:cNvPr>
            <p:cNvSpPr/>
            <p:nvPr/>
          </p:nvSpPr>
          <p:spPr>
            <a:xfrm>
              <a:off x="5494408" y="461778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Shape 114">
              <a:extLst>
                <a:ext uri="{FF2B5EF4-FFF2-40B4-BE49-F238E27FC236}">
                  <a16:creationId xmlns:a16="http://schemas.microsoft.com/office/drawing/2014/main" id="{E01AA230-110E-DA14-C19C-3F91824FC6E0}"/>
                </a:ext>
              </a:extLst>
            </p:cNvPr>
            <p:cNvSpPr/>
            <p:nvPr/>
          </p:nvSpPr>
          <p:spPr>
            <a:xfrm>
              <a:off x="5695648" y="461778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Shape 115">
              <a:extLst>
                <a:ext uri="{FF2B5EF4-FFF2-40B4-BE49-F238E27FC236}">
                  <a16:creationId xmlns:a16="http://schemas.microsoft.com/office/drawing/2014/main" id="{56C95173-F67C-AD88-5A91-88E2C0D1AA49}"/>
                </a:ext>
              </a:extLst>
            </p:cNvPr>
            <p:cNvSpPr/>
            <p:nvPr/>
          </p:nvSpPr>
          <p:spPr>
            <a:xfrm>
              <a:off x="5896528" y="461778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Shape 116">
              <a:extLst>
                <a:ext uri="{FF2B5EF4-FFF2-40B4-BE49-F238E27FC236}">
                  <a16:creationId xmlns:a16="http://schemas.microsoft.com/office/drawing/2014/main" id="{A6B49BFF-D465-2A87-416E-EE9154E09944}"/>
                </a:ext>
              </a:extLst>
            </p:cNvPr>
            <p:cNvSpPr/>
            <p:nvPr/>
          </p:nvSpPr>
          <p:spPr>
            <a:xfrm>
              <a:off x="6097768" y="461778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Shape 117">
              <a:extLst>
                <a:ext uri="{FF2B5EF4-FFF2-40B4-BE49-F238E27FC236}">
                  <a16:creationId xmlns:a16="http://schemas.microsoft.com/office/drawing/2014/main" id="{247CEC97-6DB6-DAB4-DA8D-01F9FD702EC5}"/>
                </a:ext>
              </a:extLst>
            </p:cNvPr>
            <p:cNvSpPr/>
            <p:nvPr/>
          </p:nvSpPr>
          <p:spPr>
            <a:xfrm>
              <a:off x="6299008" y="461778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Shape 118">
              <a:extLst>
                <a:ext uri="{FF2B5EF4-FFF2-40B4-BE49-F238E27FC236}">
                  <a16:creationId xmlns:a16="http://schemas.microsoft.com/office/drawing/2014/main" id="{47A656EF-B391-8B8F-4713-8B378FAA3C0F}"/>
                </a:ext>
              </a:extLst>
            </p:cNvPr>
            <p:cNvSpPr/>
            <p:nvPr/>
          </p:nvSpPr>
          <p:spPr>
            <a:xfrm>
              <a:off x="6500248" y="461778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Shape 119">
              <a:extLst>
                <a:ext uri="{FF2B5EF4-FFF2-40B4-BE49-F238E27FC236}">
                  <a16:creationId xmlns:a16="http://schemas.microsoft.com/office/drawing/2014/main" id="{1301C633-2B3C-78EF-55ED-FA12F3474613}"/>
                </a:ext>
              </a:extLst>
            </p:cNvPr>
            <p:cNvSpPr/>
            <p:nvPr/>
          </p:nvSpPr>
          <p:spPr>
            <a:xfrm>
              <a:off x="6701488" y="461778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" name="Text 2">
            <a:extLst>
              <a:ext uri="{FF2B5EF4-FFF2-40B4-BE49-F238E27FC236}">
                <a16:creationId xmlns:a16="http://schemas.microsoft.com/office/drawing/2014/main" id="{90061F74-0662-11AD-CE89-E4DDEB953FE6}"/>
              </a:ext>
            </a:extLst>
          </p:cNvPr>
          <p:cNvSpPr/>
          <p:nvPr/>
        </p:nvSpPr>
        <p:spPr>
          <a:xfrm>
            <a:off x="599646" y="5625195"/>
            <a:ext cx="3351251" cy="71914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TW" altLang="en-US" sz="1200" b="1" dirty="0">
                <a:latin typeface="Noto Sans CJK TC"/>
              </a:rPr>
              <a:t>問題</a:t>
            </a:r>
            <a:r>
              <a:rPr lang="zh-TW" altLang="en-US" sz="1200" dirty="0">
                <a:latin typeface="Noto Sans CJK TC"/>
              </a:rPr>
              <a:t> </a:t>
            </a:r>
            <a:r>
              <a:rPr lang="en-US" altLang="zh-TW" sz="1200" dirty="0">
                <a:latin typeface="Noto Sans CJK TC"/>
              </a:rPr>
              <a:t>|</a:t>
            </a:r>
            <a:r>
              <a:rPr lang="zh-TW" altLang="en-US" sz="1200" dirty="0">
                <a:latin typeface="Noto Sans CJK TC"/>
              </a:rPr>
              <a:t> </a:t>
            </a:r>
            <a:r>
              <a:rPr lang="en-US" altLang="zh-TW" sz="1200" dirty="0">
                <a:latin typeface="Noto Sans CJK TC"/>
              </a:rPr>
              <a:t>Wafer </a:t>
            </a:r>
            <a:r>
              <a:rPr lang="zh-TW" altLang="en-US" sz="1200" dirty="0">
                <a:latin typeface="Noto Sans CJK TC"/>
              </a:rPr>
              <a:t>來料品質不均，人眼感知局部色差</a:t>
            </a:r>
            <a:endParaRPr lang="en-US" altLang="zh-TW" sz="1200" dirty="0">
              <a:latin typeface="Noto Sans CJK TC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TW" altLang="en-US" sz="1200" b="1" u="none" strike="noStrike" dirty="0">
                <a:effectLst/>
                <a:uFillTx/>
                <a:latin typeface="Arial"/>
              </a:rPr>
              <a:t>解法</a:t>
            </a:r>
            <a:r>
              <a:rPr lang="zh-TW" altLang="en-US" sz="1200" b="0" u="none" strike="noStrike" dirty="0">
                <a:effectLst/>
                <a:uFillTx/>
                <a:latin typeface="Arial"/>
              </a:rPr>
              <a:t> </a:t>
            </a:r>
            <a:r>
              <a:rPr lang="en-US" altLang="zh-TW" sz="1200" b="0" u="none" strike="noStrike" dirty="0">
                <a:effectLst/>
                <a:uFillTx/>
                <a:latin typeface="Arial"/>
              </a:rPr>
              <a:t>|</a:t>
            </a:r>
            <a:r>
              <a:rPr lang="zh-TW" altLang="en-US" sz="1200" b="0" u="none" strike="noStrike" dirty="0">
                <a:effectLst/>
                <a:uFillTx/>
                <a:latin typeface="Arial"/>
              </a:rPr>
              <a:t> 機器學習演算法，最佳化 </a:t>
            </a:r>
            <a:r>
              <a:rPr lang="en-US" altLang="zh-TW" sz="1200" b="0" u="none" strike="noStrike" dirty="0">
                <a:effectLst/>
                <a:uFillTx/>
                <a:latin typeface="Arial"/>
              </a:rPr>
              <a:t>LED</a:t>
            </a:r>
            <a:r>
              <a:rPr lang="zh-TW" altLang="en-US" sz="1200" b="0" u="none" strike="noStrike" dirty="0">
                <a:effectLst/>
                <a:uFillTx/>
                <a:latin typeface="Arial"/>
              </a:rPr>
              <a:t> 分布</a:t>
            </a:r>
            <a:endParaRPr lang="en-US" sz="12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75" name="Text 2">
            <a:extLst>
              <a:ext uri="{FF2B5EF4-FFF2-40B4-BE49-F238E27FC236}">
                <a16:creationId xmlns:a16="http://schemas.microsoft.com/office/drawing/2014/main" id="{54B6A60A-F7FA-3C36-EBC9-0F4C363973A1}"/>
              </a:ext>
            </a:extLst>
          </p:cNvPr>
          <p:cNvSpPr/>
          <p:nvPr/>
        </p:nvSpPr>
        <p:spPr>
          <a:xfrm>
            <a:off x="5319417" y="2896752"/>
            <a:ext cx="184485" cy="299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TW" sz="1400" dirty="0">
                <a:solidFill>
                  <a:schemeClr val="bg1"/>
                </a:solidFill>
                <a:latin typeface="Noto Sans CJK TC"/>
              </a:rPr>
              <a:t>X</a:t>
            </a:r>
          </a:p>
        </p:txBody>
      </p:sp>
      <p:sp>
        <p:nvSpPr>
          <p:cNvPr id="76" name="Text 2">
            <a:extLst>
              <a:ext uri="{FF2B5EF4-FFF2-40B4-BE49-F238E27FC236}">
                <a16:creationId xmlns:a16="http://schemas.microsoft.com/office/drawing/2014/main" id="{58C52C10-7BB6-D14C-8855-D261B6566AC7}"/>
              </a:ext>
            </a:extLst>
          </p:cNvPr>
          <p:cNvSpPr/>
          <p:nvPr/>
        </p:nvSpPr>
        <p:spPr>
          <a:xfrm>
            <a:off x="6411371" y="2896752"/>
            <a:ext cx="184485" cy="299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TW" sz="1400" dirty="0">
                <a:solidFill>
                  <a:schemeClr val="bg1"/>
                </a:solidFill>
                <a:latin typeface="Noto Sans CJK TC"/>
              </a:rPr>
              <a:t>X</a:t>
            </a:r>
          </a:p>
        </p:txBody>
      </p:sp>
      <p:sp>
        <p:nvSpPr>
          <p:cNvPr id="77" name="Text 2">
            <a:extLst>
              <a:ext uri="{FF2B5EF4-FFF2-40B4-BE49-F238E27FC236}">
                <a16:creationId xmlns:a16="http://schemas.microsoft.com/office/drawing/2014/main" id="{6F4FE75A-B0E7-3A16-6ED2-E99F8E18D745}"/>
              </a:ext>
            </a:extLst>
          </p:cNvPr>
          <p:cNvSpPr/>
          <p:nvPr/>
        </p:nvSpPr>
        <p:spPr>
          <a:xfrm>
            <a:off x="6138738" y="3176060"/>
            <a:ext cx="184485" cy="299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TW" sz="1400" dirty="0">
                <a:solidFill>
                  <a:schemeClr val="bg1"/>
                </a:solidFill>
                <a:latin typeface="Noto Sans CJK TC"/>
              </a:rPr>
              <a:t>X</a:t>
            </a:r>
          </a:p>
        </p:txBody>
      </p:sp>
      <p:sp>
        <p:nvSpPr>
          <p:cNvPr id="78" name="Text 2">
            <a:extLst>
              <a:ext uri="{FF2B5EF4-FFF2-40B4-BE49-F238E27FC236}">
                <a16:creationId xmlns:a16="http://schemas.microsoft.com/office/drawing/2014/main" id="{967942E3-0F2F-5894-A34D-A5819C47B8AB}"/>
              </a:ext>
            </a:extLst>
          </p:cNvPr>
          <p:cNvSpPr/>
          <p:nvPr/>
        </p:nvSpPr>
        <p:spPr>
          <a:xfrm>
            <a:off x="6958059" y="3448694"/>
            <a:ext cx="184485" cy="299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TW" sz="1400" dirty="0">
                <a:solidFill>
                  <a:schemeClr val="bg1"/>
                </a:solidFill>
                <a:latin typeface="Noto Sans CJK TC"/>
              </a:rPr>
              <a:t>X</a:t>
            </a:r>
          </a:p>
        </p:txBody>
      </p:sp>
      <p:sp>
        <p:nvSpPr>
          <p:cNvPr id="79" name="Shape 121">
            <a:extLst>
              <a:ext uri="{FF2B5EF4-FFF2-40B4-BE49-F238E27FC236}">
                <a16:creationId xmlns:a16="http://schemas.microsoft.com/office/drawing/2014/main" id="{209EDDA1-8781-2997-8C29-1B3F992D87AD}"/>
              </a:ext>
            </a:extLst>
          </p:cNvPr>
          <p:cNvSpPr/>
          <p:nvPr/>
        </p:nvSpPr>
        <p:spPr>
          <a:xfrm flipH="1">
            <a:off x="5445323" y="3055186"/>
            <a:ext cx="940840" cy="0"/>
          </a:xfrm>
          <a:prstGeom prst="line">
            <a:avLst/>
          </a:prstGeom>
          <a:ln w="20320">
            <a:solidFill>
              <a:schemeClr val="bg1"/>
            </a:solidFill>
            <a:prstDash val="sys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21">
            <a:extLst>
              <a:ext uri="{FF2B5EF4-FFF2-40B4-BE49-F238E27FC236}">
                <a16:creationId xmlns:a16="http://schemas.microsoft.com/office/drawing/2014/main" id="{0D316381-180A-5D41-6C85-2C1931B5EF2F}"/>
              </a:ext>
            </a:extLst>
          </p:cNvPr>
          <p:cNvSpPr/>
          <p:nvPr/>
        </p:nvSpPr>
        <p:spPr>
          <a:xfrm flipH="1" flipV="1">
            <a:off x="6257672" y="3325871"/>
            <a:ext cx="654449" cy="270673"/>
          </a:xfrm>
          <a:prstGeom prst="line">
            <a:avLst/>
          </a:prstGeom>
          <a:ln w="20320">
            <a:solidFill>
              <a:schemeClr val="bg1"/>
            </a:solidFill>
            <a:prstDash val="sys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21">
            <a:extLst>
              <a:ext uri="{FF2B5EF4-FFF2-40B4-BE49-F238E27FC236}">
                <a16:creationId xmlns:a16="http://schemas.microsoft.com/office/drawing/2014/main" id="{E88417F2-D605-448D-6A1E-8E827B850BA9}"/>
              </a:ext>
            </a:extLst>
          </p:cNvPr>
          <p:cNvSpPr/>
          <p:nvPr/>
        </p:nvSpPr>
        <p:spPr>
          <a:xfrm flipV="1">
            <a:off x="6265331" y="3133221"/>
            <a:ext cx="184485" cy="159425"/>
          </a:xfrm>
          <a:prstGeom prst="line">
            <a:avLst/>
          </a:prstGeom>
          <a:ln w="20320">
            <a:solidFill>
              <a:schemeClr val="bg1"/>
            </a:solidFill>
            <a:prstDash val="sys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>
            <a:extLst>
              <a:ext uri="{FF2B5EF4-FFF2-40B4-BE49-F238E27FC236}">
                <a16:creationId xmlns:a16="http://schemas.microsoft.com/office/drawing/2014/main" id="{E5A8396D-E9F7-1614-CC19-2832238B5FE1}"/>
              </a:ext>
            </a:extLst>
          </p:cNvPr>
          <p:cNvSpPr/>
          <p:nvPr/>
        </p:nvSpPr>
        <p:spPr>
          <a:xfrm>
            <a:off x="4386807" y="1588535"/>
            <a:ext cx="3672021" cy="8901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zh-TW" altLang="en-US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修補最短路徑</a:t>
            </a:r>
            <a:endParaRPr lang="en-US" altLang="zh-TW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zh-TW" sz="1400" b="0" u="none" strike="noStrike" dirty="0">
                <a:effectLst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BFS</a:t>
            </a:r>
            <a:r>
              <a:rPr lang="zh-TW" altLang="en-US" sz="1400" b="0" u="none" strike="noStrike" dirty="0">
                <a:effectLst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最短路徑搜尋</a:t>
            </a:r>
            <a:endParaRPr lang="en-US" sz="1400" b="0" u="none" strike="noStrike" dirty="0">
              <a:effectLst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AC9A2E2B-F76A-A7AA-FAD1-70340CE1C37C}"/>
              </a:ext>
            </a:extLst>
          </p:cNvPr>
          <p:cNvSpPr/>
          <p:nvPr/>
        </p:nvSpPr>
        <p:spPr>
          <a:xfrm>
            <a:off x="4529292" y="5625195"/>
            <a:ext cx="3351251" cy="71914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TW" altLang="en-US" sz="1200" b="1" dirty="0">
                <a:latin typeface="Noto Sans CJK TC"/>
              </a:rPr>
              <a:t>問題</a:t>
            </a:r>
            <a:r>
              <a:rPr lang="zh-TW" altLang="en-US" sz="1200" dirty="0">
                <a:latin typeface="Noto Sans CJK TC"/>
              </a:rPr>
              <a:t> </a:t>
            </a:r>
            <a:r>
              <a:rPr lang="en-US" altLang="zh-TW" sz="1200" dirty="0">
                <a:latin typeface="Noto Sans CJK TC"/>
              </a:rPr>
              <a:t>|</a:t>
            </a:r>
            <a:r>
              <a:rPr lang="zh-TW" altLang="en-US" sz="1200" dirty="0">
                <a:latin typeface="Noto Sans CJK TC"/>
              </a:rPr>
              <a:t> 傳統缺陷修補路徑造成移動距離增加</a:t>
            </a:r>
            <a:endParaRPr lang="en-US" altLang="zh-TW" sz="1200" dirty="0">
              <a:latin typeface="Noto Sans CJK TC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TW" altLang="en-US" sz="1200" b="1" u="none" strike="noStrike" dirty="0">
                <a:effectLst/>
                <a:uFillTx/>
                <a:latin typeface="Arial"/>
              </a:rPr>
              <a:t>解法</a:t>
            </a:r>
            <a:r>
              <a:rPr lang="zh-TW" altLang="en-US" sz="1200" b="0" u="none" strike="noStrike" dirty="0">
                <a:effectLst/>
                <a:uFillTx/>
                <a:latin typeface="Arial"/>
              </a:rPr>
              <a:t> </a:t>
            </a:r>
            <a:r>
              <a:rPr lang="en-US" altLang="zh-TW" sz="1200" b="0" u="none" strike="noStrike" dirty="0">
                <a:effectLst/>
                <a:uFillTx/>
                <a:latin typeface="Arial"/>
              </a:rPr>
              <a:t>|</a:t>
            </a:r>
            <a:r>
              <a:rPr lang="zh-TW" altLang="en-US" sz="1200" b="0" u="none" strike="noStrike" dirty="0">
                <a:effectLst/>
                <a:uFillTx/>
                <a:latin typeface="Arial"/>
              </a:rPr>
              <a:t> </a:t>
            </a:r>
            <a:r>
              <a:rPr lang="en-US" altLang="zh-TW" sz="1200" b="0" u="none" strike="noStrike" dirty="0">
                <a:effectLst/>
                <a:uFillTx/>
                <a:latin typeface="Arial"/>
              </a:rPr>
              <a:t>BFS</a:t>
            </a:r>
            <a:r>
              <a:rPr lang="zh-TW" altLang="en-US" sz="1200" b="0" u="none" strike="noStrike" dirty="0">
                <a:effectLst/>
                <a:uFillTx/>
                <a:latin typeface="Arial"/>
              </a:rPr>
              <a:t> 演算法優化修補順序與路徑</a:t>
            </a:r>
            <a:endParaRPr lang="en-US" sz="12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89" name="Text 2">
            <a:extLst>
              <a:ext uri="{FF2B5EF4-FFF2-40B4-BE49-F238E27FC236}">
                <a16:creationId xmlns:a16="http://schemas.microsoft.com/office/drawing/2014/main" id="{5701DFBC-87AB-C0E0-65AA-65A536948F07}"/>
              </a:ext>
            </a:extLst>
          </p:cNvPr>
          <p:cNvSpPr/>
          <p:nvPr/>
        </p:nvSpPr>
        <p:spPr>
          <a:xfrm>
            <a:off x="8316454" y="1606222"/>
            <a:ext cx="3672021" cy="8901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zh-TW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LED</a:t>
            </a:r>
            <a:r>
              <a:rPr lang="zh-TW" altLang="en-US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偏移校正</a:t>
            </a:r>
            <a:endParaRPr lang="en-US" altLang="zh-TW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zh-TW" altLang="en-US" sz="1400" b="0" u="none" strike="noStrike" dirty="0">
                <a:effectLst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回歸模型校正偏移座標</a:t>
            </a:r>
            <a:endParaRPr lang="en-US" sz="1400" b="0" u="none" strike="noStrike" dirty="0">
              <a:effectLst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Text 2">
            <a:extLst>
              <a:ext uri="{FF2B5EF4-FFF2-40B4-BE49-F238E27FC236}">
                <a16:creationId xmlns:a16="http://schemas.microsoft.com/office/drawing/2014/main" id="{F9377FC5-EF37-759E-3051-FDEBF16A1CBE}"/>
              </a:ext>
            </a:extLst>
          </p:cNvPr>
          <p:cNvSpPr/>
          <p:nvPr/>
        </p:nvSpPr>
        <p:spPr>
          <a:xfrm>
            <a:off x="8458939" y="5642882"/>
            <a:ext cx="3351251" cy="71914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TW" altLang="en-US" sz="1200" b="1" dirty="0">
                <a:latin typeface="Noto Sans CJK TC"/>
              </a:rPr>
              <a:t>問題</a:t>
            </a:r>
            <a:r>
              <a:rPr lang="zh-TW" altLang="en-US" sz="1200" dirty="0">
                <a:latin typeface="Noto Sans CJK TC"/>
              </a:rPr>
              <a:t> </a:t>
            </a:r>
            <a:r>
              <a:rPr lang="en-US" altLang="zh-TW" sz="1200" dirty="0">
                <a:latin typeface="Noto Sans CJK TC"/>
              </a:rPr>
              <a:t>|</a:t>
            </a:r>
            <a:r>
              <a:rPr lang="zh-TW" altLang="en-US" sz="1200" dirty="0">
                <a:latin typeface="Noto Sans CJK TC"/>
              </a:rPr>
              <a:t> </a:t>
            </a:r>
            <a:r>
              <a:rPr lang="en-US" altLang="zh-TW" sz="1200" dirty="0">
                <a:latin typeface="Noto Sans CJK TC"/>
              </a:rPr>
              <a:t>LED</a:t>
            </a:r>
            <a:r>
              <a:rPr lang="zh-TW" altLang="en-US" sz="1200" dirty="0">
                <a:latin typeface="Noto Sans CJK TC"/>
              </a:rPr>
              <a:t> 實際與理想座標存在偏移，影響精度</a:t>
            </a:r>
            <a:endParaRPr lang="en-US" altLang="zh-TW" sz="1200" dirty="0">
              <a:latin typeface="Noto Sans CJK TC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TW" altLang="en-US" sz="1200" b="1" u="none" strike="noStrike" dirty="0">
                <a:effectLst/>
                <a:uFillTx/>
                <a:latin typeface="Arial"/>
              </a:rPr>
              <a:t>解法</a:t>
            </a:r>
            <a:r>
              <a:rPr lang="zh-TW" altLang="en-US" sz="1200" b="0" u="none" strike="noStrike" dirty="0">
                <a:effectLst/>
                <a:uFillTx/>
                <a:latin typeface="Arial"/>
              </a:rPr>
              <a:t> </a:t>
            </a:r>
            <a:r>
              <a:rPr lang="en-US" altLang="zh-TW" sz="1200" b="0" u="none" strike="noStrike" dirty="0">
                <a:effectLst/>
                <a:uFillTx/>
                <a:latin typeface="Arial"/>
              </a:rPr>
              <a:t>|</a:t>
            </a:r>
            <a:r>
              <a:rPr lang="zh-TW" altLang="en-US" sz="1200" b="0" u="none" strike="noStrike" dirty="0">
                <a:effectLst/>
                <a:uFillTx/>
                <a:latin typeface="Arial"/>
              </a:rPr>
              <a:t> 回歸模型預測偏移量，校正座標</a:t>
            </a:r>
            <a:endParaRPr lang="en-US" sz="1200" b="0" u="none" strike="noStrike" dirty="0">
              <a:effectLst/>
              <a:uFillTx/>
              <a:latin typeface="Arial"/>
            </a:endParaRPr>
          </a:p>
        </p:txBody>
      </p:sp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565C424A-4D21-9E85-B981-611066BA0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479157"/>
              </p:ext>
            </p:extLst>
          </p:nvPr>
        </p:nvGraphicFramePr>
        <p:xfrm>
          <a:off x="658440" y="2594351"/>
          <a:ext cx="720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7876864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472692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4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2446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18441"/>
                  </a:ext>
                </a:extLst>
              </a:tr>
            </a:tbl>
          </a:graphicData>
        </a:graphic>
      </p:graphicFrame>
      <p:graphicFrame>
        <p:nvGraphicFramePr>
          <p:cNvPr id="92" name="表格 91">
            <a:extLst>
              <a:ext uri="{FF2B5EF4-FFF2-40B4-BE49-F238E27FC236}">
                <a16:creationId xmlns:a16="http://schemas.microsoft.com/office/drawing/2014/main" id="{5AE29CAC-092D-BDDF-0545-583560309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794659"/>
              </p:ext>
            </p:extLst>
          </p:nvPr>
        </p:nvGraphicFramePr>
        <p:xfrm>
          <a:off x="658440" y="3668002"/>
          <a:ext cx="720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7876864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472692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2446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B0D49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18441"/>
                  </a:ext>
                </a:extLst>
              </a:tr>
            </a:tbl>
          </a:graphicData>
        </a:graphic>
      </p:graphicFrame>
      <p:graphicFrame>
        <p:nvGraphicFramePr>
          <p:cNvPr id="93" name="表格 92">
            <a:extLst>
              <a:ext uri="{FF2B5EF4-FFF2-40B4-BE49-F238E27FC236}">
                <a16:creationId xmlns:a16="http://schemas.microsoft.com/office/drawing/2014/main" id="{4D404C17-BC5C-36BF-AF51-7FB9C57B6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360788"/>
              </p:ext>
            </p:extLst>
          </p:nvPr>
        </p:nvGraphicFramePr>
        <p:xfrm>
          <a:off x="660079" y="4741653"/>
          <a:ext cx="720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7876864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472692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2B9E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2446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18441"/>
                  </a:ext>
                </a:extLst>
              </a:tr>
            </a:tbl>
          </a:graphicData>
        </a:graphic>
      </p:graphicFrame>
      <p:grpSp>
        <p:nvGrpSpPr>
          <p:cNvPr id="94" name="群組 93">
            <a:extLst>
              <a:ext uri="{FF2B5EF4-FFF2-40B4-BE49-F238E27FC236}">
                <a16:creationId xmlns:a16="http://schemas.microsoft.com/office/drawing/2014/main" id="{9BF7B595-E060-7FF3-D9A5-59623B808798}"/>
              </a:ext>
            </a:extLst>
          </p:cNvPr>
          <p:cNvGrpSpPr/>
          <p:nvPr/>
        </p:nvGrpSpPr>
        <p:grpSpPr>
          <a:xfrm>
            <a:off x="1914349" y="3160130"/>
            <a:ext cx="1715300" cy="1715300"/>
            <a:chOff x="5494408" y="3410702"/>
            <a:chExt cx="1266120" cy="1266120"/>
          </a:xfrm>
        </p:grpSpPr>
        <p:sp>
          <p:nvSpPr>
            <p:cNvPr id="96" name="Shape 71">
              <a:extLst>
                <a:ext uri="{FF2B5EF4-FFF2-40B4-BE49-F238E27FC236}">
                  <a16:creationId xmlns:a16="http://schemas.microsoft.com/office/drawing/2014/main" id="{AF808963-5D67-AAF3-6FED-790F0FBDD7F2}"/>
                </a:ext>
              </a:extLst>
            </p:cNvPr>
            <p:cNvSpPr/>
            <p:nvPr/>
          </p:nvSpPr>
          <p:spPr>
            <a:xfrm>
              <a:off x="5494408" y="341070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Shape 72">
              <a:extLst>
                <a:ext uri="{FF2B5EF4-FFF2-40B4-BE49-F238E27FC236}">
                  <a16:creationId xmlns:a16="http://schemas.microsoft.com/office/drawing/2014/main" id="{2B2458D5-2A79-FB19-19A3-28C06631C732}"/>
                </a:ext>
              </a:extLst>
            </p:cNvPr>
            <p:cNvSpPr/>
            <p:nvPr/>
          </p:nvSpPr>
          <p:spPr>
            <a:xfrm>
              <a:off x="5695648" y="341070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Shape 73">
              <a:extLst>
                <a:ext uri="{FF2B5EF4-FFF2-40B4-BE49-F238E27FC236}">
                  <a16:creationId xmlns:a16="http://schemas.microsoft.com/office/drawing/2014/main" id="{354DCDCA-9A7E-F270-3922-3D58E0A9F804}"/>
                </a:ext>
              </a:extLst>
            </p:cNvPr>
            <p:cNvSpPr/>
            <p:nvPr/>
          </p:nvSpPr>
          <p:spPr>
            <a:xfrm>
              <a:off x="5896528" y="341070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Shape 74">
              <a:extLst>
                <a:ext uri="{FF2B5EF4-FFF2-40B4-BE49-F238E27FC236}">
                  <a16:creationId xmlns:a16="http://schemas.microsoft.com/office/drawing/2014/main" id="{174865D3-108E-7E00-9DFA-D40CE3494151}"/>
                </a:ext>
              </a:extLst>
            </p:cNvPr>
            <p:cNvSpPr/>
            <p:nvPr/>
          </p:nvSpPr>
          <p:spPr>
            <a:xfrm>
              <a:off x="6097768" y="341070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Shape 75">
              <a:extLst>
                <a:ext uri="{FF2B5EF4-FFF2-40B4-BE49-F238E27FC236}">
                  <a16:creationId xmlns:a16="http://schemas.microsoft.com/office/drawing/2014/main" id="{6F1A8DE7-251F-4FEB-8895-9C1FF011717A}"/>
                </a:ext>
              </a:extLst>
            </p:cNvPr>
            <p:cNvSpPr/>
            <p:nvPr/>
          </p:nvSpPr>
          <p:spPr>
            <a:xfrm>
              <a:off x="6299008" y="341070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Shape 76">
              <a:extLst>
                <a:ext uri="{FF2B5EF4-FFF2-40B4-BE49-F238E27FC236}">
                  <a16:creationId xmlns:a16="http://schemas.microsoft.com/office/drawing/2014/main" id="{31AFBC42-FA1C-46D8-138D-425BA413D49C}"/>
                </a:ext>
              </a:extLst>
            </p:cNvPr>
            <p:cNvSpPr/>
            <p:nvPr/>
          </p:nvSpPr>
          <p:spPr>
            <a:xfrm>
              <a:off x="6500248" y="341070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Shape 77">
              <a:extLst>
                <a:ext uri="{FF2B5EF4-FFF2-40B4-BE49-F238E27FC236}">
                  <a16:creationId xmlns:a16="http://schemas.microsoft.com/office/drawing/2014/main" id="{B02471F2-2770-202F-71E1-1C922F8E3054}"/>
                </a:ext>
              </a:extLst>
            </p:cNvPr>
            <p:cNvSpPr/>
            <p:nvPr/>
          </p:nvSpPr>
          <p:spPr>
            <a:xfrm>
              <a:off x="6701488" y="341070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Shape 78">
              <a:extLst>
                <a:ext uri="{FF2B5EF4-FFF2-40B4-BE49-F238E27FC236}">
                  <a16:creationId xmlns:a16="http://schemas.microsoft.com/office/drawing/2014/main" id="{C39519A4-3A67-F462-DDD4-7CE47B382AF0}"/>
                </a:ext>
              </a:extLst>
            </p:cNvPr>
            <p:cNvSpPr/>
            <p:nvPr/>
          </p:nvSpPr>
          <p:spPr>
            <a:xfrm>
              <a:off x="5494408" y="361194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Shape 79">
              <a:extLst>
                <a:ext uri="{FF2B5EF4-FFF2-40B4-BE49-F238E27FC236}">
                  <a16:creationId xmlns:a16="http://schemas.microsoft.com/office/drawing/2014/main" id="{97107D7F-A145-49EF-4AC5-BFD01999387C}"/>
                </a:ext>
              </a:extLst>
            </p:cNvPr>
            <p:cNvSpPr/>
            <p:nvPr/>
          </p:nvSpPr>
          <p:spPr>
            <a:xfrm>
              <a:off x="5695648" y="361194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Shape 80">
              <a:extLst>
                <a:ext uri="{FF2B5EF4-FFF2-40B4-BE49-F238E27FC236}">
                  <a16:creationId xmlns:a16="http://schemas.microsoft.com/office/drawing/2014/main" id="{AC0A1400-3824-6840-5EAC-BDD2E137E7EB}"/>
                </a:ext>
              </a:extLst>
            </p:cNvPr>
            <p:cNvSpPr/>
            <p:nvPr/>
          </p:nvSpPr>
          <p:spPr>
            <a:xfrm>
              <a:off x="5896528" y="3611942"/>
              <a:ext cx="59040" cy="59040"/>
            </a:xfrm>
            <a:prstGeom prst="ellipse">
              <a:avLst/>
            </a:prstGeom>
            <a:solidFill>
              <a:srgbClr val="FF4747"/>
            </a:solidFill>
            <a:ln w="12700">
              <a:solidFill>
                <a:srgbClr val="FF474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Shape 81">
              <a:extLst>
                <a:ext uri="{FF2B5EF4-FFF2-40B4-BE49-F238E27FC236}">
                  <a16:creationId xmlns:a16="http://schemas.microsoft.com/office/drawing/2014/main" id="{AF4A4070-72CA-41AC-BAC2-449C432F0A7B}"/>
                </a:ext>
              </a:extLst>
            </p:cNvPr>
            <p:cNvSpPr/>
            <p:nvPr/>
          </p:nvSpPr>
          <p:spPr>
            <a:xfrm>
              <a:off x="6097768" y="361194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Shape 82">
              <a:extLst>
                <a:ext uri="{FF2B5EF4-FFF2-40B4-BE49-F238E27FC236}">
                  <a16:creationId xmlns:a16="http://schemas.microsoft.com/office/drawing/2014/main" id="{3C5293BA-0DEC-4A98-A390-CD3EAAA574CD}"/>
                </a:ext>
              </a:extLst>
            </p:cNvPr>
            <p:cNvSpPr/>
            <p:nvPr/>
          </p:nvSpPr>
          <p:spPr>
            <a:xfrm>
              <a:off x="6299008" y="361194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Shape 83">
              <a:extLst>
                <a:ext uri="{FF2B5EF4-FFF2-40B4-BE49-F238E27FC236}">
                  <a16:creationId xmlns:a16="http://schemas.microsoft.com/office/drawing/2014/main" id="{27AF1F14-4FC0-F653-F3A1-F20E3CA9395E}"/>
                </a:ext>
              </a:extLst>
            </p:cNvPr>
            <p:cNvSpPr/>
            <p:nvPr/>
          </p:nvSpPr>
          <p:spPr>
            <a:xfrm>
              <a:off x="6500248" y="361194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Shape 84">
              <a:extLst>
                <a:ext uri="{FF2B5EF4-FFF2-40B4-BE49-F238E27FC236}">
                  <a16:creationId xmlns:a16="http://schemas.microsoft.com/office/drawing/2014/main" id="{6A6ABE4E-102C-AB7D-CD18-8C0428050E43}"/>
                </a:ext>
              </a:extLst>
            </p:cNvPr>
            <p:cNvSpPr/>
            <p:nvPr/>
          </p:nvSpPr>
          <p:spPr>
            <a:xfrm>
              <a:off x="6701488" y="361194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Shape 85">
              <a:extLst>
                <a:ext uri="{FF2B5EF4-FFF2-40B4-BE49-F238E27FC236}">
                  <a16:creationId xmlns:a16="http://schemas.microsoft.com/office/drawing/2014/main" id="{8FCD6EC5-9363-4F34-6051-F11616D8346B}"/>
                </a:ext>
              </a:extLst>
            </p:cNvPr>
            <p:cNvSpPr/>
            <p:nvPr/>
          </p:nvSpPr>
          <p:spPr>
            <a:xfrm>
              <a:off x="5494408" y="381318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Shape 86">
              <a:extLst>
                <a:ext uri="{FF2B5EF4-FFF2-40B4-BE49-F238E27FC236}">
                  <a16:creationId xmlns:a16="http://schemas.microsoft.com/office/drawing/2014/main" id="{4E675D92-87CE-2E5B-A5F3-B58EEB0EF286}"/>
                </a:ext>
              </a:extLst>
            </p:cNvPr>
            <p:cNvSpPr/>
            <p:nvPr/>
          </p:nvSpPr>
          <p:spPr>
            <a:xfrm>
              <a:off x="5695648" y="381318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Shape 87">
              <a:extLst>
                <a:ext uri="{FF2B5EF4-FFF2-40B4-BE49-F238E27FC236}">
                  <a16:creationId xmlns:a16="http://schemas.microsoft.com/office/drawing/2014/main" id="{FC5546F8-5A24-ABA1-2B27-CDA88178848B}"/>
                </a:ext>
              </a:extLst>
            </p:cNvPr>
            <p:cNvSpPr/>
            <p:nvPr/>
          </p:nvSpPr>
          <p:spPr>
            <a:xfrm>
              <a:off x="5896528" y="381318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Shape 88">
              <a:extLst>
                <a:ext uri="{FF2B5EF4-FFF2-40B4-BE49-F238E27FC236}">
                  <a16:creationId xmlns:a16="http://schemas.microsoft.com/office/drawing/2014/main" id="{5E40BB81-DA14-E06C-4DDB-572D4C8C2DF3}"/>
                </a:ext>
              </a:extLst>
            </p:cNvPr>
            <p:cNvSpPr/>
            <p:nvPr/>
          </p:nvSpPr>
          <p:spPr>
            <a:xfrm>
              <a:off x="6097768" y="381318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Shape 89">
              <a:extLst>
                <a:ext uri="{FF2B5EF4-FFF2-40B4-BE49-F238E27FC236}">
                  <a16:creationId xmlns:a16="http://schemas.microsoft.com/office/drawing/2014/main" id="{951236A2-0A37-11D2-251B-05918FF0F510}"/>
                </a:ext>
              </a:extLst>
            </p:cNvPr>
            <p:cNvSpPr/>
            <p:nvPr/>
          </p:nvSpPr>
          <p:spPr>
            <a:xfrm>
              <a:off x="6299008" y="381318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Shape 90">
              <a:extLst>
                <a:ext uri="{FF2B5EF4-FFF2-40B4-BE49-F238E27FC236}">
                  <a16:creationId xmlns:a16="http://schemas.microsoft.com/office/drawing/2014/main" id="{3D04622A-6691-4A95-900E-AD8C9BF74B84}"/>
                </a:ext>
              </a:extLst>
            </p:cNvPr>
            <p:cNvSpPr/>
            <p:nvPr/>
          </p:nvSpPr>
          <p:spPr>
            <a:xfrm>
              <a:off x="6500248" y="381318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Shape 91">
              <a:extLst>
                <a:ext uri="{FF2B5EF4-FFF2-40B4-BE49-F238E27FC236}">
                  <a16:creationId xmlns:a16="http://schemas.microsoft.com/office/drawing/2014/main" id="{E673A229-E48E-9F0F-7087-B85A345BCE28}"/>
                </a:ext>
              </a:extLst>
            </p:cNvPr>
            <p:cNvSpPr/>
            <p:nvPr/>
          </p:nvSpPr>
          <p:spPr>
            <a:xfrm>
              <a:off x="6701488" y="381318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Shape 92">
              <a:extLst>
                <a:ext uri="{FF2B5EF4-FFF2-40B4-BE49-F238E27FC236}">
                  <a16:creationId xmlns:a16="http://schemas.microsoft.com/office/drawing/2014/main" id="{469B563C-DC4F-E674-5E85-BB91A412B47B}"/>
                </a:ext>
              </a:extLst>
            </p:cNvPr>
            <p:cNvSpPr/>
            <p:nvPr/>
          </p:nvSpPr>
          <p:spPr>
            <a:xfrm>
              <a:off x="5494408" y="401442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Shape 93">
              <a:extLst>
                <a:ext uri="{FF2B5EF4-FFF2-40B4-BE49-F238E27FC236}">
                  <a16:creationId xmlns:a16="http://schemas.microsoft.com/office/drawing/2014/main" id="{5CBF0085-0CF0-15A5-69B8-640A15C965AC}"/>
                </a:ext>
              </a:extLst>
            </p:cNvPr>
            <p:cNvSpPr/>
            <p:nvPr/>
          </p:nvSpPr>
          <p:spPr>
            <a:xfrm>
              <a:off x="5695648" y="4014422"/>
              <a:ext cx="59040" cy="59040"/>
            </a:xfrm>
            <a:prstGeom prst="ellipse">
              <a:avLst/>
            </a:prstGeom>
            <a:solidFill>
              <a:srgbClr val="B0D498"/>
            </a:solidFill>
            <a:ln w="12700">
              <a:solidFill>
                <a:srgbClr val="B0D49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Shape 94">
              <a:extLst>
                <a:ext uri="{FF2B5EF4-FFF2-40B4-BE49-F238E27FC236}">
                  <a16:creationId xmlns:a16="http://schemas.microsoft.com/office/drawing/2014/main" id="{5D9F6F78-8EA2-F417-D913-55F6FCD9AD8C}"/>
                </a:ext>
              </a:extLst>
            </p:cNvPr>
            <p:cNvSpPr/>
            <p:nvPr/>
          </p:nvSpPr>
          <p:spPr>
            <a:xfrm>
              <a:off x="5896528" y="401442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Shape 95">
              <a:extLst>
                <a:ext uri="{FF2B5EF4-FFF2-40B4-BE49-F238E27FC236}">
                  <a16:creationId xmlns:a16="http://schemas.microsoft.com/office/drawing/2014/main" id="{8213CE48-D290-A698-9B22-EE9D571884A4}"/>
                </a:ext>
              </a:extLst>
            </p:cNvPr>
            <p:cNvSpPr/>
            <p:nvPr/>
          </p:nvSpPr>
          <p:spPr>
            <a:xfrm>
              <a:off x="6097768" y="401442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Shape 96">
              <a:extLst>
                <a:ext uri="{FF2B5EF4-FFF2-40B4-BE49-F238E27FC236}">
                  <a16:creationId xmlns:a16="http://schemas.microsoft.com/office/drawing/2014/main" id="{4BF2602A-435D-C40B-74F2-B6A94FE4A62E}"/>
                </a:ext>
              </a:extLst>
            </p:cNvPr>
            <p:cNvSpPr/>
            <p:nvPr/>
          </p:nvSpPr>
          <p:spPr>
            <a:xfrm>
              <a:off x="6299008" y="401442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Shape 97">
              <a:extLst>
                <a:ext uri="{FF2B5EF4-FFF2-40B4-BE49-F238E27FC236}">
                  <a16:creationId xmlns:a16="http://schemas.microsoft.com/office/drawing/2014/main" id="{FF09024E-CD97-C148-667B-6767735FF4DB}"/>
                </a:ext>
              </a:extLst>
            </p:cNvPr>
            <p:cNvSpPr/>
            <p:nvPr/>
          </p:nvSpPr>
          <p:spPr>
            <a:xfrm>
              <a:off x="6500248" y="4014422"/>
              <a:ext cx="59040" cy="59040"/>
            </a:xfrm>
            <a:prstGeom prst="ellipse">
              <a:avLst/>
            </a:prstGeom>
            <a:solidFill>
              <a:srgbClr val="A2B9E2"/>
            </a:solidFill>
            <a:ln w="12700">
              <a:solidFill>
                <a:srgbClr val="A2B9E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Shape 98">
              <a:extLst>
                <a:ext uri="{FF2B5EF4-FFF2-40B4-BE49-F238E27FC236}">
                  <a16:creationId xmlns:a16="http://schemas.microsoft.com/office/drawing/2014/main" id="{A690510F-2655-A777-EF15-167D1F7D8F5F}"/>
                </a:ext>
              </a:extLst>
            </p:cNvPr>
            <p:cNvSpPr/>
            <p:nvPr/>
          </p:nvSpPr>
          <p:spPr>
            <a:xfrm>
              <a:off x="6701488" y="401442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Shape 99">
              <a:extLst>
                <a:ext uri="{FF2B5EF4-FFF2-40B4-BE49-F238E27FC236}">
                  <a16:creationId xmlns:a16="http://schemas.microsoft.com/office/drawing/2014/main" id="{6EB39DD9-A52C-7D39-0C20-E3AA8C3063E3}"/>
                </a:ext>
              </a:extLst>
            </p:cNvPr>
            <p:cNvSpPr/>
            <p:nvPr/>
          </p:nvSpPr>
          <p:spPr>
            <a:xfrm>
              <a:off x="5494408" y="421566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Shape 100">
              <a:extLst>
                <a:ext uri="{FF2B5EF4-FFF2-40B4-BE49-F238E27FC236}">
                  <a16:creationId xmlns:a16="http://schemas.microsoft.com/office/drawing/2014/main" id="{2EA0C63B-D83C-1D33-4BB6-EA2FFB74DB46}"/>
                </a:ext>
              </a:extLst>
            </p:cNvPr>
            <p:cNvSpPr/>
            <p:nvPr/>
          </p:nvSpPr>
          <p:spPr>
            <a:xfrm>
              <a:off x="5695648" y="421566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Shape 101">
              <a:extLst>
                <a:ext uri="{FF2B5EF4-FFF2-40B4-BE49-F238E27FC236}">
                  <a16:creationId xmlns:a16="http://schemas.microsoft.com/office/drawing/2014/main" id="{820A55DA-32E0-E7DE-B511-DF63F319B339}"/>
                </a:ext>
              </a:extLst>
            </p:cNvPr>
            <p:cNvSpPr/>
            <p:nvPr/>
          </p:nvSpPr>
          <p:spPr>
            <a:xfrm>
              <a:off x="5896528" y="421566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Shape 102">
              <a:extLst>
                <a:ext uri="{FF2B5EF4-FFF2-40B4-BE49-F238E27FC236}">
                  <a16:creationId xmlns:a16="http://schemas.microsoft.com/office/drawing/2014/main" id="{E40F45B1-4178-CF5B-51D7-D21BB025FBD6}"/>
                </a:ext>
              </a:extLst>
            </p:cNvPr>
            <p:cNvSpPr/>
            <p:nvPr/>
          </p:nvSpPr>
          <p:spPr>
            <a:xfrm>
              <a:off x="6097768" y="421566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Shape 103">
              <a:extLst>
                <a:ext uri="{FF2B5EF4-FFF2-40B4-BE49-F238E27FC236}">
                  <a16:creationId xmlns:a16="http://schemas.microsoft.com/office/drawing/2014/main" id="{F7580F95-ACCF-90FF-76A8-228A67332101}"/>
                </a:ext>
              </a:extLst>
            </p:cNvPr>
            <p:cNvSpPr/>
            <p:nvPr/>
          </p:nvSpPr>
          <p:spPr>
            <a:xfrm>
              <a:off x="6299008" y="421566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Shape 104">
              <a:extLst>
                <a:ext uri="{FF2B5EF4-FFF2-40B4-BE49-F238E27FC236}">
                  <a16:creationId xmlns:a16="http://schemas.microsoft.com/office/drawing/2014/main" id="{34833C06-F7C2-4F98-3C13-AC15EDE69A75}"/>
                </a:ext>
              </a:extLst>
            </p:cNvPr>
            <p:cNvSpPr/>
            <p:nvPr/>
          </p:nvSpPr>
          <p:spPr>
            <a:xfrm>
              <a:off x="6500248" y="421566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Shape 105">
              <a:extLst>
                <a:ext uri="{FF2B5EF4-FFF2-40B4-BE49-F238E27FC236}">
                  <a16:creationId xmlns:a16="http://schemas.microsoft.com/office/drawing/2014/main" id="{9A0A1C38-D309-D77F-FC44-77F81C21E984}"/>
                </a:ext>
              </a:extLst>
            </p:cNvPr>
            <p:cNvSpPr/>
            <p:nvPr/>
          </p:nvSpPr>
          <p:spPr>
            <a:xfrm>
              <a:off x="6701488" y="421566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Shape 106">
              <a:extLst>
                <a:ext uri="{FF2B5EF4-FFF2-40B4-BE49-F238E27FC236}">
                  <a16:creationId xmlns:a16="http://schemas.microsoft.com/office/drawing/2014/main" id="{BEE7E783-7C02-B8A2-C6C4-73207091462C}"/>
                </a:ext>
              </a:extLst>
            </p:cNvPr>
            <p:cNvSpPr/>
            <p:nvPr/>
          </p:nvSpPr>
          <p:spPr>
            <a:xfrm>
              <a:off x="5494408" y="441654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Shape 107">
              <a:extLst>
                <a:ext uri="{FF2B5EF4-FFF2-40B4-BE49-F238E27FC236}">
                  <a16:creationId xmlns:a16="http://schemas.microsoft.com/office/drawing/2014/main" id="{3CF370E7-21EF-C18A-9AEF-B9F7199A60D7}"/>
                </a:ext>
              </a:extLst>
            </p:cNvPr>
            <p:cNvSpPr/>
            <p:nvPr/>
          </p:nvSpPr>
          <p:spPr>
            <a:xfrm>
              <a:off x="5695648" y="441654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Shape 108">
              <a:extLst>
                <a:ext uri="{FF2B5EF4-FFF2-40B4-BE49-F238E27FC236}">
                  <a16:creationId xmlns:a16="http://schemas.microsoft.com/office/drawing/2014/main" id="{7F4B3B96-54AD-3F16-5184-C6FB160F9B93}"/>
                </a:ext>
              </a:extLst>
            </p:cNvPr>
            <p:cNvSpPr/>
            <p:nvPr/>
          </p:nvSpPr>
          <p:spPr>
            <a:xfrm>
              <a:off x="5896528" y="441654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Shape 109">
              <a:extLst>
                <a:ext uri="{FF2B5EF4-FFF2-40B4-BE49-F238E27FC236}">
                  <a16:creationId xmlns:a16="http://schemas.microsoft.com/office/drawing/2014/main" id="{EA406A93-2BEE-4C8E-07D6-D45338E203C3}"/>
                </a:ext>
              </a:extLst>
            </p:cNvPr>
            <p:cNvSpPr/>
            <p:nvPr/>
          </p:nvSpPr>
          <p:spPr>
            <a:xfrm>
              <a:off x="6097768" y="441654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Shape 110">
              <a:extLst>
                <a:ext uri="{FF2B5EF4-FFF2-40B4-BE49-F238E27FC236}">
                  <a16:creationId xmlns:a16="http://schemas.microsoft.com/office/drawing/2014/main" id="{FF348A27-4C77-BCD4-1CDC-E00EA21DABD2}"/>
                </a:ext>
              </a:extLst>
            </p:cNvPr>
            <p:cNvSpPr/>
            <p:nvPr/>
          </p:nvSpPr>
          <p:spPr>
            <a:xfrm>
              <a:off x="6299008" y="441654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Shape 111">
              <a:extLst>
                <a:ext uri="{FF2B5EF4-FFF2-40B4-BE49-F238E27FC236}">
                  <a16:creationId xmlns:a16="http://schemas.microsoft.com/office/drawing/2014/main" id="{35693F86-FB8F-F8F5-244A-011090C01A53}"/>
                </a:ext>
              </a:extLst>
            </p:cNvPr>
            <p:cNvSpPr/>
            <p:nvPr/>
          </p:nvSpPr>
          <p:spPr>
            <a:xfrm>
              <a:off x="6500248" y="441654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Shape 112">
              <a:extLst>
                <a:ext uri="{FF2B5EF4-FFF2-40B4-BE49-F238E27FC236}">
                  <a16:creationId xmlns:a16="http://schemas.microsoft.com/office/drawing/2014/main" id="{DF75B090-6B88-6873-BE85-21B4EC889CB2}"/>
                </a:ext>
              </a:extLst>
            </p:cNvPr>
            <p:cNvSpPr/>
            <p:nvPr/>
          </p:nvSpPr>
          <p:spPr>
            <a:xfrm>
              <a:off x="6701488" y="441654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Shape 113">
              <a:extLst>
                <a:ext uri="{FF2B5EF4-FFF2-40B4-BE49-F238E27FC236}">
                  <a16:creationId xmlns:a16="http://schemas.microsoft.com/office/drawing/2014/main" id="{F19AE178-67CE-5A9F-7EC1-4881F2180407}"/>
                </a:ext>
              </a:extLst>
            </p:cNvPr>
            <p:cNvSpPr/>
            <p:nvPr/>
          </p:nvSpPr>
          <p:spPr>
            <a:xfrm>
              <a:off x="5494408" y="461778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Shape 114">
              <a:extLst>
                <a:ext uri="{FF2B5EF4-FFF2-40B4-BE49-F238E27FC236}">
                  <a16:creationId xmlns:a16="http://schemas.microsoft.com/office/drawing/2014/main" id="{530CDEC9-4686-4D63-6CEB-3CD19876C4F7}"/>
                </a:ext>
              </a:extLst>
            </p:cNvPr>
            <p:cNvSpPr/>
            <p:nvPr/>
          </p:nvSpPr>
          <p:spPr>
            <a:xfrm>
              <a:off x="5695648" y="461778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Shape 115">
              <a:extLst>
                <a:ext uri="{FF2B5EF4-FFF2-40B4-BE49-F238E27FC236}">
                  <a16:creationId xmlns:a16="http://schemas.microsoft.com/office/drawing/2014/main" id="{857B0BA5-BBAE-3787-F878-70E2174BB4B3}"/>
                </a:ext>
              </a:extLst>
            </p:cNvPr>
            <p:cNvSpPr/>
            <p:nvPr/>
          </p:nvSpPr>
          <p:spPr>
            <a:xfrm>
              <a:off x="5896528" y="461778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Shape 116">
              <a:extLst>
                <a:ext uri="{FF2B5EF4-FFF2-40B4-BE49-F238E27FC236}">
                  <a16:creationId xmlns:a16="http://schemas.microsoft.com/office/drawing/2014/main" id="{CE75A5F0-73EA-3BC0-ECE4-541247D88F0D}"/>
                </a:ext>
              </a:extLst>
            </p:cNvPr>
            <p:cNvSpPr/>
            <p:nvPr/>
          </p:nvSpPr>
          <p:spPr>
            <a:xfrm>
              <a:off x="6097768" y="461778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Shape 117">
              <a:extLst>
                <a:ext uri="{FF2B5EF4-FFF2-40B4-BE49-F238E27FC236}">
                  <a16:creationId xmlns:a16="http://schemas.microsoft.com/office/drawing/2014/main" id="{810372A7-DEBA-7C9D-C4C3-0CF5493331F4}"/>
                </a:ext>
              </a:extLst>
            </p:cNvPr>
            <p:cNvSpPr/>
            <p:nvPr/>
          </p:nvSpPr>
          <p:spPr>
            <a:xfrm>
              <a:off x="6299008" y="4617782"/>
              <a:ext cx="59040" cy="590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Shape 118">
              <a:extLst>
                <a:ext uri="{FF2B5EF4-FFF2-40B4-BE49-F238E27FC236}">
                  <a16:creationId xmlns:a16="http://schemas.microsoft.com/office/drawing/2014/main" id="{A63D0E91-E74D-0F92-6164-27C76A50CF11}"/>
                </a:ext>
              </a:extLst>
            </p:cNvPr>
            <p:cNvSpPr/>
            <p:nvPr/>
          </p:nvSpPr>
          <p:spPr>
            <a:xfrm>
              <a:off x="6500248" y="4617782"/>
              <a:ext cx="59040" cy="590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Shape 119">
              <a:extLst>
                <a:ext uri="{FF2B5EF4-FFF2-40B4-BE49-F238E27FC236}">
                  <a16:creationId xmlns:a16="http://schemas.microsoft.com/office/drawing/2014/main" id="{B569B9A0-30CF-0277-77FE-6BE70F0BA7AF}"/>
                </a:ext>
              </a:extLst>
            </p:cNvPr>
            <p:cNvSpPr/>
            <p:nvPr/>
          </p:nvSpPr>
          <p:spPr>
            <a:xfrm>
              <a:off x="6701488" y="4617782"/>
              <a:ext cx="59040" cy="590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240" rIns="90000" bIns="-324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8" name="Shape 121">
            <a:extLst>
              <a:ext uri="{FF2B5EF4-FFF2-40B4-BE49-F238E27FC236}">
                <a16:creationId xmlns:a16="http://schemas.microsoft.com/office/drawing/2014/main" id="{90C0C347-A596-D96E-F91D-98B6682B6F64}"/>
              </a:ext>
            </a:extLst>
          </p:cNvPr>
          <p:cNvSpPr/>
          <p:nvPr/>
        </p:nvSpPr>
        <p:spPr>
          <a:xfrm flipH="1" flipV="1">
            <a:off x="1230971" y="2799268"/>
            <a:ext cx="1213180" cy="629731"/>
          </a:xfrm>
          <a:prstGeom prst="line">
            <a:avLst/>
          </a:prstGeom>
          <a:ln w="20320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21">
            <a:extLst>
              <a:ext uri="{FF2B5EF4-FFF2-40B4-BE49-F238E27FC236}">
                <a16:creationId xmlns:a16="http://schemas.microsoft.com/office/drawing/2014/main" id="{5EF63CEF-E0CB-E797-94E9-374C10FEBDB1}"/>
              </a:ext>
            </a:extLst>
          </p:cNvPr>
          <p:cNvSpPr/>
          <p:nvPr/>
        </p:nvSpPr>
        <p:spPr>
          <a:xfrm flipH="1">
            <a:off x="842782" y="4042913"/>
            <a:ext cx="1336826" cy="168274"/>
          </a:xfrm>
          <a:prstGeom prst="line">
            <a:avLst/>
          </a:prstGeom>
          <a:ln w="20320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21">
            <a:extLst>
              <a:ext uri="{FF2B5EF4-FFF2-40B4-BE49-F238E27FC236}">
                <a16:creationId xmlns:a16="http://schemas.microsoft.com/office/drawing/2014/main" id="{B6D9DEF7-48BB-30A1-B8CA-41FF6D636F2A}"/>
              </a:ext>
            </a:extLst>
          </p:cNvPr>
          <p:cNvSpPr/>
          <p:nvPr/>
        </p:nvSpPr>
        <p:spPr>
          <a:xfrm flipH="1">
            <a:off x="842781" y="4077419"/>
            <a:ext cx="2406501" cy="849412"/>
          </a:xfrm>
          <a:prstGeom prst="line">
            <a:avLst/>
          </a:prstGeom>
          <a:ln w="20320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9408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</a:majorFont>
      <a:minorFont>
        <a:latin typeface="Noto Sans CJK TC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147</Words>
  <Application>Microsoft Office PowerPoint</Application>
  <PresentationFormat>寬螢幕</PresentationFormat>
  <Paragraphs>22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Noto Sans CJK TC</vt:lpstr>
      <vt:lpstr>微軟正黑體</vt:lpstr>
      <vt:lpstr>Arial</vt:lpstr>
      <vt:lpstr>Symbol</vt:lpstr>
      <vt:lpstr>Times New Roman</vt:lpstr>
      <vt:lpstr>Wingdings</vt:lpstr>
      <vt:lpstr>Office Theme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韻文 曾</cp:lastModifiedBy>
  <cp:revision>8</cp:revision>
  <dcterms:modified xsi:type="dcterms:W3CDTF">2026-09-01T12:35:33Z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2026-08-24T12:01:29Z</dcterms:created>
  <dc:creator>OpenAI</dc:creator>
  <dc:description/>
  <dc:language>en-US</dc:language>
  <cp:lastModifiedBy>OpenAI</cp:lastModifiedBy>
  <dcterms:modified xsi:type="dcterms:W3CDTF">2026-08-24T12:01:29Z</dcterms:modified>
  <cp:revision>1</cp:revision>
  <dc:subject>自我介紹簡報優化版</dc:subject>
  <dc:title>曾韻文｜AI × 系統開發 × 雲端應用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</vt:r8>
  </property>
  <property fmtid="{D5CDD505-2E9C-101B-9397-08002B2CF9AE}" pid="3" name="PresentationFormat">
    <vt:lpwstr>On-screen Show (16:9)</vt:lpwstr>
  </property>
  <property fmtid="{D5CDD505-2E9C-101B-9397-08002B2CF9AE}" pid="4" name="Slides">
    <vt:r8>5</vt:r8>
  </property>
</Properties>
</file>
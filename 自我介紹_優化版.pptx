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"/>
  <Override PartName="/ppt/media/image12.svg" ContentType="image/svg"/>
  <Override PartName="/ppt/media/image14.svg" ContentType="image/svg"/>
  <Override PartName="/ppt/media/image16.svg" ContentType="image/svg"/>
  <Override PartName="/ppt/media/image18.svg" ContentType="image/svg"/>
  <Override PartName="/ppt/media/image2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0.svg" ContentType="image/svg"/>
  <Override PartName="/ppt/media/image32.svg" ContentType="image/svg"/>
  <Override PartName="/ppt/media/image34.svg" ContentType="image/svg"/>
  <Override PartName="/ppt/media/image36.svg" ContentType="image/svg"/>
  <Override PartName="/ppt/media/image38.svg" ContentType="image/svg"/>
  <Override PartName="/ppt/media/image4.svg" ContentType="image/svg"/>
  <Override PartName="/ppt/media/image40.svg" ContentType="image/svg"/>
  <Override PartName="/ppt/media/image42.svg" ContentType="image/svg"/>
  <Override PartName="/ppt/media/image44.svg" ContentType="image/svg"/>
  <Override PartName="/ppt/media/image46.svg" ContentType="image/svg"/>
  <Override PartName="/ppt/media/image48.svg" ContentType="image/svg"/>
  <Override PartName="/ppt/media/image50.svg" ContentType="image/svg"/>
  <Override PartName="/ppt/media/image6.svg" ContentType="image/svg"/>
  <Override PartName="/ppt/media/image8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10"/>
    <p:sldId id="262" r:id="rId11"/>
    <p:sldId id="263" r:id="rId12"/>
    <p:sldId id="264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8D3FB2-51A7-4CEB-BBEF-5F80EC6F872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5653A5-FC01-4670-AFC6-6B631FB8C61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這頁將原本的學歷與工作經歷合併，以時間軸呈現。強調能力從資訊管理、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視覺，到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MES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系統與雲端整合逐步累積。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C1856B-5453-49AA-8F12-9D4706E4DA1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Micro LED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專案將原本兩頁合併成一頁。先講製程痛點，再講演算法與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校正，最後收斂到成果。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9FCD21-8F0A-4829-AF95-B3F5205F39E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雲端專案重點不是列服務名稱，而是把服務放進架構流程，讓面試者一眼看懂資料怎麼從地端進雲端、運算、儲存與交換。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254B56-0ED6-4E62-BD4E-CE1B9F17FFE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將原本零散的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專案整併成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CCTV AI </a:t>
            </a:r>
            <a:r>
              <a:rPr b="0" lang="zh-CN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平台概念，以四種典型應用呈現。碩士論文放在研究延伸，避免額外多一頁。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4494C9-8C31-42F3-A18E-B286B07C28B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400" cy="82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7440" bIns="374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440" y="6492240"/>
            <a:ext cx="4023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曾韻文  </a:t>
            </a:r>
            <a:r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|  AI × SYSTEM × CLOUD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9966960" y="6492240"/>
            <a:ext cx="15998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Self Introduction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54C121-2A3C-470D-85CE-6B364E3A6350}" type="slidenum"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&lt;number&gt;</a:t>
            </a:fld>
            <a:endParaRPr b="0" lang="en-US" sz="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Noto Sans CJK TC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Noto Sans CJK T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3.png"/><Relationship Id="rId6" Type="http://schemas.openxmlformats.org/officeDocument/2006/relationships/image" Target="../media/image14.svg"/><Relationship Id="rId7" Type="http://schemas.openxmlformats.org/officeDocument/2006/relationships/image" Target="../media/image15.png"/><Relationship Id="rId8" Type="http://schemas.openxmlformats.org/officeDocument/2006/relationships/image" Target="../media/image16.svg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image" Target="../media/image17.png"/><Relationship Id="rId12" Type="http://schemas.openxmlformats.org/officeDocument/2006/relationships/image" Target="../media/image18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21.png"/><Relationship Id="rId6" Type="http://schemas.openxmlformats.org/officeDocument/2006/relationships/image" Target="../media/image22.svg"/><Relationship Id="rId7" Type="http://schemas.openxmlformats.org/officeDocument/2006/relationships/image" Target="../media/image23.png"/><Relationship Id="rId8" Type="http://schemas.openxmlformats.org/officeDocument/2006/relationships/image" Target="../media/image24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image" Target="../media/image27.png"/><Relationship Id="rId4" Type="http://schemas.openxmlformats.org/officeDocument/2006/relationships/image" Target="../media/image28.svg"/><Relationship Id="rId5" Type="http://schemas.openxmlformats.org/officeDocument/2006/relationships/image" Target="../media/image29.png"/><Relationship Id="rId6" Type="http://schemas.openxmlformats.org/officeDocument/2006/relationships/image" Target="../media/image30.svg"/><Relationship Id="rId7" Type="http://schemas.openxmlformats.org/officeDocument/2006/relationships/image" Target="../media/image31.png"/><Relationship Id="rId8" Type="http://schemas.openxmlformats.org/officeDocument/2006/relationships/image" Target="../media/image32.svg"/><Relationship Id="rId9" Type="http://schemas.openxmlformats.org/officeDocument/2006/relationships/image" Target="../media/image33.png"/><Relationship Id="rId10" Type="http://schemas.openxmlformats.org/officeDocument/2006/relationships/image" Target="../media/image34.svg"/><Relationship Id="rId11" Type="http://schemas.openxmlformats.org/officeDocument/2006/relationships/image" Target="../media/image35.png"/><Relationship Id="rId12" Type="http://schemas.openxmlformats.org/officeDocument/2006/relationships/image" Target="../media/image36.svg"/><Relationship Id="rId13" Type="http://schemas.openxmlformats.org/officeDocument/2006/relationships/image" Target="../media/image37.png"/><Relationship Id="rId14" Type="http://schemas.openxmlformats.org/officeDocument/2006/relationships/image" Target="../media/image38.svg"/><Relationship Id="rId15" Type="http://schemas.openxmlformats.org/officeDocument/2006/relationships/image" Target="../media/image39.png"/><Relationship Id="rId16" Type="http://schemas.openxmlformats.org/officeDocument/2006/relationships/image" Target="../media/image40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svg"/><Relationship Id="rId3" Type="http://schemas.openxmlformats.org/officeDocument/2006/relationships/image" Target="../media/image43.png"/><Relationship Id="rId4" Type="http://schemas.openxmlformats.org/officeDocument/2006/relationships/image" Target="../media/image44.svg"/><Relationship Id="rId5" Type="http://schemas.openxmlformats.org/officeDocument/2006/relationships/image" Target="../media/image45.png"/><Relationship Id="rId6" Type="http://schemas.openxmlformats.org/officeDocument/2006/relationships/image" Target="../media/image46.svg"/><Relationship Id="rId7" Type="http://schemas.openxmlformats.org/officeDocument/2006/relationships/image" Target="../media/image47.png"/><Relationship Id="rId8" Type="http://schemas.openxmlformats.org/officeDocument/2006/relationships/image" Target="../media/image48.svg"/><Relationship Id="rId9" Type="http://schemas.openxmlformats.org/officeDocument/2006/relationships/image" Target="../media/image49.png"/><Relationship Id="rId10" Type="http://schemas.openxmlformats.org/officeDocument/2006/relationships/image" Target="../media/image5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768096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809244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891540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932688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973836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1014984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1056132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1097280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1138428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7315200" y="1828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7315200" y="6580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7315200" y="113364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7315200" y="160920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7315200" y="20847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7315200" y="256032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7315200" y="303552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7315200" y="35110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8"/>
          <p:cNvSpPr/>
          <p:nvPr/>
        </p:nvSpPr>
        <p:spPr>
          <a:xfrm>
            <a:off x="7315200" y="398664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9"/>
          <p:cNvSpPr/>
          <p:nvPr/>
        </p:nvSpPr>
        <p:spPr>
          <a:xfrm>
            <a:off x="7315200" y="446220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0"/>
          <p:cNvSpPr/>
          <p:nvPr/>
        </p:nvSpPr>
        <p:spPr>
          <a:xfrm>
            <a:off x="7315200" y="49377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1"/>
          <p:cNvSpPr/>
          <p:nvPr/>
        </p:nvSpPr>
        <p:spPr>
          <a:xfrm>
            <a:off x="7315200" y="54129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8641080" y="1042560"/>
            <a:ext cx="2925720" cy="2925720"/>
          </a:xfrm>
          <a:prstGeom prst="ellipse">
            <a:avLst/>
          </a:prstGeom>
          <a:solidFill>
            <a:srgbClr val="2563eb">
              <a:alpha val="10000"/>
            </a:srgbClr>
          </a:solidFill>
          <a:ln w="25400">
            <a:solidFill>
              <a:srgbClr val="2563eb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3"/>
          <p:cNvSpPr/>
          <p:nvPr/>
        </p:nvSpPr>
        <p:spPr>
          <a:xfrm>
            <a:off x="9189720" y="1591200"/>
            <a:ext cx="1828440" cy="1828440"/>
          </a:xfrm>
          <a:prstGeom prst="ellipse">
            <a:avLst/>
          </a:prstGeom>
          <a:solidFill>
            <a:srgbClr val="06b6d4">
              <a:alpha val="12000"/>
            </a:srgbClr>
          </a:solidFill>
          <a:ln w="19050">
            <a:solidFill>
              <a:srgbClr val="06b6d4">
                <a:alpha val="5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537120" y="1929240"/>
            <a:ext cx="1096920" cy="10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Shape 24"/>
          <p:cNvSpPr/>
          <p:nvPr/>
        </p:nvSpPr>
        <p:spPr>
          <a:xfrm>
            <a:off x="768240" y="713160"/>
            <a:ext cx="1663920" cy="292320"/>
          </a:xfrm>
          <a:prstGeom prst="roundRect">
            <a:avLst>
              <a:gd name="adj" fmla="val 37500"/>
            </a:avLst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5"/>
          <p:cNvSpPr/>
          <p:nvPr/>
        </p:nvSpPr>
        <p:spPr>
          <a:xfrm>
            <a:off x="768240" y="713160"/>
            <a:ext cx="1663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bfdbfe"/>
                </a:solidFill>
                <a:effectLst/>
                <a:uFillTx/>
                <a:latin typeface="Noto Sans CJK TC"/>
                <a:ea typeface="Noto Sans CJK TC"/>
              </a:rPr>
              <a:t>SELF INTRODUCTION</a:t>
            </a:r>
            <a:endParaRPr b="0" lang="en-US" sz="1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6"/>
          <p:cNvSpPr/>
          <p:nvPr/>
        </p:nvSpPr>
        <p:spPr>
          <a:xfrm>
            <a:off x="768240" y="1325880"/>
            <a:ext cx="3840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340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曾韻文</a:t>
            </a:r>
            <a:endParaRPr b="0" lang="en-US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7"/>
          <p:cNvSpPr/>
          <p:nvPr/>
        </p:nvSpPr>
        <p:spPr>
          <a:xfrm>
            <a:off x="768240" y="2030040"/>
            <a:ext cx="5668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trike="noStrike" u="non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AI × </a:t>
            </a:r>
            <a:r>
              <a:rPr b="1" lang="zh-CN" sz="2400" strike="noStrike" u="non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系統開發 </a:t>
            </a:r>
            <a:r>
              <a:rPr b="1" lang="en-US" sz="2400" strike="noStrike" u="non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b="1" lang="zh-CN" sz="2400" strike="noStrike" u="non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雲端應用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8"/>
          <p:cNvSpPr/>
          <p:nvPr/>
        </p:nvSpPr>
        <p:spPr>
          <a:xfrm>
            <a:off x="768240" y="2724840"/>
            <a:ext cx="5897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從 </a:t>
            </a:r>
            <a:r>
              <a:rPr b="0" lang="en-US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Edge AI </a:t>
            </a:r>
            <a:r>
              <a:rPr b="0" lang="zh-CN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影像辨識，到 </a:t>
            </a:r>
            <a:r>
              <a:rPr b="0" lang="en-US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b="0" lang="zh-CN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製程演算法與 </a:t>
            </a:r>
            <a:r>
              <a:rPr b="0" lang="en-US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Azure </a:t>
            </a:r>
            <a:r>
              <a:rPr b="0" lang="zh-CN" sz="1420" strike="noStrike" u="non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雲端系統整合</a:t>
            </a:r>
            <a:endParaRPr b="0" lang="en-US" sz="14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9"/>
          <p:cNvSpPr/>
          <p:nvPr/>
        </p:nvSpPr>
        <p:spPr>
          <a:xfrm>
            <a:off x="76824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1440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Text 30"/>
          <p:cNvSpPr/>
          <p:nvPr/>
        </p:nvSpPr>
        <p:spPr>
          <a:xfrm>
            <a:off x="129852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AI / Computer Vision</a:t>
            </a:r>
            <a:endParaRPr b="0" lang="en-US" sz="11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1"/>
          <p:cNvSpPr/>
          <p:nvPr/>
        </p:nvSpPr>
        <p:spPr>
          <a:xfrm>
            <a:off x="91440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CNN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LSTM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b="0" lang="en-US" sz="889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2"/>
          <p:cNvSpPr/>
          <p:nvPr/>
        </p:nvSpPr>
        <p:spPr>
          <a:xfrm>
            <a:off x="277992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292608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33"/>
          <p:cNvSpPr/>
          <p:nvPr/>
        </p:nvSpPr>
        <p:spPr>
          <a:xfrm>
            <a:off x="331020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System / MES</a:t>
            </a:r>
            <a:endParaRPr b="0" lang="en-US" sz="11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4"/>
          <p:cNvSpPr/>
          <p:nvPr/>
        </p:nvSpPr>
        <p:spPr>
          <a:xfrm>
            <a:off x="292608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Java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REST API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Database</a:t>
            </a:r>
            <a:endParaRPr b="0" lang="en-US" sz="889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5"/>
          <p:cNvSpPr/>
          <p:nvPr/>
        </p:nvSpPr>
        <p:spPr>
          <a:xfrm>
            <a:off x="479160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493776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36"/>
          <p:cNvSpPr/>
          <p:nvPr/>
        </p:nvSpPr>
        <p:spPr>
          <a:xfrm>
            <a:off x="532188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Cloud / Data</a:t>
            </a:r>
            <a:endParaRPr b="0" lang="en-US" sz="11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7"/>
          <p:cNvSpPr/>
          <p:nvPr/>
        </p:nvSpPr>
        <p:spPr>
          <a:xfrm>
            <a:off x="493776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Azure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r>
              <a:rPr b="0" lang="zh-CN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9" strike="noStrike" u="non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Delta Lake</a:t>
            </a:r>
            <a:endParaRPr b="0" lang="en-US" sz="889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8"/>
          <p:cNvSpPr/>
          <p:nvPr/>
        </p:nvSpPr>
        <p:spPr>
          <a:xfrm>
            <a:off x="768240" y="598932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7f91aa"/>
                </a:solidFill>
                <a:effectLst/>
                <a:uFillTx/>
                <a:latin typeface="Noto Sans CJK TC"/>
                <a:ea typeface="Noto Sans CJK TC"/>
              </a:rPr>
              <a:t>2020 — 2025  |  AI Software Engineer → MES System Development Engineer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9"/>
          <p:cNvSpPr/>
          <p:nvPr/>
        </p:nvSpPr>
        <p:spPr>
          <a:xfrm>
            <a:off x="11109960" y="6291000"/>
            <a:ext cx="347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01</a:t>
            </a:r>
            <a:endParaRPr b="0" lang="en-US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11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PROFILE JOURNEY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學歷背景 </a:t>
            </a: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工作經歷</a:t>
            </a:r>
            <a:endParaRPr b="0" lang="en-US" sz="2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將研究背景、</a:t>
            </a:r>
            <a:r>
              <a:rPr b="0" lang="en-US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經驗與系統 </a:t>
            </a:r>
            <a:r>
              <a:rPr b="0" lang="en-US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雲端能力串成一條完整職涯路徑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932400" y="3520440"/>
            <a:ext cx="10287000" cy="360"/>
          </a:xfrm>
          <a:prstGeom prst="line">
            <a:avLst/>
          </a:prstGeom>
          <a:ln w="25400">
            <a:solidFill>
              <a:srgbClr val="b8c6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1609200" y="3410640"/>
            <a:ext cx="219240" cy="219240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1444680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591200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 6"/>
          <p:cNvSpPr/>
          <p:nvPr/>
        </p:nvSpPr>
        <p:spPr>
          <a:xfrm>
            <a:off x="1005840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6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2014–2018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7"/>
          <p:cNvSpPr/>
          <p:nvPr/>
        </p:nvSpPr>
        <p:spPr>
          <a:xfrm>
            <a:off x="932760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資訊管理系｜大學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8"/>
          <p:cNvSpPr/>
          <p:nvPr/>
        </p:nvSpPr>
        <p:spPr>
          <a:xfrm>
            <a:off x="932760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00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國立高雄第一科技大學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951120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1069920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資訊系統與程式設計基礎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4197240" y="3410640"/>
            <a:ext cx="219240" cy="219240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4032360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178880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13"/>
          <p:cNvSpPr/>
          <p:nvPr/>
        </p:nvSpPr>
        <p:spPr>
          <a:xfrm>
            <a:off x="3593520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60" strike="noStrike" u="none">
                <a:solidFill>
                  <a:srgbClr val="06b6d4"/>
                </a:solidFill>
                <a:effectLst/>
                <a:uFillTx/>
                <a:latin typeface="Noto Sans CJK TC"/>
                <a:ea typeface="Noto Sans CJK TC"/>
              </a:rPr>
              <a:t>2018–2020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3520440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資訊管理所｜碩士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3520440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00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國立雲林科技大學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6"/>
          <p:cNvSpPr/>
          <p:nvPr/>
        </p:nvSpPr>
        <p:spPr>
          <a:xfrm>
            <a:off x="3538800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3657600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深度影像 </a:t>
            </a: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+ LSTM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人體動作 </a:t>
            </a: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跌倒偵測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6775560" y="3410640"/>
            <a:ext cx="219240" cy="219240"/>
          </a:xfrm>
          <a:prstGeom prst="ellipse">
            <a:avLst/>
          </a:prstGeom>
          <a:solidFill>
            <a:srgbClr val="14b8a6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6611040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757560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20"/>
          <p:cNvSpPr/>
          <p:nvPr/>
        </p:nvSpPr>
        <p:spPr>
          <a:xfrm>
            <a:off x="6172200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60" strike="noStrike" u="none">
                <a:solidFill>
                  <a:srgbClr val="14b8a6"/>
                </a:solidFill>
                <a:effectLst/>
                <a:uFillTx/>
                <a:latin typeface="Noto Sans CJK TC"/>
                <a:ea typeface="Noto Sans CJK TC"/>
              </a:rPr>
              <a:t>2020–2022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6099120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b="1" lang="zh-CN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軟體工程師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6099120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00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杭特電子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117480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236280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Edge AI / CCTV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車牌・人臉・跌倒・智慧牧場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5"/>
          <p:cNvSpPr/>
          <p:nvPr/>
        </p:nvSpPr>
        <p:spPr>
          <a:xfrm>
            <a:off x="9363600" y="3410640"/>
            <a:ext cx="219240" cy="21924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6"/>
          <p:cNvSpPr/>
          <p:nvPr/>
        </p:nvSpPr>
        <p:spPr>
          <a:xfrm>
            <a:off x="9198720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9345240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7"/>
          <p:cNvSpPr/>
          <p:nvPr/>
        </p:nvSpPr>
        <p:spPr>
          <a:xfrm>
            <a:off x="8759880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60" strike="noStrike" u="none">
                <a:solidFill>
                  <a:srgbClr val="f59e0b"/>
                </a:solidFill>
                <a:effectLst/>
                <a:uFillTx/>
                <a:latin typeface="Noto Sans CJK TC"/>
                <a:ea typeface="Noto Sans CJK TC"/>
              </a:rPr>
              <a:t>2022–2025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8686800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MES </a:t>
            </a:r>
            <a:r>
              <a:rPr b="1" lang="zh-CN" sz="12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系統開發工程師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9"/>
          <p:cNvSpPr/>
          <p:nvPr/>
        </p:nvSpPr>
        <p:spPr>
          <a:xfrm>
            <a:off x="8686800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00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友達光電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0"/>
          <p:cNvSpPr/>
          <p:nvPr/>
        </p:nvSpPr>
        <p:spPr>
          <a:xfrm>
            <a:off x="8705160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1"/>
          <p:cNvSpPr/>
          <p:nvPr/>
        </p:nvSpPr>
        <p:spPr>
          <a:xfrm>
            <a:off x="8823960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b="0" lang="zh-CN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演算法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MES / Azure / Full-stack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841320" y="506592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核心能力累積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3"/>
          <p:cNvSpPr/>
          <p:nvPr/>
        </p:nvSpPr>
        <p:spPr>
          <a:xfrm>
            <a:off x="2240280" y="4956120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2386440" y="519372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 34"/>
          <p:cNvSpPr/>
          <p:nvPr/>
        </p:nvSpPr>
        <p:spPr>
          <a:xfrm>
            <a:off x="2770560" y="5074920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/ </a:t>
            </a:r>
            <a:r>
              <a:rPr b="1" lang="zh-CN" sz="112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影像辨識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5"/>
          <p:cNvSpPr/>
          <p:nvPr/>
        </p:nvSpPr>
        <p:spPr>
          <a:xfrm>
            <a:off x="2770560" y="536760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模型訓練・推論・場域整合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6"/>
          <p:cNvSpPr/>
          <p:nvPr/>
        </p:nvSpPr>
        <p:spPr>
          <a:xfrm>
            <a:off x="4974480" y="4956120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5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5120640" y="519372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7"/>
          <p:cNvSpPr/>
          <p:nvPr/>
        </p:nvSpPr>
        <p:spPr>
          <a:xfrm>
            <a:off x="5504760" y="5074920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2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系統開發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8"/>
          <p:cNvSpPr/>
          <p:nvPr/>
        </p:nvSpPr>
        <p:spPr>
          <a:xfrm>
            <a:off x="5504760" y="536760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前後端・</a:t>
            </a:r>
            <a:r>
              <a:rPr b="0" lang="en-US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REST API</a:t>
            </a:r>
            <a:r>
              <a:rPr b="0" lang="zh-CN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・資料庫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9"/>
          <p:cNvSpPr/>
          <p:nvPr/>
        </p:nvSpPr>
        <p:spPr>
          <a:xfrm>
            <a:off x="7708320" y="4956120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6" descr="preencoded.png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7854840" y="519372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40"/>
          <p:cNvSpPr/>
          <p:nvPr/>
        </p:nvSpPr>
        <p:spPr>
          <a:xfrm>
            <a:off x="8238600" y="5074920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2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雲端與資料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1"/>
          <p:cNvSpPr/>
          <p:nvPr/>
        </p:nvSpPr>
        <p:spPr>
          <a:xfrm>
            <a:off x="8238600" y="536760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Azure</a:t>
            </a:r>
            <a:r>
              <a:rPr b="0" lang="zh-CN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r>
              <a:rPr b="0" lang="zh-CN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b="0" lang="en-US" sz="88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Blob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5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9FC632-438D-4D5C-AC6B-89944F4EAFC2}" type="slidenum"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&lt;number&gt;</a:t>
            </a:fld>
            <a:endParaRPr b="0" lang="en-US" sz="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11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01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製程演算法與 </a:t>
            </a: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校正</a:t>
            </a:r>
            <a:endParaRPr b="0" lang="en-US" sz="2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從製程問題拆解、演算法設計到系統化導入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01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MICRO LED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58440" y="2258640"/>
            <a:ext cx="4315680" cy="1023840"/>
          </a:xfrm>
          <a:prstGeom prst="roundRect">
            <a:avLst>
              <a:gd name="adj" fmla="val 7143"/>
            </a:avLst>
          </a:prstGeom>
          <a:solidFill>
            <a:srgbClr val="fff7e8"/>
          </a:solidFill>
          <a:ln w="12700">
            <a:solidFill>
              <a:srgbClr val="f7d9a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96040" y="25513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Text 7"/>
          <p:cNvSpPr/>
          <p:nvPr/>
        </p:nvSpPr>
        <p:spPr>
          <a:xfrm>
            <a:off x="1371600" y="239580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24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製程挑戰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1371600" y="2670120"/>
            <a:ext cx="32457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0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巨量轉移分佈、修補路徑、玻璃對組，以及 </a:t>
            </a:r>
            <a:r>
              <a:rPr b="0" lang="en-US" sz="10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Wafer / TFT / </a:t>
            </a:r>
            <a:r>
              <a:rPr b="0" lang="zh-CN" sz="10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機台誤差造成的 </a:t>
            </a:r>
            <a:r>
              <a:rPr b="0" lang="en-US" sz="10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LED </a:t>
            </a:r>
            <a:r>
              <a:rPr b="0" lang="zh-CN" sz="105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偏移。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9"/>
          <p:cNvSpPr/>
          <p:nvPr/>
        </p:nvSpPr>
        <p:spPr>
          <a:xfrm>
            <a:off x="658440" y="3456360"/>
            <a:ext cx="431568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96040" y="3684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0"/>
          <p:cNvSpPr/>
          <p:nvPr/>
        </p:nvSpPr>
        <p:spPr>
          <a:xfrm>
            <a:off x="1371600" y="35661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24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核心工作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1362600" y="3840480"/>
            <a:ext cx="327312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b="0" lang="en-US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Mass Transfer / Repair / Bonding / Total Pitch </a:t>
            </a:r>
            <a:r>
              <a:rPr b="0" lang="zh-CN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演算法設計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b="0" lang="zh-CN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最佳路徑規劃，降低製程時間與不必要移動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b="0" lang="zh-CN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預先模擬玻璃板對組，加速生產流程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b="0" lang="zh-CN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回歸模型校正 </a:t>
            </a:r>
            <a:r>
              <a:rPr b="0" lang="en-US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LED </a:t>
            </a:r>
            <a:r>
              <a:rPr b="0" lang="zh-CN" sz="1020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偏移點位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5248800" y="1920240"/>
            <a:ext cx="6272280" cy="3492720"/>
          </a:xfrm>
          <a:prstGeom prst="roundRect">
            <a:avLst>
              <a:gd name="adj" fmla="val 2094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5532120" y="2139840"/>
            <a:ext cx="2285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b="1" lang="zh-CN" sz="135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製程最佳化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5532120" y="2468880"/>
            <a:ext cx="3474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8fa2bd"/>
                </a:solidFill>
                <a:effectLst/>
                <a:uFillTx/>
                <a:latin typeface="Noto Sans CJK TC"/>
                <a:ea typeface="Noto Sans CJK TC"/>
              </a:rPr>
              <a:t>Distribution → Path Planning → Offset Calibration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5559480" y="297180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565092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578808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592524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606240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565092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1"/>
          <p:cNvSpPr/>
          <p:nvPr/>
        </p:nvSpPr>
        <p:spPr>
          <a:xfrm>
            <a:off x="578808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592524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606240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565092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578808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592524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7"/>
          <p:cNvSpPr/>
          <p:nvPr/>
        </p:nvSpPr>
        <p:spPr>
          <a:xfrm>
            <a:off x="606240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565092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9"/>
          <p:cNvSpPr/>
          <p:nvPr/>
        </p:nvSpPr>
        <p:spPr>
          <a:xfrm>
            <a:off x="578808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592524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1"/>
          <p:cNvSpPr/>
          <p:nvPr/>
        </p:nvSpPr>
        <p:spPr>
          <a:xfrm>
            <a:off x="606240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2"/>
          <p:cNvSpPr/>
          <p:nvPr/>
        </p:nvSpPr>
        <p:spPr>
          <a:xfrm>
            <a:off x="6245280" y="299916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ef4444"/>
                </a:solidFill>
                <a:effectLst/>
                <a:uFillTx/>
                <a:latin typeface="Noto Sans CJK TC"/>
                <a:ea typeface="Noto Sans CJK TC"/>
              </a:rPr>
              <a:t>R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3"/>
          <p:cNvSpPr/>
          <p:nvPr/>
        </p:nvSpPr>
        <p:spPr>
          <a:xfrm>
            <a:off x="5559480" y="361188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565092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5"/>
          <p:cNvSpPr/>
          <p:nvPr/>
        </p:nvSpPr>
        <p:spPr>
          <a:xfrm>
            <a:off x="578808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6"/>
          <p:cNvSpPr/>
          <p:nvPr/>
        </p:nvSpPr>
        <p:spPr>
          <a:xfrm>
            <a:off x="592524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606240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565092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9"/>
          <p:cNvSpPr/>
          <p:nvPr/>
        </p:nvSpPr>
        <p:spPr>
          <a:xfrm>
            <a:off x="578808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592524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606240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2"/>
          <p:cNvSpPr/>
          <p:nvPr/>
        </p:nvSpPr>
        <p:spPr>
          <a:xfrm>
            <a:off x="565092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3"/>
          <p:cNvSpPr/>
          <p:nvPr/>
        </p:nvSpPr>
        <p:spPr>
          <a:xfrm>
            <a:off x="578808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44"/>
          <p:cNvSpPr/>
          <p:nvPr/>
        </p:nvSpPr>
        <p:spPr>
          <a:xfrm>
            <a:off x="592524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606240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6"/>
          <p:cNvSpPr/>
          <p:nvPr/>
        </p:nvSpPr>
        <p:spPr>
          <a:xfrm>
            <a:off x="565092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7"/>
          <p:cNvSpPr/>
          <p:nvPr/>
        </p:nvSpPr>
        <p:spPr>
          <a:xfrm>
            <a:off x="578808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8"/>
          <p:cNvSpPr/>
          <p:nvPr/>
        </p:nvSpPr>
        <p:spPr>
          <a:xfrm>
            <a:off x="592524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606240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6245280" y="363924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2c55e"/>
                </a:solidFill>
                <a:effectLst/>
                <a:uFillTx/>
                <a:latin typeface="Noto Sans CJK TC"/>
                <a:ea typeface="Noto Sans CJK TC"/>
              </a:rPr>
              <a:t>G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1"/>
          <p:cNvSpPr/>
          <p:nvPr/>
        </p:nvSpPr>
        <p:spPr>
          <a:xfrm>
            <a:off x="5559480" y="425196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2"/>
          <p:cNvSpPr/>
          <p:nvPr/>
        </p:nvSpPr>
        <p:spPr>
          <a:xfrm>
            <a:off x="565092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53"/>
          <p:cNvSpPr/>
          <p:nvPr/>
        </p:nvSpPr>
        <p:spPr>
          <a:xfrm>
            <a:off x="578808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4"/>
          <p:cNvSpPr/>
          <p:nvPr/>
        </p:nvSpPr>
        <p:spPr>
          <a:xfrm>
            <a:off x="592524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5"/>
          <p:cNvSpPr/>
          <p:nvPr/>
        </p:nvSpPr>
        <p:spPr>
          <a:xfrm>
            <a:off x="606240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6"/>
          <p:cNvSpPr/>
          <p:nvPr/>
        </p:nvSpPr>
        <p:spPr>
          <a:xfrm>
            <a:off x="565092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57"/>
          <p:cNvSpPr/>
          <p:nvPr/>
        </p:nvSpPr>
        <p:spPr>
          <a:xfrm>
            <a:off x="578808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8"/>
          <p:cNvSpPr/>
          <p:nvPr/>
        </p:nvSpPr>
        <p:spPr>
          <a:xfrm>
            <a:off x="592524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9"/>
          <p:cNvSpPr/>
          <p:nvPr/>
        </p:nvSpPr>
        <p:spPr>
          <a:xfrm>
            <a:off x="606240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60"/>
          <p:cNvSpPr/>
          <p:nvPr/>
        </p:nvSpPr>
        <p:spPr>
          <a:xfrm>
            <a:off x="565092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61"/>
          <p:cNvSpPr/>
          <p:nvPr/>
        </p:nvSpPr>
        <p:spPr>
          <a:xfrm>
            <a:off x="578808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62"/>
          <p:cNvSpPr/>
          <p:nvPr/>
        </p:nvSpPr>
        <p:spPr>
          <a:xfrm>
            <a:off x="592524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63"/>
          <p:cNvSpPr/>
          <p:nvPr/>
        </p:nvSpPr>
        <p:spPr>
          <a:xfrm>
            <a:off x="606240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64"/>
          <p:cNvSpPr/>
          <p:nvPr/>
        </p:nvSpPr>
        <p:spPr>
          <a:xfrm>
            <a:off x="565092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5"/>
          <p:cNvSpPr/>
          <p:nvPr/>
        </p:nvSpPr>
        <p:spPr>
          <a:xfrm>
            <a:off x="578808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66"/>
          <p:cNvSpPr/>
          <p:nvPr/>
        </p:nvSpPr>
        <p:spPr>
          <a:xfrm>
            <a:off x="592524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67"/>
          <p:cNvSpPr/>
          <p:nvPr/>
        </p:nvSpPr>
        <p:spPr>
          <a:xfrm>
            <a:off x="606240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8"/>
          <p:cNvSpPr/>
          <p:nvPr/>
        </p:nvSpPr>
        <p:spPr>
          <a:xfrm>
            <a:off x="6245280" y="427932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3b82f6"/>
                </a:solidFill>
                <a:effectLst/>
                <a:uFillTx/>
                <a:latin typeface="Noto Sans CJK TC"/>
                <a:ea typeface="Noto Sans CJK TC"/>
              </a:rPr>
              <a:t>B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69"/>
          <p:cNvSpPr/>
          <p:nvPr/>
        </p:nvSpPr>
        <p:spPr>
          <a:xfrm>
            <a:off x="6748200" y="3684960"/>
            <a:ext cx="932760" cy="360"/>
          </a:xfrm>
          <a:prstGeom prst="line">
            <a:avLst/>
          </a:prstGeom>
          <a:ln w="2794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0"/>
          <p:cNvSpPr/>
          <p:nvPr/>
        </p:nvSpPr>
        <p:spPr>
          <a:xfrm>
            <a:off x="7818120" y="2761560"/>
            <a:ext cx="1992960" cy="1992960"/>
          </a:xfrm>
          <a:prstGeom prst="ellipse">
            <a:avLst/>
          </a:prstGeom>
          <a:solidFill>
            <a:srgbClr val="1b2842"/>
          </a:solidFill>
          <a:ln w="15240">
            <a:solidFill>
              <a:srgbClr val="5b7d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71"/>
          <p:cNvSpPr/>
          <p:nvPr/>
        </p:nvSpPr>
        <p:spPr>
          <a:xfrm>
            <a:off x="806508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72"/>
          <p:cNvSpPr/>
          <p:nvPr/>
        </p:nvSpPr>
        <p:spPr>
          <a:xfrm>
            <a:off x="8266320" y="302652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73"/>
          <p:cNvSpPr/>
          <p:nvPr/>
        </p:nvSpPr>
        <p:spPr>
          <a:xfrm>
            <a:off x="8467200" y="302652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74"/>
          <p:cNvSpPr/>
          <p:nvPr/>
        </p:nvSpPr>
        <p:spPr>
          <a:xfrm>
            <a:off x="866844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75"/>
          <p:cNvSpPr/>
          <p:nvPr/>
        </p:nvSpPr>
        <p:spPr>
          <a:xfrm>
            <a:off x="8869680" y="302652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76"/>
          <p:cNvSpPr/>
          <p:nvPr/>
        </p:nvSpPr>
        <p:spPr>
          <a:xfrm>
            <a:off x="9070920" y="302652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77"/>
          <p:cNvSpPr/>
          <p:nvPr/>
        </p:nvSpPr>
        <p:spPr>
          <a:xfrm>
            <a:off x="927216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78"/>
          <p:cNvSpPr/>
          <p:nvPr/>
        </p:nvSpPr>
        <p:spPr>
          <a:xfrm>
            <a:off x="806508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9"/>
          <p:cNvSpPr/>
          <p:nvPr/>
        </p:nvSpPr>
        <p:spPr>
          <a:xfrm>
            <a:off x="8266320" y="32277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80"/>
          <p:cNvSpPr/>
          <p:nvPr/>
        </p:nvSpPr>
        <p:spPr>
          <a:xfrm>
            <a:off x="8467200" y="32277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81"/>
          <p:cNvSpPr/>
          <p:nvPr/>
        </p:nvSpPr>
        <p:spPr>
          <a:xfrm>
            <a:off x="866844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2"/>
          <p:cNvSpPr/>
          <p:nvPr/>
        </p:nvSpPr>
        <p:spPr>
          <a:xfrm>
            <a:off x="8869680" y="32277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83"/>
          <p:cNvSpPr/>
          <p:nvPr/>
        </p:nvSpPr>
        <p:spPr>
          <a:xfrm>
            <a:off x="9070920" y="32277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84"/>
          <p:cNvSpPr/>
          <p:nvPr/>
        </p:nvSpPr>
        <p:spPr>
          <a:xfrm>
            <a:off x="927216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85"/>
          <p:cNvSpPr/>
          <p:nvPr/>
        </p:nvSpPr>
        <p:spPr>
          <a:xfrm>
            <a:off x="806508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86"/>
          <p:cNvSpPr/>
          <p:nvPr/>
        </p:nvSpPr>
        <p:spPr>
          <a:xfrm>
            <a:off x="8266320" y="34290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87"/>
          <p:cNvSpPr/>
          <p:nvPr/>
        </p:nvSpPr>
        <p:spPr>
          <a:xfrm>
            <a:off x="8467200" y="34290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88"/>
          <p:cNvSpPr/>
          <p:nvPr/>
        </p:nvSpPr>
        <p:spPr>
          <a:xfrm>
            <a:off x="866844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89"/>
          <p:cNvSpPr/>
          <p:nvPr/>
        </p:nvSpPr>
        <p:spPr>
          <a:xfrm>
            <a:off x="8869680" y="34290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90"/>
          <p:cNvSpPr/>
          <p:nvPr/>
        </p:nvSpPr>
        <p:spPr>
          <a:xfrm>
            <a:off x="9070920" y="34290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91"/>
          <p:cNvSpPr/>
          <p:nvPr/>
        </p:nvSpPr>
        <p:spPr>
          <a:xfrm>
            <a:off x="927216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92"/>
          <p:cNvSpPr/>
          <p:nvPr/>
        </p:nvSpPr>
        <p:spPr>
          <a:xfrm>
            <a:off x="806508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93"/>
          <p:cNvSpPr/>
          <p:nvPr/>
        </p:nvSpPr>
        <p:spPr>
          <a:xfrm>
            <a:off x="8266320" y="363024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94"/>
          <p:cNvSpPr/>
          <p:nvPr/>
        </p:nvSpPr>
        <p:spPr>
          <a:xfrm>
            <a:off x="8467200" y="363024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95"/>
          <p:cNvSpPr/>
          <p:nvPr/>
        </p:nvSpPr>
        <p:spPr>
          <a:xfrm>
            <a:off x="866844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96"/>
          <p:cNvSpPr/>
          <p:nvPr/>
        </p:nvSpPr>
        <p:spPr>
          <a:xfrm>
            <a:off x="8869680" y="363024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97"/>
          <p:cNvSpPr/>
          <p:nvPr/>
        </p:nvSpPr>
        <p:spPr>
          <a:xfrm>
            <a:off x="9070920" y="363024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98"/>
          <p:cNvSpPr/>
          <p:nvPr/>
        </p:nvSpPr>
        <p:spPr>
          <a:xfrm>
            <a:off x="927216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99"/>
          <p:cNvSpPr/>
          <p:nvPr/>
        </p:nvSpPr>
        <p:spPr>
          <a:xfrm>
            <a:off x="806508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00"/>
          <p:cNvSpPr/>
          <p:nvPr/>
        </p:nvSpPr>
        <p:spPr>
          <a:xfrm>
            <a:off x="8266320" y="383148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01"/>
          <p:cNvSpPr/>
          <p:nvPr/>
        </p:nvSpPr>
        <p:spPr>
          <a:xfrm>
            <a:off x="8467200" y="383148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02"/>
          <p:cNvSpPr/>
          <p:nvPr/>
        </p:nvSpPr>
        <p:spPr>
          <a:xfrm>
            <a:off x="866844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03"/>
          <p:cNvSpPr/>
          <p:nvPr/>
        </p:nvSpPr>
        <p:spPr>
          <a:xfrm>
            <a:off x="8869680" y="383148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04"/>
          <p:cNvSpPr/>
          <p:nvPr/>
        </p:nvSpPr>
        <p:spPr>
          <a:xfrm>
            <a:off x="9070920" y="383148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05"/>
          <p:cNvSpPr/>
          <p:nvPr/>
        </p:nvSpPr>
        <p:spPr>
          <a:xfrm>
            <a:off x="927216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06"/>
          <p:cNvSpPr/>
          <p:nvPr/>
        </p:nvSpPr>
        <p:spPr>
          <a:xfrm>
            <a:off x="806508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07"/>
          <p:cNvSpPr/>
          <p:nvPr/>
        </p:nvSpPr>
        <p:spPr>
          <a:xfrm>
            <a:off x="8266320" y="40323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08"/>
          <p:cNvSpPr/>
          <p:nvPr/>
        </p:nvSpPr>
        <p:spPr>
          <a:xfrm>
            <a:off x="8467200" y="40323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09"/>
          <p:cNvSpPr/>
          <p:nvPr/>
        </p:nvSpPr>
        <p:spPr>
          <a:xfrm>
            <a:off x="866844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10"/>
          <p:cNvSpPr/>
          <p:nvPr/>
        </p:nvSpPr>
        <p:spPr>
          <a:xfrm>
            <a:off x="8869680" y="40323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11"/>
          <p:cNvSpPr/>
          <p:nvPr/>
        </p:nvSpPr>
        <p:spPr>
          <a:xfrm>
            <a:off x="9070920" y="40323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12"/>
          <p:cNvSpPr/>
          <p:nvPr/>
        </p:nvSpPr>
        <p:spPr>
          <a:xfrm>
            <a:off x="927216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13"/>
          <p:cNvSpPr/>
          <p:nvPr/>
        </p:nvSpPr>
        <p:spPr>
          <a:xfrm>
            <a:off x="806508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14"/>
          <p:cNvSpPr/>
          <p:nvPr/>
        </p:nvSpPr>
        <p:spPr>
          <a:xfrm>
            <a:off x="8266320" y="42336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5"/>
          <p:cNvSpPr/>
          <p:nvPr/>
        </p:nvSpPr>
        <p:spPr>
          <a:xfrm>
            <a:off x="8467200" y="42336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6"/>
          <p:cNvSpPr/>
          <p:nvPr/>
        </p:nvSpPr>
        <p:spPr>
          <a:xfrm>
            <a:off x="866844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17"/>
          <p:cNvSpPr/>
          <p:nvPr/>
        </p:nvSpPr>
        <p:spPr>
          <a:xfrm>
            <a:off x="8869680" y="42336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18"/>
          <p:cNvSpPr/>
          <p:nvPr/>
        </p:nvSpPr>
        <p:spPr>
          <a:xfrm>
            <a:off x="9070920" y="42336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19"/>
          <p:cNvSpPr/>
          <p:nvPr/>
        </p:nvSpPr>
        <p:spPr>
          <a:xfrm>
            <a:off x="927216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240" bIns="-32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20"/>
          <p:cNvSpPr/>
          <p:nvPr/>
        </p:nvSpPr>
        <p:spPr>
          <a:xfrm>
            <a:off x="9098280" y="3218760"/>
            <a:ext cx="118440" cy="118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21"/>
          <p:cNvSpPr/>
          <p:nvPr/>
        </p:nvSpPr>
        <p:spPr>
          <a:xfrm flipV="1">
            <a:off x="9253440" y="2889360"/>
            <a:ext cx="731520" cy="393120"/>
          </a:xfrm>
          <a:prstGeom prst="line">
            <a:avLst/>
          </a:prstGeom>
          <a:ln w="2032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22"/>
          <p:cNvSpPr/>
          <p:nvPr/>
        </p:nvSpPr>
        <p:spPr>
          <a:xfrm>
            <a:off x="10003680" y="275220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950" strike="noStrike" u="none">
                <a:solidFill>
                  <a:srgbClr val="fbbf24"/>
                </a:solidFill>
                <a:effectLst/>
                <a:uFillTx/>
                <a:latin typeface="Noto Sans CJK TC"/>
                <a:ea typeface="Noto Sans CJK TC"/>
              </a:rPr>
              <a:t>偏移點位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23"/>
          <p:cNvSpPr/>
          <p:nvPr/>
        </p:nvSpPr>
        <p:spPr>
          <a:xfrm>
            <a:off x="9985320" y="3127320"/>
            <a:ext cx="1170000" cy="529920"/>
          </a:xfrm>
          <a:prstGeom prst="roundRect">
            <a:avLst>
              <a:gd name="adj" fmla="val 2069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104120" y="326448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124"/>
          <p:cNvSpPr/>
          <p:nvPr/>
        </p:nvSpPr>
        <p:spPr>
          <a:xfrm>
            <a:off x="10396800" y="3173040"/>
            <a:ext cx="658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9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回歸模型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9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校正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25"/>
          <p:cNvSpPr/>
          <p:nvPr/>
        </p:nvSpPr>
        <p:spPr>
          <a:xfrm>
            <a:off x="5468040" y="4837320"/>
            <a:ext cx="5806080" cy="420120"/>
          </a:xfrm>
          <a:prstGeom prst="roundRect">
            <a:avLst>
              <a:gd name="adj" fmla="val 17391"/>
            </a:avLst>
          </a:prstGeom>
          <a:solidFill>
            <a:srgbClr val="13253c"/>
          </a:solidFill>
          <a:ln w="12700">
            <a:solidFill>
              <a:srgbClr val="1325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7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650920" y="49467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Text 126"/>
          <p:cNvSpPr/>
          <p:nvPr/>
        </p:nvSpPr>
        <p:spPr>
          <a:xfrm>
            <a:off x="5961960" y="4883040"/>
            <a:ext cx="5074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e2e8f0"/>
                </a:solidFill>
                <a:effectLst/>
                <a:uFillTx/>
                <a:latin typeface="Noto Sans CJK TC"/>
                <a:ea typeface="Noto Sans CJK TC"/>
              </a:rPr>
              <a:t>成果｜巨量修補演算法列入公司營業秘密成果，並提升製程效率與可重複性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7"/>
          <p:cNvSpPr/>
          <p:nvPr/>
        </p:nvSpPr>
        <p:spPr>
          <a:xfrm>
            <a:off x="67680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28"/>
          <p:cNvSpPr/>
          <p:nvPr/>
        </p:nvSpPr>
        <p:spPr>
          <a:xfrm>
            <a:off x="67680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Python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29"/>
          <p:cNvSpPr/>
          <p:nvPr/>
        </p:nvSpPr>
        <p:spPr>
          <a:xfrm>
            <a:off x="17006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30"/>
          <p:cNvSpPr/>
          <p:nvPr/>
        </p:nvSpPr>
        <p:spPr>
          <a:xfrm>
            <a:off x="17006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Algorithm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31"/>
          <p:cNvSpPr/>
          <p:nvPr/>
        </p:nvSpPr>
        <p:spPr>
          <a:xfrm>
            <a:off x="27248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2"/>
          <p:cNvSpPr/>
          <p:nvPr/>
        </p:nvSpPr>
        <p:spPr>
          <a:xfrm>
            <a:off x="27248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Regression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33"/>
          <p:cNvSpPr/>
          <p:nvPr/>
        </p:nvSpPr>
        <p:spPr>
          <a:xfrm>
            <a:off x="37490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4"/>
          <p:cNvSpPr/>
          <p:nvPr/>
        </p:nvSpPr>
        <p:spPr>
          <a:xfrm>
            <a:off x="37490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MES Integration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sldNum" idx="6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2442F7-1505-42A3-AC92-9A14A77EADB2}" type="slidenum"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&lt;number&gt;</a:t>
            </a:fld>
            <a:endParaRPr b="0" lang="en-US" sz="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11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02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Azure 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雲端應用與資料流程整合</a:t>
            </a:r>
            <a:endParaRPr b="0" lang="en-US" sz="2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設計從地端系統到雲端運算、儲存與檔案交換的完整資料路徑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02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CLOUD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658440" y="2176200"/>
            <a:ext cx="10881000" cy="242280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f0"/>
            </a:solidFill>
            <a:round/>
          </a:ln>
          <a:effectLst>
            <a:outerShdw algn="bl" blurRad="15120" dir="2700000" dist="50402" kx="0" ky="0" rotWithShape="0" sx="100000" sy="100000">
              <a:srgbClr val="b8c3d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914400" y="2761560"/>
            <a:ext cx="15174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8"/>
          <p:cNvSpPr/>
          <p:nvPr/>
        </p:nvSpPr>
        <p:spPr>
          <a:xfrm>
            <a:off x="1060560" y="2990160"/>
            <a:ext cx="438480" cy="438480"/>
          </a:xfrm>
          <a:prstGeom prst="ellipse">
            <a:avLst/>
          </a:prstGeom>
          <a:solidFill>
            <a:srgbClr val="0b1220">
              <a:alpha val="94000"/>
            </a:srgbClr>
          </a:solidFill>
          <a:ln w="1016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17972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9"/>
          <p:cNvSpPr/>
          <p:nvPr/>
        </p:nvSpPr>
        <p:spPr>
          <a:xfrm>
            <a:off x="1600200" y="2907720"/>
            <a:ext cx="740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地端系統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0"/>
          <p:cNvSpPr/>
          <p:nvPr/>
        </p:nvSpPr>
        <p:spPr>
          <a:xfrm>
            <a:off x="1600200" y="3218760"/>
            <a:ext cx="740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User / MES</a:t>
            </a:r>
            <a:endParaRPr b="0" lang="en-US" sz="88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1"/>
          <p:cNvSpPr/>
          <p:nvPr/>
        </p:nvSpPr>
        <p:spPr>
          <a:xfrm>
            <a:off x="2541960" y="3373920"/>
            <a:ext cx="16452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2"/>
          <p:cNvSpPr/>
          <p:nvPr/>
        </p:nvSpPr>
        <p:spPr>
          <a:xfrm>
            <a:off x="2834640" y="2761560"/>
            <a:ext cx="153576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3"/>
          <p:cNvSpPr/>
          <p:nvPr/>
        </p:nvSpPr>
        <p:spPr>
          <a:xfrm>
            <a:off x="2980800" y="2990160"/>
            <a:ext cx="438480" cy="438480"/>
          </a:xfrm>
          <a:prstGeom prst="ellipse">
            <a:avLst/>
          </a:prstGeom>
          <a:solidFill>
            <a:srgbClr val="2563eb">
              <a:alpha val="94000"/>
            </a:srgbClr>
          </a:solidFill>
          <a:ln w="101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3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09996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Text 14"/>
          <p:cNvSpPr/>
          <p:nvPr/>
        </p:nvSpPr>
        <p:spPr>
          <a:xfrm>
            <a:off x="3520440" y="2907720"/>
            <a:ext cx="75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App Service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5"/>
          <p:cNvSpPr/>
          <p:nvPr/>
        </p:nvSpPr>
        <p:spPr>
          <a:xfrm>
            <a:off x="3520440" y="3218760"/>
            <a:ext cx="758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API / HTTP POST</a:t>
            </a:r>
            <a:endParaRPr b="0" lang="en-US" sz="88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6"/>
          <p:cNvSpPr/>
          <p:nvPr/>
        </p:nvSpPr>
        <p:spPr>
          <a:xfrm>
            <a:off x="4480560" y="3373920"/>
            <a:ext cx="23760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7"/>
          <p:cNvSpPr/>
          <p:nvPr/>
        </p:nvSpPr>
        <p:spPr>
          <a:xfrm>
            <a:off x="4846320" y="2761560"/>
            <a:ext cx="178272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8"/>
          <p:cNvSpPr/>
          <p:nvPr/>
        </p:nvSpPr>
        <p:spPr>
          <a:xfrm>
            <a:off x="4992480" y="2990160"/>
            <a:ext cx="438480" cy="438480"/>
          </a:xfrm>
          <a:prstGeom prst="ellipse">
            <a:avLst/>
          </a:prstGeom>
          <a:solidFill>
            <a:srgbClr val="ef4444">
              <a:alpha val="94000"/>
            </a:srgbClr>
          </a:solidFill>
          <a:ln w="1016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11164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Text 19"/>
          <p:cNvSpPr/>
          <p:nvPr/>
        </p:nvSpPr>
        <p:spPr>
          <a:xfrm>
            <a:off x="5532120" y="2907720"/>
            <a:ext cx="1005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5532120" y="3218760"/>
            <a:ext cx="1005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Delta Lake / Compute</a:t>
            </a:r>
            <a:endParaRPr b="0" lang="en-US" sz="88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6738840" y="3373920"/>
            <a:ext cx="265320" cy="360"/>
          </a:xfrm>
          <a:prstGeom prst="line">
            <a:avLst/>
          </a:prstGeom>
          <a:ln w="2286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7132320" y="2761560"/>
            <a:ext cx="16272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3"/>
          <p:cNvSpPr/>
          <p:nvPr/>
        </p:nvSpPr>
        <p:spPr>
          <a:xfrm>
            <a:off x="7278480" y="2990160"/>
            <a:ext cx="438480" cy="438480"/>
          </a:xfrm>
          <a:prstGeom prst="ellipse">
            <a:avLst/>
          </a:prstGeom>
          <a:solidFill>
            <a:srgbClr val="06b6d4">
              <a:alpha val="94000"/>
            </a:srgbClr>
          </a:solidFill>
          <a:ln w="1016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5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39764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Text 24"/>
          <p:cNvSpPr/>
          <p:nvPr/>
        </p:nvSpPr>
        <p:spPr>
          <a:xfrm>
            <a:off x="7818120" y="2907720"/>
            <a:ext cx="84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Blob Storage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5"/>
          <p:cNvSpPr/>
          <p:nvPr/>
        </p:nvSpPr>
        <p:spPr>
          <a:xfrm>
            <a:off x="7818120" y="32187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Cloud Storage</a:t>
            </a:r>
            <a:endParaRPr b="0" lang="en-US" sz="88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6"/>
          <p:cNvSpPr/>
          <p:nvPr/>
        </p:nvSpPr>
        <p:spPr>
          <a:xfrm>
            <a:off x="8869680" y="3373920"/>
            <a:ext cx="25596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7"/>
          <p:cNvSpPr/>
          <p:nvPr/>
        </p:nvSpPr>
        <p:spPr>
          <a:xfrm>
            <a:off x="9253800" y="2761560"/>
            <a:ext cx="14994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8"/>
          <p:cNvSpPr/>
          <p:nvPr/>
        </p:nvSpPr>
        <p:spPr>
          <a:xfrm>
            <a:off x="9399960" y="2990160"/>
            <a:ext cx="438480" cy="438480"/>
          </a:xfrm>
          <a:prstGeom prst="ellipse">
            <a:avLst/>
          </a:prstGeom>
          <a:solidFill>
            <a:srgbClr val="14b8a6">
              <a:alpha val="94000"/>
            </a:srgbClr>
          </a:solidFill>
          <a:ln w="1016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951876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9"/>
          <p:cNvSpPr/>
          <p:nvPr/>
        </p:nvSpPr>
        <p:spPr>
          <a:xfrm>
            <a:off x="9939600" y="2907720"/>
            <a:ext cx="722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AzCopy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0"/>
          <p:cNvSpPr/>
          <p:nvPr/>
        </p:nvSpPr>
        <p:spPr>
          <a:xfrm>
            <a:off x="9939600" y="3218760"/>
            <a:ext cx="722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Upload / Download</a:t>
            </a:r>
            <a:endParaRPr b="0" lang="en-US" sz="88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1"/>
          <p:cNvSpPr/>
          <p:nvPr/>
        </p:nvSpPr>
        <p:spPr>
          <a:xfrm>
            <a:off x="2404800" y="249624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2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API Request</a:t>
            </a:r>
            <a:endParaRPr b="0" lang="en-US" sz="8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2"/>
          <p:cNvSpPr/>
          <p:nvPr/>
        </p:nvSpPr>
        <p:spPr>
          <a:xfrm>
            <a:off x="4334400" y="2496240"/>
            <a:ext cx="676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2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 Processing</a:t>
            </a:r>
            <a:endParaRPr b="0" lang="en-US" sz="8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3"/>
          <p:cNvSpPr/>
          <p:nvPr/>
        </p:nvSpPr>
        <p:spPr>
          <a:xfrm>
            <a:off x="6583680" y="2496240"/>
            <a:ext cx="456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2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Persist</a:t>
            </a:r>
            <a:endParaRPr b="0" lang="en-US" sz="8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4"/>
          <p:cNvSpPr/>
          <p:nvPr/>
        </p:nvSpPr>
        <p:spPr>
          <a:xfrm>
            <a:off x="8723520" y="2496240"/>
            <a:ext cx="566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2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File Transfer</a:t>
            </a:r>
            <a:endParaRPr b="0" lang="en-US" sz="8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5"/>
          <p:cNvSpPr/>
          <p:nvPr/>
        </p:nvSpPr>
        <p:spPr>
          <a:xfrm>
            <a:off x="694800" y="48463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我的角色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36"/>
          <p:cNvSpPr/>
          <p:nvPr/>
        </p:nvSpPr>
        <p:spPr>
          <a:xfrm>
            <a:off x="69480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5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84132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37"/>
          <p:cNvSpPr/>
          <p:nvPr/>
        </p:nvSpPr>
        <p:spPr>
          <a:xfrm>
            <a:off x="117036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6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架構設計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8"/>
          <p:cNvSpPr/>
          <p:nvPr/>
        </p:nvSpPr>
        <p:spPr>
          <a:xfrm>
            <a:off x="117036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8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系統入口、資料流與雲端服務串接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9"/>
          <p:cNvSpPr/>
          <p:nvPr/>
        </p:nvSpPr>
        <p:spPr>
          <a:xfrm>
            <a:off x="337428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Image 6" descr="preencoded.png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352044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 40"/>
          <p:cNvSpPr/>
          <p:nvPr/>
        </p:nvSpPr>
        <p:spPr>
          <a:xfrm>
            <a:off x="384948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6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資料處理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1"/>
          <p:cNvSpPr/>
          <p:nvPr/>
        </p:nvSpPr>
        <p:spPr>
          <a:xfrm>
            <a:off x="384948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Databricks / Delta Lake </a:t>
            </a:r>
            <a:r>
              <a:rPr b="0" lang="zh-CN" sz="8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運算與分析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2"/>
          <p:cNvSpPr/>
          <p:nvPr/>
        </p:nvSpPr>
        <p:spPr>
          <a:xfrm>
            <a:off x="605340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7" descr="preencoded.png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619956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43"/>
          <p:cNvSpPr/>
          <p:nvPr/>
        </p:nvSpPr>
        <p:spPr>
          <a:xfrm>
            <a:off x="652896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6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系統整合</a:t>
            </a:r>
            <a:endParaRPr b="0" lang="en-US" sz="10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4"/>
          <p:cNvSpPr/>
          <p:nvPr/>
        </p:nvSpPr>
        <p:spPr>
          <a:xfrm>
            <a:off x="652896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8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打通地端與雲端資料交換流程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5"/>
          <p:cNvSpPr/>
          <p:nvPr/>
        </p:nvSpPr>
        <p:spPr>
          <a:xfrm>
            <a:off x="8906400" y="5029200"/>
            <a:ext cx="2358720" cy="100548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6"/>
          <p:cNvSpPr/>
          <p:nvPr/>
        </p:nvSpPr>
        <p:spPr>
          <a:xfrm>
            <a:off x="9125640" y="51937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50" strike="noStrike" u="non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專案成果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47"/>
          <p:cNvSpPr/>
          <p:nvPr/>
        </p:nvSpPr>
        <p:spPr>
          <a:xfrm>
            <a:off x="9125640" y="5468040"/>
            <a:ext cx="1810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1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建立完整雲端資料處理流程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1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強化即時性與擴充性</a:t>
            </a:r>
            <a:endParaRPr b="0" lang="en-US" sz="1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sldNum" idx="7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135384-F0B0-474E-8AAD-2D1D5A492CB7}" type="slidenum"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&lt;number&gt;</a:t>
            </a:fld>
            <a:endParaRPr b="0" lang="en-US" sz="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111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03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b="1" lang="en-US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CCTV AI </a:t>
            </a:r>
            <a:r>
              <a:rPr b="1" lang="zh-CN" sz="275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智慧影像辨識</a:t>
            </a:r>
            <a:endParaRPr b="0" lang="en-US" sz="2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Edge AI </a:t>
            </a: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即時推論 </a:t>
            </a:r>
            <a:r>
              <a:rPr b="0" lang="en-US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多場域應用 </a:t>
            </a:r>
            <a:r>
              <a:rPr b="0" lang="en-US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b="0" lang="zh-CN" sz="115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系統整合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03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CCTV AI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6"/>
          <p:cNvSpPr/>
          <p:nvPr/>
        </p:nvSpPr>
        <p:spPr>
          <a:xfrm>
            <a:off x="5120640" y="2578680"/>
            <a:ext cx="1919880" cy="191988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1e40a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7"/>
          <p:cNvSpPr/>
          <p:nvPr/>
        </p:nvSpPr>
        <p:spPr>
          <a:xfrm>
            <a:off x="5431680" y="2889360"/>
            <a:ext cx="1298160" cy="1298160"/>
          </a:xfrm>
          <a:prstGeom prst="ellipse">
            <a:avLst/>
          </a:prstGeom>
          <a:solidFill>
            <a:srgbClr val="111c31"/>
          </a:solidFill>
          <a:ln w="12700">
            <a:solidFill>
              <a:srgbClr val="2d4c7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742360" y="3163680"/>
            <a:ext cx="658080" cy="65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8"/>
          <p:cNvSpPr/>
          <p:nvPr/>
        </p:nvSpPr>
        <p:spPr>
          <a:xfrm>
            <a:off x="5577840" y="4005000"/>
            <a:ext cx="840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b="0" lang="en-US" sz="11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9"/>
          <p:cNvSpPr/>
          <p:nvPr/>
        </p:nvSpPr>
        <p:spPr>
          <a:xfrm>
            <a:off x="749880" y="224028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5120" dir="2700000" dist="50402" kx="0" ky="0" rotWithShape="0" sx="100000" sy="100000">
              <a:srgbClr val="b8c3d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0"/>
          <p:cNvSpPr/>
          <p:nvPr/>
        </p:nvSpPr>
        <p:spPr>
          <a:xfrm>
            <a:off x="896040" y="2450520"/>
            <a:ext cx="529920" cy="529920"/>
          </a:xfrm>
          <a:prstGeom prst="ellipse">
            <a:avLst/>
          </a:prstGeom>
          <a:solidFill>
            <a:srgbClr val="06b6d4">
              <a:alpha val="92000"/>
            </a:srgbClr>
          </a:solidFill>
          <a:ln w="1016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2560" y="259704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11"/>
          <p:cNvSpPr/>
          <p:nvPr/>
        </p:nvSpPr>
        <p:spPr>
          <a:xfrm>
            <a:off x="1554480" y="239580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跌倒 </a:t>
            </a:r>
            <a:r>
              <a:rPr b="1" lang="en-US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行為偵測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2"/>
          <p:cNvSpPr/>
          <p:nvPr/>
        </p:nvSpPr>
        <p:spPr>
          <a:xfrm>
            <a:off x="1554480" y="26791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深度影像、</a:t>
            </a:r>
            <a:r>
              <a:rPr b="0" lang="en-US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RGB </a:t>
            </a: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影像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LSTM / CNN </a:t>
            </a: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連續動作辨識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3"/>
          <p:cNvSpPr/>
          <p:nvPr/>
        </p:nvSpPr>
        <p:spPr>
          <a:xfrm>
            <a:off x="3081600" y="23864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3081600" y="23864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06b6d4"/>
                </a:solidFill>
                <a:effectLst/>
                <a:uFillTx/>
                <a:latin typeface="Noto Sans CJK TC"/>
                <a:ea typeface="Noto Sans CJK TC"/>
              </a:rPr>
              <a:t>長照・醫院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5"/>
          <p:cNvSpPr/>
          <p:nvPr/>
        </p:nvSpPr>
        <p:spPr>
          <a:xfrm>
            <a:off x="8192880" y="224028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5120" dir="2700000" dist="50402" kx="0" ky="0" rotWithShape="0" sx="100000" sy="100000">
              <a:srgbClr val="b8c3d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6"/>
          <p:cNvSpPr/>
          <p:nvPr/>
        </p:nvSpPr>
        <p:spPr>
          <a:xfrm>
            <a:off x="8339400" y="2450520"/>
            <a:ext cx="529920" cy="529920"/>
          </a:xfrm>
          <a:prstGeom prst="ellipse">
            <a:avLst/>
          </a:prstGeom>
          <a:solidFill>
            <a:srgbClr val="2563eb">
              <a:alpha val="92000"/>
            </a:srgbClr>
          </a:solidFill>
          <a:ln w="1016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485560" y="259704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7"/>
          <p:cNvSpPr/>
          <p:nvPr/>
        </p:nvSpPr>
        <p:spPr>
          <a:xfrm>
            <a:off x="8997840" y="239580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車牌辨識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8997840" y="26791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停車場 </a:t>
            </a:r>
            <a:r>
              <a:rPr b="0" lang="en-US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道路行進間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模糊、傾斜車牌與區間測速整合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9"/>
          <p:cNvSpPr/>
          <p:nvPr/>
        </p:nvSpPr>
        <p:spPr>
          <a:xfrm>
            <a:off x="10524600" y="23864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0"/>
          <p:cNvSpPr/>
          <p:nvPr/>
        </p:nvSpPr>
        <p:spPr>
          <a:xfrm>
            <a:off x="10524600" y="23864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交通・門禁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21"/>
          <p:cNvSpPr/>
          <p:nvPr/>
        </p:nvSpPr>
        <p:spPr>
          <a:xfrm>
            <a:off x="749880" y="416952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5120" dir="2700000" dist="50402" kx="0" ky="0" rotWithShape="0" sx="100000" sy="100000">
              <a:srgbClr val="b8c3d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2"/>
          <p:cNvSpPr/>
          <p:nvPr/>
        </p:nvSpPr>
        <p:spPr>
          <a:xfrm>
            <a:off x="896040" y="4380120"/>
            <a:ext cx="529920" cy="529920"/>
          </a:xfrm>
          <a:prstGeom prst="ellipse">
            <a:avLst/>
          </a:prstGeom>
          <a:solidFill>
            <a:srgbClr val="14b8a6">
              <a:alpha val="92000"/>
            </a:srgbClr>
          </a:solidFill>
          <a:ln w="1016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1042560" y="45262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Text 23"/>
          <p:cNvSpPr/>
          <p:nvPr/>
        </p:nvSpPr>
        <p:spPr>
          <a:xfrm>
            <a:off x="1554480" y="432504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人流 </a:t>
            </a:r>
            <a:r>
              <a:rPr b="1" lang="en-US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門禁辨識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4"/>
          <p:cNvSpPr/>
          <p:nvPr/>
        </p:nvSpPr>
        <p:spPr>
          <a:xfrm>
            <a:off x="1554480" y="46087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人臉、口罩、體溫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人流計數・電子圍籬・跨線偵測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3081600" y="43160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bf7"/>
          </a:solidFill>
          <a:ln w="12700">
            <a:solidFill>
              <a:srgbClr val="eafbf7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3081600" y="43160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14b8a6"/>
                </a:solidFill>
                <a:effectLst/>
                <a:uFillTx/>
                <a:latin typeface="Noto Sans CJK TC"/>
                <a:ea typeface="Noto Sans CJK TC"/>
              </a:rPr>
              <a:t>大樓・賣場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7"/>
          <p:cNvSpPr/>
          <p:nvPr/>
        </p:nvSpPr>
        <p:spPr>
          <a:xfrm>
            <a:off x="8192880" y="416952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algn="bl" blurRad="15120" dir="2700000" dist="50402" kx="0" ky="0" rotWithShape="0" sx="100000" sy="100000">
              <a:srgbClr val="b8c3d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28"/>
          <p:cNvSpPr/>
          <p:nvPr/>
        </p:nvSpPr>
        <p:spPr>
          <a:xfrm>
            <a:off x="8339400" y="4380120"/>
            <a:ext cx="529920" cy="529920"/>
          </a:xfrm>
          <a:prstGeom prst="ellipse">
            <a:avLst/>
          </a:prstGeom>
          <a:solidFill>
            <a:srgbClr val="f59e0b">
              <a:alpha val="92000"/>
            </a:srgbClr>
          </a:solidFill>
          <a:ln w="1016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8485560" y="45262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Text 29"/>
          <p:cNvSpPr/>
          <p:nvPr/>
        </p:nvSpPr>
        <p:spPr>
          <a:xfrm>
            <a:off x="8997840" y="432504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180" strike="noStrike" u="non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智慧牧場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8997840" y="46087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家畜健康與活動狀態追蹤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939" strike="noStrike" u="non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搭配管理系統進行即時監控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1"/>
          <p:cNvSpPr/>
          <p:nvPr/>
        </p:nvSpPr>
        <p:spPr>
          <a:xfrm>
            <a:off x="10524600" y="43160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fff7e8"/>
          </a:solidFill>
          <a:ln w="12700">
            <a:solidFill>
              <a:srgbClr val="fff7e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2"/>
          <p:cNvSpPr/>
          <p:nvPr/>
        </p:nvSpPr>
        <p:spPr>
          <a:xfrm>
            <a:off x="10524600" y="43160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f59e0b"/>
                </a:solidFill>
                <a:effectLst/>
                <a:uFillTx/>
                <a:latin typeface="Noto Sans CJK TC"/>
                <a:ea typeface="Noto Sans CJK TC"/>
              </a:rPr>
              <a:t>農牧場域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3"/>
          <p:cNvSpPr/>
          <p:nvPr/>
        </p:nvSpPr>
        <p:spPr>
          <a:xfrm>
            <a:off x="4069080" y="2843640"/>
            <a:ext cx="978120" cy="374760"/>
          </a:xfrm>
          <a:prstGeom prst="line">
            <a:avLst/>
          </a:prstGeom>
          <a:ln w="15240">
            <a:solidFill>
              <a:srgbClr val="9fb3c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34"/>
          <p:cNvSpPr/>
          <p:nvPr/>
        </p:nvSpPr>
        <p:spPr>
          <a:xfrm flipV="1">
            <a:off x="7132320" y="2843640"/>
            <a:ext cx="987480" cy="374760"/>
          </a:xfrm>
          <a:prstGeom prst="line">
            <a:avLst/>
          </a:prstGeom>
          <a:ln w="15240">
            <a:solidFill>
              <a:srgbClr val="9fb3c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35"/>
          <p:cNvSpPr/>
          <p:nvPr/>
        </p:nvSpPr>
        <p:spPr>
          <a:xfrm flipV="1">
            <a:off x="4069080" y="3949920"/>
            <a:ext cx="978120" cy="768240"/>
          </a:xfrm>
          <a:prstGeom prst="line">
            <a:avLst/>
          </a:prstGeom>
          <a:ln w="15240">
            <a:solidFill>
              <a:srgbClr val="9fb3c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36"/>
          <p:cNvSpPr/>
          <p:nvPr/>
        </p:nvSpPr>
        <p:spPr>
          <a:xfrm>
            <a:off x="7132320" y="3949920"/>
            <a:ext cx="987480" cy="768240"/>
          </a:xfrm>
          <a:prstGeom prst="line">
            <a:avLst/>
          </a:prstGeom>
          <a:ln w="15240">
            <a:solidFill>
              <a:srgbClr val="9fb3c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37"/>
          <p:cNvSpPr/>
          <p:nvPr/>
        </p:nvSpPr>
        <p:spPr>
          <a:xfrm>
            <a:off x="768240" y="5632560"/>
            <a:ext cx="58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020" strike="noStrike" u="non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技術棧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38"/>
          <p:cNvSpPr/>
          <p:nvPr/>
        </p:nvSpPr>
        <p:spPr>
          <a:xfrm>
            <a:off x="138996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39"/>
          <p:cNvSpPr/>
          <p:nvPr/>
        </p:nvSpPr>
        <p:spPr>
          <a:xfrm>
            <a:off x="138996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Python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0"/>
          <p:cNvSpPr/>
          <p:nvPr/>
        </p:nvSpPr>
        <p:spPr>
          <a:xfrm>
            <a:off x="217620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1"/>
          <p:cNvSpPr/>
          <p:nvPr/>
        </p:nvSpPr>
        <p:spPr>
          <a:xfrm>
            <a:off x="217620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C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2"/>
          <p:cNvSpPr/>
          <p:nvPr/>
        </p:nvSpPr>
        <p:spPr>
          <a:xfrm>
            <a:off x="296280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43"/>
          <p:cNvSpPr/>
          <p:nvPr/>
        </p:nvSpPr>
        <p:spPr>
          <a:xfrm>
            <a:off x="296280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Linux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4"/>
          <p:cNvSpPr/>
          <p:nvPr/>
        </p:nvSpPr>
        <p:spPr>
          <a:xfrm>
            <a:off x="374904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5"/>
          <p:cNvSpPr/>
          <p:nvPr/>
        </p:nvSpPr>
        <p:spPr>
          <a:xfrm>
            <a:off x="374904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OpenCV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6"/>
          <p:cNvSpPr/>
          <p:nvPr/>
        </p:nvSpPr>
        <p:spPr>
          <a:xfrm>
            <a:off x="453528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47"/>
          <p:cNvSpPr/>
          <p:nvPr/>
        </p:nvSpPr>
        <p:spPr>
          <a:xfrm>
            <a:off x="453528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CNN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48"/>
          <p:cNvSpPr/>
          <p:nvPr/>
        </p:nvSpPr>
        <p:spPr>
          <a:xfrm>
            <a:off x="532188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49"/>
          <p:cNvSpPr/>
          <p:nvPr/>
        </p:nvSpPr>
        <p:spPr>
          <a:xfrm>
            <a:off x="532188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LSTM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0"/>
          <p:cNvSpPr/>
          <p:nvPr/>
        </p:nvSpPr>
        <p:spPr>
          <a:xfrm>
            <a:off x="610812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51"/>
          <p:cNvSpPr/>
          <p:nvPr/>
        </p:nvSpPr>
        <p:spPr>
          <a:xfrm>
            <a:off x="610812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20" strike="noStrike" u="non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b="0" lang="en-US" sz="10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2"/>
          <p:cNvSpPr/>
          <p:nvPr/>
        </p:nvSpPr>
        <p:spPr>
          <a:xfrm>
            <a:off x="7425000" y="5532120"/>
            <a:ext cx="3913200" cy="529920"/>
          </a:xfrm>
          <a:prstGeom prst="roundRect">
            <a:avLst>
              <a:gd name="adj" fmla="val 20690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3"/>
          <p:cNvSpPr/>
          <p:nvPr/>
        </p:nvSpPr>
        <p:spPr>
          <a:xfrm>
            <a:off x="7626240" y="5532120"/>
            <a:ext cx="35017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98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研究延伸｜碩士論文：</a:t>
            </a:r>
            <a:r>
              <a:rPr b="1" lang="en-US" sz="98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b="1" lang="zh-CN" sz="98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深度影像 </a:t>
            </a:r>
            <a:r>
              <a:rPr b="1" lang="en-US" sz="98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+ LSTM </a:t>
            </a:r>
            <a:r>
              <a:rPr b="1" lang="zh-CN" sz="980" strike="noStrike" u="non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跌倒偵測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1"/>
          <p:cNvSpPr>
            <a:spLocks noGrp="1"/>
          </p:cNvSpPr>
          <p:nvPr>
            <p:ph type="sldNum" idx="8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37FD96-8BB0-460F-947F-5037E7066AD0}" type="slidenum">
              <a:rPr b="0" lang="en-US" sz="850" strike="noStrike" u="non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&lt;number&gt;</a:t>
            </a:fld>
            <a:endParaRPr b="0" lang="en-US" sz="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04｜問答機器人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RAG × LLMs × 多模態輸入，分流 MES 值班人員重複性 on-call 問題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0058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00584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CHATBOT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3063240" cy="3127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011680"/>
            <a:ext cx="54864" cy="3127248"/>
          </a:xfrm>
          <a:prstGeom prst="rect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57984"/>
            <a:ext cx="275234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2262D"/>
                </a:solidFill>
                <a:latin typeface="Microsoft JhengHei"/>
              </a:rPr>
              <a:t>需求與解法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96312"/>
            <a:ext cx="275234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25447"/>
                </a:solidFill>
                <a:latin typeface="Microsoft JhengHei"/>
              </a:rPr>
              <a:t>降低重複處理，保留人工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807208"/>
            <a:ext cx="2752344" cy="2203703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MES 值班人員經常接到重複性 on-call。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將文件與常見處理經驗建立知識庫。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以 RAG + LLMs 先回覆標準問題；低信心或例外情境再轉人工。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011680"/>
            <a:ext cx="7571231" cy="312724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2221992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22262D"/>
                </a:solidFill>
                <a:latin typeface="Microsoft JhengHei"/>
              </a:rPr>
              <a:t>問答流程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8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1104" y="3090672"/>
            <a:ext cx="144475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4E89D6"/>
                </a:solidFill>
                <a:latin typeface="Microsoft JhengHei"/>
              </a:rPr>
              <a:t>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13167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文字／圖片／語音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9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090672"/>
            <a:ext cx="144475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39959F"/>
                </a:solidFill>
                <a:latin typeface="Microsoft JhengHei"/>
              </a:rPr>
              <a:t>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3429000"/>
            <a:ext cx="13167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知識檢索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090672"/>
            <a:ext cx="144475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7460C2"/>
                </a:solidFill>
                <a:latin typeface="Microsoft JhengHei"/>
              </a:rPr>
              <a:t>LLMs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55864" y="3429000"/>
            <a:ext cx="131673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理解與生成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57232" y="2926080"/>
            <a:ext cx="1316736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9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57232" y="3090672"/>
            <a:ext cx="13167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559959"/>
                </a:solidFill>
                <a:latin typeface="Microsoft JhengHei"/>
              </a:rPr>
              <a:t>回答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429000"/>
            <a:ext cx="1188719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回覆使用者</a:t>
            </a:r>
          </a:p>
        </p:txBody>
      </p:sp>
      <p:sp>
        <p:nvSpPr>
          <p:cNvPr id="28" name="Chevron 27"/>
          <p:cNvSpPr/>
          <p:nvPr/>
        </p:nvSpPr>
        <p:spPr>
          <a:xfrm>
            <a:off x="5742432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7607808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9473184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370832"/>
            <a:ext cx="26060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C25447"/>
                </a:solidFill>
                <a:latin typeface="Microsoft JhengHei"/>
              </a:rPr>
              <a:t>無法判斷／例外情境</a:t>
            </a:r>
          </a:p>
        </p:txBody>
      </p:sp>
      <p:sp>
        <p:nvSpPr>
          <p:cNvPr id="32" name="Chevron 31"/>
          <p:cNvSpPr/>
          <p:nvPr/>
        </p:nvSpPr>
        <p:spPr>
          <a:xfrm>
            <a:off x="9299448" y="4306824"/>
            <a:ext cx="274320" cy="329184"/>
          </a:xfrm>
          <a:prstGeom prst="chevron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46920" y="4169663"/>
            <a:ext cx="1527048" cy="694944"/>
          </a:xfrm>
          <a:prstGeom prst="roundRect">
            <a:avLst/>
          </a:prstGeom>
          <a:solidFill>
            <a:srgbClr val="FFF7F6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4315968"/>
            <a:ext cx="15270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C25447"/>
                </a:solidFill>
                <a:latin typeface="Microsoft JhengHei"/>
              </a:rPr>
              <a:t>MES 值班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394960"/>
            <a:ext cx="10863072" cy="694944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532120"/>
            <a:ext cx="10058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295BAA"/>
                </a:solidFill>
                <a:latin typeface="Microsoft JhengHei"/>
              </a:rPr>
              <a:t>專案價值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522976"/>
            <a:ext cx="9235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20" b="1">
                <a:solidFill>
                  <a:srgbClr val="22262D"/>
                </a:solidFill>
                <a:latin typeface="Microsoft JhengHei"/>
              </a:rPr>
              <a:t>先由機器人處理可標準化問題，降低值班負擔，同時保留人工接手機制。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05｜DevOps 與平台建置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從程式碼品質、部署、監控到 MLOps，串起 GitLab CI/CD 與平台可觀測性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0058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00584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DEVOPS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84831"/>
            <a:ext cx="25786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59" y="2249424"/>
            <a:ext cx="749808" cy="292608"/>
          </a:xfrm>
          <a:prstGeom prst="roundRect">
            <a:avLst/>
          </a:prstGeom>
          <a:solidFill>
            <a:srgbClr val="295BAA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258568"/>
            <a:ext cx="74980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79191"/>
            <a:ext cx="224942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30" b="1">
                <a:solidFill>
                  <a:srgbClr val="22262D"/>
                </a:solidFill>
                <a:latin typeface="Microsoft JhengHei"/>
              </a:rPr>
              <a:t>SonarQube × GitLab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10128"/>
            <a:ext cx="2231136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程式碼掃描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品質檢查與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084831"/>
            <a:ext cx="25786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9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249424"/>
            <a:ext cx="749808" cy="292608"/>
          </a:xfrm>
          <a:prstGeom prst="roundRect">
            <a:avLst/>
          </a:prstGeom>
          <a:solidFill>
            <a:srgbClr val="559959"/>
          </a:solidFill>
          <a:ln w="12700">
            <a:solidFill>
              <a:srgbClr val="559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258568"/>
            <a:ext cx="74980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679191"/>
            <a:ext cx="224942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30" b="1">
                <a:solidFill>
                  <a:srgbClr val="22262D"/>
                </a:solidFill>
                <a:latin typeface="Microsoft JhengHei"/>
              </a:rPr>
              <a:t>Ansible × GitLab CD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310128"/>
            <a:ext cx="2231136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自動化部署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環境設定與交付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084831"/>
            <a:ext cx="25786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9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59" y="2249424"/>
            <a:ext cx="749808" cy="292608"/>
          </a:xfrm>
          <a:prstGeom prst="roundRect">
            <a:avLst/>
          </a:prstGeom>
          <a:solidFill>
            <a:srgbClr val="E19135"/>
          </a:solidFill>
          <a:ln w="12700">
            <a:solidFill>
              <a:srgbClr val="E19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2258568"/>
            <a:ext cx="74980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679191"/>
            <a:ext cx="224942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30" b="1">
                <a:solidFill>
                  <a:srgbClr val="22262D"/>
                </a:solidFill>
                <a:latin typeface="Microsoft JhengHei"/>
              </a:rPr>
              <a:t>Prometheus / EFK / Thanos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3310128"/>
            <a:ext cx="2231136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指標 + 日誌收集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Grafana 戰情室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2084831"/>
            <a:ext cx="25786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52560" y="2249424"/>
            <a:ext cx="749808" cy="292608"/>
          </a:xfrm>
          <a:prstGeom prst="roundRect">
            <a:avLst/>
          </a:prstGeom>
          <a:solidFill>
            <a:srgbClr val="7460C2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2258568"/>
            <a:ext cx="74980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</a:rPr>
              <a:t>MLOps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679191"/>
            <a:ext cx="224942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30" b="1">
                <a:solidFill>
                  <a:srgbClr val="22262D"/>
                </a:solidFill>
                <a:latin typeface="Microsoft JhengHei"/>
              </a:rPr>
              <a:t>MLflow × DVC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310128"/>
            <a:ext cx="2231136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模型監控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280">
                <a:solidFill>
                  <a:srgbClr val="606874"/>
                </a:solidFill>
                <a:latin typeface="Microsoft JhengHei"/>
              </a:defRPr>
            </a:pPr>
            <a:r>
              <a:t>資料版本管理</a:t>
            </a:r>
          </a:p>
        </p:txBody>
      </p:sp>
      <p:sp>
        <p:nvSpPr>
          <p:cNvPr id="29" name="Chevron 28"/>
          <p:cNvSpPr/>
          <p:nvPr/>
        </p:nvSpPr>
        <p:spPr>
          <a:xfrm>
            <a:off x="3246120" y="3044952"/>
            <a:ext cx="146304" cy="347472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5989320" y="3044952"/>
            <a:ext cx="146304" cy="347472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8732520" y="3044952"/>
            <a:ext cx="146304" cy="347472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91072" y="3767328"/>
            <a:ext cx="2267712" cy="384048"/>
          </a:xfrm>
          <a:prstGeom prst="roundRect">
            <a:avLst/>
          </a:prstGeom>
          <a:solidFill>
            <a:srgbClr val="FFF8EE"/>
          </a:solidFill>
          <a:ln w="12700">
            <a:solidFill>
              <a:srgbClr val="FFF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3831336"/>
            <a:ext cx="21671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30" b="1">
                <a:solidFill>
                  <a:srgbClr val="E19135"/>
                </a:solidFill>
                <a:latin typeface="Microsoft JhengHei"/>
              </a:rPr>
              <a:t>Host → Prom/EFK → Thanos → Grafana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681728"/>
            <a:ext cx="10863072" cy="1133856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882896"/>
            <a:ext cx="2057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平台導入 / 延伸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4846320"/>
            <a:ext cx="38404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1">
                <a:solidFill>
                  <a:srgbClr val="22262D"/>
                </a:solidFill>
                <a:latin typeface="Microsoft JhengHei"/>
              </a:rPr>
              <a:t>智能排程應用課：CI/CD Pipeline 設計
Grafana 硬體資源監控儀表板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846320"/>
            <a:ext cx="39319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1">
                <a:solidFill>
                  <a:srgbClr val="22262D"/>
                </a:solidFill>
                <a:latin typeface="Microsoft JhengHei"/>
              </a:rPr>
              <a:t>VictoriaMetrics Cluster
作為監控平台擴充與長期維運方案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39712" y="4855464"/>
            <a:ext cx="9144" cy="694944"/>
          </a:xfrm>
          <a:prstGeom prst="rect">
            <a:avLst/>
          </a:prstGeom>
          <a:solidFill>
            <a:srgbClr val="D6DD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06｜新技術調研－RPA 工具與 GUI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從腳本式自動化、流程式 RPA 到 GUI Agent，評估企業桌面自動化的適用場景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645919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645919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RPA / GUI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2267712"/>
            <a:ext cx="310896" cy="310896"/>
          </a:xfrm>
          <a:prstGeom prst="ellipse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2212848"/>
            <a:ext cx="22677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AutoHotKey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706624"/>
            <a:ext cx="2651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C25447"/>
                </a:solidFill>
                <a:latin typeface="Microsoft JhengHei"/>
              </a:rPr>
              <a:t>腳本式自動化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127248"/>
            <a:ext cx="2688336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鍵盤、滑鼠、熱鍵操作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輕量、快速導入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適合固定且規則明確的桌面流程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14800" y="2267712"/>
            <a:ext cx="310896" cy="310896"/>
          </a:xfrm>
          <a:prstGeom prst="ellipse">
            <a:avLst/>
          </a:prstGeom>
          <a:solidFill>
            <a:srgbClr val="295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12848"/>
            <a:ext cx="22677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OpenRPA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8" y="2706624"/>
            <a:ext cx="2651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295BAA"/>
                </a:solidFill>
                <a:latin typeface="Microsoft JhengHei"/>
              </a:rPr>
              <a:t>流程式 RPA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3088" y="3127248"/>
            <a:ext cx="2688336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以流程元件編排任務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較容易視覺化維護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適合多步驟、可標準化的流程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204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06640" y="2267712"/>
            <a:ext cx="310896" cy="310896"/>
          </a:xfrm>
          <a:prstGeom prst="ellipse">
            <a:avLst/>
          </a:prstGeom>
          <a:solidFill>
            <a:srgbClr val="746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2212848"/>
            <a:ext cx="22677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UFO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7" y="2706624"/>
            <a:ext cx="2651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7460C2"/>
                </a:solidFill>
                <a:latin typeface="Microsoft JhengHei"/>
              </a:rPr>
              <a:t>GUI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3127248"/>
            <a:ext cx="2688336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LLM 理解操作目標與畫面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探索跨應用 GUI 任務執行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重點評估穩定性、容錯與部署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266944"/>
            <a:ext cx="9692640" cy="56692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422392"/>
            <a:ext cx="9875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295BAA"/>
                </a:solidFill>
                <a:latin typeface="Microsoft JhengHei"/>
              </a:rPr>
              <a:t>工具定位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1952" y="5422392"/>
            <a:ext cx="810158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22262D"/>
                </a:solidFill>
                <a:latin typeface="Microsoft JhengHei"/>
              </a:rPr>
              <a:t>Script Automation  →  RPA Workflow  →  GUI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97312" y="5394960"/>
            <a:ext cx="102412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97312" y="5404104"/>
            <a:ext cx="102412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PoC / 評估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07｜新技術調研－工作流程管理工具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以低程式碼 Workflow Automation 串接系統、API、資料與 AI 服務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0058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00584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N8N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66543"/>
            <a:ext cx="10863072" cy="3090672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67712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50" b="1">
                <a:solidFill>
                  <a:srgbClr val="22262D"/>
                </a:solidFill>
                <a:latin typeface="Microsoft JhengHei"/>
              </a:rPr>
              <a:t>Workflow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18105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C25447"/>
                </a:solidFill>
                <a:latin typeface="Microsoft JhengHe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493008"/>
            <a:ext cx="1773936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Webhook
Schedule
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3090672"/>
            <a:ext cx="18105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295BAA"/>
                </a:solidFill>
                <a:latin typeface="Microsoft JhengHei"/>
              </a:rPr>
              <a:t>n8n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3493008"/>
            <a:ext cx="1773936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條件判斷
資料轉換
流程編排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2472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9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3912" y="3090672"/>
            <a:ext cx="18105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39959F"/>
                </a:solidFill>
                <a:latin typeface="Microsoft JhengHei"/>
              </a:rP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493008"/>
            <a:ext cx="1773936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API / DB / File
Mail /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3090672"/>
            <a:ext cx="18105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7460C2"/>
                </a:solidFill>
                <a:latin typeface="Microsoft JhengHei"/>
              </a:rPr>
              <a:t>Action /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3493008"/>
            <a:ext cx="1773936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通知 / 寫回
LLM / RAG / Agent</a:t>
            </a:r>
          </a:p>
        </p:txBody>
      </p:sp>
      <p:sp>
        <p:nvSpPr>
          <p:cNvPr id="23" name="Chevron 22"/>
          <p:cNvSpPr/>
          <p:nvPr/>
        </p:nvSpPr>
        <p:spPr>
          <a:xfrm>
            <a:off x="3017520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5715000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8357616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413248"/>
            <a:ext cx="1143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1">
                <a:solidFill>
                  <a:srgbClr val="295BAA"/>
                </a:solidFill>
                <a:latin typeface="Microsoft JhengHei"/>
              </a:rPr>
              <a:t>調研重點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83080" y="5358384"/>
            <a:ext cx="128016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83080" y="5367528"/>
            <a:ext cx="128016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流程編排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82112" y="5358384"/>
            <a:ext cx="16916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82112" y="5367528"/>
            <a:ext cx="169164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API / Webhook 整合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10912" y="5358384"/>
            <a:ext cx="160020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0912" y="5367528"/>
            <a:ext cx="160020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部署與權限管理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39128" y="5358384"/>
            <a:ext cx="150876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5367528"/>
            <a:ext cx="150876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AI Workflow 擴充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5904" y="5358384"/>
            <a:ext cx="16916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5367528"/>
            <a:ext cx="1691640" cy="2560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企業內部系統串接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25312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1">
                <a:solidFill>
                  <a:srgbClr val="22262D"/>
                </a:solidFill>
                <a:latin typeface="Microsoft JhengHei"/>
              </a:rPr>
              <a:t>定位：作為低程式碼整合平台候選方案，降低跨系統流程串接門檻並提升自動化彈性。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 pitchFamily="0" charset="1"/>
        <a:ea typeface=""/>
        <a:cs typeface=""/>
      </a:majorFont>
      <a:minorFont>
        <a:latin typeface="Noto Sans CJK T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LibreOffice/25.2.3.2$Linux_X86_64 LibreOffice_project/520$Build-2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2026-08-24T12:01:29Z</dcterms:created>
  <dc:creator>OpenAI</dc:creator>
  <dc:description/>
  <dc:language>en-US</dc:language>
  <cp:lastModifiedBy>OpenAI</cp:lastModifiedBy>
  <dcterms:modified xsi:type="dcterms:W3CDTF">2026-08-24T12:01:29Z</dcterms:modified>
  <cp:revision>1</cp:revision>
  <dc:subject>自我介紹簡報優化版</dc:subject>
  <dc:title>曾韻文｜AI × 系統開發 × 雲端應用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
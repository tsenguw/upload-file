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這頁將原本的學歷與工作經歷合併，以時間軸呈現。強調能力從資訊管理、AI 視覺，到 MES 系統與雲端整合逐步累積。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 LED 專案將原本兩頁合併成一頁。先講製程痛點，再講演算法與 AI 校正，最後收斂到成果。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雲端專案重點不是列服務名稱，而是把服務放進架構流程，讓面試者一眼看懂資料怎麼從地端進雲端、運算、儲存與交換。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將原本零散的 AI 專案整併成 CCTV AI 平台概念，以四種典型應用呈現。碩士論文放在研究延伸，避免額外多一頁。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49224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曾韻文  |  AI × SYSTEM × CLOUD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9966960" y="649224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Self Introduction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244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3836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6132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7620">
            <a:solidFill>
              <a:srgbClr val="1E293B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0" y="182880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658368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0" y="1133856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0" y="1609344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0" y="2084832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0" y="2560320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3035808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3511296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3986784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4462272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4937760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0" y="5413248"/>
            <a:ext cx="4846320" cy="0"/>
          </a:xfrm>
          <a:prstGeom prst="line">
            <a:avLst/>
          </a:prstGeom>
          <a:noFill/>
          <a:ln w="7620">
            <a:solidFill>
              <a:srgbClr val="1E293B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0" y="1042416"/>
            <a:ext cx="2926080" cy="2926080"/>
          </a:xfrm>
          <a:prstGeom prst="ellipse">
            <a:avLst/>
          </a:prstGeom>
          <a:solidFill>
            <a:srgbClr val="2563EB">
              <a:alpha val="10000"/>
            </a:srgbClr>
          </a:solidFill>
          <a:ln w="25400">
            <a:solidFill>
              <a:srgbClr val="2563EB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9720" y="1591056"/>
            <a:ext cx="1828800" cy="1828800"/>
          </a:xfrm>
          <a:prstGeom prst="ellipse">
            <a:avLst/>
          </a:prstGeom>
          <a:solidFill>
            <a:srgbClr val="06B6D4">
              <a:alpha val="12000"/>
            </a:srgbClr>
          </a:solidFill>
          <a:ln w="19050">
            <a:solidFill>
              <a:srgbClr val="06B6D4">
                <a:alpha val="55000"/>
              </a:srgbClr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37192" y="1929384"/>
            <a:ext cx="1097280" cy="109728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68096" y="713232"/>
            <a:ext cx="1664208" cy="292608"/>
          </a:xfrm>
          <a:prstGeom prst="roundRect">
            <a:avLst>
              <a:gd name="adj" fmla="val 37500"/>
            </a:avLst>
          </a:prstGeom>
          <a:solidFill>
            <a:srgbClr val="1E3A8A"/>
          </a:solidFill>
          <a:ln w="12700">
            <a:solidFill>
              <a:srgbClr val="1E3A8A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8096" y="7132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FDBF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SELF INTRODUCTION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768096" y="13258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曾韻文</a:t>
            </a:r>
            <a:endParaRPr lang="en-US" sz="3400" dirty="0"/>
          </a:p>
        </p:txBody>
      </p:sp>
      <p:sp>
        <p:nvSpPr>
          <p:cNvPr id="30" name="Text 27"/>
          <p:cNvSpPr/>
          <p:nvPr/>
        </p:nvSpPr>
        <p:spPr>
          <a:xfrm>
            <a:off x="768096" y="202996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CEAF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AI × 系統開發 × 雲端應用</a:t>
            </a:r>
            <a:endParaRPr lang="en-US" sz="2400" dirty="0"/>
          </a:p>
        </p:txBody>
      </p:sp>
      <p:sp>
        <p:nvSpPr>
          <p:cNvPr id="31" name="Text 28"/>
          <p:cNvSpPr/>
          <p:nvPr/>
        </p:nvSpPr>
        <p:spPr>
          <a:xfrm>
            <a:off x="768096" y="2724912"/>
            <a:ext cx="5897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A8B6CC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 Edge AI 影像辨識，到 Micro LED 製程演算法與 Azure 雲端系統整合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768096" y="3977640"/>
            <a:ext cx="1810512" cy="109728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4187952"/>
            <a:ext cx="310896" cy="310896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98448" y="4105656"/>
            <a:ext cx="11155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AI / Computer Vision</a:t>
            </a:r>
            <a:endParaRPr lang="en-US" sz="1120" dirty="0"/>
          </a:p>
        </p:txBody>
      </p:sp>
      <p:sp>
        <p:nvSpPr>
          <p:cNvPr id="35" name="Text 31"/>
          <p:cNvSpPr/>
          <p:nvPr/>
        </p:nvSpPr>
        <p:spPr>
          <a:xfrm>
            <a:off x="914400" y="44897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9FB0C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CNN・LSTM・Edge AI</a:t>
            </a:r>
            <a:endParaRPr lang="en-US" sz="890" dirty="0"/>
          </a:p>
        </p:txBody>
      </p:sp>
      <p:sp>
        <p:nvSpPr>
          <p:cNvPr id="36" name="Shape 32"/>
          <p:cNvSpPr/>
          <p:nvPr/>
        </p:nvSpPr>
        <p:spPr>
          <a:xfrm>
            <a:off x="2779776" y="3977640"/>
            <a:ext cx="1810512" cy="109728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4187952"/>
            <a:ext cx="310896" cy="310896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3310128" y="4105656"/>
            <a:ext cx="11155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System / MES</a:t>
            </a:r>
            <a:endParaRPr lang="en-US" sz="1120" dirty="0"/>
          </a:p>
        </p:txBody>
      </p:sp>
      <p:sp>
        <p:nvSpPr>
          <p:cNvPr id="39" name="Text 34"/>
          <p:cNvSpPr/>
          <p:nvPr/>
        </p:nvSpPr>
        <p:spPr>
          <a:xfrm>
            <a:off x="2926080" y="44897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9FB0C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Java・REST API・Database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4791456" y="3977640"/>
            <a:ext cx="1810512" cy="1097280"/>
          </a:xfrm>
          <a:prstGeom prst="roundRect">
            <a:avLst>
              <a:gd name="adj" fmla="val 10000"/>
            </a:avLst>
          </a:prstGeom>
          <a:solidFill>
            <a:srgbClr val="111C31"/>
          </a:solidFill>
          <a:ln w="12700">
            <a:solidFill>
              <a:srgbClr val="111C31">
                <a:alpha val="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7760" y="4187952"/>
            <a:ext cx="310896" cy="310896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321808" y="4105656"/>
            <a:ext cx="11155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Cloud / Data</a:t>
            </a:r>
            <a:endParaRPr lang="en-US" sz="1120" dirty="0"/>
          </a:p>
        </p:txBody>
      </p:sp>
      <p:sp>
        <p:nvSpPr>
          <p:cNvPr id="43" name="Text 37"/>
          <p:cNvSpPr/>
          <p:nvPr/>
        </p:nvSpPr>
        <p:spPr>
          <a:xfrm>
            <a:off x="4937760" y="44897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9FB0C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Azure・Databricks・Delta Lake</a:t>
            </a:r>
            <a:endParaRPr lang="en-US" sz="890" dirty="0"/>
          </a:p>
        </p:txBody>
      </p:sp>
      <p:sp>
        <p:nvSpPr>
          <p:cNvPr id="44" name="Text 38"/>
          <p:cNvSpPr/>
          <p:nvPr/>
        </p:nvSpPr>
        <p:spPr>
          <a:xfrm>
            <a:off x="768096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F91A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2020 — 2025  |  AI Software Engineer → MES System Development Engineer</a:t>
            </a:r>
            <a:endParaRPr lang="en-US" sz="1050" dirty="0"/>
          </a:p>
        </p:txBody>
      </p:sp>
      <p:sp>
        <p:nvSpPr>
          <p:cNvPr id="45" name="Text 39"/>
          <p:cNvSpPr/>
          <p:nvPr/>
        </p:nvSpPr>
        <p:spPr>
          <a:xfrm>
            <a:off x="11109960" y="62910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10" kern="0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PROFILE JOURNEY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67665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學歷背景 × 工作經歷</a:t>
            </a:r>
            <a:endParaRPr lang="en-US" sz="2750" dirty="0"/>
          </a:p>
        </p:txBody>
      </p:sp>
      <p:sp>
        <p:nvSpPr>
          <p:cNvPr id="4" name="Text 2"/>
          <p:cNvSpPr/>
          <p:nvPr/>
        </p:nvSpPr>
        <p:spPr>
          <a:xfrm>
            <a:off x="658368" y="11978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將研究背景、AI 經驗與系統 / 雲端能力串成一條完整職涯路徑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32688" y="3520440"/>
            <a:ext cx="10287000" cy="0"/>
          </a:xfrm>
          <a:prstGeom prst="line">
            <a:avLst/>
          </a:prstGeom>
          <a:noFill/>
          <a:ln w="25400">
            <a:solidFill>
              <a:srgbClr val="B8C6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9344" y="3410712"/>
            <a:ext cx="219456" cy="219456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4752" y="2029968"/>
            <a:ext cx="548640" cy="5486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1056" y="217627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26974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2014–2018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932688" y="28986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資訊管理系｜大學</a:t>
            </a:r>
            <a:endParaRPr lang="en-US" sz="1280" dirty="0"/>
          </a:p>
        </p:txBody>
      </p:sp>
      <p:sp>
        <p:nvSpPr>
          <p:cNvPr id="11" name="Text 8"/>
          <p:cNvSpPr/>
          <p:nvPr/>
        </p:nvSpPr>
        <p:spPr>
          <a:xfrm>
            <a:off x="932688" y="31821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國立高雄第一科技大學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50976" y="3822192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69848" y="3959352"/>
            <a:ext cx="1335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資訊系統與程式設計基礎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197096" y="3410712"/>
            <a:ext cx="219456" cy="219456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32504" y="2029968"/>
            <a:ext cx="548640" cy="5486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6B6D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8808" y="217627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93592" y="26974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6B6D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2018–2020</a:t>
            </a:r>
            <a:endParaRPr lang="en-US" sz="1060" dirty="0"/>
          </a:p>
        </p:txBody>
      </p:sp>
      <p:sp>
        <p:nvSpPr>
          <p:cNvPr id="18" name="Text 14"/>
          <p:cNvSpPr/>
          <p:nvPr/>
        </p:nvSpPr>
        <p:spPr>
          <a:xfrm>
            <a:off x="3520440" y="28986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資訊管理所｜碩士</a:t>
            </a:r>
            <a:endParaRPr lang="en-US" sz="1280" dirty="0"/>
          </a:p>
        </p:txBody>
      </p:sp>
      <p:sp>
        <p:nvSpPr>
          <p:cNvPr id="19" name="Text 15"/>
          <p:cNvSpPr/>
          <p:nvPr/>
        </p:nvSpPr>
        <p:spPr>
          <a:xfrm>
            <a:off x="3520440" y="31821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國立雲林科技大學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538728" y="3822192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657600" y="3959352"/>
            <a:ext cx="1335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ToF 深度影像 + LSTM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人體動作 / 跌倒偵測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75704" y="3410712"/>
            <a:ext cx="219456" cy="219456"/>
          </a:xfrm>
          <a:prstGeom prst="ellipse">
            <a:avLst/>
          </a:prstGeom>
          <a:solidFill>
            <a:srgbClr val="14B8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11112" y="2029968"/>
            <a:ext cx="548640" cy="5486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4B8A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57416" y="21762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172200" y="26974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B8A6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2020–2022</a:t>
            </a:r>
            <a:endParaRPr lang="en-US" sz="1060" dirty="0"/>
          </a:p>
        </p:txBody>
      </p:sp>
      <p:sp>
        <p:nvSpPr>
          <p:cNvPr id="26" name="Text 21"/>
          <p:cNvSpPr/>
          <p:nvPr/>
        </p:nvSpPr>
        <p:spPr>
          <a:xfrm>
            <a:off x="6099048" y="28986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AI 軟體工程師</a:t>
            </a:r>
            <a:endParaRPr lang="en-US" sz="1280" dirty="0"/>
          </a:p>
        </p:txBody>
      </p:sp>
      <p:sp>
        <p:nvSpPr>
          <p:cNvPr id="27" name="Text 22"/>
          <p:cNvSpPr/>
          <p:nvPr/>
        </p:nvSpPr>
        <p:spPr>
          <a:xfrm>
            <a:off x="6099048" y="31821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杭特電子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117336" y="3822192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36208" y="3959352"/>
            <a:ext cx="1335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Edge AI / CCTV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車牌・人臉・跌倒・智慧牧場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363456" y="3410712"/>
            <a:ext cx="219456" cy="21945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198864" y="2029968"/>
            <a:ext cx="548640" cy="5486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59E0B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45168" y="217627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759952" y="26974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59E0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2022–2025</a:t>
            </a:r>
            <a:endParaRPr lang="en-US" sz="1060" dirty="0"/>
          </a:p>
        </p:txBody>
      </p:sp>
      <p:sp>
        <p:nvSpPr>
          <p:cNvPr id="34" name="Text 28"/>
          <p:cNvSpPr/>
          <p:nvPr/>
        </p:nvSpPr>
        <p:spPr>
          <a:xfrm>
            <a:off x="8686800" y="28986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MES 系統開發工程師</a:t>
            </a:r>
            <a:endParaRPr lang="en-US" sz="1280" dirty="0"/>
          </a:p>
        </p:txBody>
      </p:sp>
      <p:sp>
        <p:nvSpPr>
          <p:cNvPr id="35" name="Text 29"/>
          <p:cNvSpPr/>
          <p:nvPr/>
        </p:nvSpPr>
        <p:spPr>
          <a:xfrm>
            <a:off x="8686800" y="31821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友達光電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8705088" y="3822192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823960" y="3959352"/>
            <a:ext cx="1335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Micro LED 演算法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MES / Azure / Full-stack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841248" y="50657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核心能力累積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2240280" y="4956048"/>
            <a:ext cx="2395728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86584" y="5193792"/>
            <a:ext cx="283464" cy="2834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2770632" y="5074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AI / 影像辨識</a:t>
            </a:r>
            <a:endParaRPr lang="en-US" sz="1120" dirty="0"/>
          </a:p>
        </p:txBody>
      </p:sp>
      <p:sp>
        <p:nvSpPr>
          <p:cNvPr id="42" name="Text 35"/>
          <p:cNvSpPr/>
          <p:nvPr/>
        </p:nvSpPr>
        <p:spPr>
          <a:xfrm>
            <a:off x="2770632" y="5367528"/>
            <a:ext cx="1664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模型訓練・推論・場域整合</a:t>
            </a:r>
            <a:endParaRPr lang="en-US" sz="880" dirty="0"/>
          </a:p>
        </p:txBody>
      </p:sp>
      <p:sp>
        <p:nvSpPr>
          <p:cNvPr id="43" name="Shape 36"/>
          <p:cNvSpPr/>
          <p:nvPr/>
        </p:nvSpPr>
        <p:spPr>
          <a:xfrm>
            <a:off x="4974336" y="4956048"/>
            <a:ext cx="2395728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20640" y="5193792"/>
            <a:ext cx="283464" cy="283464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5504688" y="5074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系統開發</a:t>
            </a:r>
            <a:endParaRPr lang="en-US" sz="1120" dirty="0"/>
          </a:p>
        </p:txBody>
      </p:sp>
      <p:sp>
        <p:nvSpPr>
          <p:cNvPr id="46" name="Text 38"/>
          <p:cNvSpPr/>
          <p:nvPr/>
        </p:nvSpPr>
        <p:spPr>
          <a:xfrm>
            <a:off x="5504688" y="5367528"/>
            <a:ext cx="1664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前後端・REST API・資料庫</a:t>
            </a:r>
            <a:endParaRPr lang="en-US" sz="880" dirty="0"/>
          </a:p>
        </p:txBody>
      </p:sp>
      <p:sp>
        <p:nvSpPr>
          <p:cNvPr id="47" name="Shape 39"/>
          <p:cNvSpPr/>
          <p:nvPr/>
        </p:nvSpPr>
        <p:spPr>
          <a:xfrm>
            <a:off x="7708392" y="4956048"/>
            <a:ext cx="2395728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854696" y="5193792"/>
            <a:ext cx="283464" cy="283464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8238744" y="5074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雲端與資料</a:t>
            </a:r>
            <a:endParaRPr lang="en-US" sz="1120" dirty="0"/>
          </a:p>
        </p:txBody>
      </p:sp>
      <p:sp>
        <p:nvSpPr>
          <p:cNvPr id="50" name="Text 41"/>
          <p:cNvSpPr/>
          <p:nvPr/>
        </p:nvSpPr>
        <p:spPr>
          <a:xfrm>
            <a:off x="8238744" y="5367528"/>
            <a:ext cx="1664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Azure・Databricks・Blob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10" kern="0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EXPERIENCE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67665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01｜Micro LED 製程演算法與 AI 校正</a:t>
            </a:r>
            <a:endParaRPr lang="en-US" sz="2750" dirty="0"/>
          </a:p>
        </p:txBody>
      </p:sp>
      <p:sp>
        <p:nvSpPr>
          <p:cNvPr id="4" name="Text 2"/>
          <p:cNvSpPr/>
          <p:nvPr/>
        </p:nvSpPr>
        <p:spPr>
          <a:xfrm>
            <a:off x="658368" y="11978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從製程問題拆解、演算法設計到系統化導入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00784"/>
            <a:ext cx="1444752" cy="347472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0078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499616" y="170078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MICRO LED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58368" y="2258568"/>
            <a:ext cx="4315968" cy="1024128"/>
          </a:xfrm>
          <a:prstGeom prst="roundRect">
            <a:avLst>
              <a:gd name="adj" fmla="val 7143"/>
            </a:avLst>
          </a:prstGeom>
          <a:solidFill>
            <a:srgbClr val="FFF7E8"/>
          </a:solidFill>
          <a:ln w="12700">
            <a:solidFill>
              <a:srgbClr val="F7D9A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6112" y="2551176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3957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製程挑戰</a:t>
            </a:r>
            <a:endParaRPr lang="en-US" sz="1240" dirty="0"/>
          </a:p>
        </p:txBody>
      </p:sp>
      <p:sp>
        <p:nvSpPr>
          <p:cNvPr id="11" name="Text 8"/>
          <p:cNvSpPr/>
          <p:nvPr/>
        </p:nvSpPr>
        <p:spPr>
          <a:xfrm>
            <a:off x="1371600" y="2670048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巨量轉移分佈、修補路徑、玻璃對組，以及 Wafer / TFT / 機台誤差造成的 LED 偏移。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58368" y="3456432"/>
            <a:ext cx="431596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6112" y="368503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3566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核心工作</a:t>
            </a:r>
            <a:endParaRPr lang="en-US" sz="1240" dirty="0"/>
          </a:p>
        </p:txBody>
      </p:sp>
      <p:sp>
        <p:nvSpPr>
          <p:cNvPr id="15" name="Text 11"/>
          <p:cNvSpPr/>
          <p:nvPr/>
        </p:nvSpPr>
        <p:spPr>
          <a:xfrm>
            <a:off x="1362456" y="3840480"/>
            <a:ext cx="3273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Mass Transfer / Repair / Bonding / Total Pitch 演算法設計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最佳路徑規劃，降低製程時間與不必要移動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預先模擬玻璃板對組，加速生產流程</a:t>
            </a:r>
            <a:endParaRPr lang="en-US" sz="1020" dirty="0"/>
          </a:p>
          <a:p>
            <a:pPr marL="152400" indent="-1524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回歸模型校正 LED 偏移點位</a:t>
            </a:r>
            <a:endParaRPr lang="en-US" sz="1020" dirty="0"/>
          </a:p>
        </p:txBody>
      </p:sp>
      <p:sp>
        <p:nvSpPr>
          <p:cNvPr id="16" name="Shape 12"/>
          <p:cNvSpPr/>
          <p:nvPr/>
        </p:nvSpPr>
        <p:spPr>
          <a:xfrm>
            <a:off x="5248656" y="1920240"/>
            <a:ext cx="6272784" cy="3493008"/>
          </a:xfrm>
          <a:prstGeom prst="roundRect">
            <a:avLst>
              <a:gd name="adj" fmla="val 209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532120" y="21396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Micro LED 製程最佳化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5532120" y="24688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8FA2BD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Distribution → Path Planning → Offset Calibration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5559552" y="2971800"/>
            <a:ext cx="1005840" cy="438912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650992" y="3063240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88152" y="3063240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925312" y="3063240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062472" y="3063240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650992" y="3127248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788152" y="3127248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925312" y="3127248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062472" y="3127248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650992" y="3191256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788152" y="3191256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925312" y="3191256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062472" y="3191256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650992" y="3255264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788152" y="3255264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925312" y="3255264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062472" y="3255264"/>
            <a:ext cx="9144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45352" y="2999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559552" y="3611880"/>
            <a:ext cx="1005840" cy="438912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650992" y="3703320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788152" y="3703320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925312" y="3703320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062472" y="3703320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650992" y="3767328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788152" y="3767328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925312" y="3767328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062472" y="3767328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650992" y="3831336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788152" y="3831336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925312" y="3831336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062472" y="3831336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650992" y="3895344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788152" y="3895344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925312" y="3895344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062472" y="3895344"/>
            <a:ext cx="91440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245352" y="36393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C55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5559552" y="4251960"/>
            <a:ext cx="1005840" cy="438912"/>
          </a:xfrm>
          <a:prstGeom prst="roundRect">
            <a:avLst>
              <a:gd name="adj" fmla="val 2500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650992" y="4343400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788152" y="4343400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925312" y="4343400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6062472" y="4343400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650992" y="4407408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788152" y="4407408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925312" y="4407408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6062472" y="4407408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650992" y="4471416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788152" y="4471416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925312" y="4471416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062472" y="4471416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5650992" y="4535424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5788152" y="4535424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5925312" y="4535424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6062472" y="4535424"/>
            <a:ext cx="9144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6245352" y="4279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</a:t>
            </a:r>
            <a:endParaRPr lang="en-US" sz="950" dirty="0"/>
          </a:p>
        </p:txBody>
      </p:sp>
      <p:sp>
        <p:nvSpPr>
          <p:cNvPr id="73" name="Shape 69"/>
          <p:cNvSpPr/>
          <p:nvPr/>
        </p:nvSpPr>
        <p:spPr>
          <a:xfrm>
            <a:off x="6748272" y="3685032"/>
            <a:ext cx="932688" cy="0"/>
          </a:xfrm>
          <a:prstGeom prst="line">
            <a:avLst/>
          </a:prstGeom>
          <a:noFill/>
          <a:ln w="27940">
            <a:solidFill>
              <a:srgbClr val="06B6D4"/>
            </a:solidFill>
            <a:prstDash val="solid"/>
            <a:headEnd type="none"/>
            <a:tailEnd type="triangle"/>
          </a:ln>
        </p:spPr>
      </p:sp>
      <p:sp>
        <p:nvSpPr>
          <p:cNvPr id="74" name="Shape 70"/>
          <p:cNvSpPr/>
          <p:nvPr/>
        </p:nvSpPr>
        <p:spPr>
          <a:xfrm>
            <a:off x="7818120" y="2761488"/>
            <a:ext cx="1993392" cy="1993392"/>
          </a:xfrm>
          <a:prstGeom prst="ellipse">
            <a:avLst/>
          </a:prstGeom>
          <a:solidFill>
            <a:srgbClr val="1B2842"/>
          </a:solidFill>
          <a:ln w="15240">
            <a:solidFill>
              <a:srgbClr val="5B7DA8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8065008" y="3026664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8266176" y="3026664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8467344" y="3026664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8668512" y="3026664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8869680" y="3026664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9070848" y="3026664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9272016" y="3026664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8065008" y="3227832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8266176" y="3227832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467344" y="3227832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8668512" y="3227832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8869680" y="3227832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070848" y="3227832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9272016" y="3227832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065008" y="3429000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8266176" y="3429000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8467344" y="3429000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668512" y="3429000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8869680" y="3429000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9070848" y="3429000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272016" y="3429000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8065008" y="3630168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8266176" y="3630168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8467344" y="3630168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8668512" y="3630168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8869680" y="3630168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9070848" y="3630168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9272016" y="3630168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8065008" y="3831336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8266176" y="3831336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8467344" y="3831336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8668512" y="3831336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8869680" y="3831336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9070848" y="3831336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9272016" y="3831336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8065008" y="4032504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8266176" y="4032504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8467344" y="4032504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668512" y="4032504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8869680" y="4032504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9070848" y="4032504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9272016" y="4032504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8065008" y="4233672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8266176" y="4233672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8467344" y="4233672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8668512" y="4233672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8869680" y="4233672"/>
            <a:ext cx="59436" cy="594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9070848" y="4233672"/>
            <a:ext cx="59436" cy="594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9272016" y="4233672"/>
            <a:ext cx="59436" cy="5943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9098280" y="32186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9253728" y="3282696"/>
            <a:ext cx="731520" cy="-393192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126" name="Text 122"/>
          <p:cNvSpPr/>
          <p:nvPr/>
        </p:nvSpPr>
        <p:spPr>
          <a:xfrm>
            <a:off x="10003536" y="27523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偏移點位</a:t>
            </a:r>
            <a:endParaRPr lang="en-US" sz="950" dirty="0"/>
          </a:p>
        </p:txBody>
      </p:sp>
      <p:sp>
        <p:nvSpPr>
          <p:cNvPr id="127" name="Shape 123"/>
          <p:cNvSpPr/>
          <p:nvPr/>
        </p:nvSpPr>
        <p:spPr>
          <a:xfrm>
            <a:off x="9985248" y="3127248"/>
            <a:ext cx="1170432" cy="530352"/>
          </a:xfrm>
          <a:prstGeom prst="roundRect">
            <a:avLst>
              <a:gd name="adj" fmla="val 20690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prstDash val="solid"/>
          </a:ln>
        </p:spPr>
      </p:sp>
      <p:pic>
        <p:nvPicPr>
          <p:cNvPr id="1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04120" y="3264408"/>
            <a:ext cx="228600" cy="228600"/>
          </a:xfrm>
          <a:prstGeom prst="rect">
            <a:avLst/>
          </a:prstGeom>
        </p:spPr>
      </p:pic>
      <p:sp>
        <p:nvSpPr>
          <p:cNvPr id="129" name="Text 124"/>
          <p:cNvSpPr/>
          <p:nvPr/>
        </p:nvSpPr>
        <p:spPr>
          <a:xfrm>
            <a:off x="10396728" y="317296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回歸模型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校正</a:t>
            </a:r>
            <a:endParaRPr lang="en-US" sz="920" dirty="0"/>
          </a:p>
        </p:txBody>
      </p:sp>
      <p:sp>
        <p:nvSpPr>
          <p:cNvPr id="130" name="Shape 125"/>
          <p:cNvSpPr/>
          <p:nvPr/>
        </p:nvSpPr>
        <p:spPr>
          <a:xfrm>
            <a:off x="5468112" y="4837176"/>
            <a:ext cx="5806440" cy="420624"/>
          </a:xfrm>
          <a:prstGeom prst="roundRect">
            <a:avLst>
              <a:gd name="adj" fmla="val 17391"/>
            </a:avLst>
          </a:prstGeom>
          <a:solidFill>
            <a:srgbClr val="13253C"/>
          </a:solidFill>
          <a:ln w="12700">
            <a:solidFill>
              <a:srgbClr val="13253C"/>
            </a:solidFill>
            <a:prstDash val="solid"/>
          </a:ln>
        </p:spPr>
      </p:sp>
      <p:pic>
        <p:nvPicPr>
          <p:cNvPr id="13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50992" y="4946904"/>
            <a:ext cx="201168" cy="201168"/>
          </a:xfrm>
          <a:prstGeom prst="rect">
            <a:avLst/>
          </a:prstGeom>
        </p:spPr>
      </p:pic>
      <p:sp>
        <p:nvSpPr>
          <p:cNvPr id="132" name="Text 126"/>
          <p:cNvSpPr/>
          <p:nvPr/>
        </p:nvSpPr>
        <p:spPr>
          <a:xfrm>
            <a:off x="5961888" y="4882896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E2E8F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成果｜巨量修補演算法列入公司營業秘密成果，並提升製程效率與可重複性</a:t>
            </a:r>
            <a:endParaRPr lang="en-US" sz="1020" dirty="0"/>
          </a:p>
        </p:txBody>
      </p:sp>
      <p:sp>
        <p:nvSpPr>
          <p:cNvPr id="133" name="Shape 127"/>
          <p:cNvSpPr/>
          <p:nvPr/>
        </p:nvSpPr>
        <p:spPr>
          <a:xfrm>
            <a:off x="676656" y="5285232"/>
            <a:ext cx="932688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134" name="Text 128"/>
          <p:cNvSpPr/>
          <p:nvPr/>
        </p:nvSpPr>
        <p:spPr>
          <a:xfrm>
            <a:off x="676656" y="5285232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Python</a:t>
            </a:r>
            <a:endParaRPr lang="en-US" sz="1020" dirty="0"/>
          </a:p>
        </p:txBody>
      </p:sp>
      <p:sp>
        <p:nvSpPr>
          <p:cNvPr id="135" name="Shape 129"/>
          <p:cNvSpPr/>
          <p:nvPr/>
        </p:nvSpPr>
        <p:spPr>
          <a:xfrm>
            <a:off x="1700784" y="5285232"/>
            <a:ext cx="932688" cy="292608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prstDash val="solid"/>
          </a:ln>
        </p:spPr>
      </p:sp>
      <p:sp>
        <p:nvSpPr>
          <p:cNvPr id="136" name="Text 130"/>
          <p:cNvSpPr/>
          <p:nvPr/>
        </p:nvSpPr>
        <p:spPr>
          <a:xfrm>
            <a:off x="1700784" y="5285232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891B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Algorithm</a:t>
            </a:r>
            <a:endParaRPr lang="en-US" sz="1020" dirty="0"/>
          </a:p>
        </p:txBody>
      </p:sp>
      <p:sp>
        <p:nvSpPr>
          <p:cNvPr id="137" name="Shape 131"/>
          <p:cNvSpPr/>
          <p:nvPr/>
        </p:nvSpPr>
        <p:spPr>
          <a:xfrm>
            <a:off x="2724912" y="5285232"/>
            <a:ext cx="932688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138" name="Text 132"/>
          <p:cNvSpPr/>
          <p:nvPr/>
        </p:nvSpPr>
        <p:spPr>
          <a:xfrm>
            <a:off x="2724912" y="5285232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Regression</a:t>
            </a:r>
            <a:endParaRPr lang="en-US" sz="1020" dirty="0"/>
          </a:p>
        </p:txBody>
      </p:sp>
      <p:sp>
        <p:nvSpPr>
          <p:cNvPr id="139" name="Shape 133"/>
          <p:cNvSpPr/>
          <p:nvPr/>
        </p:nvSpPr>
        <p:spPr>
          <a:xfrm>
            <a:off x="3749040" y="5285232"/>
            <a:ext cx="932688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140" name="Text 134"/>
          <p:cNvSpPr/>
          <p:nvPr/>
        </p:nvSpPr>
        <p:spPr>
          <a:xfrm>
            <a:off x="3749040" y="5285232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MES Integration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10" kern="0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EXPERIENCE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67665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02｜Azure 雲端應用與資料流程整合</a:t>
            </a:r>
            <a:endParaRPr lang="en-US" sz="2750" dirty="0"/>
          </a:p>
        </p:txBody>
      </p:sp>
      <p:sp>
        <p:nvSpPr>
          <p:cNvPr id="4" name="Text 2"/>
          <p:cNvSpPr/>
          <p:nvPr/>
        </p:nvSpPr>
        <p:spPr>
          <a:xfrm>
            <a:off x="658368" y="11978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設計從地端系統到雲端運算、儲存與檔案交換的完整資料路徑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00784"/>
            <a:ext cx="1444752" cy="347472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0078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499616" y="170078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CLOUD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58368" y="2176272"/>
            <a:ext cx="10881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5240" dist="50800" dir="2700000">
              <a:srgbClr val="B8C3D1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761488"/>
            <a:ext cx="1517904" cy="1225296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704" y="2990088"/>
            <a:ext cx="438912" cy="438912"/>
          </a:xfrm>
          <a:prstGeom prst="ellipse">
            <a:avLst/>
          </a:prstGeom>
          <a:solidFill>
            <a:srgbClr val="0B1220">
              <a:alpha val="94000"/>
            </a:srgbClr>
          </a:solidFill>
          <a:ln w="10160">
            <a:solidFill>
              <a:srgbClr val="0B122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9576" y="3108960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00200" y="2907792"/>
            <a:ext cx="740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地端系統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600200" y="3218688"/>
            <a:ext cx="740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User / MES</a:t>
            </a:r>
            <a:endParaRPr lang="en-US" sz="890" dirty="0"/>
          </a:p>
        </p:txBody>
      </p:sp>
      <p:sp>
        <p:nvSpPr>
          <p:cNvPr id="14" name="Shape 11"/>
          <p:cNvSpPr/>
          <p:nvPr/>
        </p:nvSpPr>
        <p:spPr>
          <a:xfrm>
            <a:off x="2542032" y="3374136"/>
            <a:ext cx="164592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834640" y="2761488"/>
            <a:ext cx="1536192" cy="1225296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80944" y="2990088"/>
            <a:ext cx="438912" cy="438912"/>
          </a:xfrm>
          <a:prstGeom prst="ellipse">
            <a:avLst/>
          </a:prstGeom>
          <a:solidFill>
            <a:srgbClr val="2563EB">
              <a:alpha val="94000"/>
            </a:srgbClr>
          </a:solidFill>
          <a:ln w="10160">
            <a:solidFill>
              <a:srgbClr val="2563E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99816" y="3108960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20440" y="2907792"/>
            <a:ext cx="758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App Service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3520440" y="3218688"/>
            <a:ext cx="758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API / HTTP POST</a:t>
            </a:r>
            <a:endParaRPr lang="en-US" sz="890" dirty="0"/>
          </a:p>
        </p:txBody>
      </p:sp>
      <p:sp>
        <p:nvSpPr>
          <p:cNvPr id="20" name="Shape 16"/>
          <p:cNvSpPr/>
          <p:nvPr/>
        </p:nvSpPr>
        <p:spPr>
          <a:xfrm>
            <a:off x="4480560" y="3374136"/>
            <a:ext cx="23774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846320" y="2761488"/>
            <a:ext cx="1783080" cy="1225296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92624" y="2990088"/>
            <a:ext cx="438912" cy="438912"/>
          </a:xfrm>
          <a:prstGeom prst="ellipse">
            <a:avLst/>
          </a:prstGeom>
          <a:solidFill>
            <a:srgbClr val="EF4444">
              <a:alpha val="94000"/>
            </a:srgbClr>
          </a:solidFill>
          <a:ln w="10160">
            <a:solidFill>
              <a:srgbClr val="EF444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1496" y="31089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532120" y="29077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Databricks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5532120" y="32186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Delta Lake / Compute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739128" y="3374136"/>
            <a:ext cx="265176" cy="0"/>
          </a:xfrm>
          <a:prstGeom prst="line">
            <a:avLst/>
          </a:prstGeom>
          <a:noFill/>
          <a:ln w="22860">
            <a:solidFill>
              <a:srgbClr val="06B6D4"/>
            </a:solidFill>
            <a:prstDash val="solid"/>
            <a:headEnd type="none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7132320" y="2761488"/>
            <a:ext cx="1627632" cy="1225296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278624" y="2990088"/>
            <a:ext cx="438912" cy="438912"/>
          </a:xfrm>
          <a:prstGeom prst="ellipse">
            <a:avLst/>
          </a:prstGeom>
          <a:solidFill>
            <a:srgbClr val="06B6D4">
              <a:alpha val="94000"/>
            </a:srgbClr>
          </a:solidFill>
          <a:ln w="10160">
            <a:solidFill>
              <a:srgbClr val="06B6D4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97496" y="3108960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818120" y="290779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Blob Storage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7818120" y="3218688"/>
            <a:ext cx="85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Cloud Storage</a:t>
            </a:r>
            <a:endParaRPr lang="en-US" sz="890" dirty="0"/>
          </a:p>
        </p:txBody>
      </p:sp>
      <p:sp>
        <p:nvSpPr>
          <p:cNvPr id="32" name="Shape 26"/>
          <p:cNvSpPr/>
          <p:nvPr/>
        </p:nvSpPr>
        <p:spPr>
          <a:xfrm>
            <a:off x="8869680" y="3374136"/>
            <a:ext cx="256032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253728" y="2761488"/>
            <a:ext cx="1499616" cy="1225296"/>
          </a:xfrm>
          <a:prstGeom prst="roundRect">
            <a:avLst>
              <a:gd name="adj" fmla="val 8955"/>
            </a:avLst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400032" y="2990088"/>
            <a:ext cx="438912" cy="438912"/>
          </a:xfrm>
          <a:prstGeom prst="ellipse">
            <a:avLst/>
          </a:prstGeom>
          <a:solidFill>
            <a:srgbClr val="14B8A6">
              <a:alpha val="94000"/>
            </a:srgbClr>
          </a:solidFill>
          <a:ln w="10160">
            <a:solidFill>
              <a:srgbClr val="14B8A6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18904" y="3108960"/>
            <a:ext cx="201168" cy="20116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9939528" y="2907792"/>
            <a:ext cx="722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AzCopy</a:t>
            </a:r>
            <a:endParaRPr lang="en-US" sz="1150" dirty="0"/>
          </a:p>
        </p:txBody>
      </p:sp>
      <p:sp>
        <p:nvSpPr>
          <p:cNvPr id="37" name="Text 30"/>
          <p:cNvSpPr/>
          <p:nvPr/>
        </p:nvSpPr>
        <p:spPr>
          <a:xfrm>
            <a:off x="9939528" y="3218688"/>
            <a:ext cx="722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Upload / Download</a:t>
            </a:r>
            <a:endParaRPr lang="en-US" sz="890" dirty="0"/>
          </a:p>
        </p:txBody>
      </p:sp>
      <p:sp>
        <p:nvSpPr>
          <p:cNvPr id="38" name="Text 31"/>
          <p:cNvSpPr/>
          <p:nvPr/>
        </p:nvSpPr>
        <p:spPr>
          <a:xfrm>
            <a:off x="2404872" y="2496312"/>
            <a:ext cx="512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API Request</a:t>
            </a:r>
            <a:endParaRPr lang="en-US" sz="820" dirty="0"/>
          </a:p>
        </p:txBody>
      </p:sp>
      <p:sp>
        <p:nvSpPr>
          <p:cNvPr id="39" name="Text 32"/>
          <p:cNvSpPr/>
          <p:nvPr/>
        </p:nvSpPr>
        <p:spPr>
          <a:xfrm>
            <a:off x="4334256" y="2496312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 Processing</a:t>
            </a:r>
            <a:endParaRPr lang="en-US" sz="820" dirty="0"/>
          </a:p>
        </p:txBody>
      </p:sp>
      <p:sp>
        <p:nvSpPr>
          <p:cNvPr id="40" name="Text 33"/>
          <p:cNvSpPr/>
          <p:nvPr/>
        </p:nvSpPr>
        <p:spPr>
          <a:xfrm>
            <a:off x="6583680" y="24963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Persist</a:t>
            </a:r>
            <a:endParaRPr lang="en-US" sz="820" dirty="0"/>
          </a:p>
        </p:txBody>
      </p:sp>
      <p:sp>
        <p:nvSpPr>
          <p:cNvPr id="41" name="Text 34"/>
          <p:cNvSpPr/>
          <p:nvPr/>
        </p:nvSpPr>
        <p:spPr>
          <a:xfrm>
            <a:off x="8723376" y="249631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File Transfer</a:t>
            </a:r>
            <a:endParaRPr lang="en-US" sz="820" dirty="0"/>
          </a:p>
        </p:txBody>
      </p:sp>
      <p:sp>
        <p:nvSpPr>
          <p:cNvPr id="42" name="Text 35"/>
          <p:cNvSpPr/>
          <p:nvPr/>
        </p:nvSpPr>
        <p:spPr>
          <a:xfrm>
            <a:off x="69494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我的角色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694944" y="5166360"/>
            <a:ext cx="243230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1248" y="5404104"/>
            <a:ext cx="237744" cy="237744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1170432" y="5230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架構設計</a:t>
            </a:r>
            <a:endParaRPr lang="en-US" sz="1060" dirty="0"/>
          </a:p>
        </p:txBody>
      </p:sp>
      <p:sp>
        <p:nvSpPr>
          <p:cNvPr id="46" name="Text 38"/>
          <p:cNvSpPr/>
          <p:nvPr/>
        </p:nvSpPr>
        <p:spPr>
          <a:xfrm>
            <a:off x="1170432" y="5477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系統入口、資料流與雲端服務串接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374136" y="5166360"/>
            <a:ext cx="243230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520440" y="5404104"/>
            <a:ext cx="237744" cy="237744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3849624" y="5230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資料處理</a:t>
            </a:r>
            <a:endParaRPr lang="en-US" sz="1060" dirty="0"/>
          </a:p>
        </p:txBody>
      </p:sp>
      <p:sp>
        <p:nvSpPr>
          <p:cNvPr id="50" name="Text 41"/>
          <p:cNvSpPr/>
          <p:nvPr/>
        </p:nvSpPr>
        <p:spPr>
          <a:xfrm>
            <a:off x="3849624" y="5477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Databricks / Delta Lake 運算與分析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6053328" y="5166360"/>
            <a:ext cx="243230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</p:spPr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99632" y="5404104"/>
            <a:ext cx="237744" cy="237744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6528816" y="5230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系統整合</a:t>
            </a:r>
            <a:endParaRPr lang="en-US" sz="1060" dirty="0"/>
          </a:p>
        </p:txBody>
      </p:sp>
      <p:sp>
        <p:nvSpPr>
          <p:cNvPr id="54" name="Text 44"/>
          <p:cNvSpPr/>
          <p:nvPr/>
        </p:nvSpPr>
        <p:spPr>
          <a:xfrm>
            <a:off x="6528816" y="547725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打通地端與雲端資料交換流程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8906256" y="5029200"/>
            <a:ext cx="2359152" cy="100584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6" name="Text 46"/>
          <p:cNvSpPr/>
          <p:nvPr/>
        </p:nvSpPr>
        <p:spPr>
          <a:xfrm>
            <a:off x="9125712" y="51937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93C5FD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專案成果</a:t>
            </a:r>
            <a:endParaRPr lang="en-US" sz="1050" dirty="0"/>
          </a:p>
        </p:txBody>
      </p:sp>
      <p:sp>
        <p:nvSpPr>
          <p:cNvPr id="57" name="Text 47"/>
          <p:cNvSpPr/>
          <p:nvPr/>
        </p:nvSpPr>
        <p:spPr>
          <a:xfrm>
            <a:off x="9125712" y="5468112"/>
            <a:ext cx="1810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建立完整雲端資料處理流程</a:t>
            </a:r>
            <a:endParaRPr lang="en-US" sz="1110" dirty="0"/>
          </a:p>
          <a:p>
            <a:pPr algn="l" indent="0" marL="0">
              <a:buNone/>
            </a:pPr>
            <a:r>
              <a:rPr lang="en-US" sz="111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強化即時性與擴充性</a:t>
            </a:r>
            <a:endParaRPr lang="en-US" sz="11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110" kern="0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EXPERIENCE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67665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03｜CCTV AI 智慧影像辨識</a:t>
            </a:r>
            <a:endParaRPr lang="en-US" sz="2750" dirty="0"/>
          </a:p>
        </p:txBody>
      </p:sp>
      <p:sp>
        <p:nvSpPr>
          <p:cNvPr id="4" name="Text 2"/>
          <p:cNvSpPr/>
          <p:nvPr/>
        </p:nvSpPr>
        <p:spPr>
          <a:xfrm>
            <a:off x="658368" y="11978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Edge AI 即時推論 × 多場域應用 × 系統整合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00784"/>
            <a:ext cx="1444752" cy="347472"/>
          </a:xfrm>
          <a:prstGeom prst="roundRect">
            <a:avLst>
              <a:gd name="adj" fmla="val 31579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0078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PROJECT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499616" y="170078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CCTV AI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120640" y="2578608"/>
            <a:ext cx="1920240" cy="192024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31536" y="2889504"/>
            <a:ext cx="1298448" cy="1298448"/>
          </a:xfrm>
          <a:prstGeom prst="ellipse">
            <a:avLst/>
          </a:prstGeom>
          <a:solidFill>
            <a:srgbClr val="111C31"/>
          </a:solidFill>
          <a:ln w="12700">
            <a:solidFill>
              <a:srgbClr val="2D4C7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42432" y="3163824"/>
            <a:ext cx="658368" cy="6583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77840" y="4005072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Edge AI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749808" y="2240280"/>
            <a:ext cx="32461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5240" dist="50800" dir="2700000">
              <a:srgbClr val="B8C3D1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96112" y="2450592"/>
            <a:ext cx="530352" cy="530352"/>
          </a:xfrm>
          <a:prstGeom prst="ellipse">
            <a:avLst/>
          </a:prstGeom>
          <a:solidFill>
            <a:srgbClr val="06B6D4">
              <a:alpha val="92000"/>
            </a:srgbClr>
          </a:solidFill>
          <a:ln w="10160">
            <a:solidFill>
              <a:srgbClr val="06B6D4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2416" y="25968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54480" y="2395728"/>
            <a:ext cx="1572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跌倒 / 行為偵測</a:t>
            </a:r>
            <a:endParaRPr lang="en-US" sz="1180" dirty="0"/>
          </a:p>
        </p:txBody>
      </p:sp>
      <p:sp>
        <p:nvSpPr>
          <p:cNvPr id="16" name="Text 12"/>
          <p:cNvSpPr/>
          <p:nvPr/>
        </p:nvSpPr>
        <p:spPr>
          <a:xfrm>
            <a:off x="1554480" y="2679192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ToF 深度影像、RGB 影像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LSTM / CNN 連續動作辨識</a:t>
            </a:r>
            <a:endParaRPr lang="en-US" sz="940" dirty="0"/>
          </a:p>
        </p:txBody>
      </p:sp>
      <p:sp>
        <p:nvSpPr>
          <p:cNvPr id="17" name="Shape 13"/>
          <p:cNvSpPr/>
          <p:nvPr/>
        </p:nvSpPr>
        <p:spPr>
          <a:xfrm>
            <a:off x="3081528" y="2386584"/>
            <a:ext cx="713232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081528" y="23865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6B6D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長照・醫院</a:t>
            </a:r>
            <a:endParaRPr lang="en-US" sz="1020" dirty="0"/>
          </a:p>
        </p:txBody>
      </p:sp>
      <p:sp>
        <p:nvSpPr>
          <p:cNvPr id="19" name="Shape 15"/>
          <p:cNvSpPr/>
          <p:nvPr/>
        </p:nvSpPr>
        <p:spPr>
          <a:xfrm>
            <a:off x="8193024" y="2240280"/>
            <a:ext cx="32461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5240" dist="50800" dir="2700000">
              <a:srgbClr val="B8C3D1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39328" y="2450592"/>
            <a:ext cx="530352" cy="530352"/>
          </a:xfrm>
          <a:prstGeom prst="ellipse">
            <a:avLst/>
          </a:prstGeom>
          <a:solidFill>
            <a:srgbClr val="2563EB">
              <a:alpha val="92000"/>
            </a:srgbClr>
          </a:solidFill>
          <a:ln w="10160">
            <a:solidFill>
              <a:srgbClr val="2563EB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5632" y="2596896"/>
            <a:ext cx="237744" cy="2377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97696" y="2395728"/>
            <a:ext cx="1572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車牌辨識</a:t>
            </a:r>
            <a:endParaRPr lang="en-US" sz="1180" dirty="0"/>
          </a:p>
        </p:txBody>
      </p:sp>
      <p:sp>
        <p:nvSpPr>
          <p:cNvPr id="23" name="Text 18"/>
          <p:cNvSpPr/>
          <p:nvPr/>
        </p:nvSpPr>
        <p:spPr>
          <a:xfrm>
            <a:off x="8997696" y="2679192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停車場 / 道路行進間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模糊、傾斜車牌與區間測速整合</a:t>
            </a:r>
            <a:endParaRPr lang="en-US" sz="940" dirty="0"/>
          </a:p>
        </p:txBody>
      </p:sp>
      <p:sp>
        <p:nvSpPr>
          <p:cNvPr id="24" name="Shape 19"/>
          <p:cNvSpPr/>
          <p:nvPr/>
        </p:nvSpPr>
        <p:spPr>
          <a:xfrm>
            <a:off x="10524744" y="2386584"/>
            <a:ext cx="713232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524744" y="23865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交通・門禁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749808" y="4169664"/>
            <a:ext cx="32461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5240" dist="50800" dir="2700000">
              <a:srgbClr val="B8C3D1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96112" y="4379976"/>
            <a:ext cx="530352" cy="530352"/>
          </a:xfrm>
          <a:prstGeom prst="ellipse">
            <a:avLst/>
          </a:prstGeom>
          <a:solidFill>
            <a:srgbClr val="14B8A6">
              <a:alpha val="92000"/>
            </a:srgbClr>
          </a:solidFill>
          <a:ln w="10160">
            <a:solidFill>
              <a:srgbClr val="14B8A6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2416" y="4526280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554480" y="4325112"/>
            <a:ext cx="1572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人流 / 門禁辨識</a:t>
            </a:r>
            <a:endParaRPr lang="en-US" sz="1180" dirty="0"/>
          </a:p>
        </p:txBody>
      </p:sp>
      <p:sp>
        <p:nvSpPr>
          <p:cNvPr id="30" name="Text 24"/>
          <p:cNvSpPr/>
          <p:nvPr/>
        </p:nvSpPr>
        <p:spPr>
          <a:xfrm>
            <a:off x="1554480" y="4608576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人臉、口罩、體溫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人流計數・電子圍籬・跨線偵測</a:t>
            </a:r>
            <a:endParaRPr lang="en-US" sz="940" dirty="0"/>
          </a:p>
        </p:txBody>
      </p:sp>
      <p:sp>
        <p:nvSpPr>
          <p:cNvPr id="31" name="Shape 25"/>
          <p:cNvSpPr/>
          <p:nvPr/>
        </p:nvSpPr>
        <p:spPr>
          <a:xfrm>
            <a:off x="3081528" y="4315968"/>
            <a:ext cx="713232" cy="292608"/>
          </a:xfrm>
          <a:prstGeom prst="roundRect">
            <a:avLst>
              <a:gd name="adj" fmla="val 37500"/>
            </a:avLst>
          </a:prstGeom>
          <a:solidFill>
            <a:srgbClr val="EAFBF7"/>
          </a:solidFill>
          <a:ln w="12700">
            <a:solidFill>
              <a:srgbClr val="EAFBF7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3081528" y="431596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B8A6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大樓・賣場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8193024" y="4169664"/>
            <a:ext cx="324612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15240" dist="50800" dir="2700000">
              <a:srgbClr val="B8C3D1">
                <a:alpha val="14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8339328" y="4379976"/>
            <a:ext cx="530352" cy="530352"/>
          </a:xfrm>
          <a:prstGeom prst="ellipse">
            <a:avLst/>
          </a:prstGeom>
          <a:solidFill>
            <a:srgbClr val="F59E0B">
              <a:alpha val="92000"/>
            </a:srgbClr>
          </a:solidFill>
          <a:ln w="10160">
            <a:solidFill>
              <a:srgbClr val="F59E0B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85632" y="4526280"/>
            <a:ext cx="237744" cy="23774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8997696" y="4325112"/>
            <a:ext cx="1572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B122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智慧牧場</a:t>
            </a:r>
            <a:endParaRPr lang="en-US" sz="1180" dirty="0"/>
          </a:p>
        </p:txBody>
      </p:sp>
      <p:sp>
        <p:nvSpPr>
          <p:cNvPr id="37" name="Text 30"/>
          <p:cNvSpPr/>
          <p:nvPr/>
        </p:nvSpPr>
        <p:spPr>
          <a:xfrm>
            <a:off x="8997696" y="4608576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家畜健康與活動狀態追蹤</a:t>
            </a:r>
            <a:endParaRPr lang="en-US" sz="940" dirty="0"/>
          </a:p>
          <a:p>
            <a:pPr algn="l" indent="0" marL="0">
              <a:buNone/>
            </a:pPr>
            <a:r>
              <a:rPr lang="en-US" sz="940" dirty="0">
                <a:solidFill>
                  <a:srgbClr val="0F172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搭配管理系統進行即時監控</a:t>
            </a:r>
            <a:endParaRPr lang="en-US" sz="940" dirty="0"/>
          </a:p>
        </p:txBody>
      </p:sp>
      <p:sp>
        <p:nvSpPr>
          <p:cNvPr id="38" name="Shape 31"/>
          <p:cNvSpPr/>
          <p:nvPr/>
        </p:nvSpPr>
        <p:spPr>
          <a:xfrm>
            <a:off x="10524744" y="4315968"/>
            <a:ext cx="713232" cy="292608"/>
          </a:xfrm>
          <a:prstGeom prst="roundRect">
            <a:avLst>
              <a:gd name="adj" fmla="val 37500"/>
            </a:avLst>
          </a:prstGeom>
          <a:solidFill>
            <a:srgbClr val="FFF7E8"/>
          </a:solidFill>
          <a:ln w="12700">
            <a:solidFill>
              <a:srgbClr val="FFF7E8">
                <a:alpha val="0"/>
              </a:srgbClr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10524744" y="4315968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9E0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農牧場域</a:t>
            </a:r>
            <a:endParaRPr lang="en-US" sz="1020" dirty="0"/>
          </a:p>
        </p:txBody>
      </p:sp>
      <p:sp>
        <p:nvSpPr>
          <p:cNvPr id="40" name="Shape 33"/>
          <p:cNvSpPr/>
          <p:nvPr/>
        </p:nvSpPr>
        <p:spPr>
          <a:xfrm>
            <a:off x="4069080" y="2843784"/>
            <a:ext cx="978408" cy="374904"/>
          </a:xfrm>
          <a:prstGeom prst="line">
            <a:avLst/>
          </a:prstGeom>
          <a:noFill/>
          <a:ln w="15240">
            <a:solidFill>
              <a:srgbClr val="9FB3CC"/>
            </a:solidFill>
            <a:prstDash val="solid"/>
            <a:headEnd type="none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7132320" y="3218688"/>
            <a:ext cx="987552" cy="-374904"/>
          </a:xfrm>
          <a:prstGeom prst="line">
            <a:avLst/>
          </a:prstGeom>
          <a:noFill/>
          <a:ln w="15240">
            <a:solidFill>
              <a:srgbClr val="9FB3CC"/>
            </a:solidFill>
            <a:prstDash val="solid"/>
            <a:headEnd type="none"/>
            <a:tailEnd type="triangle"/>
          </a:ln>
        </p:spPr>
      </p:sp>
      <p:sp>
        <p:nvSpPr>
          <p:cNvPr id="42" name="Shape 35"/>
          <p:cNvSpPr/>
          <p:nvPr/>
        </p:nvSpPr>
        <p:spPr>
          <a:xfrm>
            <a:off x="4069080" y="4718304"/>
            <a:ext cx="978408" cy="-768096"/>
          </a:xfrm>
          <a:prstGeom prst="line">
            <a:avLst/>
          </a:prstGeom>
          <a:noFill/>
          <a:ln w="15240">
            <a:solidFill>
              <a:srgbClr val="9FB3CC"/>
            </a:solidFill>
            <a:prstDash val="solid"/>
            <a:headEnd type="none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7132320" y="3950208"/>
            <a:ext cx="987552" cy="768096"/>
          </a:xfrm>
          <a:prstGeom prst="line">
            <a:avLst/>
          </a:prstGeom>
          <a:noFill/>
          <a:ln w="15240">
            <a:solidFill>
              <a:srgbClr val="9FB3CC"/>
            </a:solidFill>
            <a:prstDash val="solid"/>
            <a:headEnd type="none"/>
            <a:tailEnd type="triangle"/>
          </a:ln>
        </p:spPr>
      </p:sp>
      <p:sp>
        <p:nvSpPr>
          <p:cNvPr id="44" name="Text 37"/>
          <p:cNvSpPr/>
          <p:nvPr/>
        </p:nvSpPr>
        <p:spPr>
          <a:xfrm>
            <a:off x="768096" y="5632704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64748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技術棧</a:t>
            </a:r>
            <a:endParaRPr lang="en-US" sz="1020" dirty="0"/>
          </a:p>
        </p:txBody>
      </p:sp>
      <p:sp>
        <p:nvSpPr>
          <p:cNvPr id="45" name="Shape 38"/>
          <p:cNvSpPr/>
          <p:nvPr/>
        </p:nvSpPr>
        <p:spPr>
          <a:xfrm>
            <a:off x="1389888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1389888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Python</a:t>
            </a:r>
            <a:endParaRPr lang="en-US" sz="1020" dirty="0"/>
          </a:p>
        </p:txBody>
      </p:sp>
      <p:sp>
        <p:nvSpPr>
          <p:cNvPr id="47" name="Shape 40"/>
          <p:cNvSpPr/>
          <p:nvPr/>
        </p:nvSpPr>
        <p:spPr>
          <a:xfrm>
            <a:off x="2176272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2176272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891B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</a:t>
            </a:r>
            <a:endParaRPr lang="en-US" sz="1020" dirty="0"/>
          </a:p>
        </p:txBody>
      </p:sp>
      <p:sp>
        <p:nvSpPr>
          <p:cNvPr id="49" name="Shape 42"/>
          <p:cNvSpPr/>
          <p:nvPr/>
        </p:nvSpPr>
        <p:spPr>
          <a:xfrm>
            <a:off x="2962656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2962656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Linux</a:t>
            </a:r>
            <a:endParaRPr lang="en-US" sz="1020" dirty="0"/>
          </a:p>
        </p:txBody>
      </p:sp>
      <p:sp>
        <p:nvSpPr>
          <p:cNvPr id="51" name="Shape 44"/>
          <p:cNvSpPr/>
          <p:nvPr/>
        </p:nvSpPr>
        <p:spPr>
          <a:xfrm>
            <a:off x="3749040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3749040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891B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OpenCV</a:t>
            </a:r>
            <a:endParaRPr lang="en-US" sz="1020" dirty="0"/>
          </a:p>
        </p:txBody>
      </p:sp>
      <p:sp>
        <p:nvSpPr>
          <p:cNvPr id="53" name="Shape 46"/>
          <p:cNvSpPr/>
          <p:nvPr/>
        </p:nvSpPr>
        <p:spPr>
          <a:xfrm>
            <a:off x="4535424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4535424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CNN</a:t>
            </a:r>
            <a:endParaRPr lang="en-US" sz="1020" dirty="0"/>
          </a:p>
        </p:txBody>
      </p:sp>
      <p:sp>
        <p:nvSpPr>
          <p:cNvPr id="55" name="Shape 48"/>
          <p:cNvSpPr/>
          <p:nvPr/>
        </p:nvSpPr>
        <p:spPr>
          <a:xfrm>
            <a:off x="5321808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8FAFD"/>
          </a:solidFill>
          <a:ln w="12700">
            <a:solidFill>
              <a:srgbClr val="E8FAFD">
                <a:alpha val="0"/>
              </a:srgbClr>
            </a:solidFill>
            <a:prstDash val="solid"/>
          </a:ln>
        </p:spPr>
      </p:sp>
      <p:sp>
        <p:nvSpPr>
          <p:cNvPr id="56" name="Text 49"/>
          <p:cNvSpPr/>
          <p:nvPr/>
        </p:nvSpPr>
        <p:spPr>
          <a:xfrm>
            <a:off x="5321808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891B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LSTM</a:t>
            </a:r>
            <a:endParaRPr lang="en-US" sz="1020" dirty="0"/>
          </a:p>
        </p:txBody>
      </p:sp>
      <p:sp>
        <p:nvSpPr>
          <p:cNvPr id="57" name="Shape 50"/>
          <p:cNvSpPr/>
          <p:nvPr/>
        </p:nvSpPr>
        <p:spPr>
          <a:xfrm>
            <a:off x="6108192" y="5586984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108192" y="558698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Edge AI</a:t>
            </a:r>
            <a:endParaRPr lang="en-US" sz="1020" dirty="0"/>
          </a:p>
        </p:txBody>
      </p:sp>
      <p:sp>
        <p:nvSpPr>
          <p:cNvPr id="59" name="Shape 52"/>
          <p:cNvSpPr/>
          <p:nvPr/>
        </p:nvSpPr>
        <p:spPr>
          <a:xfrm>
            <a:off x="7424928" y="5532120"/>
            <a:ext cx="3913632" cy="530352"/>
          </a:xfrm>
          <a:prstGeom prst="roundRect">
            <a:avLst>
              <a:gd name="adj" fmla="val 20690"/>
            </a:avLst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60" name="Text 53"/>
          <p:cNvSpPr/>
          <p:nvPr/>
        </p:nvSpPr>
        <p:spPr>
          <a:xfrm>
            <a:off x="7626096" y="5532120"/>
            <a:ext cx="3502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研究延伸｜碩士論文：ToF 深度影像 + LSTM 跌倒偵測</a:t>
            </a:r>
            <a:endParaRPr lang="en-US" sz="9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4A3B8"/>
                </a:solidFill>
                <a:latin typeface="Noto Sans CJK TC"/>
                <a:ea typeface="Noto Sans CJK TC"/>
                <a:cs typeface="Noto Sans CJK T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曾韻文｜AI × 系統開發 × 雲端應用</dc:title>
  <dc:subject>自我介紹簡報優化版</dc:subject>
  <dc:creator>OpenAI</dc:creator>
  <cp:lastModifiedBy>OpenAI</cp:lastModifiedBy>
  <cp:revision>1</cp:revision>
  <dcterms:created xsi:type="dcterms:W3CDTF">2026-08-24T12:01:29Z</dcterms:created>
  <dcterms:modified xsi:type="dcterms:W3CDTF">2026-08-24T12:01:29Z</dcterms:modified>
</cp:coreProperties>
</file>
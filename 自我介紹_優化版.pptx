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media/image21.svg" ContentType="image/sv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411" r:id="rId6"/>
    <p:sldId id="260" r:id="rId7"/>
    <p:sldId id="414" r:id="rId8"/>
    <p:sldId id="261" r:id="rId9"/>
    <p:sldId id="415" r:id="rId10"/>
    <p:sldId id="263" r:id="rId11"/>
    <p:sldId id="264" r:id="rId12"/>
  </p:sldIdLst>
  <p:sldSz cx="12192000" cy="6858000"/>
  <p:notesSz cx="6858000" cy="12192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40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oto Sans CJK TC"/>
              </a:rPr>
              <a:t>Click to move the slide</a:t>
            </a: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1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11" name="PlaceHolder 4"/>
          <p:cNvSpPr>
            <a:spLocks noGrp="1"/>
          </p:cNvSpPr>
          <p:nvPr>
            <p:ph type="dt" idx="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2" name="PlaceHolder 5"/>
          <p:cNvSpPr>
            <a:spLocks noGrp="1"/>
          </p:cNvSpPr>
          <p:nvPr>
            <p:ph type="ftr" idx="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3" name="PlaceHolder 6"/>
          <p:cNvSpPr>
            <a:spLocks noGrp="1"/>
          </p:cNvSpPr>
          <p:nvPr>
            <p:ph type="sldNum" idx="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18D3FB2-51A7-4CEB-BBEF-5F80EC6F872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95653A5-FC01-4670-AFC6-6B631FB8C61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這頁將原本的學歷與工作經歷合併，以時間軸呈現。強調能力從資訊管理、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視覺，到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MES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系統與雲端整合逐步累積。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2C1856B-5453-49AA-8F12-9D4706E4DA1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Micro LED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專案將原本兩頁合併成一頁。先講製程痛點，再講演算法與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校正，最後收斂到成果。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99FCD21-8F0A-4829-AF95-B3F5205F39E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雲端專案重點不是列服務名稱，而是把服務放進架構流程，讓面試者一眼看懂資料怎麼從地端進雲端、運算、儲存與交換。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F254B56-0ED6-4E62-BD4E-CE1B9F17FFE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E6CF1A-E888-4A07-B96A-456D0CF69483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444475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將原本零散的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專案整併成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CCTV AI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平台概念，以四種典型應用呈現。碩士論文放在研究延伸，避免額外多一頁。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14494C9-8C31-42F3-A18E-B286B07C28B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5CA1F-09B8-E752-B1BD-B3445BDFB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2CA66BC-E732-F165-1CDF-F4044BE0AD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64ACBBF-41C5-6927-B874-FCD48B7483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CF8102A-099D-3899-B192-28C493DFDC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E6CF1A-E888-4A07-B96A-456D0CF69483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97718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oto Sans CJK TC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Noto Sans CJK TC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Noto Sans CJK TC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 CJK TC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 CJK TC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 CJK TC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 CJK TC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 CJK TC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ASTER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400" cy="820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7440" rIns="90000" bIns="3744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Text 1"/>
          <p:cNvSpPr/>
          <p:nvPr/>
        </p:nvSpPr>
        <p:spPr>
          <a:xfrm>
            <a:off x="658440" y="6492240"/>
            <a:ext cx="402300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850" b="0" u="none" strike="noStrike">
                <a:solidFill>
                  <a:srgbClr val="94A3B8"/>
                </a:solidFill>
                <a:effectLst/>
                <a:uFillTx/>
                <a:latin typeface="Noto Sans CJK TC"/>
                <a:ea typeface="Noto Sans CJK TC"/>
              </a:rPr>
              <a:t>曾韻文  </a:t>
            </a:r>
            <a:r>
              <a:rPr lang="en-US" sz="850" b="0" u="none" strike="noStrike">
                <a:solidFill>
                  <a:srgbClr val="94A3B8"/>
                </a:solidFill>
                <a:effectLst/>
                <a:uFillTx/>
                <a:latin typeface="Noto Sans CJK TC"/>
                <a:ea typeface="Noto Sans CJK TC"/>
              </a:rPr>
              <a:t>|  AI × SYSTEM × CLOUD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Text 2"/>
          <p:cNvSpPr/>
          <p:nvPr/>
        </p:nvSpPr>
        <p:spPr>
          <a:xfrm>
            <a:off x="9966960" y="6492240"/>
            <a:ext cx="159984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94A3B8"/>
                </a:solidFill>
                <a:effectLst/>
                <a:uFillTx/>
                <a:latin typeface="Noto Sans CJK TC"/>
                <a:ea typeface="Noto Sans CJK TC"/>
              </a:rPr>
              <a:t>Self Introduction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1"/>
          <p:cNvSpPr>
            <a:spLocks noGrp="1"/>
          </p:cNvSpPr>
          <p:nvPr>
            <p:ph type="sldNum" idx="1"/>
          </p:nvPr>
        </p:nvSpPr>
        <p:spPr>
          <a:xfrm>
            <a:off x="11612880" y="6473880"/>
            <a:ext cx="228240" cy="18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850" b="0" u="none" strike="noStrike">
                <a:solidFill>
                  <a:srgbClr val="94A3B8"/>
                </a:solidFill>
                <a:effectLst/>
                <a:uFillTx/>
                <a:latin typeface="Noto Sans CJK TC"/>
                <a:ea typeface="Noto Sans CJK TC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154C121-2A3C-470D-85CE-6B364E3A6350}" type="slidenum">
              <a:rPr lang="en-US" sz="850" b="0" u="none" strike="noStrike">
                <a:solidFill>
                  <a:srgbClr val="94A3B8"/>
                </a:solidFill>
                <a:effectLst/>
                <a:uFillTx/>
                <a:latin typeface="Noto Sans CJK TC"/>
                <a:ea typeface="Noto Sans CJK TC"/>
              </a:rPr>
              <a:t>‹#›</a:t>
            </a:fld>
            <a:endParaRPr lang="en-US" sz="8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oto Sans CJK TC"/>
              </a:rPr>
              <a:t>Click to edit the title text format</a:t>
            </a: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Noto Sans CJK TC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Noto Sans CJK TC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 CJK TC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 CJK TC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 CJK TC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 CJK TC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 CJK TC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4B1069-3899-470A-8AB1-734237277644}" type="datetimeFigureOut">
              <a:rPr lang="zh-CN" altLang="en-US" smtClean="0"/>
              <a:t>2026/8/25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C7957-89EC-4DC7-A1B9-6F0B3159CBF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50124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7.svg"/><Relationship Id="rId3" Type="http://schemas.openxmlformats.org/officeDocument/2006/relationships/image" Target="../media/image9.png"/><Relationship Id="rId7" Type="http://schemas.openxmlformats.org/officeDocument/2006/relationships/image" Target="../media/image13.sv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4.svg"/><Relationship Id="rId5" Type="http://schemas.openxmlformats.org/officeDocument/2006/relationships/image" Target="../media/image11.svg"/><Relationship Id="rId15" Type="http://schemas.openxmlformats.org/officeDocument/2006/relationships/image" Target="../media/image8.svg"/><Relationship Id="rId10" Type="http://schemas.openxmlformats.org/officeDocument/2006/relationships/image" Target="../media/image3.png"/><Relationship Id="rId4" Type="http://schemas.openxmlformats.org/officeDocument/2006/relationships/image" Target="../media/image10.svg"/><Relationship Id="rId9" Type="http://schemas.openxmlformats.org/officeDocument/2006/relationships/image" Target="../media/image15.svg"/><Relationship Id="rId1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18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23.svg"/><Relationship Id="rId4" Type="http://schemas.openxmlformats.org/officeDocument/2006/relationships/image" Target="../media/image19.svg"/><Relationship Id="rId9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svg"/><Relationship Id="rId13" Type="http://schemas.openxmlformats.org/officeDocument/2006/relationships/image" Target="../media/image1.png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12" Type="http://schemas.openxmlformats.org/officeDocument/2006/relationships/image" Target="../media/image32.svg"/><Relationship Id="rId17" Type="http://schemas.openxmlformats.org/officeDocument/2006/relationships/image" Target="../media/image36.sv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11" Type="http://schemas.openxmlformats.org/officeDocument/2006/relationships/image" Target="../media/image31.png"/><Relationship Id="rId5" Type="http://schemas.openxmlformats.org/officeDocument/2006/relationships/image" Target="../media/image7.png"/><Relationship Id="rId15" Type="http://schemas.openxmlformats.org/officeDocument/2006/relationships/image" Target="../media/image34.svg"/><Relationship Id="rId10" Type="http://schemas.openxmlformats.org/officeDocument/2006/relationships/image" Target="../media/image30.svg"/><Relationship Id="rId4" Type="http://schemas.openxmlformats.org/officeDocument/2006/relationships/image" Target="../media/image25.svg"/><Relationship Id="rId9" Type="http://schemas.openxmlformats.org/officeDocument/2006/relationships/image" Target="../media/image29.png"/><Relationship Id="rId14" Type="http://schemas.openxmlformats.org/officeDocument/2006/relationships/image" Target="../media/image33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svg"/><Relationship Id="rId3" Type="http://schemas.openxmlformats.org/officeDocument/2006/relationships/image" Target="../media/image12.png"/><Relationship Id="rId7" Type="http://schemas.openxmlformats.org/officeDocument/2006/relationships/image" Target="../media/image40.png"/><Relationship Id="rId12" Type="http://schemas.openxmlformats.org/officeDocument/2006/relationships/image" Target="../media/image45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svg"/><Relationship Id="rId11" Type="http://schemas.openxmlformats.org/officeDocument/2006/relationships/image" Target="../media/image44.png"/><Relationship Id="rId5" Type="http://schemas.openxmlformats.org/officeDocument/2006/relationships/image" Target="../media/image3.png"/><Relationship Id="rId10" Type="http://schemas.openxmlformats.org/officeDocument/2006/relationships/image" Target="../media/image43.svg"/><Relationship Id="rId4" Type="http://schemas.openxmlformats.org/officeDocument/2006/relationships/image" Target="../media/image38.svg"/><Relationship Id="rId9" Type="http://schemas.openxmlformats.org/officeDocument/2006/relationships/image" Target="../media/image4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6.jpe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/>
          <p:cNvSpPr/>
          <p:nvPr/>
        </p:nvSpPr>
        <p:spPr>
          <a:xfrm>
            <a:off x="7680960" y="0"/>
            <a:ext cx="360" cy="6858000"/>
          </a:xfrm>
          <a:prstGeom prst="line">
            <a:avLst/>
          </a:prstGeom>
          <a:ln w="7620">
            <a:solidFill>
              <a:srgbClr val="1E293B">
                <a:alpha val="8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Shape 1"/>
          <p:cNvSpPr/>
          <p:nvPr/>
        </p:nvSpPr>
        <p:spPr>
          <a:xfrm>
            <a:off x="8092440" y="0"/>
            <a:ext cx="360" cy="6858000"/>
          </a:xfrm>
          <a:prstGeom prst="line">
            <a:avLst/>
          </a:prstGeom>
          <a:ln w="7620">
            <a:solidFill>
              <a:srgbClr val="1E293B">
                <a:alpha val="8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2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7620">
            <a:solidFill>
              <a:srgbClr val="1E293B">
                <a:alpha val="8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3"/>
          <p:cNvSpPr/>
          <p:nvPr/>
        </p:nvSpPr>
        <p:spPr>
          <a:xfrm>
            <a:off x="8915400" y="0"/>
            <a:ext cx="360" cy="6858000"/>
          </a:xfrm>
          <a:prstGeom prst="line">
            <a:avLst/>
          </a:prstGeom>
          <a:ln w="7620">
            <a:solidFill>
              <a:srgbClr val="1E293B">
                <a:alpha val="8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4"/>
          <p:cNvSpPr/>
          <p:nvPr/>
        </p:nvSpPr>
        <p:spPr>
          <a:xfrm>
            <a:off x="9326880" y="0"/>
            <a:ext cx="360" cy="6858000"/>
          </a:xfrm>
          <a:prstGeom prst="line">
            <a:avLst/>
          </a:prstGeom>
          <a:ln w="7620">
            <a:solidFill>
              <a:srgbClr val="1E293B">
                <a:alpha val="8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5"/>
          <p:cNvSpPr/>
          <p:nvPr/>
        </p:nvSpPr>
        <p:spPr>
          <a:xfrm>
            <a:off x="9738360" y="0"/>
            <a:ext cx="360" cy="6858000"/>
          </a:xfrm>
          <a:prstGeom prst="line">
            <a:avLst/>
          </a:prstGeom>
          <a:ln w="7620">
            <a:solidFill>
              <a:srgbClr val="1E293B">
                <a:alpha val="8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6"/>
          <p:cNvSpPr/>
          <p:nvPr/>
        </p:nvSpPr>
        <p:spPr>
          <a:xfrm>
            <a:off x="10149840" y="0"/>
            <a:ext cx="360" cy="6858000"/>
          </a:xfrm>
          <a:prstGeom prst="line">
            <a:avLst/>
          </a:prstGeom>
          <a:ln w="7620">
            <a:solidFill>
              <a:srgbClr val="1E293B">
                <a:alpha val="8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7"/>
          <p:cNvSpPr/>
          <p:nvPr/>
        </p:nvSpPr>
        <p:spPr>
          <a:xfrm>
            <a:off x="10561320" y="0"/>
            <a:ext cx="360" cy="6858000"/>
          </a:xfrm>
          <a:prstGeom prst="line">
            <a:avLst/>
          </a:prstGeom>
          <a:ln w="7620">
            <a:solidFill>
              <a:srgbClr val="1E293B">
                <a:alpha val="8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8"/>
          <p:cNvSpPr/>
          <p:nvPr/>
        </p:nvSpPr>
        <p:spPr>
          <a:xfrm>
            <a:off x="10972800" y="0"/>
            <a:ext cx="360" cy="6858000"/>
          </a:xfrm>
          <a:prstGeom prst="line">
            <a:avLst/>
          </a:prstGeom>
          <a:ln w="7620">
            <a:solidFill>
              <a:srgbClr val="1E293B">
                <a:alpha val="8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9"/>
          <p:cNvSpPr/>
          <p:nvPr/>
        </p:nvSpPr>
        <p:spPr>
          <a:xfrm>
            <a:off x="11384280" y="0"/>
            <a:ext cx="360" cy="6858000"/>
          </a:xfrm>
          <a:prstGeom prst="line">
            <a:avLst/>
          </a:prstGeom>
          <a:ln w="7620">
            <a:solidFill>
              <a:srgbClr val="1E293B">
                <a:alpha val="8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10"/>
          <p:cNvSpPr/>
          <p:nvPr/>
        </p:nvSpPr>
        <p:spPr>
          <a:xfrm>
            <a:off x="7315200" y="182880"/>
            <a:ext cx="4846320" cy="360"/>
          </a:xfrm>
          <a:prstGeom prst="line">
            <a:avLst/>
          </a:prstGeom>
          <a:ln w="7620">
            <a:solidFill>
              <a:srgbClr val="1E293B">
                <a:alpha val="8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11"/>
          <p:cNvSpPr/>
          <p:nvPr/>
        </p:nvSpPr>
        <p:spPr>
          <a:xfrm>
            <a:off x="7315200" y="658080"/>
            <a:ext cx="4846320" cy="360"/>
          </a:xfrm>
          <a:prstGeom prst="line">
            <a:avLst/>
          </a:prstGeom>
          <a:ln w="7620">
            <a:solidFill>
              <a:srgbClr val="1E293B">
                <a:alpha val="8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12"/>
          <p:cNvSpPr/>
          <p:nvPr/>
        </p:nvSpPr>
        <p:spPr>
          <a:xfrm>
            <a:off x="7315200" y="1133640"/>
            <a:ext cx="4846320" cy="360"/>
          </a:xfrm>
          <a:prstGeom prst="line">
            <a:avLst/>
          </a:prstGeom>
          <a:ln w="7620">
            <a:solidFill>
              <a:srgbClr val="1E293B">
                <a:alpha val="8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13"/>
          <p:cNvSpPr/>
          <p:nvPr/>
        </p:nvSpPr>
        <p:spPr>
          <a:xfrm>
            <a:off x="7315200" y="1609200"/>
            <a:ext cx="4846320" cy="360"/>
          </a:xfrm>
          <a:prstGeom prst="line">
            <a:avLst/>
          </a:prstGeom>
          <a:ln w="7620">
            <a:solidFill>
              <a:srgbClr val="1E293B">
                <a:alpha val="8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14"/>
          <p:cNvSpPr/>
          <p:nvPr/>
        </p:nvSpPr>
        <p:spPr>
          <a:xfrm>
            <a:off x="7315200" y="2084760"/>
            <a:ext cx="4846320" cy="360"/>
          </a:xfrm>
          <a:prstGeom prst="line">
            <a:avLst/>
          </a:prstGeom>
          <a:ln w="7620">
            <a:solidFill>
              <a:srgbClr val="1E293B">
                <a:alpha val="8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5"/>
          <p:cNvSpPr/>
          <p:nvPr/>
        </p:nvSpPr>
        <p:spPr>
          <a:xfrm>
            <a:off x="7315200" y="2560320"/>
            <a:ext cx="4846320" cy="360"/>
          </a:xfrm>
          <a:prstGeom prst="line">
            <a:avLst/>
          </a:prstGeom>
          <a:ln w="7620">
            <a:solidFill>
              <a:srgbClr val="1E293B">
                <a:alpha val="8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16"/>
          <p:cNvSpPr/>
          <p:nvPr/>
        </p:nvSpPr>
        <p:spPr>
          <a:xfrm>
            <a:off x="7315200" y="3035520"/>
            <a:ext cx="4846320" cy="360"/>
          </a:xfrm>
          <a:prstGeom prst="line">
            <a:avLst/>
          </a:prstGeom>
          <a:ln w="7620">
            <a:solidFill>
              <a:srgbClr val="1E293B">
                <a:alpha val="8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17"/>
          <p:cNvSpPr/>
          <p:nvPr/>
        </p:nvSpPr>
        <p:spPr>
          <a:xfrm>
            <a:off x="7315200" y="3511080"/>
            <a:ext cx="4846320" cy="360"/>
          </a:xfrm>
          <a:prstGeom prst="line">
            <a:avLst/>
          </a:prstGeom>
          <a:ln w="7620">
            <a:solidFill>
              <a:srgbClr val="1E293B">
                <a:alpha val="8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18"/>
          <p:cNvSpPr/>
          <p:nvPr/>
        </p:nvSpPr>
        <p:spPr>
          <a:xfrm>
            <a:off x="7315200" y="3986640"/>
            <a:ext cx="4846320" cy="360"/>
          </a:xfrm>
          <a:prstGeom prst="line">
            <a:avLst/>
          </a:prstGeom>
          <a:ln w="7620">
            <a:solidFill>
              <a:srgbClr val="1E293B">
                <a:alpha val="8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9"/>
          <p:cNvSpPr/>
          <p:nvPr/>
        </p:nvSpPr>
        <p:spPr>
          <a:xfrm>
            <a:off x="7315200" y="4462200"/>
            <a:ext cx="4846320" cy="360"/>
          </a:xfrm>
          <a:prstGeom prst="line">
            <a:avLst/>
          </a:prstGeom>
          <a:ln w="7620">
            <a:solidFill>
              <a:srgbClr val="1E293B">
                <a:alpha val="8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20"/>
          <p:cNvSpPr/>
          <p:nvPr/>
        </p:nvSpPr>
        <p:spPr>
          <a:xfrm>
            <a:off x="7315200" y="4937760"/>
            <a:ext cx="4846320" cy="360"/>
          </a:xfrm>
          <a:prstGeom prst="line">
            <a:avLst/>
          </a:prstGeom>
          <a:ln w="7620">
            <a:solidFill>
              <a:srgbClr val="1E293B">
                <a:alpha val="8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21"/>
          <p:cNvSpPr/>
          <p:nvPr/>
        </p:nvSpPr>
        <p:spPr>
          <a:xfrm>
            <a:off x="7315200" y="5412960"/>
            <a:ext cx="4846320" cy="360"/>
          </a:xfrm>
          <a:prstGeom prst="line">
            <a:avLst/>
          </a:prstGeom>
          <a:ln w="7620">
            <a:solidFill>
              <a:srgbClr val="1E293B">
                <a:alpha val="8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22"/>
          <p:cNvSpPr/>
          <p:nvPr/>
        </p:nvSpPr>
        <p:spPr>
          <a:xfrm>
            <a:off x="8641080" y="1042560"/>
            <a:ext cx="2925720" cy="2925720"/>
          </a:xfrm>
          <a:prstGeom prst="ellipse">
            <a:avLst/>
          </a:prstGeom>
          <a:solidFill>
            <a:srgbClr val="2563EB">
              <a:alpha val="10000"/>
            </a:srgbClr>
          </a:solidFill>
          <a:ln w="25400">
            <a:solidFill>
              <a:srgbClr val="2563EB">
                <a:alpha val="4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23"/>
          <p:cNvSpPr/>
          <p:nvPr/>
        </p:nvSpPr>
        <p:spPr>
          <a:xfrm>
            <a:off x="9189720" y="1591200"/>
            <a:ext cx="1828440" cy="1828440"/>
          </a:xfrm>
          <a:prstGeom prst="ellipse">
            <a:avLst/>
          </a:prstGeom>
          <a:solidFill>
            <a:srgbClr val="06B6D4">
              <a:alpha val="12000"/>
            </a:srgbClr>
          </a:solidFill>
          <a:ln w="19050">
            <a:solidFill>
              <a:srgbClr val="06B6D4">
                <a:alpha val="5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" name="Image 0" descr="preencoded.png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9537120" y="1929240"/>
            <a:ext cx="1096920" cy="109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" name="Shape 24"/>
          <p:cNvSpPr/>
          <p:nvPr/>
        </p:nvSpPr>
        <p:spPr>
          <a:xfrm>
            <a:off x="768240" y="713160"/>
            <a:ext cx="1663920" cy="292320"/>
          </a:xfrm>
          <a:prstGeom prst="roundRect">
            <a:avLst>
              <a:gd name="adj" fmla="val 37500"/>
            </a:avLst>
          </a:prstGeom>
          <a:solidFill>
            <a:srgbClr val="1E3A8A"/>
          </a:solidFill>
          <a:ln w="12700">
            <a:solidFill>
              <a:srgbClr val="1E3A8A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25"/>
          <p:cNvSpPr/>
          <p:nvPr/>
        </p:nvSpPr>
        <p:spPr>
          <a:xfrm>
            <a:off x="768240" y="713160"/>
            <a:ext cx="1663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1" u="none" strike="noStrike">
                <a:solidFill>
                  <a:srgbClr val="BFDBFE"/>
                </a:solidFill>
                <a:effectLst/>
                <a:uFillTx/>
                <a:latin typeface="Noto Sans CJK TC"/>
                <a:ea typeface="Noto Sans CJK TC"/>
              </a:rPr>
              <a:t>SELF INTRODUCTION</a:t>
            </a:r>
            <a:endParaRPr lang="en-US" sz="10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26"/>
          <p:cNvSpPr/>
          <p:nvPr/>
        </p:nvSpPr>
        <p:spPr>
          <a:xfrm>
            <a:off x="768240" y="1325880"/>
            <a:ext cx="384012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3400" b="1" u="none" strike="noStrike">
                <a:solidFill>
                  <a:srgbClr val="FFFFFF"/>
                </a:solidFill>
                <a:effectLst/>
                <a:uFillTx/>
                <a:latin typeface="Noto Sans CJK TC"/>
                <a:ea typeface="Noto Sans CJK TC"/>
              </a:rPr>
              <a:t>曾韻文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27"/>
          <p:cNvSpPr/>
          <p:nvPr/>
        </p:nvSpPr>
        <p:spPr>
          <a:xfrm>
            <a:off x="768240" y="2030040"/>
            <a:ext cx="56689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DCEAFE"/>
                </a:solidFill>
                <a:effectLst/>
                <a:uFillTx/>
                <a:latin typeface="Noto Sans CJK TC"/>
                <a:ea typeface="Noto Sans CJK TC"/>
              </a:rPr>
              <a:t>AI × </a:t>
            </a:r>
            <a:r>
              <a:rPr lang="zh-CN" sz="2400" b="1" u="none" strike="noStrike">
                <a:solidFill>
                  <a:srgbClr val="DCEAFE"/>
                </a:solidFill>
                <a:effectLst/>
                <a:uFillTx/>
                <a:latin typeface="Noto Sans CJK TC"/>
                <a:ea typeface="Noto Sans CJK TC"/>
              </a:rPr>
              <a:t>系統開發 </a:t>
            </a:r>
            <a:r>
              <a:rPr lang="en-US" sz="2400" b="1" u="none" strike="noStrike">
                <a:solidFill>
                  <a:srgbClr val="DCEAFE"/>
                </a:solidFill>
                <a:effectLst/>
                <a:uFillTx/>
                <a:latin typeface="Noto Sans CJK TC"/>
                <a:ea typeface="Noto Sans CJK TC"/>
              </a:rPr>
              <a:t>× </a:t>
            </a:r>
            <a:r>
              <a:rPr lang="zh-CN" sz="2400" b="1" u="none" strike="noStrike">
                <a:solidFill>
                  <a:srgbClr val="DCEAFE"/>
                </a:solidFill>
                <a:effectLst/>
                <a:uFillTx/>
                <a:latin typeface="Noto Sans CJK TC"/>
                <a:ea typeface="Noto Sans CJK TC"/>
              </a:rPr>
              <a:t>雲端應用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28"/>
          <p:cNvSpPr/>
          <p:nvPr/>
        </p:nvSpPr>
        <p:spPr>
          <a:xfrm>
            <a:off x="768240" y="2724840"/>
            <a:ext cx="5897520" cy="51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420" b="0" u="none" strike="noStrike">
                <a:solidFill>
                  <a:srgbClr val="A8B6CC"/>
                </a:solidFill>
                <a:effectLst/>
                <a:uFillTx/>
                <a:latin typeface="Noto Sans CJK TC"/>
                <a:ea typeface="Noto Sans CJK TC"/>
              </a:rPr>
              <a:t>從 </a:t>
            </a:r>
            <a:r>
              <a:rPr lang="en-US" sz="1420" b="0" u="none" strike="noStrike">
                <a:solidFill>
                  <a:srgbClr val="A8B6CC"/>
                </a:solidFill>
                <a:effectLst/>
                <a:uFillTx/>
                <a:latin typeface="Noto Sans CJK TC"/>
                <a:ea typeface="Noto Sans CJK TC"/>
              </a:rPr>
              <a:t>Edge AI </a:t>
            </a:r>
            <a:r>
              <a:rPr lang="zh-CN" sz="1420" b="0" u="none" strike="noStrike">
                <a:solidFill>
                  <a:srgbClr val="A8B6CC"/>
                </a:solidFill>
                <a:effectLst/>
                <a:uFillTx/>
                <a:latin typeface="Noto Sans CJK TC"/>
                <a:ea typeface="Noto Sans CJK TC"/>
              </a:rPr>
              <a:t>影像辨識，到 </a:t>
            </a:r>
            <a:r>
              <a:rPr lang="en-US" sz="1420" b="0" u="none" strike="noStrike">
                <a:solidFill>
                  <a:srgbClr val="A8B6CC"/>
                </a:solidFill>
                <a:effectLst/>
                <a:uFillTx/>
                <a:latin typeface="Noto Sans CJK TC"/>
                <a:ea typeface="Noto Sans CJK TC"/>
              </a:rPr>
              <a:t>Micro LED </a:t>
            </a:r>
            <a:r>
              <a:rPr lang="zh-CN" sz="1420" b="0" u="none" strike="noStrike">
                <a:solidFill>
                  <a:srgbClr val="A8B6CC"/>
                </a:solidFill>
                <a:effectLst/>
                <a:uFillTx/>
                <a:latin typeface="Noto Sans CJK TC"/>
                <a:ea typeface="Noto Sans CJK TC"/>
              </a:rPr>
              <a:t>製程演算法與 </a:t>
            </a:r>
            <a:r>
              <a:rPr lang="en-US" sz="1420" b="0" u="none" strike="noStrike">
                <a:solidFill>
                  <a:srgbClr val="A8B6CC"/>
                </a:solidFill>
                <a:effectLst/>
                <a:uFillTx/>
                <a:latin typeface="Noto Sans CJK TC"/>
                <a:ea typeface="Noto Sans CJK TC"/>
              </a:rPr>
              <a:t>Azure </a:t>
            </a:r>
            <a:r>
              <a:rPr lang="zh-CN" sz="1420" b="0" u="none" strike="noStrike">
                <a:solidFill>
                  <a:srgbClr val="A8B6CC"/>
                </a:solidFill>
                <a:effectLst/>
                <a:uFillTx/>
                <a:latin typeface="Noto Sans CJK TC"/>
                <a:ea typeface="Noto Sans CJK TC"/>
              </a:rPr>
              <a:t>雲端系統整合</a:t>
            </a:r>
            <a:endParaRPr lang="en-US" sz="14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29"/>
          <p:cNvSpPr/>
          <p:nvPr/>
        </p:nvSpPr>
        <p:spPr>
          <a:xfrm>
            <a:off x="768240" y="3977640"/>
            <a:ext cx="1810080" cy="1096920"/>
          </a:xfrm>
          <a:prstGeom prst="roundRect">
            <a:avLst>
              <a:gd name="adj" fmla="val 10000"/>
            </a:avLst>
          </a:prstGeom>
          <a:solidFill>
            <a:srgbClr val="111C31"/>
          </a:solidFill>
          <a:ln w="12700">
            <a:solidFill>
              <a:srgbClr val="111C31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5" name="Image 1" descr="preencoded.png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914400" y="4187880"/>
            <a:ext cx="310680" cy="310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" name="Text 30"/>
          <p:cNvSpPr/>
          <p:nvPr/>
        </p:nvSpPr>
        <p:spPr>
          <a:xfrm>
            <a:off x="1298520" y="4105800"/>
            <a:ext cx="1115280" cy="30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 lnSpcReduction="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20" b="1" u="none" strike="noStrike">
                <a:solidFill>
                  <a:srgbClr val="FFFFFF"/>
                </a:solidFill>
                <a:effectLst/>
                <a:uFillTx/>
                <a:latin typeface="Noto Sans CJK TC"/>
                <a:ea typeface="Noto Sans CJK TC"/>
              </a:rPr>
              <a:t>AI / Computer Vision</a:t>
            </a:r>
            <a:endParaRPr lang="en-US" sz="11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31"/>
          <p:cNvSpPr/>
          <p:nvPr/>
        </p:nvSpPr>
        <p:spPr>
          <a:xfrm>
            <a:off x="914400" y="4489560"/>
            <a:ext cx="15084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9" b="0" u="none" strike="noStrike">
                <a:solidFill>
                  <a:srgbClr val="9FB0C8"/>
                </a:solidFill>
                <a:effectLst/>
                <a:uFillTx/>
                <a:latin typeface="Noto Sans CJK TC"/>
                <a:ea typeface="Noto Sans CJK TC"/>
              </a:rPr>
              <a:t>CNN</a:t>
            </a:r>
            <a:r>
              <a:rPr lang="zh-CN" sz="889" b="0" u="none" strike="noStrike">
                <a:solidFill>
                  <a:srgbClr val="9FB0C8"/>
                </a:solidFill>
                <a:effectLst/>
                <a:uFillTx/>
                <a:latin typeface="Noto Sans CJK TC"/>
                <a:ea typeface="Noto Sans CJK TC"/>
              </a:rPr>
              <a:t>・</a:t>
            </a:r>
            <a:r>
              <a:rPr lang="en-US" sz="889" b="0" u="none" strike="noStrike">
                <a:solidFill>
                  <a:srgbClr val="9FB0C8"/>
                </a:solidFill>
                <a:effectLst/>
                <a:uFillTx/>
                <a:latin typeface="Noto Sans CJK TC"/>
                <a:ea typeface="Noto Sans CJK TC"/>
              </a:rPr>
              <a:t>LSTM</a:t>
            </a:r>
            <a:r>
              <a:rPr lang="zh-CN" sz="889" b="0" u="none" strike="noStrike">
                <a:solidFill>
                  <a:srgbClr val="9FB0C8"/>
                </a:solidFill>
                <a:effectLst/>
                <a:uFillTx/>
                <a:latin typeface="Noto Sans CJK TC"/>
                <a:ea typeface="Noto Sans CJK TC"/>
              </a:rPr>
              <a:t>・</a:t>
            </a:r>
            <a:r>
              <a:rPr lang="en-US" sz="889" b="0" u="none" strike="noStrike">
                <a:solidFill>
                  <a:srgbClr val="9FB0C8"/>
                </a:solidFill>
                <a:effectLst/>
                <a:uFillTx/>
                <a:latin typeface="Noto Sans CJK TC"/>
                <a:ea typeface="Noto Sans CJK TC"/>
              </a:rPr>
              <a:t>Edge AI</a:t>
            </a:r>
            <a:endParaRPr lang="en-US" sz="88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32"/>
          <p:cNvSpPr/>
          <p:nvPr/>
        </p:nvSpPr>
        <p:spPr>
          <a:xfrm>
            <a:off x="2779920" y="3977640"/>
            <a:ext cx="1810080" cy="1096920"/>
          </a:xfrm>
          <a:prstGeom prst="roundRect">
            <a:avLst>
              <a:gd name="adj" fmla="val 10000"/>
            </a:avLst>
          </a:prstGeom>
          <a:solidFill>
            <a:srgbClr val="111C31"/>
          </a:solidFill>
          <a:ln w="12700">
            <a:solidFill>
              <a:srgbClr val="111C31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9" name="Image 2" descr="preencoded.png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2926080" y="4187880"/>
            <a:ext cx="310680" cy="310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" name="Text 33"/>
          <p:cNvSpPr/>
          <p:nvPr/>
        </p:nvSpPr>
        <p:spPr>
          <a:xfrm>
            <a:off x="3310200" y="4105800"/>
            <a:ext cx="1115280" cy="30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20" b="1" u="none" strike="noStrike">
                <a:solidFill>
                  <a:srgbClr val="FFFFFF"/>
                </a:solidFill>
                <a:effectLst/>
                <a:uFillTx/>
                <a:latin typeface="Noto Sans CJK TC"/>
                <a:ea typeface="Noto Sans CJK TC"/>
              </a:rPr>
              <a:t>System / MES</a:t>
            </a:r>
            <a:endParaRPr lang="en-US" sz="11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34"/>
          <p:cNvSpPr/>
          <p:nvPr/>
        </p:nvSpPr>
        <p:spPr>
          <a:xfrm>
            <a:off x="2926080" y="4489560"/>
            <a:ext cx="15084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9" b="0" u="none" strike="noStrike">
                <a:solidFill>
                  <a:srgbClr val="9FB0C8"/>
                </a:solidFill>
                <a:effectLst/>
                <a:uFillTx/>
                <a:latin typeface="Noto Sans CJK TC"/>
                <a:ea typeface="Noto Sans CJK TC"/>
              </a:rPr>
              <a:t>Java</a:t>
            </a:r>
            <a:r>
              <a:rPr lang="zh-CN" sz="889" b="0" u="none" strike="noStrike">
                <a:solidFill>
                  <a:srgbClr val="9FB0C8"/>
                </a:solidFill>
                <a:effectLst/>
                <a:uFillTx/>
                <a:latin typeface="Noto Sans CJK TC"/>
                <a:ea typeface="Noto Sans CJK TC"/>
              </a:rPr>
              <a:t>・</a:t>
            </a:r>
            <a:r>
              <a:rPr lang="en-US" sz="889" b="0" u="none" strike="noStrike">
                <a:solidFill>
                  <a:srgbClr val="9FB0C8"/>
                </a:solidFill>
                <a:effectLst/>
                <a:uFillTx/>
                <a:latin typeface="Noto Sans CJK TC"/>
                <a:ea typeface="Noto Sans CJK TC"/>
              </a:rPr>
              <a:t>REST API</a:t>
            </a:r>
            <a:r>
              <a:rPr lang="zh-CN" sz="889" b="0" u="none" strike="noStrike">
                <a:solidFill>
                  <a:srgbClr val="9FB0C8"/>
                </a:solidFill>
                <a:effectLst/>
                <a:uFillTx/>
                <a:latin typeface="Noto Sans CJK TC"/>
                <a:ea typeface="Noto Sans CJK TC"/>
              </a:rPr>
              <a:t>・</a:t>
            </a:r>
            <a:r>
              <a:rPr lang="en-US" sz="889" b="0" u="none" strike="noStrike">
                <a:solidFill>
                  <a:srgbClr val="9FB0C8"/>
                </a:solidFill>
                <a:effectLst/>
                <a:uFillTx/>
                <a:latin typeface="Noto Sans CJK TC"/>
                <a:ea typeface="Noto Sans CJK TC"/>
              </a:rPr>
              <a:t>Database</a:t>
            </a:r>
            <a:endParaRPr lang="en-US" sz="88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35"/>
          <p:cNvSpPr/>
          <p:nvPr/>
        </p:nvSpPr>
        <p:spPr>
          <a:xfrm>
            <a:off x="4791600" y="3977640"/>
            <a:ext cx="1810080" cy="1096920"/>
          </a:xfrm>
          <a:prstGeom prst="roundRect">
            <a:avLst>
              <a:gd name="adj" fmla="val 10000"/>
            </a:avLst>
          </a:prstGeom>
          <a:solidFill>
            <a:srgbClr val="111C31"/>
          </a:solidFill>
          <a:ln w="12700">
            <a:solidFill>
              <a:srgbClr val="111C31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3" name="Image 3" descr="preencoded.png"/>
          <p:cNvPicPr/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4937760" y="4187880"/>
            <a:ext cx="310680" cy="310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Text 36"/>
          <p:cNvSpPr/>
          <p:nvPr/>
        </p:nvSpPr>
        <p:spPr>
          <a:xfrm>
            <a:off x="5321880" y="4105800"/>
            <a:ext cx="1115280" cy="30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20" b="1" u="none" strike="noStrike">
                <a:solidFill>
                  <a:srgbClr val="FFFFFF"/>
                </a:solidFill>
                <a:effectLst/>
                <a:uFillTx/>
                <a:latin typeface="Noto Sans CJK TC"/>
                <a:ea typeface="Noto Sans CJK TC"/>
              </a:rPr>
              <a:t>Cloud / Data</a:t>
            </a:r>
            <a:endParaRPr lang="en-US" sz="11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37"/>
          <p:cNvSpPr/>
          <p:nvPr/>
        </p:nvSpPr>
        <p:spPr>
          <a:xfrm>
            <a:off x="4937760" y="4489560"/>
            <a:ext cx="15084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9" b="0" u="none" strike="noStrike">
                <a:solidFill>
                  <a:srgbClr val="9FB0C8"/>
                </a:solidFill>
                <a:effectLst/>
                <a:uFillTx/>
                <a:latin typeface="Noto Sans CJK TC"/>
                <a:ea typeface="Noto Sans CJK TC"/>
              </a:rPr>
              <a:t>Azure</a:t>
            </a:r>
            <a:r>
              <a:rPr lang="zh-CN" sz="889" b="0" u="none" strike="noStrike">
                <a:solidFill>
                  <a:srgbClr val="9FB0C8"/>
                </a:solidFill>
                <a:effectLst/>
                <a:uFillTx/>
                <a:latin typeface="Noto Sans CJK TC"/>
                <a:ea typeface="Noto Sans CJK TC"/>
              </a:rPr>
              <a:t>・</a:t>
            </a:r>
            <a:r>
              <a:rPr lang="en-US" sz="889" b="0" u="none" strike="noStrike">
                <a:solidFill>
                  <a:srgbClr val="9FB0C8"/>
                </a:solidFill>
                <a:effectLst/>
                <a:uFillTx/>
                <a:latin typeface="Noto Sans CJK TC"/>
                <a:ea typeface="Noto Sans CJK TC"/>
              </a:rPr>
              <a:t>Databricks</a:t>
            </a:r>
            <a:r>
              <a:rPr lang="zh-CN" sz="889" b="0" u="none" strike="noStrike">
                <a:solidFill>
                  <a:srgbClr val="9FB0C8"/>
                </a:solidFill>
                <a:effectLst/>
                <a:uFillTx/>
                <a:latin typeface="Noto Sans CJK TC"/>
                <a:ea typeface="Noto Sans CJK TC"/>
              </a:rPr>
              <a:t>・</a:t>
            </a:r>
            <a:r>
              <a:rPr lang="en-US" sz="889" b="0" u="none" strike="noStrike">
                <a:solidFill>
                  <a:srgbClr val="9FB0C8"/>
                </a:solidFill>
                <a:effectLst/>
                <a:uFillTx/>
                <a:latin typeface="Noto Sans CJK TC"/>
                <a:ea typeface="Noto Sans CJK TC"/>
              </a:rPr>
              <a:t>Delta Lake</a:t>
            </a:r>
            <a:endParaRPr lang="en-US" sz="88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38"/>
          <p:cNvSpPr/>
          <p:nvPr/>
        </p:nvSpPr>
        <p:spPr>
          <a:xfrm>
            <a:off x="768240" y="598932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7F91AA"/>
                </a:solidFill>
                <a:effectLst/>
                <a:uFillTx/>
                <a:latin typeface="Noto Sans CJK TC"/>
                <a:ea typeface="Noto Sans CJK TC"/>
              </a:rPr>
              <a:t>2020 — 2025  |  AI Software Engineer → MES System Development Engineer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39"/>
          <p:cNvSpPr/>
          <p:nvPr/>
        </p:nvSpPr>
        <p:spPr>
          <a:xfrm>
            <a:off x="11109960" y="6291000"/>
            <a:ext cx="3470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01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0"/>
          <p:cNvSpPr/>
          <p:nvPr/>
        </p:nvSpPr>
        <p:spPr>
          <a:xfrm>
            <a:off x="658440" y="384120"/>
            <a:ext cx="228564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spc="111">
                <a:solidFill>
                  <a:srgbClr val="2563EB"/>
                </a:solidFill>
                <a:effectLst/>
                <a:uFillTx/>
                <a:latin typeface="Noto Sans CJK TC"/>
                <a:ea typeface="Noto Sans CJK TC"/>
              </a:rPr>
              <a:t>PROFILE JOURNEY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"/>
          <p:cNvSpPr/>
          <p:nvPr/>
        </p:nvSpPr>
        <p:spPr>
          <a:xfrm>
            <a:off x="658440" y="676800"/>
            <a:ext cx="1078956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275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學歷背景 </a:t>
            </a:r>
            <a:r>
              <a:rPr lang="en-US" sz="275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× </a:t>
            </a:r>
            <a:r>
              <a:rPr lang="zh-CN" sz="275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工作經歷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2"/>
          <p:cNvSpPr/>
          <p:nvPr/>
        </p:nvSpPr>
        <p:spPr>
          <a:xfrm>
            <a:off x="658440" y="1197720"/>
            <a:ext cx="106981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150" b="0" u="none" strike="noStrik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將研究背景、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AI </a:t>
            </a:r>
            <a:r>
              <a:rPr lang="zh-CN" sz="1150" b="0" u="none" strike="noStrik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經驗與系統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/ </a:t>
            </a:r>
            <a:r>
              <a:rPr lang="zh-CN" sz="1150" b="0" u="none" strike="noStrik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雲端能力串成一條完整職涯路徑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3"/>
          <p:cNvSpPr/>
          <p:nvPr/>
        </p:nvSpPr>
        <p:spPr>
          <a:xfrm>
            <a:off x="932400" y="3520440"/>
            <a:ext cx="10287000" cy="360"/>
          </a:xfrm>
          <a:prstGeom prst="line">
            <a:avLst/>
          </a:prstGeom>
          <a:ln w="25400">
            <a:solidFill>
              <a:srgbClr val="B8C6D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4"/>
          <p:cNvSpPr/>
          <p:nvPr/>
        </p:nvSpPr>
        <p:spPr>
          <a:xfrm>
            <a:off x="1609200" y="3410640"/>
            <a:ext cx="219240" cy="219240"/>
          </a:xfrm>
          <a:prstGeom prst="ellipse">
            <a:avLst/>
          </a:prstGeom>
          <a:solidFill>
            <a:srgbClr val="2563EB"/>
          </a:solidFill>
          <a:ln w="2540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5"/>
          <p:cNvSpPr/>
          <p:nvPr/>
        </p:nvSpPr>
        <p:spPr>
          <a:xfrm>
            <a:off x="1444680" y="2030040"/>
            <a:ext cx="548280" cy="548280"/>
          </a:xfrm>
          <a:prstGeom prst="ellipse">
            <a:avLst/>
          </a:prstGeom>
          <a:solidFill>
            <a:srgbClr val="FFFFFF"/>
          </a:solidFill>
          <a:ln w="1778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" name="Image 0" descr="preencoded.png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591200" y="217620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" name="Text 6"/>
          <p:cNvSpPr/>
          <p:nvPr/>
        </p:nvSpPr>
        <p:spPr>
          <a:xfrm>
            <a:off x="1005840" y="2697480"/>
            <a:ext cx="146268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60" b="1" u="none" strike="noStrike">
                <a:solidFill>
                  <a:srgbClr val="2563EB"/>
                </a:solidFill>
                <a:effectLst/>
                <a:uFillTx/>
                <a:latin typeface="Noto Sans CJK TC"/>
                <a:ea typeface="Noto Sans CJK TC"/>
              </a:rPr>
              <a:t>2014–2018</a:t>
            </a:r>
            <a:endParaRPr lang="en-US" sz="10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7"/>
          <p:cNvSpPr/>
          <p:nvPr/>
        </p:nvSpPr>
        <p:spPr>
          <a:xfrm>
            <a:off x="932760" y="2898720"/>
            <a:ext cx="160884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28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資訊管理系｜大學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8"/>
          <p:cNvSpPr/>
          <p:nvPr/>
        </p:nvSpPr>
        <p:spPr>
          <a:xfrm>
            <a:off x="932760" y="3182040"/>
            <a:ext cx="1608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000" b="0" u="none" strike="noStrik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國立高雄第一科技大學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9"/>
          <p:cNvSpPr/>
          <p:nvPr/>
        </p:nvSpPr>
        <p:spPr>
          <a:xfrm>
            <a:off x="951120" y="3822120"/>
            <a:ext cx="1572480" cy="914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A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10"/>
          <p:cNvSpPr/>
          <p:nvPr/>
        </p:nvSpPr>
        <p:spPr>
          <a:xfrm>
            <a:off x="1069920" y="3959280"/>
            <a:ext cx="1334520" cy="585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50" b="0" u="none" strike="noStrik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資訊系統與程式設計基礎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11"/>
          <p:cNvSpPr/>
          <p:nvPr/>
        </p:nvSpPr>
        <p:spPr>
          <a:xfrm>
            <a:off x="3762540" y="3410640"/>
            <a:ext cx="219240" cy="219240"/>
          </a:xfrm>
          <a:prstGeom prst="ellipse">
            <a:avLst/>
          </a:prstGeom>
          <a:solidFill>
            <a:srgbClr val="06B6D4"/>
          </a:solidFill>
          <a:ln w="2540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12"/>
          <p:cNvSpPr/>
          <p:nvPr/>
        </p:nvSpPr>
        <p:spPr>
          <a:xfrm>
            <a:off x="3578031" y="2030040"/>
            <a:ext cx="548280" cy="548280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6B6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" name="Image 1" descr="preencoded.png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3724551" y="217620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ext 13"/>
          <p:cNvSpPr/>
          <p:nvPr/>
        </p:nvSpPr>
        <p:spPr>
          <a:xfrm>
            <a:off x="3139191" y="2697480"/>
            <a:ext cx="146268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60" b="1" u="none" strike="noStrike">
                <a:solidFill>
                  <a:srgbClr val="06B6D4"/>
                </a:solidFill>
                <a:effectLst/>
                <a:uFillTx/>
                <a:latin typeface="Noto Sans CJK TC"/>
                <a:ea typeface="Noto Sans CJK TC"/>
              </a:rPr>
              <a:t>2018–2020</a:t>
            </a:r>
            <a:endParaRPr lang="en-US" sz="10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4"/>
          <p:cNvSpPr/>
          <p:nvPr/>
        </p:nvSpPr>
        <p:spPr>
          <a:xfrm>
            <a:off x="3066111" y="2898720"/>
            <a:ext cx="160884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28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資訊管理所｜碩士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5"/>
          <p:cNvSpPr/>
          <p:nvPr/>
        </p:nvSpPr>
        <p:spPr>
          <a:xfrm>
            <a:off x="3066111" y="3182040"/>
            <a:ext cx="1608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000" b="0" u="none" strike="noStrik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國立雲林科技大學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16"/>
          <p:cNvSpPr/>
          <p:nvPr/>
        </p:nvSpPr>
        <p:spPr>
          <a:xfrm>
            <a:off x="3090222" y="3822120"/>
            <a:ext cx="1572480" cy="914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A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7"/>
          <p:cNvSpPr/>
          <p:nvPr/>
        </p:nvSpPr>
        <p:spPr>
          <a:xfrm>
            <a:off x="3209022" y="3959280"/>
            <a:ext cx="1334520" cy="585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ToF </a:t>
            </a:r>
            <a:r>
              <a:rPr lang="zh-CN" sz="950" b="0" u="none" strike="noStrik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深度影像 </a:t>
            </a:r>
            <a:r>
              <a:rPr lang="en-US" sz="950" b="0" u="none" strike="noStrik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+ LSTM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50" b="0" u="none" strike="noStrik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人體動作 </a:t>
            </a:r>
            <a:r>
              <a:rPr lang="en-US" sz="950" b="0" u="none" strike="noStrik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/ </a:t>
            </a:r>
            <a:r>
              <a:rPr lang="zh-CN" sz="950" b="0" u="none" strike="noStrik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跌倒偵測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8"/>
          <p:cNvSpPr/>
          <p:nvPr/>
        </p:nvSpPr>
        <p:spPr>
          <a:xfrm>
            <a:off x="5915880" y="3410640"/>
            <a:ext cx="219240" cy="219240"/>
          </a:xfrm>
          <a:prstGeom prst="ellipse">
            <a:avLst/>
          </a:prstGeom>
          <a:solidFill>
            <a:srgbClr val="14B8A6"/>
          </a:solidFill>
          <a:ln w="2540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19"/>
          <p:cNvSpPr/>
          <p:nvPr/>
        </p:nvSpPr>
        <p:spPr>
          <a:xfrm>
            <a:off x="5731137" y="2030040"/>
            <a:ext cx="548280" cy="548280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4B8A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" name="Image 2" descr="preencoded.png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5877657" y="217620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" name="Text 20"/>
          <p:cNvSpPr/>
          <p:nvPr/>
        </p:nvSpPr>
        <p:spPr>
          <a:xfrm>
            <a:off x="5292297" y="2697480"/>
            <a:ext cx="146268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60" b="1" u="none" strike="noStrike">
                <a:solidFill>
                  <a:srgbClr val="14B8A6"/>
                </a:solidFill>
                <a:effectLst/>
                <a:uFillTx/>
                <a:latin typeface="Noto Sans CJK TC"/>
                <a:ea typeface="Noto Sans CJK TC"/>
              </a:rPr>
              <a:t>2020–2022</a:t>
            </a:r>
            <a:endParaRPr lang="en-US" sz="10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1"/>
          <p:cNvSpPr/>
          <p:nvPr/>
        </p:nvSpPr>
        <p:spPr>
          <a:xfrm>
            <a:off x="5219217" y="2898720"/>
            <a:ext cx="160884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AI </a:t>
            </a:r>
            <a:r>
              <a:rPr lang="zh-CN" sz="128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軟體工程師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22"/>
          <p:cNvSpPr/>
          <p:nvPr/>
        </p:nvSpPr>
        <p:spPr>
          <a:xfrm>
            <a:off x="5219217" y="3182040"/>
            <a:ext cx="1608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000" b="0" u="none" strike="noStrik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杭特電子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23"/>
          <p:cNvSpPr/>
          <p:nvPr/>
        </p:nvSpPr>
        <p:spPr>
          <a:xfrm>
            <a:off x="5254832" y="3822120"/>
            <a:ext cx="1572480" cy="914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A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4"/>
          <p:cNvSpPr/>
          <p:nvPr/>
        </p:nvSpPr>
        <p:spPr>
          <a:xfrm>
            <a:off x="5373632" y="3959280"/>
            <a:ext cx="1334520" cy="585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 dirty="0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Edge AI / CCTV</a:t>
            </a:r>
            <a:endParaRPr lang="en-US" sz="9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50" b="0" u="none" strike="noStrike" dirty="0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車牌・人臉・跌倒</a:t>
            </a:r>
            <a:br>
              <a:rPr lang="en-US" altLang="zh-CN" sz="950" b="0" u="none" strike="noStrike" dirty="0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</a:br>
            <a:r>
              <a:rPr lang="zh-CN" sz="950" b="0" u="none" strike="noStrike" dirty="0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・智慧牧場</a:t>
            </a:r>
            <a:endParaRPr lang="en-US" sz="9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25"/>
          <p:cNvSpPr/>
          <p:nvPr/>
        </p:nvSpPr>
        <p:spPr>
          <a:xfrm>
            <a:off x="10222560" y="3401100"/>
            <a:ext cx="219240" cy="219240"/>
          </a:xfrm>
          <a:prstGeom prst="ellipse">
            <a:avLst/>
          </a:prstGeom>
          <a:solidFill>
            <a:schemeClr val="accent4"/>
          </a:solidFill>
          <a:ln w="2540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26"/>
          <p:cNvSpPr/>
          <p:nvPr/>
        </p:nvSpPr>
        <p:spPr>
          <a:xfrm>
            <a:off x="7881742" y="2030040"/>
            <a:ext cx="548280" cy="548280"/>
          </a:xfrm>
          <a:prstGeom prst="ellipse">
            <a:avLst/>
          </a:prstGeom>
          <a:solidFill>
            <a:srgbClr val="FFFFFF"/>
          </a:solidFill>
          <a:ln w="1778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8" name="Image 3" descr="preencoded.png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8028262" y="217620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Text 27"/>
          <p:cNvSpPr/>
          <p:nvPr/>
        </p:nvSpPr>
        <p:spPr>
          <a:xfrm>
            <a:off x="7442902" y="2697480"/>
            <a:ext cx="146268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60" b="1" u="none" strike="noStrike" dirty="0">
                <a:solidFill>
                  <a:srgbClr val="F59E0B"/>
                </a:solidFill>
                <a:effectLst/>
                <a:uFillTx/>
                <a:latin typeface="Noto Sans CJK TC"/>
                <a:ea typeface="Noto Sans CJK TC"/>
              </a:rPr>
              <a:t>2022–2025</a:t>
            </a:r>
            <a:endParaRPr lang="en-US" sz="106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28"/>
          <p:cNvSpPr/>
          <p:nvPr/>
        </p:nvSpPr>
        <p:spPr>
          <a:xfrm>
            <a:off x="7369822" y="2898720"/>
            <a:ext cx="160884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MES </a:t>
            </a:r>
            <a:r>
              <a:rPr lang="zh-CN" sz="128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系統開發工程師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29"/>
          <p:cNvSpPr/>
          <p:nvPr/>
        </p:nvSpPr>
        <p:spPr>
          <a:xfrm>
            <a:off x="7369822" y="3182040"/>
            <a:ext cx="1608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000" b="0" u="none" strike="noStrik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友達光電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30"/>
          <p:cNvSpPr/>
          <p:nvPr/>
        </p:nvSpPr>
        <p:spPr>
          <a:xfrm>
            <a:off x="7399694" y="3822120"/>
            <a:ext cx="1572480" cy="914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A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31"/>
          <p:cNvSpPr/>
          <p:nvPr/>
        </p:nvSpPr>
        <p:spPr>
          <a:xfrm>
            <a:off x="7518494" y="3959280"/>
            <a:ext cx="1334520" cy="585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 dirty="0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Micro LED </a:t>
            </a:r>
            <a:r>
              <a:rPr lang="zh-CN" sz="950" b="0" u="none" strike="noStrike" dirty="0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演算法</a:t>
            </a:r>
            <a:endParaRPr lang="en-US" sz="9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 dirty="0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MES / Azure / Full-stack</a:t>
            </a:r>
            <a:endParaRPr lang="en-US" sz="9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32"/>
          <p:cNvSpPr/>
          <p:nvPr/>
        </p:nvSpPr>
        <p:spPr>
          <a:xfrm>
            <a:off x="841320" y="5244201"/>
            <a:ext cx="13712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150" b="1" u="none" strike="noStrik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核心能力累積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33"/>
          <p:cNvSpPr/>
          <p:nvPr/>
        </p:nvSpPr>
        <p:spPr>
          <a:xfrm>
            <a:off x="2240280" y="5134401"/>
            <a:ext cx="2395440" cy="859320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6" name="Image 4" descr="preencoded.png"/>
          <p:cNvPicPr/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2386440" y="5372001"/>
            <a:ext cx="282960" cy="28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" name="Text 34"/>
          <p:cNvSpPr/>
          <p:nvPr/>
        </p:nvSpPr>
        <p:spPr>
          <a:xfrm>
            <a:off x="2770560" y="5253201"/>
            <a:ext cx="16455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2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AI / </a:t>
            </a:r>
            <a:r>
              <a:rPr lang="zh-CN" sz="112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影像辨識</a:t>
            </a:r>
            <a:endParaRPr lang="en-US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35"/>
          <p:cNvSpPr/>
          <p:nvPr/>
        </p:nvSpPr>
        <p:spPr>
          <a:xfrm>
            <a:off x="2770560" y="5545881"/>
            <a:ext cx="16639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880" b="0" u="none" strike="noStrik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模型訓練・推論・場域整合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36"/>
          <p:cNvSpPr/>
          <p:nvPr/>
        </p:nvSpPr>
        <p:spPr>
          <a:xfrm>
            <a:off x="4974480" y="5134401"/>
            <a:ext cx="2395440" cy="859320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0" name="Image 5" descr="preencoded.png"/>
          <p:cNvPicPr/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/>
        </p:blipFill>
        <p:spPr>
          <a:xfrm>
            <a:off x="5120640" y="5372001"/>
            <a:ext cx="282960" cy="28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" name="Text 37"/>
          <p:cNvSpPr/>
          <p:nvPr/>
        </p:nvSpPr>
        <p:spPr>
          <a:xfrm>
            <a:off x="5504760" y="5253201"/>
            <a:ext cx="16455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12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系統開發</a:t>
            </a:r>
            <a:endParaRPr lang="en-US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38"/>
          <p:cNvSpPr/>
          <p:nvPr/>
        </p:nvSpPr>
        <p:spPr>
          <a:xfrm>
            <a:off x="5504760" y="5545881"/>
            <a:ext cx="16639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880" b="0" u="none" strike="noStrik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前後端・</a:t>
            </a:r>
            <a:r>
              <a:rPr lang="en-US" sz="880" b="0" u="none" strike="noStrik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REST API</a:t>
            </a:r>
            <a:r>
              <a:rPr lang="zh-CN" sz="880" b="0" u="none" strike="noStrik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・資料庫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39"/>
          <p:cNvSpPr/>
          <p:nvPr/>
        </p:nvSpPr>
        <p:spPr>
          <a:xfrm>
            <a:off x="7708320" y="5134401"/>
            <a:ext cx="2395440" cy="859320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4" name="Image 6" descr="preencoded.png"/>
          <p:cNvPicPr/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/>
        </p:blipFill>
        <p:spPr>
          <a:xfrm>
            <a:off x="7854840" y="5372001"/>
            <a:ext cx="282960" cy="28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" name="Text 40"/>
          <p:cNvSpPr/>
          <p:nvPr/>
        </p:nvSpPr>
        <p:spPr>
          <a:xfrm>
            <a:off x="8238600" y="5253201"/>
            <a:ext cx="16455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12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雲端與資料</a:t>
            </a:r>
            <a:endParaRPr lang="en-US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41"/>
          <p:cNvSpPr/>
          <p:nvPr/>
        </p:nvSpPr>
        <p:spPr>
          <a:xfrm>
            <a:off x="8238600" y="5545881"/>
            <a:ext cx="16639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Azure</a:t>
            </a:r>
            <a:r>
              <a:rPr lang="zh-CN" sz="880" b="0" u="none" strike="noStrik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・</a:t>
            </a:r>
            <a:r>
              <a:rPr lang="en-US" sz="880" b="0" u="none" strike="noStrik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Databricks</a:t>
            </a:r>
            <a:r>
              <a:rPr lang="zh-CN" sz="880" b="0" u="none" strike="noStrik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・</a:t>
            </a:r>
            <a:r>
              <a:rPr lang="en-US" sz="880" b="0" u="none" strike="noStrik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Blob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PlaceHolder 1"/>
          <p:cNvSpPr>
            <a:spLocks noGrp="1"/>
          </p:cNvSpPr>
          <p:nvPr>
            <p:ph type="sldNum" idx="5"/>
          </p:nvPr>
        </p:nvSpPr>
        <p:spPr>
          <a:xfrm>
            <a:off x="11612880" y="6473880"/>
            <a:ext cx="228240" cy="18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850" b="0" u="none" strike="noStrike">
                <a:solidFill>
                  <a:srgbClr val="94A3B8"/>
                </a:solidFill>
                <a:effectLst/>
                <a:uFillTx/>
                <a:latin typeface="Noto Sans CJK TC"/>
                <a:ea typeface="Noto Sans CJK TC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C9FC632-438D-4D5C-AC6B-89944F4EAFC2}" type="slidenum">
              <a:rPr lang="en-US" sz="850" b="0" u="none" strike="noStrike">
                <a:solidFill>
                  <a:srgbClr val="94A3B8"/>
                </a:solidFill>
                <a:effectLst/>
                <a:uFillTx/>
                <a:latin typeface="Noto Sans CJK TC"/>
                <a:ea typeface="Noto Sans CJK TC"/>
              </a:rPr>
              <a:t>2</a:t>
            </a:fld>
            <a:endParaRPr lang="en-US" sz="8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Shape 25">
            <a:extLst>
              <a:ext uri="{FF2B5EF4-FFF2-40B4-BE49-F238E27FC236}">
                <a16:creationId xmlns:a16="http://schemas.microsoft.com/office/drawing/2014/main" id="{E7889F4A-4D50-A052-DCC4-9E743AC0DB8D}"/>
              </a:ext>
            </a:extLst>
          </p:cNvPr>
          <p:cNvSpPr/>
          <p:nvPr/>
        </p:nvSpPr>
        <p:spPr>
          <a:xfrm>
            <a:off x="8069220" y="3429000"/>
            <a:ext cx="219240" cy="219240"/>
          </a:xfrm>
          <a:prstGeom prst="ellipse">
            <a:avLst/>
          </a:prstGeom>
          <a:solidFill>
            <a:srgbClr val="F59E0B"/>
          </a:solidFill>
          <a:ln w="2540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Shape 26">
            <a:extLst>
              <a:ext uri="{FF2B5EF4-FFF2-40B4-BE49-F238E27FC236}">
                <a16:creationId xmlns:a16="http://schemas.microsoft.com/office/drawing/2014/main" id="{E8291F39-011E-2BAD-17C6-D650B97326D1}"/>
              </a:ext>
            </a:extLst>
          </p:cNvPr>
          <p:cNvSpPr/>
          <p:nvPr/>
        </p:nvSpPr>
        <p:spPr>
          <a:xfrm>
            <a:off x="10041543" y="2025720"/>
            <a:ext cx="548280" cy="548280"/>
          </a:xfrm>
          <a:prstGeom prst="ellipse">
            <a:avLst/>
          </a:prstGeom>
          <a:solidFill>
            <a:srgbClr val="FFFFFF"/>
          </a:solidFill>
          <a:ln w="17780">
            <a:solidFill>
              <a:schemeClr val="accent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" name="Image 3" descr="preencoded.png">
            <a:extLst>
              <a:ext uri="{FF2B5EF4-FFF2-40B4-BE49-F238E27FC236}">
                <a16:creationId xmlns:a16="http://schemas.microsoft.com/office/drawing/2014/main" id="{6B40D2A7-2638-D2F7-1C5A-97C3B560CF4E}"/>
              </a:ext>
            </a:extLst>
          </p:cNvPr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10188063" y="217188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Text 27">
            <a:extLst>
              <a:ext uri="{FF2B5EF4-FFF2-40B4-BE49-F238E27FC236}">
                <a16:creationId xmlns:a16="http://schemas.microsoft.com/office/drawing/2014/main" id="{266ACBE3-DF6A-9C2C-23B1-69EF737530A6}"/>
              </a:ext>
            </a:extLst>
          </p:cNvPr>
          <p:cNvSpPr/>
          <p:nvPr/>
        </p:nvSpPr>
        <p:spPr>
          <a:xfrm>
            <a:off x="9602703" y="2693160"/>
            <a:ext cx="146268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60" b="1" u="none" strike="noStrike" dirty="0">
                <a:solidFill>
                  <a:schemeClr val="accent4"/>
                </a:solidFill>
                <a:effectLst/>
                <a:uFillTx/>
                <a:latin typeface="Noto Sans CJK TC"/>
                <a:ea typeface="Noto Sans CJK TC"/>
              </a:rPr>
              <a:t>2025</a:t>
            </a:r>
            <a:r>
              <a:rPr lang="en-US" altLang="zh-TW" sz="1060" b="1" u="none" strike="noStrike" dirty="0">
                <a:solidFill>
                  <a:schemeClr val="accent4"/>
                </a:solidFill>
                <a:effectLst/>
                <a:uFillTx/>
                <a:latin typeface="Noto Sans CJK TC"/>
                <a:ea typeface="Noto Sans CJK TC"/>
              </a:rPr>
              <a:t>–</a:t>
            </a:r>
            <a:endParaRPr lang="en-US" sz="1060" b="0" u="none" strike="noStrike" dirty="0">
              <a:solidFill>
                <a:schemeClr val="accent4"/>
              </a:solidFill>
              <a:effectLst/>
              <a:uFillTx/>
              <a:latin typeface="Arial"/>
            </a:endParaRPr>
          </a:p>
        </p:txBody>
      </p:sp>
      <p:sp>
        <p:nvSpPr>
          <p:cNvPr id="6" name="Text 28">
            <a:extLst>
              <a:ext uri="{FF2B5EF4-FFF2-40B4-BE49-F238E27FC236}">
                <a16:creationId xmlns:a16="http://schemas.microsoft.com/office/drawing/2014/main" id="{52011B32-13E7-1C1B-EEB5-1A383A5CE71C}"/>
              </a:ext>
            </a:extLst>
          </p:cNvPr>
          <p:cNvSpPr/>
          <p:nvPr/>
        </p:nvSpPr>
        <p:spPr>
          <a:xfrm>
            <a:off x="9529623" y="2894400"/>
            <a:ext cx="160884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altLang="zh-TW" sz="1280" b="1" u="none" strike="noStrike" dirty="0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DevOps </a:t>
            </a:r>
            <a:r>
              <a:rPr lang="zh-CN" sz="1280" b="1" u="none" strike="noStrike" dirty="0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工程師</a:t>
            </a:r>
            <a:endParaRPr lang="en-US" sz="12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Text 29">
            <a:extLst>
              <a:ext uri="{FF2B5EF4-FFF2-40B4-BE49-F238E27FC236}">
                <a16:creationId xmlns:a16="http://schemas.microsoft.com/office/drawing/2014/main" id="{67223B46-06EE-ADA8-CF1D-DB5FA050FD8B}"/>
              </a:ext>
            </a:extLst>
          </p:cNvPr>
          <p:cNvSpPr/>
          <p:nvPr/>
        </p:nvSpPr>
        <p:spPr>
          <a:xfrm>
            <a:off x="9529623" y="3177720"/>
            <a:ext cx="1608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TW" altLang="en-US" sz="1000" b="0" u="none" strike="noStrike" dirty="0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矽品精密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Shape 30">
            <a:extLst>
              <a:ext uri="{FF2B5EF4-FFF2-40B4-BE49-F238E27FC236}">
                <a16:creationId xmlns:a16="http://schemas.microsoft.com/office/drawing/2014/main" id="{C5F6DBCD-4D4E-177C-99C7-FD2DEC90C672}"/>
              </a:ext>
            </a:extLst>
          </p:cNvPr>
          <p:cNvSpPr/>
          <p:nvPr/>
        </p:nvSpPr>
        <p:spPr>
          <a:xfrm>
            <a:off x="9555351" y="3822120"/>
            <a:ext cx="1572480" cy="914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A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31">
            <a:extLst>
              <a:ext uri="{FF2B5EF4-FFF2-40B4-BE49-F238E27FC236}">
                <a16:creationId xmlns:a16="http://schemas.microsoft.com/office/drawing/2014/main" id="{D118560B-DFA0-88AD-1C73-36194F75154E}"/>
              </a:ext>
            </a:extLst>
          </p:cNvPr>
          <p:cNvSpPr/>
          <p:nvPr/>
        </p:nvSpPr>
        <p:spPr>
          <a:xfrm>
            <a:off x="9674151" y="3959280"/>
            <a:ext cx="1334520" cy="585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 dirty="0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Micro LED </a:t>
            </a:r>
            <a:r>
              <a:rPr lang="zh-CN" sz="950" b="0" u="none" strike="noStrike" dirty="0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演算法</a:t>
            </a:r>
            <a:endParaRPr lang="en-US" sz="9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 dirty="0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MES / Azure / Full-stack</a:t>
            </a:r>
            <a:endParaRPr lang="en-US" sz="9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 0"/>
          <p:cNvSpPr/>
          <p:nvPr/>
        </p:nvSpPr>
        <p:spPr>
          <a:xfrm>
            <a:off x="658440" y="384120"/>
            <a:ext cx="228564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spc="111">
                <a:solidFill>
                  <a:srgbClr val="2563EB"/>
                </a:solidFill>
                <a:effectLst/>
                <a:uFillTx/>
                <a:latin typeface="Noto Sans CJK TC"/>
                <a:ea typeface="Noto Sans CJK TC"/>
              </a:rPr>
              <a:t>PROJECT EXPERIENCE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"/>
          <p:cNvSpPr/>
          <p:nvPr/>
        </p:nvSpPr>
        <p:spPr>
          <a:xfrm>
            <a:off x="658440" y="676800"/>
            <a:ext cx="1078956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5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01</a:t>
            </a:r>
            <a:r>
              <a:rPr lang="zh-CN" sz="275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｜</a:t>
            </a:r>
            <a:r>
              <a:rPr lang="en-US" sz="275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Micro LED </a:t>
            </a:r>
            <a:r>
              <a:rPr lang="zh-CN" sz="275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製程演算法與 </a:t>
            </a:r>
            <a:r>
              <a:rPr lang="en-US" sz="275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AI </a:t>
            </a:r>
            <a:r>
              <a:rPr lang="zh-CN" sz="275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校正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"/>
          <p:cNvSpPr/>
          <p:nvPr/>
        </p:nvSpPr>
        <p:spPr>
          <a:xfrm>
            <a:off x="658440" y="1197720"/>
            <a:ext cx="106981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150" b="0" u="none" strike="noStrik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從製程問題拆解、演算法設計到系統化導入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3"/>
          <p:cNvSpPr/>
          <p:nvPr/>
        </p:nvSpPr>
        <p:spPr>
          <a:xfrm>
            <a:off x="658440" y="1700640"/>
            <a:ext cx="1444320" cy="347040"/>
          </a:xfrm>
          <a:prstGeom prst="roundRect">
            <a:avLst>
              <a:gd name="adj" fmla="val 31579"/>
            </a:avLst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4"/>
          <p:cNvSpPr/>
          <p:nvPr/>
        </p:nvSpPr>
        <p:spPr>
          <a:xfrm>
            <a:off x="768240" y="1700640"/>
            <a:ext cx="73116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Noto Sans CJK TC"/>
                <a:ea typeface="Noto Sans CJK TC"/>
              </a:rPr>
              <a:t>PROJECT 01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5"/>
          <p:cNvSpPr/>
          <p:nvPr/>
        </p:nvSpPr>
        <p:spPr>
          <a:xfrm>
            <a:off x="1499760" y="1700640"/>
            <a:ext cx="49356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93C5FD"/>
                </a:solidFill>
                <a:effectLst/>
                <a:uFillTx/>
                <a:latin typeface="Noto Sans CJK TC"/>
                <a:ea typeface="Noto Sans CJK TC"/>
              </a:rPr>
              <a:t>MICRO LED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6"/>
          <p:cNvSpPr/>
          <p:nvPr/>
        </p:nvSpPr>
        <p:spPr>
          <a:xfrm>
            <a:off x="658440" y="2258640"/>
            <a:ext cx="4315680" cy="1023840"/>
          </a:xfrm>
          <a:prstGeom prst="roundRect">
            <a:avLst>
              <a:gd name="adj" fmla="val 7143"/>
            </a:avLst>
          </a:prstGeom>
          <a:solidFill>
            <a:srgbClr val="FFF7E8"/>
          </a:solidFill>
          <a:ln w="12700">
            <a:solidFill>
              <a:srgbClr val="F7D9A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5" name="Image 0" descr="preencoded.png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896040" y="255132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Text 7"/>
          <p:cNvSpPr/>
          <p:nvPr/>
        </p:nvSpPr>
        <p:spPr>
          <a:xfrm>
            <a:off x="1371600" y="2395800"/>
            <a:ext cx="11883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24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製程挑戰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8"/>
          <p:cNvSpPr/>
          <p:nvPr/>
        </p:nvSpPr>
        <p:spPr>
          <a:xfrm>
            <a:off x="1371600" y="2670120"/>
            <a:ext cx="324576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050" b="0" u="none" strike="noStrik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巨量轉移分佈、修補路徑、玻璃對組，以及 </a:t>
            </a:r>
            <a:r>
              <a:rPr lang="en-US" sz="1050" b="0" u="none" strike="noStrik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Wafer / TFT / </a:t>
            </a:r>
            <a:r>
              <a:rPr lang="zh-CN" sz="1050" b="0" u="none" strike="noStrik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機台誤差造成的 </a:t>
            </a:r>
            <a:r>
              <a:rPr lang="en-US" sz="1050" b="0" u="none" strike="noStrik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LED </a:t>
            </a:r>
            <a:r>
              <a:rPr lang="zh-CN" sz="1050" b="0" u="none" strike="noStrik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偏移。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9"/>
          <p:cNvSpPr/>
          <p:nvPr/>
        </p:nvSpPr>
        <p:spPr>
          <a:xfrm>
            <a:off x="658440" y="3456360"/>
            <a:ext cx="4315680" cy="157248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5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9" name="Image 1" descr="preencoded.png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896040" y="368496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0" name="Text 10"/>
          <p:cNvSpPr/>
          <p:nvPr/>
        </p:nvSpPr>
        <p:spPr>
          <a:xfrm>
            <a:off x="1371600" y="3566160"/>
            <a:ext cx="11883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24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核心工作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1"/>
          <p:cNvSpPr/>
          <p:nvPr/>
        </p:nvSpPr>
        <p:spPr>
          <a:xfrm>
            <a:off x="1362600" y="3840480"/>
            <a:ext cx="3273120" cy="987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marL="152280" indent="-152280" defTabSz="914400">
              <a:lnSpc>
                <a:spcPct val="100000"/>
              </a:lnSpc>
              <a:buClr>
                <a:srgbClr val="0F172A"/>
              </a:buClr>
              <a:buFont typeface="Symbol" charset="2"/>
              <a:buChar char=""/>
            </a:pPr>
            <a:r>
              <a:rPr lang="en-US" sz="1020" b="0" u="none" strike="noStrik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Mass Transfer / Repair / Bonding / Total Pitch </a:t>
            </a:r>
            <a:r>
              <a:rPr lang="zh-CN" sz="1020" b="0" u="none" strike="noStrik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演算法設計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buClr>
                <a:srgbClr val="0F172A"/>
              </a:buClr>
              <a:buFont typeface="Symbol" charset="2"/>
              <a:buChar char=""/>
            </a:pPr>
            <a:r>
              <a:rPr lang="zh-CN" sz="1020" b="0" u="none" strike="noStrik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最佳路徑規劃，降低製程時間與不必要移動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buClr>
                <a:srgbClr val="0F172A"/>
              </a:buClr>
              <a:buFont typeface="Symbol" charset="2"/>
              <a:buChar char=""/>
            </a:pPr>
            <a:r>
              <a:rPr lang="zh-CN" sz="1020" b="0" u="none" strike="noStrik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預先模擬玻璃板對組，加速生產流程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buClr>
                <a:srgbClr val="0F172A"/>
              </a:buClr>
              <a:buFont typeface="Symbol" charset="2"/>
              <a:buChar char=""/>
            </a:pPr>
            <a:r>
              <a:rPr lang="zh-CN" sz="1020" b="0" u="none" strike="noStrik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回歸模型校正 </a:t>
            </a:r>
            <a:r>
              <a:rPr lang="en-US" sz="1020" b="0" u="none" strike="noStrik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LED </a:t>
            </a:r>
            <a:r>
              <a:rPr lang="zh-CN" sz="1020" b="0" u="none" strike="noStrik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偏移點位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12"/>
          <p:cNvSpPr/>
          <p:nvPr/>
        </p:nvSpPr>
        <p:spPr>
          <a:xfrm>
            <a:off x="5248800" y="1920240"/>
            <a:ext cx="6272280" cy="3492720"/>
          </a:xfrm>
          <a:prstGeom prst="roundRect">
            <a:avLst>
              <a:gd name="adj" fmla="val 2094"/>
            </a:avLst>
          </a:prstGeom>
          <a:solidFill>
            <a:srgbClr val="0F172A"/>
          </a:solidFill>
          <a:ln w="12700">
            <a:solidFill>
              <a:srgbClr val="0F172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3"/>
          <p:cNvSpPr/>
          <p:nvPr/>
        </p:nvSpPr>
        <p:spPr>
          <a:xfrm>
            <a:off x="5532120" y="2139840"/>
            <a:ext cx="228564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Noto Sans CJK TC"/>
                <a:ea typeface="Noto Sans CJK TC"/>
              </a:rPr>
              <a:t>Micro LED </a:t>
            </a:r>
            <a:r>
              <a:rPr lang="zh-CN" sz="1350" b="1" u="none" strike="noStrike">
                <a:solidFill>
                  <a:srgbClr val="FFFFFF"/>
                </a:solidFill>
                <a:effectLst/>
                <a:uFillTx/>
                <a:latin typeface="Noto Sans CJK TC"/>
                <a:ea typeface="Noto Sans CJK TC"/>
              </a:rPr>
              <a:t>製程最佳化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4"/>
          <p:cNvSpPr/>
          <p:nvPr/>
        </p:nvSpPr>
        <p:spPr>
          <a:xfrm>
            <a:off x="5532120" y="2468880"/>
            <a:ext cx="34743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8FA2BD"/>
                </a:solidFill>
                <a:effectLst/>
                <a:uFillTx/>
                <a:latin typeface="Noto Sans CJK TC"/>
                <a:ea typeface="Noto Sans CJK TC"/>
              </a:rPr>
              <a:t>Distribution → Path Planning → Offset Calibration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15"/>
          <p:cNvSpPr/>
          <p:nvPr/>
        </p:nvSpPr>
        <p:spPr>
          <a:xfrm>
            <a:off x="5559480" y="2971800"/>
            <a:ext cx="1005480" cy="438480"/>
          </a:xfrm>
          <a:prstGeom prst="roundRect">
            <a:avLst>
              <a:gd name="adj" fmla="val 25000"/>
            </a:avLst>
          </a:prstGeom>
          <a:solidFill>
            <a:srgbClr val="172033"/>
          </a:solidFill>
          <a:ln w="12700">
            <a:solidFill>
              <a:srgbClr val="172033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16"/>
          <p:cNvSpPr/>
          <p:nvPr/>
        </p:nvSpPr>
        <p:spPr>
          <a:xfrm>
            <a:off x="5650920" y="3063240"/>
            <a:ext cx="91080" cy="5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17"/>
          <p:cNvSpPr/>
          <p:nvPr/>
        </p:nvSpPr>
        <p:spPr>
          <a:xfrm>
            <a:off x="5788080" y="3063240"/>
            <a:ext cx="91080" cy="5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18"/>
          <p:cNvSpPr/>
          <p:nvPr/>
        </p:nvSpPr>
        <p:spPr>
          <a:xfrm>
            <a:off x="5925240" y="3063240"/>
            <a:ext cx="91080" cy="5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19"/>
          <p:cNvSpPr/>
          <p:nvPr/>
        </p:nvSpPr>
        <p:spPr>
          <a:xfrm>
            <a:off x="6062400" y="3063240"/>
            <a:ext cx="91080" cy="5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20"/>
          <p:cNvSpPr/>
          <p:nvPr/>
        </p:nvSpPr>
        <p:spPr>
          <a:xfrm>
            <a:off x="5650920" y="3127320"/>
            <a:ext cx="91080" cy="5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21"/>
          <p:cNvSpPr/>
          <p:nvPr/>
        </p:nvSpPr>
        <p:spPr>
          <a:xfrm>
            <a:off x="5788080" y="3127320"/>
            <a:ext cx="91080" cy="5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2"/>
          <p:cNvSpPr/>
          <p:nvPr/>
        </p:nvSpPr>
        <p:spPr>
          <a:xfrm>
            <a:off x="5925240" y="3127320"/>
            <a:ext cx="91080" cy="5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23"/>
          <p:cNvSpPr/>
          <p:nvPr/>
        </p:nvSpPr>
        <p:spPr>
          <a:xfrm>
            <a:off x="6062400" y="3127320"/>
            <a:ext cx="91080" cy="5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24"/>
          <p:cNvSpPr/>
          <p:nvPr/>
        </p:nvSpPr>
        <p:spPr>
          <a:xfrm>
            <a:off x="5650920" y="3191400"/>
            <a:ext cx="91080" cy="5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25"/>
          <p:cNvSpPr/>
          <p:nvPr/>
        </p:nvSpPr>
        <p:spPr>
          <a:xfrm>
            <a:off x="5788080" y="3191400"/>
            <a:ext cx="91080" cy="5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26"/>
          <p:cNvSpPr/>
          <p:nvPr/>
        </p:nvSpPr>
        <p:spPr>
          <a:xfrm>
            <a:off x="5925240" y="3191400"/>
            <a:ext cx="91080" cy="5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27"/>
          <p:cNvSpPr/>
          <p:nvPr/>
        </p:nvSpPr>
        <p:spPr>
          <a:xfrm>
            <a:off x="6062400" y="3191400"/>
            <a:ext cx="91080" cy="5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28"/>
          <p:cNvSpPr/>
          <p:nvPr/>
        </p:nvSpPr>
        <p:spPr>
          <a:xfrm>
            <a:off x="5650920" y="3255120"/>
            <a:ext cx="91080" cy="5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29"/>
          <p:cNvSpPr/>
          <p:nvPr/>
        </p:nvSpPr>
        <p:spPr>
          <a:xfrm>
            <a:off x="5788080" y="3255120"/>
            <a:ext cx="91080" cy="5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30"/>
          <p:cNvSpPr/>
          <p:nvPr/>
        </p:nvSpPr>
        <p:spPr>
          <a:xfrm>
            <a:off x="5925240" y="3255120"/>
            <a:ext cx="91080" cy="5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31"/>
          <p:cNvSpPr/>
          <p:nvPr/>
        </p:nvSpPr>
        <p:spPr>
          <a:xfrm>
            <a:off x="6062400" y="3255120"/>
            <a:ext cx="91080" cy="5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32"/>
          <p:cNvSpPr/>
          <p:nvPr/>
        </p:nvSpPr>
        <p:spPr>
          <a:xfrm>
            <a:off x="6245280" y="2999160"/>
            <a:ext cx="200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EF4444"/>
                </a:solidFill>
                <a:effectLst/>
                <a:uFillTx/>
                <a:latin typeface="Noto Sans CJK TC"/>
                <a:ea typeface="Noto Sans CJK TC"/>
              </a:rPr>
              <a:t>R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33"/>
          <p:cNvSpPr/>
          <p:nvPr/>
        </p:nvSpPr>
        <p:spPr>
          <a:xfrm>
            <a:off x="5559480" y="3611880"/>
            <a:ext cx="1005480" cy="438480"/>
          </a:xfrm>
          <a:prstGeom prst="roundRect">
            <a:avLst>
              <a:gd name="adj" fmla="val 25000"/>
            </a:avLst>
          </a:prstGeom>
          <a:solidFill>
            <a:srgbClr val="172033"/>
          </a:solidFill>
          <a:ln w="12700">
            <a:solidFill>
              <a:srgbClr val="172033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34"/>
          <p:cNvSpPr/>
          <p:nvPr/>
        </p:nvSpPr>
        <p:spPr>
          <a:xfrm>
            <a:off x="5650920" y="3703320"/>
            <a:ext cx="91080" cy="500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35"/>
          <p:cNvSpPr/>
          <p:nvPr/>
        </p:nvSpPr>
        <p:spPr>
          <a:xfrm>
            <a:off x="5788080" y="3703320"/>
            <a:ext cx="91080" cy="500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36"/>
          <p:cNvSpPr/>
          <p:nvPr/>
        </p:nvSpPr>
        <p:spPr>
          <a:xfrm>
            <a:off x="5925240" y="3703320"/>
            <a:ext cx="91080" cy="500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37"/>
          <p:cNvSpPr/>
          <p:nvPr/>
        </p:nvSpPr>
        <p:spPr>
          <a:xfrm>
            <a:off x="6062400" y="3703320"/>
            <a:ext cx="91080" cy="500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38"/>
          <p:cNvSpPr/>
          <p:nvPr/>
        </p:nvSpPr>
        <p:spPr>
          <a:xfrm>
            <a:off x="5650920" y="3767400"/>
            <a:ext cx="91080" cy="500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39"/>
          <p:cNvSpPr/>
          <p:nvPr/>
        </p:nvSpPr>
        <p:spPr>
          <a:xfrm>
            <a:off x="5788080" y="3767400"/>
            <a:ext cx="91080" cy="500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40"/>
          <p:cNvSpPr/>
          <p:nvPr/>
        </p:nvSpPr>
        <p:spPr>
          <a:xfrm>
            <a:off x="5925240" y="3767400"/>
            <a:ext cx="91080" cy="500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41"/>
          <p:cNvSpPr/>
          <p:nvPr/>
        </p:nvSpPr>
        <p:spPr>
          <a:xfrm>
            <a:off x="6062400" y="3767400"/>
            <a:ext cx="91080" cy="500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42"/>
          <p:cNvSpPr/>
          <p:nvPr/>
        </p:nvSpPr>
        <p:spPr>
          <a:xfrm>
            <a:off x="5650920" y="3831480"/>
            <a:ext cx="91080" cy="500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43"/>
          <p:cNvSpPr/>
          <p:nvPr/>
        </p:nvSpPr>
        <p:spPr>
          <a:xfrm>
            <a:off x="5788080" y="3831480"/>
            <a:ext cx="91080" cy="500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Shape 44"/>
          <p:cNvSpPr/>
          <p:nvPr/>
        </p:nvSpPr>
        <p:spPr>
          <a:xfrm>
            <a:off x="5925240" y="3831480"/>
            <a:ext cx="91080" cy="500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45"/>
          <p:cNvSpPr/>
          <p:nvPr/>
        </p:nvSpPr>
        <p:spPr>
          <a:xfrm>
            <a:off x="6062400" y="3831480"/>
            <a:ext cx="91080" cy="500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46"/>
          <p:cNvSpPr/>
          <p:nvPr/>
        </p:nvSpPr>
        <p:spPr>
          <a:xfrm>
            <a:off x="5650920" y="3895200"/>
            <a:ext cx="91080" cy="500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47"/>
          <p:cNvSpPr/>
          <p:nvPr/>
        </p:nvSpPr>
        <p:spPr>
          <a:xfrm>
            <a:off x="5788080" y="3895200"/>
            <a:ext cx="91080" cy="500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48"/>
          <p:cNvSpPr/>
          <p:nvPr/>
        </p:nvSpPr>
        <p:spPr>
          <a:xfrm>
            <a:off x="5925240" y="3895200"/>
            <a:ext cx="91080" cy="500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49"/>
          <p:cNvSpPr/>
          <p:nvPr/>
        </p:nvSpPr>
        <p:spPr>
          <a:xfrm>
            <a:off x="6062400" y="3895200"/>
            <a:ext cx="91080" cy="500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50"/>
          <p:cNvSpPr/>
          <p:nvPr/>
        </p:nvSpPr>
        <p:spPr>
          <a:xfrm>
            <a:off x="6245280" y="3639240"/>
            <a:ext cx="200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22C55E"/>
                </a:solidFill>
                <a:effectLst/>
                <a:uFillTx/>
                <a:latin typeface="Noto Sans CJK TC"/>
                <a:ea typeface="Noto Sans CJK TC"/>
              </a:rPr>
              <a:t>G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51"/>
          <p:cNvSpPr/>
          <p:nvPr/>
        </p:nvSpPr>
        <p:spPr>
          <a:xfrm>
            <a:off x="5559480" y="4251960"/>
            <a:ext cx="1005480" cy="438480"/>
          </a:xfrm>
          <a:prstGeom prst="roundRect">
            <a:avLst>
              <a:gd name="adj" fmla="val 25000"/>
            </a:avLst>
          </a:prstGeom>
          <a:solidFill>
            <a:srgbClr val="172033"/>
          </a:solidFill>
          <a:ln w="12700">
            <a:solidFill>
              <a:srgbClr val="172033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52"/>
          <p:cNvSpPr/>
          <p:nvPr/>
        </p:nvSpPr>
        <p:spPr>
          <a:xfrm>
            <a:off x="5650920" y="4343400"/>
            <a:ext cx="91080" cy="500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53"/>
          <p:cNvSpPr/>
          <p:nvPr/>
        </p:nvSpPr>
        <p:spPr>
          <a:xfrm>
            <a:off x="5788080" y="4343400"/>
            <a:ext cx="91080" cy="500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54"/>
          <p:cNvSpPr/>
          <p:nvPr/>
        </p:nvSpPr>
        <p:spPr>
          <a:xfrm>
            <a:off x="5925240" y="4343400"/>
            <a:ext cx="91080" cy="500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55"/>
          <p:cNvSpPr/>
          <p:nvPr/>
        </p:nvSpPr>
        <p:spPr>
          <a:xfrm>
            <a:off x="6062400" y="4343400"/>
            <a:ext cx="91080" cy="500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56"/>
          <p:cNvSpPr/>
          <p:nvPr/>
        </p:nvSpPr>
        <p:spPr>
          <a:xfrm>
            <a:off x="5650920" y="4407480"/>
            <a:ext cx="91080" cy="500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57"/>
          <p:cNvSpPr/>
          <p:nvPr/>
        </p:nvSpPr>
        <p:spPr>
          <a:xfrm>
            <a:off x="5788080" y="4407480"/>
            <a:ext cx="91080" cy="500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58"/>
          <p:cNvSpPr/>
          <p:nvPr/>
        </p:nvSpPr>
        <p:spPr>
          <a:xfrm>
            <a:off x="5925240" y="4407480"/>
            <a:ext cx="91080" cy="500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59"/>
          <p:cNvSpPr/>
          <p:nvPr/>
        </p:nvSpPr>
        <p:spPr>
          <a:xfrm>
            <a:off x="6062400" y="4407480"/>
            <a:ext cx="91080" cy="500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60"/>
          <p:cNvSpPr/>
          <p:nvPr/>
        </p:nvSpPr>
        <p:spPr>
          <a:xfrm>
            <a:off x="5650920" y="4471560"/>
            <a:ext cx="91080" cy="500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61"/>
          <p:cNvSpPr/>
          <p:nvPr/>
        </p:nvSpPr>
        <p:spPr>
          <a:xfrm>
            <a:off x="5788080" y="4471560"/>
            <a:ext cx="91080" cy="500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Shape 62"/>
          <p:cNvSpPr/>
          <p:nvPr/>
        </p:nvSpPr>
        <p:spPr>
          <a:xfrm>
            <a:off x="5925240" y="4471560"/>
            <a:ext cx="91080" cy="500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63"/>
          <p:cNvSpPr/>
          <p:nvPr/>
        </p:nvSpPr>
        <p:spPr>
          <a:xfrm>
            <a:off x="6062400" y="4471560"/>
            <a:ext cx="91080" cy="500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64"/>
          <p:cNvSpPr/>
          <p:nvPr/>
        </p:nvSpPr>
        <p:spPr>
          <a:xfrm>
            <a:off x="5650920" y="4535280"/>
            <a:ext cx="91080" cy="500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65"/>
          <p:cNvSpPr/>
          <p:nvPr/>
        </p:nvSpPr>
        <p:spPr>
          <a:xfrm>
            <a:off x="5788080" y="4535280"/>
            <a:ext cx="91080" cy="500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66"/>
          <p:cNvSpPr/>
          <p:nvPr/>
        </p:nvSpPr>
        <p:spPr>
          <a:xfrm>
            <a:off x="5925240" y="4535280"/>
            <a:ext cx="91080" cy="500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67"/>
          <p:cNvSpPr/>
          <p:nvPr/>
        </p:nvSpPr>
        <p:spPr>
          <a:xfrm>
            <a:off x="6062400" y="4535280"/>
            <a:ext cx="91080" cy="500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400" rIns="90000" bIns="54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68"/>
          <p:cNvSpPr/>
          <p:nvPr/>
        </p:nvSpPr>
        <p:spPr>
          <a:xfrm>
            <a:off x="6245280" y="4279320"/>
            <a:ext cx="200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3B82F6"/>
                </a:solidFill>
                <a:effectLst/>
                <a:uFillTx/>
                <a:latin typeface="Noto Sans CJK TC"/>
                <a:ea typeface="Noto Sans CJK TC"/>
              </a:rPr>
              <a:t>B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69"/>
          <p:cNvSpPr/>
          <p:nvPr/>
        </p:nvSpPr>
        <p:spPr>
          <a:xfrm>
            <a:off x="6748200" y="3684960"/>
            <a:ext cx="932760" cy="360"/>
          </a:xfrm>
          <a:prstGeom prst="line">
            <a:avLst/>
          </a:prstGeom>
          <a:ln w="27940">
            <a:solidFill>
              <a:srgbClr val="06B6D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70"/>
          <p:cNvSpPr/>
          <p:nvPr/>
        </p:nvSpPr>
        <p:spPr>
          <a:xfrm>
            <a:off x="7727040" y="2634240"/>
            <a:ext cx="1992960" cy="1992960"/>
          </a:xfrm>
          <a:prstGeom prst="ellipse">
            <a:avLst/>
          </a:prstGeom>
          <a:solidFill>
            <a:srgbClr val="1B2842"/>
          </a:solidFill>
          <a:ln w="15240">
            <a:solidFill>
              <a:srgbClr val="5B7DA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71"/>
          <p:cNvSpPr/>
          <p:nvPr/>
        </p:nvSpPr>
        <p:spPr>
          <a:xfrm>
            <a:off x="8065080" y="3026520"/>
            <a:ext cx="59040" cy="590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72"/>
          <p:cNvSpPr/>
          <p:nvPr/>
        </p:nvSpPr>
        <p:spPr>
          <a:xfrm>
            <a:off x="8266320" y="3026520"/>
            <a:ext cx="59040" cy="590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73"/>
          <p:cNvSpPr/>
          <p:nvPr/>
        </p:nvSpPr>
        <p:spPr>
          <a:xfrm>
            <a:off x="8467200" y="3026520"/>
            <a:ext cx="59040" cy="590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74"/>
          <p:cNvSpPr/>
          <p:nvPr/>
        </p:nvSpPr>
        <p:spPr>
          <a:xfrm>
            <a:off x="8668440" y="3026520"/>
            <a:ext cx="59040" cy="590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75"/>
          <p:cNvSpPr/>
          <p:nvPr/>
        </p:nvSpPr>
        <p:spPr>
          <a:xfrm>
            <a:off x="8869680" y="3026520"/>
            <a:ext cx="59040" cy="590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76"/>
          <p:cNvSpPr/>
          <p:nvPr/>
        </p:nvSpPr>
        <p:spPr>
          <a:xfrm>
            <a:off x="9070920" y="3026520"/>
            <a:ext cx="59040" cy="590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77"/>
          <p:cNvSpPr/>
          <p:nvPr/>
        </p:nvSpPr>
        <p:spPr>
          <a:xfrm>
            <a:off x="9272160" y="3026520"/>
            <a:ext cx="59040" cy="590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78"/>
          <p:cNvSpPr/>
          <p:nvPr/>
        </p:nvSpPr>
        <p:spPr>
          <a:xfrm>
            <a:off x="8065080" y="3227760"/>
            <a:ext cx="59040" cy="590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79"/>
          <p:cNvSpPr/>
          <p:nvPr/>
        </p:nvSpPr>
        <p:spPr>
          <a:xfrm>
            <a:off x="8266320" y="3227760"/>
            <a:ext cx="59040" cy="590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80"/>
          <p:cNvSpPr/>
          <p:nvPr/>
        </p:nvSpPr>
        <p:spPr>
          <a:xfrm>
            <a:off x="8467200" y="3227760"/>
            <a:ext cx="59040" cy="590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81"/>
          <p:cNvSpPr/>
          <p:nvPr/>
        </p:nvSpPr>
        <p:spPr>
          <a:xfrm>
            <a:off x="8668440" y="3227760"/>
            <a:ext cx="59040" cy="590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82"/>
          <p:cNvSpPr/>
          <p:nvPr/>
        </p:nvSpPr>
        <p:spPr>
          <a:xfrm>
            <a:off x="8869680" y="3227760"/>
            <a:ext cx="59040" cy="590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83"/>
          <p:cNvSpPr/>
          <p:nvPr/>
        </p:nvSpPr>
        <p:spPr>
          <a:xfrm>
            <a:off x="9070920" y="3227760"/>
            <a:ext cx="59040" cy="590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84"/>
          <p:cNvSpPr/>
          <p:nvPr/>
        </p:nvSpPr>
        <p:spPr>
          <a:xfrm>
            <a:off x="9272160" y="3227760"/>
            <a:ext cx="59040" cy="590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85"/>
          <p:cNvSpPr/>
          <p:nvPr/>
        </p:nvSpPr>
        <p:spPr>
          <a:xfrm>
            <a:off x="8065080" y="3429000"/>
            <a:ext cx="59040" cy="590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86"/>
          <p:cNvSpPr/>
          <p:nvPr/>
        </p:nvSpPr>
        <p:spPr>
          <a:xfrm>
            <a:off x="8266320" y="3429000"/>
            <a:ext cx="59040" cy="590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87"/>
          <p:cNvSpPr/>
          <p:nvPr/>
        </p:nvSpPr>
        <p:spPr>
          <a:xfrm>
            <a:off x="8467200" y="3429000"/>
            <a:ext cx="59040" cy="590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88"/>
          <p:cNvSpPr/>
          <p:nvPr/>
        </p:nvSpPr>
        <p:spPr>
          <a:xfrm>
            <a:off x="8668440" y="3429000"/>
            <a:ext cx="59040" cy="590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89"/>
          <p:cNvSpPr/>
          <p:nvPr/>
        </p:nvSpPr>
        <p:spPr>
          <a:xfrm>
            <a:off x="8869680" y="3429000"/>
            <a:ext cx="59040" cy="590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90"/>
          <p:cNvSpPr/>
          <p:nvPr/>
        </p:nvSpPr>
        <p:spPr>
          <a:xfrm>
            <a:off x="9070920" y="3429000"/>
            <a:ext cx="59040" cy="590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91"/>
          <p:cNvSpPr/>
          <p:nvPr/>
        </p:nvSpPr>
        <p:spPr>
          <a:xfrm>
            <a:off x="9272160" y="3429000"/>
            <a:ext cx="59040" cy="590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92"/>
          <p:cNvSpPr/>
          <p:nvPr/>
        </p:nvSpPr>
        <p:spPr>
          <a:xfrm>
            <a:off x="8065080" y="3630240"/>
            <a:ext cx="59040" cy="590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93"/>
          <p:cNvSpPr/>
          <p:nvPr/>
        </p:nvSpPr>
        <p:spPr>
          <a:xfrm>
            <a:off x="8266320" y="3630240"/>
            <a:ext cx="59040" cy="590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94"/>
          <p:cNvSpPr/>
          <p:nvPr/>
        </p:nvSpPr>
        <p:spPr>
          <a:xfrm>
            <a:off x="8467200" y="3630240"/>
            <a:ext cx="59040" cy="590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95"/>
          <p:cNvSpPr/>
          <p:nvPr/>
        </p:nvSpPr>
        <p:spPr>
          <a:xfrm>
            <a:off x="8668440" y="3630240"/>
            <a:ext cx="59040" cy="590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96"/>
          <p:cNvSpPr/>
          <p:nvPr/>
        </p:nvSpPr>
        <p:spPr>
          <a:xfrm>
            <a:off x="8869680" y="3630240"/>
            <a:ext cx="59040" cy="590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97"/>
          <p:cNvSpPr/>
          <p:nvPr/>
        </p:nvSpPr>
        <p:spPr>
          <a:xfrm>
            <a:off x="9070920" y="3630240"/>
            <a:ext cx="59040" cy="590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98"/>
          <p:cNvSpPr/>
          <p:nvPr/>
        </p:nvSpPr>
        <p:spPr>
          <a:xfrm>
            <a:off x="9272160" y="3630240"/>
            <a:ext cx="59040" cy="590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99"/>
          <p:cNvSpPr/>
          <p:nvPr/>
        </p:nvSpPr>
        <p:spPr>
          <a:xfrm>
            <a:off x="8065080" y="3831480"/>
            <a:ext cx="59040" cy="590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100"/>
          <p:cNvSpPr/>
          <p:nvPr/>
        </p:nvSpPr>
        <p:spPr>
          <a:xfrm>
            <a:off x="8266320" y="3831480"/>
            <a:ext cx="59040" cy="590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101"/>
          <p:cNvSpPr/>
          <p:nvPr/>
        </p:nvSpPr>
        <p:spPr>
          <a:xfrm>
            <a:off x="8467200" y="3831480"/>
            <a:ext cx="59040" cy="590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102"/>
          <p:cNvSpPr/>
          <p:nvPr/>
        </p:nvSpPr>
        <p:spPr>
          <a:xfrm>
            <a:off x="8668440" y="3831480"/>
            <a:ext cx="59040" cy="590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103"/>
          <p:cNvSpPr/>
          <p:nvPr/>
        </p:nvSpPr>
        <p:spPr>
          <a:xfrm>
            <a:off x="8869680" y="3831480"/>
            <a:ext cx="59040" cy="590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104"/>
          <p:cNvSpPr/>
          <p:nvPr/>
        </p:nvSpPr>
        <p:spPr>
          <a:xfrm>
            <a:off x="9070920" y="3831480"/>
            <a:ext cx="59040" cy="590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105"/>
          <p:cNvSpPr/>
          <p:nvPr/>
        </p:nvSpPr>
        <p:spPr>
          <a:xfrm>
            <a:off x="9272160" y="3831480"/>
            <a:ext cx="59040" cy="590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106"/>
          <p:cNvSpPr/>
          <p:nvPr/>
        </p:nvSpPr>
        <p:spPr>
          <a:xfrm>
            <a:off x="8065080" y="4032360"/>
            <a:ext cx="59040" cy="590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107"/>
          <p:cNvSpPr/>
          <p:nvPr/>
        </p:nvSpPr>
        <p:spPr>
          <a:xfrm>
            <a:off x="8266320" y="4032360"/>
            <a:ext cx="59040" cy="590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108"/>
          <p:cNvSpPr/>
          <p:nvPr/>
        </p:nvSpPr>
        <p:spPr>
          <a:xfrm>
            <a:off x="8467200" y="4032360"/>
            <a:ext cx="59040" cy="590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109"/>
          <p:cNvSpPr/>
          <p:nvPr/>
        </p:nvSpPr>
        <p:spPr>
          <a:xfrm>
            <a:off x="8668440" y="4032360"/>
            <a:ext cx="59040" cy="590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110"/>
          <p:cNvSpPr/>
          <p:nvPr/>
        </p:nvSpPr>
        <p:spPr>
          <a:xfrm>
            <a:off x="8869680" y="4032360"/>
            <a:ext cx="59040" cy="590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111"/>
          <p:cNvSpPr/>
          <p:nvPr/>
        </p:nvSpPr>
        <p:spPr>
          <a:xfrm>
            <a:off x="9070920" y="4032360"/>
            <a:ext cx="59040" cy="590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112"/>
          <p:cNvSpPr/>
          <p:nvPr/>
        </p:nvSpPr>
        <p:spPr>
          <a:xfrm>
            <a:off x="9272160" y="4032360"/>
            <a:ext cx="59040" cy="590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113"/>
          <p:cNvSpPr/>
          <p:nvPr/>
        </p:nvSpPr>
        <p:spPr>
          <a:xfrm>
            <a:off x="8065080" y="4233600"/>
            <a:ext cx="59040" cy="590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114"/>
          <p:cNvSpPr/>
          <p:nvPr/>
        </p:nvSpPr>
        <p:spPr>
          <a:xfrm>
            <a:off x="8266320" y="4233600"/>
            <a:ext cx="59040" cy="590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115"/>
          <p:cNvSpPr/>
          <p:nvPr/>
        </p:nvSpPr>
        <p:spPr>
          <a:xfrm>
            <a:off x="8467200" y="4233600"/>
            <a:ext cx="59040" cy="590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116"/>
          <p:cNvSpPr/>
          <p:nvPr/>
        </p:nvSpPr>
        <p:spPr>
          <a:xfrm>
            <a:off x="8668440" y="4233600"/>
            <a:ext cx="59040" cy="590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117"/>
          <p:cNvSpPr/>
          <p:nvPr/>
        </p:nvSpPr>
        <p:spPr>
          <a:xfrm>
            <a:off x="8869680" y="4233600"/>
            <a:ext cx="59040" cy="590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118"/>
          <p:cNvSpPr/>
          <p:nvPr/>
        </p:nvSpPr>
        <p:spPr>
          <a:xfrm>
            <a:off x="9070920" y="4233600"/>
            <a:ext cx="59040" cy="590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Shape 119"/>
          <p:cNvSpPr/>
          <p:nvPr/>
        </p:nvSpPr>
        <p:spPr>
          <a:xfrm>
            <a:off x="9272160" y="4233600"/>
            <a:ext cx="59040" cy="590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240" rIns="90000" bIns="-324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120"/>
          <p:cNvSpPr/>
          <p:nvPr/>
        </p:nvSpPr>
        <p:spPr>
          <a:xfrm>
            <a:off x="9098280" y="3218760"/>
            <a:ext cx="118440" cy="118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8880" rIns="90000" bIns="388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Shape 121"/>
          <p:cNvSpPr/>
          <p:nvPr/>
        </p:nvSpPr>
        <p:spPr>
          <a:xfrm flipV="1">
            <a:off x="9253440" y="2889360"/>
            <a:ext cx="731520" cy="393120"/>
          </a:xfrm>
          <a:prstGeom prst="line">
            <a:avLst/>
          </a:prstGeom>
          <a:ln w="20320">
            <a:solidFill>
              <a:srgbClr val="F59E0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122"/>
          <p:cNvSpPr/>
          <p:nvPr/>
        </p:nvSpPr>
        <p:spPr>
          <a:xfrm>
            <a:off x="10003680" y="2752200"/>
            <a:ext cx="91404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50" b="1" u="none" strike="noStrike">
                <a:solidFill>
                  <a:srgbClr val="FBBF24"/>
                </a:solidFill>
                <a:effectLst/>
                <a:uFillTx/>
                <a:latin typeface="Noto Sans CJK TC"/>
                <a:ea typeface="Noto Sans CJK TC"/>
              </a:rPr>
              <a:t>偏移點位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123"/>
          <p:cNvSpPr/>
          <p:nvPr/>
        </p:nvSpPr>
        <p:spPr>
          <a:xfrm>
            <a:off x="9985320" y="3127320"/>
            <a:ext cx="1170000" cy="529920"/>
          </a:xfrm>
          <a:prstGeom prst="roundRect">
            <a:avLst>
              <a:gd name="adj" fmla="val 20690"/>
            </a:avLst>
          </a:prstGeom>
          <a:solidFill>
            <a:srgbClr val="172033"/>
          </a:solidFill>
          <a:ln w="12700">
            <a:solidFill>
              <a:srgbClr val="172033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4" name="Image 2" descr="preencoded.png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10104120" y="3264480"/>
            <a:ext cx="228240" cy="228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5" name="Text 124"/>
          <p:cNvSpPr/>
          <p:nvPr/>
        </p:nvSpPr>
        <p:spPr>
          <a:xfrm>
            <a:off x="10396800" y="3173040"/>
            <a:ext cx="65808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20" b="1" u="none" strike="noStrike" dirty="0">
                <a:solidFill>
                  <a:srgbClr val="FFFFFF"/>
                </a:solidFill>
                <a:effectLst/>
                <a:uFillTx/>
                <a:latin typeface="Noto Sans CJK TC"/>
                <a:ea typeface="Noto Sans CJK TC"/>
              </a:rPr>
              <a:t>回歸模型</a:t>
            </a:r>
            <a:endParaRPr lang="en-US" sz="9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20" b="1" u="none" strike="noStrike" dirty="0">
                <a:solidFill>
                  <a:srgbClr val="FFFFFF"/>
                </a:solidFill>
                <a:effectLst/>
                <a:uFillTx/>
                <a:latin typeface="Noto Sans CJK TC"/>
                <a:ea typeface="Noto Sans CJK TC"/>
              </a:rPr>
              <a:t>校正</a:t>
            </a:r>
            <a:endParaRPr lang="en-US" sz="9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125"/>
          <p:cNvSpPr/>
          <p:nvPr/>
        </p:nvSpPr>
        <p:spPr>
          <a:xfrm>
            <a:off x="5468040" y="4837320"/>
            <a:ext cx="5806080" cy="420120"/>
          </a:xfrm>
          <a:prstGeom prst="roundRect">
            <a:avLst>
              <a:gd name="adj" fmla="val 17391"/>
            </a:avLst>
          </a:prstGeom>
          <a:solidFill>
            <a:srgbClr val="13253C"/>
          </a:solidFill>
          <a:ln w="12700">
            <a:solidFill>
              <a:srgbClr val="13253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7" name="Image 3" descr="preencoded.png"/>
          <p:cNvPicPr/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5650920" y="4946760"/>
            <a:ext cx="200880" cy="20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8" name="Text 126"/>
          <p:cNvSpPr/>
          <p:nvPr/>
        </p:nvSpPr>
        <p:spPr>
          <a:xfrm>
            <a:off x="5961960" y="4883040"/>
            <a:ext cx="507456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020" b="1" u="none" strike="noStrike">
                <a:solidFill>
                  <a:srgbClr val="E2E8F0"/>
                </a:solidFill>
                <a:effectLst/>
                <a:uFillTx/>
                <a:latin typeface="Noto Sans CJK TC"/>
                <a:ea typeface="Noto Sans CJK TC"/>
              </a:rPr>
              <a:t>成果｜巨量修補演算法列入公司營業秘密成果，並提升製程效率與可重複性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Shape 127"/>
          <p:cNvSpPr/>
          <p:nvPr/>
        </p:nvSpPr>
        <p:spPr>
          <a:xfrm>
            <a:off x="676800" y="5285160"/>
            <a:ext cx="932400" cy="292320"/>
          </a:xfrm>
          <a:prstGeom prst="roundRect">
            <a:avLst>
              <a:gd name="adj" fmla="val 37500"/>
            </a:avLst>
          </a:prstGeom>
          <a:solidFill>
            <a:srgbClr val="EAF2FF"/>
          </a:solidFill>
          <a:ln w="12700">
            <a:solidFill>
              <a:srgbClr val="EAF2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128"/>
          <p:cNvSpPr/>
          <p:nvPr/>
        </p:nvSpPr>
        <p:spPr>
          <a:xfrm>
            <a:off x="676800" y="5285160"/>
            <a:ext cx="93240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1" u="none" strike="noStrike">
                <a:solidFill>
                  <a:srgbClr val="2563EB"/>
                </a:solidFill>
                <a:effectLst/>
                <a:uFillTx/>
                <a:latin typeface="Noto Sans CJK TC"/>
                <a:ea typeface="Noto Sans CJK TC"/>
              </a:rPr>
              <a:t>Python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129"/>
          <p:cNvSpPr/>
          <p:nvPr/>
        </p:nvSpPr>
        <p:spPr>
          <a:xfrm>
            <a:off x="1700640" y="5285160"/>
            <a:ext cx="932400" cy="292320"/>
          </a:xfrm>
          <a:prstGeom prst="roundRect">
            <a:avLst>
              <a:gd name="adj" fmla="val 37500"/>
            </a:avLst>
          </a:prstGeom>
          <a:solidFill>
            <a:srgbClr val="E8FAFD"/>
          </a:solidFill>
          <a:ln w="12700">
            <a:solidFill>
              <a:srgbClr val="E8FAFD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130"/>
          <p:cNvSpPr/>
          <p:nvPr/>
        </p:nvSpPr>
        <p:spPr>
          <a:xfrm>
            <a:off x="1700640" y="5285160"/>
            <a:ext cx="93240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1" u="none" strike="noStrike">
                <a:solidFill>
                  <a:srgbClr val="0891B2"/>
                </a:solidFill>
                <a:effectLst/>
                <a:uFillTx/>
                <a:latin typeface="Noto Sans CJK TC"/>
                <a:ea typeface="Noto Sans CJK TC"/>
              </a:rPr>
              <a:t>Algorithm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131"/>
          <p:cNvSpPr/>
          <p:nvPr/>
        </p:nvSpPr>
        <p:spPr>
          <a:xfrm>
            <a:off x="2724840" y="5285160"/>
            <a:ext cx="932400" cy="292320"/>
          </a:xfrm>
          <a:prstGeom prst="roundRect">
            <a:avLst>
              <a:gd name="adj" fmla="val 37500"/>
            </a:avLst>
          </a:prstGeom>
          <a:solidFill>
            <a:srgbClr val="EAF2FF"/>
          </a:solidFill>
          <a:ln w="12700">
            <a:solidFill>
              <a:srgbClr val="EAF2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132"/>
          <p:cNvSpPr/>
          <p:nvPr/>
        </p:nvSpPr>
        <p:spPr>
          <a:xfrm>
            <a:off x="2724840" y="5285160"/>
            <a:ext cx="93240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1" u="none" strike="noStrike">
                <a:solidFill>
                  <a:srgbClr val="2563EB"/>
                </a:solidFill>
                <a:effectLst/>
                <a:uFillTx/>
                <a:latin typeface="Noto Sans CJK TC"/>
                <a:ea typeface="Noto Sans CJK TC"/>
              </a:rPr>
              <a:t>Regression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133"/>
          <p:cNvSpPr/>
          <p:nvPr/>
        </p:nvSpPr>
        <p:spPr>
          <a:xfrm>
            <a:off x="3749040" y="5285160"/>
            <a:ext cx="932400" cy="292320"/>
          </a:xfrm>
          <a:prstGeom prst="roundRect">
            <a:avLst>
              <a:gd name="adj" fmla="val 37500"/>
            </a:avLst>
          </a:prstGeom>
          <a:solidFill>
            <a:srgbClr val="EAF2FF"/>
          </a:solidFill>
          <a:ln w="12700">
            <a:solidFill>
              <a:srgbClr val="EAF2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134"/>
          <p:cNvSpPr/>
          <p:nvPr/>
        </p:nvSpPr>
        <p:spPr>
          <a:xfrm>
            <a:off x="3749040" y="5285160"/>
            <a:ext cx="93240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lnSpcReduction="9999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1" u="none" strike="noStrike">
                <a:solidFill>
                  <a:srgbClr val="2563EB"/>
                </a:solidFill>
                <a:effectLst/>
                <a:uFillTx/>
                <a:latin typeface="Noto Sans CJK TC"/>
                <a:ea typeface="Noto Sans CJK TC"/>
              </a:rPr>
              <a:t>MES Integration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PlaceHolder 1"/>
          <p:cNvSpPr>
            <a:spLocks noGrp="1"/>
          </p:cNvSpPr>
          <p:nvPr>
            <p:ph type="sldNum" idx="6"/>
          </p:nvPr>
        </p:nvSpPr>
        <p:spPr>
          <a:xfrm>
            <a:off x="11612880" y="6473880"/>
            <a:ext cx="228240" cy="18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850" b="0" u="none" strike="noStrike">
                <a:solidFill>
                  <a:srgbClr val="94A3B8"/>
                </a:solidFill>
                <a:effectLst/>
                <a:uFillTx/>
                <a:latin typeface="Noto Sans CJK TC"/>
                <a:ea typeface="Noto Sans CJK TC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42442F7-1505-42A3-AC92-9A14A77EADB2}" type="slidenum">
              <a:rPr lang="en-US" sz="850" b="0" u="none" strike="noStrike">
                <a:solidFill>
                  <a:srgbClr val="94A3B8"/>
                </a:solidFill>
                <a:effectLst/>
                <a:uFillTx/>
                <a:latin typeface="Noto Sans CJK TC"/>
                <a:ea typeface="Noto Sans CJK TC"/>
              </a:rPr>
              <a:t>3</a:t>
            </a:fld>
            <a:endParaRPr lang="en-US" sz="8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Text 0"/>
          <p:cNvSpPr/>
          <p:nvPr/>
        </p:nvSpPr>
        <p:spPr>
          <a:xfrm>
            <a:off x="658440" y="384120"/>
            <a:ext cx="228564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spc="111">
                <a:solidFill>
                  <a:srgbClr val="2563EB"/>
                </a:solidFill>
                <a:effectLst/>
                <a:uFillTx/>
                <a:latin typeface="Noto Sans CJK TC"/>
                <a:ea typeface="Noto Sans CJK TC"/>
              </a:rPr>
              <a:t>PROJECT EXPERIENCE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1"/>
          <p:cNvSpPr/>
          <p:nvPr/>
        </p:nvSpPr>
        <p:spPr>
          <a:xfrm>
            <a:off x="658440" y="676800"/>
            <a:ext cx="1078956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5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02</a:t>
            </a:r>
            <a:r>
              <a:rPr lang="zh-CN" sz="275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｜</a:t>
            </a:r>
            <a:r>
              <a:rPr lang="en-US" sz="275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Azure </a:t>
            </a:r>
            <a:r>
              <a:rPr lang="zh-CN" sz="275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雲端應用與資料流程整合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2"/>
          <p:cNvSpPr/>
          <p:nvPr/>
        </p:nvSpPr>
        <p:spPr>
          <a:xfrm>
            <a:off x="658440" y="1197720"/>
            <a:ext cx="106981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150" b="0" u="none" strike="noStrik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設計從地端系統到雲端運算、儲存與檔案交換的完整資料路徑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3"/>
          <p:cNvSpPr/>
          <p:nvPr/>
        </p:nvSpPr>
        <p:spPr>
          <a:xfrm>
            <a:off x="658440" y="1700640"/>
            <a:ext cx="1444320" cy="347040"/>
          </a:xfrm>
          <a:prstGeom prst="roundRect">
            <a:avLst>
              <a:gd name="adj" fmla="val 31579"/>
            </a:avLst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4"/>
          <p:cNvSpPr/>
          <p:nvPr/>
        </p:nvSpPr>
        <p:spPr>
          <a:xfrm>
            <a:off x="768240" y="1700640"/>
            <a:ext cx="73116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Noto Sans CJK TC"/>
                <a:ea typeface="Noto Sans CJK TC"/>
              </a:rPr>
              <a:t>PROJECT 02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5"/>
          <p:cNvSpPr/>
          <p:nvPr/>
        </p:nvSpPr>
        <p:spPr>
          <a:xfrm>
            <a:off x="1499760" y="1700640"/>
            <a:ext cx="49356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93C5FD"/>
                </a:solidFill>
                <a:effectLst/>
                <a:uFillTx/>
                <a:latin typeface="Noto Sans CJK TC"/>
                <a:ea typeface="Noto Sans CJK TC"/>
              </a:rPr>
              <a:t>CLOUD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6"/>
          <p:cNvSpPr/>
          <p:nvPr/>
        </p:nvSpPr>
        <p:spPr>
          <a:xfrm>
            <a:off x="658440" y="2176200"/>
            <a:ext cx="10881000" cy="242280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DCE5F0"/>
            </a:solidFill>
            <a:round/>
          </a:ln>
          <a:effectLst>
            <a:outerShdw blurRad="15120" dist="50402" dir="2700000" algn="bl" rotWithShape="0">
              <a:srgbClr val="B8C3D1">
                <a:alpha val="14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Shape 7"/>
          <p:cNvSpPr/>
          <p:nvPr/>
        </p:nvSpPr>
        <p:spPr>
          <a:xfrm>
            <a:off x="914400" y="2761560"/>
            <a:ext cx="1517400" cy="1225080"/>
          </a:xfrm>
          <a:prstGeom prst="roundRect">
            <a:avLst>
              <a:gd name="adj" fmla="val 8955"/>
            </a:avLst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Shape 8"/>
          <p:cNvSpPr/>
          <p:nvPr/>
        </p:nvSpPr>
        <p:spPr>
          <a:xfrm>
            <a:off x="1060560" y="2990160"/>
            <a:ext cx="438480" cy="438480"/>
          </a:xfrm>
          <a:prstGeom prst="ellipse">
            <a:avLst/>
          </a:prstGeom>
          <a:solidFill>
            <a:srgbClr val="0B1220">
              <a:alpha val="94000"/>
            </a:srgbClr>
          </a:solidFill>
          <a:ln w="10160">
            <a:solidFill>
              <a:srgbClr val="0B122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7" name="Image 0" descr="preencoded.png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179720" y="3108960"/>
            <a:ext cx="200880" cy="20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Text 9"/>
          <p:cNvSpPr/>
          <p:nvPr/>
        </p:nvSpPr>
        <p:spPr>
          <a:xfrm>
            <a:off x="1600200" y="2907720"/>
            <a:ext cx="740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15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地端系統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10"/>
          <p:cNvSpPr/>
          <p:nvPr/>
        </p:nvSpPr>
        <p:spPr>
          <a:xfrm>
            <a:off x="1600200" y="3218760"/>
            <a:ext cx="74016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9" b="0" u="none" strike="noStrik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User / MES</a:t>
            </a:r>
            <a:endParaRPr lang="en-US" sz="88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11"/>
          <p:cNvSpPr/>
          <p:nvPr/>
        </p:nvSpPr>
        <p:spPr>
          <a:xfrm>
            <a:off x="2541960" y="3373920"/>
            <a:ext cx="164520" cy="360"/>
          </a:xfrm>
          <a:prstGeom prst="line">
            <a:avLst/>
          </a:prstGeom>
          <a:ln w="2286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12"/>
          <p:cNvSpPr/>
          <p:nvPr/>
        </p:nvSpPr>
        <p:spPr>
          <a:xfrm>
            <a:off x="2834640" y="2761560"/>
            <a:ext cx="1535760" cy="1225080"/>
          </a:xfrm>
          <a:prstGeom prst="roundRect">
            <a:avLst>
              <a:gd name="adj" fmla="val 8955"/>
            </a:avLst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Shape 13"/>
          <p:cNvSpPr/>
          <p:nvPr/>
        </p:nvSpPr>
        <p:spPr>
          <a:xfrm>
            <a:off x="2980800" y="2990160"/>
            <a:ext cx="438480" cy="438480"/>
          </a:xfrm>
          <a:prstGeom prst="ellipse">
            <a:avLst/>
          </a:prstGeom>
          <a:solidFill>
            <a:srgbClr val="2563EB">
              <a:alpha val="94000"/>
            </a:srgbClr>
          </a:solidFill>
          <a:ln w="1016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3" name="Image 1" descr="preencoded.png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3099960" y="3108960"/>
            <a:ext cx="200880" cy="20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4" name="Text 14"/>
          <p:cNvSpPr/>
          <p:nvPr/>
        </p:nvSpPr>
        <p:spPr>
          <a:xfrm>
            <a:off x="3520440" y="2907720"/>
            <a:ext cx="75852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85000" lnSpcReduction="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App Service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15"/>
          <p:cNvSpPr/>
          <p:nvPr/>
        </p:nvSpPr>
        <p:spPr>
          <a:xfrm>
            <a:off x="3520440" y="3218760"/>
            <a:ext cx="75852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9" b="0" u="none" strike="noStrik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API / HTTP POST</a:t>
            </a:r>
            <a:endParaRPr lang="en-US" sz="88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16"/>
          <p:cNvSpPr/>
          <p:nvPr/>
        </p:nvSpPr>
        <p:spPr>
          <a:xfrm>
            <a:off x="4480560" y="3373920"/>
            <a:ext cx="237600" cy="360"/>
          </a:xfrm>
          <a:prstGeom prst="line">
            <a:avLst/>
          </a:prstGeom>
          <a:ln w="2286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17"/>
          <p:cNvSpPr/>
          <p:nvPr/>
        </p:nvSpPr>
        <p:spPr>
          <a:xfrm>
            <a:off x="4846320" y="2761560"/>
            <a:ext cx="1782720" cy="1225080"/>
          </a:xfrm>
          <a:prstGeom prst="roundRect">
            <a:avLst>
              <a:gd name="adj" fmla="val 8955"/>
            </a:avLst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Shape 18"/>
          <p:cNvSpPr/>
          <p:nvPr/>
        </p:nvSpPr>
        <p:spPr>
          <a:xfrm>
            <a:off x="4992480" y="2990160"/>
            <a:ext cx="438480" cy="438480"/>
          </a:xfrm>
          <a:prstGeom prst="ellipse">
            <a:avLst/>
          </a:prstGeom>
          <a:solidFill>
            <a:srgbClr val="EF4444">
              <a:alpha val="94000"/>
            </a:srgbClr>
          </a:solidFill>
          <a:ln w="10160">
            <a:solidFill>
              <a:srgbClr val="EF44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9" name="Image 2" descr="preencoded.png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5111640" y="3108960"/>
            <a:ext cx="200880" cy="20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0" name="Text 19"/>
          <p:cNvSpPr/>
          <p:nvPr/>
        </p:nvSpPr>
        <p:spPr>
          <a:xfrm>
            <a:off x="5532120" y="2907720"/>
            <a:ext cx="10054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Databricks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20"/>
          <p:cNvSpPr/>
          <p:nvPr/>
        </p:nvSpPr>
        <p:spPr>
          <a:xfrm>
            <a:off x="5532120" y="3218760"/>
            <a:ext cx="10054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9" b="0" u="none" strike="noStrik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Delta Lake / Compute</a:t>
            </a:r>
            <a:endParaRPr lang="en-US" sz="88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21"/>
          <p:cNvSpPr/>
          <p:nvPr/>
        </p:nvSpPr>
        <p:spPr>
          <a:xfrm>
            <a:off x="6738840" y="3373920"/>
            <a:ext cx="265320" cy="360"/>
          </a:xfrm>
          <a:prstGeom prst="line">
            <a:avLst/>
          </a:prstGeom>
          <a:ln w="22860">
            <a:solidFill>
              <a:srgbClr val="06B6D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22"/>
          <p:cNvSpPr/>
          <p:nvPr/>
        </p:nvSpPr>
        <p:spPr>
          <a:xfrm>
            <a:off x="7132320" y="2761560"/>
            <a:ext cx="1627200" cy="1225080"/>
          </a:xfrm>
          <a:prstGeom prst="roundRect">
            <a:avLst>
              <a:gd name="adj" fmla="val 8955"/>
            </a:avLst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23"/>
          <p:cNvSpPr/>
          <p:nvPr/>
        </p:nvSpPr>
        <p:spPr>
          <a:xfrm>
            <a:off x="7278480" y="2990160"/>
            <a:ext cx="438480" cy="438480"/>
          </a:xfrm>
          <a:prstGeom prst="ellipse">
            <a:avLst/>
          </a:prstGeom>
          <a:solidFill>
            <a:srgbClr val="06B6D4">
              <a:alpha val="94000"/>
            </a:srgbClr>
          </a:solidFill>
          <a:ln w="10160">
            <a:solidFill>
              <a:srgbClr val="06B6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5" name="Image 3" descr="preencoded.png"/>
          <p:cNvPicPr/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7397640" y="3108960"/>
            <a:ext cx="200880" cy="20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6" name="Text 24"/>
          <p:cNvSpPr/>
          <p:nvPr/>
        </p:nvSpPr>
        <p:spPr>
          <a:xfrm>
            <a:off x="7818120" y="2907720"/>
            <a:ext cx="8499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85000" lnSpcReduction="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Blob Storage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25"/>
          <p:cNvSpPr/>
          <p:nvPr/>
        </p:nvSpPr>
        <p:spPr>
          <a:xfrm>
            <a:off x="7818120" y="3218760"/>
            <a:ext cx="84996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9" b="0" u="none" strike="noStrik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Cloud Storage</a:t>
            </a:r>
            <a:endParaRPr lang="en-US" sz="88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26"/>
          <p:cNvSpPr/>
          <p:nvPr/>
        </p:nvSpPr>
        <p:spPr>
          <a:xfrm>
            <a:off x="8869680" y="3373920"/>
            <a:ext cx="255960" cy="360"/>
          </a:xfrm>
          <a:prstGeom prst="line">
            <a:avLst/>
          </a:prstGeom>
          <a:ln w="2286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27"/>
          <p:cNvSpPr/>
          <p:nvPr/>
        </p:nvSpPr>
        <p:spPr>
          <a:xfrm>
            <a:off x="9253800" y="2761560"/>
            <a:ext cx="1499400" cy="1225080"/>
          </a:xfrm>
          <a:prstGeom prst="roundRect">
            <a:avLst>
              <a:gd name="adj" fmla="val 8955"/>
            </a:avLst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Shape 28"/>
          <p:cNvSpPr/>
          <p:nvPr/>
        </p:nvSpPr>
        <p:spPr>
          <a:xfrm>
            <a:off x="9399960" y="2990160"/>
            <a:ext cx="438480" cy="438480"/>
          </a:xfrm>
          <a:prstGeom prst="ellipse">
            <a:avLst/>
          </a:prstGeom>
          <a:solidFill>
            <a:srgbClr val="14B8A6">
              <a:alpha val="94000"/>
            </a:srgbClr>
          </a:solidFill>
          <a:ln w="10160">
            <a:solidFill>
              <a:srgbClr val="14B8A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1" name="Image 4" descr="preencoded.png"/>
          <p:cNvPicPr/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>
          <a:xfrm>
            <a:off x="9518760" y="3108960"/>
            <a:ext cx="200880" cy="20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2" name="Text 29"/>
          <p:cNvSpPr/>
          <p:nvPr/>
        </p:nvSpPr>
        <p:spPr>
          <a:xfrm>
            <a:off x="9939600" y="2907720"/>
            <a:ext cx="722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AzCopy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30"/>
          <p:cNvSpPr/>
          <p:nvPr/>
        </p:nvSpPr>
        <p:spPr>
          <a:xfrm>
            <a:off x="9939600" y="3218760"/>
            <a:ext cx="72216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9" b="0" u="none" strike="noStrik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Upload / Download</a:t>
            </a:r>
            <a:endParaRPr lang="en-US" sz="88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31"/>
          <p:cNvSpPr/>
          <p:nvPr/>
        </p:nvSpPr>
        <p:spPr>
          <a:xfrm>
            <a:off x="2404800" y="2496240"/>
            <a:ext cx="51156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 lnSpcReduction="9999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0" u="none" strike="noStrik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API Request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32"/>
          <p:cNvSpPr/>
          <p:nvPr/>
        </p:nvSpPr>
        <p:spPr>
          <a:xfrm>
            <a:off x="4334400" y="2496240"/>
            <a:ext cx="6764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 lnSpcReduction="9999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0" u="none" strike="noStrik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Data Processing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33"/>
          <p:cNvSpPr/>
          <p:nvPr/>
        </p:nvSpPr>
        <p:spPr>
          <a:xfrm>
            <a:off x="6583680" y="2496240"/>
            <a:ext cx="4568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0" u="none" strike="noStrik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Persist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34"/>
          <p:cNvSpPr/>
          <p:nvPr/>
        </p:nvSpPr>
        <p:spPr>
          <a:xfrm>
            <a:off x="8723520" y="2496240"/>
            <a:ext cx="5666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 lnSpcReduction="9999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0" u="none" strike="noStrik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File Transfer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35"/>
          <p:cNvSpPr/>
          <p:nvPr/>
        </p:nvSpPr>
        <p:spPr>
          <a:xfrm>
            <a:off x="694800" y="48463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150" b="1" u="none" strike="noStrik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我的角色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Shape 36"/>
          <p:cNvSpPr/>
          <p:nvPr/>
        </p:nvSpPr>
        <p:spPr>
          <a:xfrm>
            <a:off x="694800" y="5166360"/>
            <a:ext cx="2431800" cy="74952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3EA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0" name="Image 5" descr="preencoded.png"/>
          <p:cNvPicPr/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/>
        </p:blipFill>
        <p:spPr>
          <a:xfrm>
            <a:off x="841320" y="540396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1" name="Text 37"/>
          <p:cNvSpPr/>
          <p:nvPr/>
        </p:nvSpPr>
        <p:spPr>
          <a:xfrm>
            <a:off x="1170360" y="5230440"/>
            <a:ext cx="164556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06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架構設計</a:t>
            </a:r>
            <a:endParaRPr lang="en-US" sz="10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38"/>
          <p:cNvSpPr/>
          <p:nvPr/>
        </p:nvSpPr>
        <p:spPr>
          <a:xfrm>
            <a:off x="1170360" y="547740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850" b="0" u="none" strike="noStrik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系統入口、資料流與雲端服務串接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Shape 39"/>
          <p:cNvSpPr/>
          <p:nvPr/>
        </p:nvSpPr>
        <p:spPr>
          <a:xfrm>
            <a:off x="3374280" y="5166360"/>
            <a:ext cx="2431800" cy="74952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3EA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4" name="Image 6" descr="preencoded.png"/>
          <p:cNvPicPr/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/>
        </p:blipFill>
        <p:spPr>
          <a:xfrm>
            <a:off x="3520440" y="540396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5" name="Text 40"/>
          <p:cNvSpPr/>
          <p:nvPr/>
        </p:nvSpPr>
        <p:spPr>
          <a:xfrm>
            <a:off x="3849480" y="5230440"/>
            <a:ext cx="164556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06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資料處理</a:t>
            </a:r>
            <a:endParaRPr lang="en-US" sz="10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41"/>
          <p:cNvSpPr/>
          <p:nvPr/>
        </p:nvSpPr>
        <p:spPr>
          <a:xfrm>
            <a:off x="3849480" y="547740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lnSpcReduction="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Databricks / Delta Lake </a:t>
            </a:r>
            <a:r>
              <a:rPr lang="zh-CN" sz="850" b="0" u="none" strike="noStrik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運算與分析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42"/>
          <p:cNvSpPr/>
          <p:nvPr/>
        </p:nvSpPr>
        <p:spPr>
          <a:xfrm>
            <a:off x="6053400" y="5166360"/>
            <a:ext cx="2431800" cy="74952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3EA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8" name="Image 7" descr="preencoded.png"/>
          <p:cNvPicPr/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/>
        </p:blipFill>
        <p:spPr>
          <a:xfrm>
            <a:off x="6199560" y="540396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9" name="Text 43"/>
          <p:cNvSpPr/>
          <p:nvPr/>
        </p:nvSpPr>
        <p:spPr>
          <a:xfrm>
            <a:off x="6528960" y="5230440"/>
            <a:ext cx="164556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06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系統整合</a:t>
            </a:r>
            <a:endParaRPr lang="en-US" sz="10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44"/>
          <p:cNvSpPr/>
          <p:nvPr/>
        </p:nvSpPr>
        <p:spPr>
          <a:xfrm>
            <a:off x="6528960" y="547740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850" b="0" u="none" strike="noStrik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打通地端與雲端資料交換流程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Shape 45"/>
          <p:cNvSpPr/>
          <p:nvPr/>
        </p:nvSpPr>
        <p:spPr>
          <a:xfrm>
            <a:off x="8906400" y="5029200"/>
            <a:ext cx="2358720" cy="1005480"/>
          </a:xfrm>
          <a:prstGeom prst="roundRect">
            <a:avLst>
              <a:gd name="adj" fmla="val 7273"/>
            </a:avLst>
          </a:prstGeom>
          <a:solidFill>
            <a:srgbClr val="0B1220"/>
          </a:solidFill>
          <a:ln w="12700">
            <a:solidFill>
              <a:srgbClr val="0B122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46"/>
          <p:cNvSpPr/>
          <p:nvPr/>
        </p:nvSpPr>
        <p:spPr>
          <a:xfrm>
            <a:off x="9125640" y="5193720"/>
            <a:ext cx="91404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050" b="1" u="none" strike="noStrike">
                <a:solidFill>
                  <a:srgbClr val="93C5FD"/>
                </a:solidFill>
                <a:effectLst/>
                <a:uFillTx/>
                <a:latin typeface="Noto Sans CJK TC"/>
                <a:ea typeface="Noto Sans CJK TC"/>
              </a:rPr>
              <a:t>專案成果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47"/>
          <p:cNvSpPr/>
          <p:nvPr/>
        </p:nvSpPr>
        <p:spPr>
          <a:xfrm>
            <a:off x="9125640" y="5468040"/>
            <a:ext cx="181008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110" b="1" u="none" strike="noStrike">
                <a:solidFill>
                  <a:srgbClr val="FFFFFF"/>
                </a:solidFill>
                <a:effectLst/>
                <a:uFillTx/>
                <a:latin typeface="Noto Sans CJK TC"/>
                <a:ea typeface="Noto Sans CJK TC"/>
              </a:rPr>
              <a:t>建立完整雲端資料處理流程</a:t>
            </a:r>
            <a:endParaRPr lang="en-US" sz="1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110" b="1" u="none" strike="noStrike">
                <a:solidFill>
                  <a:srgbClr val="FFFFFF"/>
                </a:solidFill>
                <a:effectLst/>
                <a:uFillTx/>
                <a:latin typeface="Noto Sans CJK TC"/>
                <a:ea typeface="Noto Sans CJK TC"/>
              </a:rPr>
              <a:t>強化即時性與擴充性</a:t>
            </a:r>
            <a:endParaRPr lang="en-US" sz="1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PlaceHolder 1"/>
          <p:cNvSpPr>
            <a:spLocks noGrp="1"/>
          </p:cNvSpPr>
          <p:nvPr>
            <p:ph type="sldNum" idx="7"/>
          </p:nvPr>
        </p:nvSpPr>
        <p:spPr>
          <a:xfrm>
            <a:off x="11612880" y="6473880"/>
            <a:ext cx="228240" cy="18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850" b="0" u="none" strike="noStrike">
                <a:solidFill>
                  <a:srgbClr val="94A3B8"/>
                </a:solidFill>
                <a:effectLst/>
                <a:uFillTx/>
                <a:latin typeface="Noto Sans CJK TC"/>
                <a:ea typeface="Noto Sans CJK TC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1135384-F0B0-474E-8AAD-2D1D5A492CB7}" type="slidenum">
              <a:rPr lang="en-US" sz="850" b="0" u="none" strike="noStrike">
                <a:solidFill>
                  <a:srgbClr val="94A3B8"/>
                </a:solidFill>
                <a:effectLst/>
                <a:uFillTx/>
                <a:latin typeface="Noto Sans CJK TC"/>
                <a:ea typeface="Noto Sans CJK TC"/>
              </a:rPr>
              <a:t>4</a:t>
            </a:fld>
            <a:endParaRPr lang="en-US" sz="8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 72"/>
          <p:cNvSpPr/>
          <p:nvPr/>
        </p:nvSpPr>
        <p:spPr>
          <a:xfrm>
            <a:off x="-23086" y="893"/>
            <a:ext cx="935860" cy="6856215"/>
          </a:xfrm>
          <a:prstGeom prst="rect">
            <a:avLst/>
          </a:prstGeom>
          <a:solidFill>
            <a:srgbClr val="202A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99"/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46D02087-9053-465D-A619-8303B3912B43}"/>
              </a:ext>
            </a:extLst>
          </p:cNvPr>
          <p:cNvGrpSpPr/>
          <p:nvPr/>
        </p:nvGrpSpPr>
        <p:grpSpPr>
          <a:xfrm>
            <a:off x="552828" y="189483"/>
            <a:ext cx="670385" cy="604429"/>
            <a:chOff x="5424755" y="1340768"/>
            <a:chExt cx="670560" cy="604586"/>
          </a:xfrm>
        </p:grpSpPr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4CB3831D-CF2E-47CA-8766-233D062AD6C7}"/>
                </a:ext>
              </a:extLst>
            </p:cNvPr>
            <p:cNvGrpSpPr/>
            <p:nvPr/>
          </p:nvGrpSpPr>
          <p:grpSpPr>
            <a:xfrm>
              <a:off x="5424755" y="1340768"/>
              <a:ext cx="670560" cy="604586"/>
              <a:chOff x="3720691" y="2824413"/>
              <a:chExt cx="1341120" cy="1209172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4FA345B5-5BFB-4989-9986-E49DC407D656}"/>
                  </a:ext>
                </a:extLst>
              </p:cNvPr>
              <p:cNvSpPr>
                <a:spLocks/>
              </p:cNvSpPr>
              <p:nvPr/>
            </p:nvSpPr>
            <p:spPr bwMode="auto">
              <a:xfrm rot="1855731">
                <a:off x="3720691" y="2824413"/>
                <a:ext cx="1341120" cy="1209172"/>
              </a:xfrm>
              <a:custGeom>
                <a:avLst/>
                <a:gdLst>
                  <a:gd name="T0" fmla="*/ 2151 w 2740"/>
                  <a:gd name="T1" fmla="*/ 2315 h 2446"/>
                  <a:gd name="T2" fmla="*/ 2055 w 2740"/>
                  <a:gd name="T3" fmla="*/ 2410 h 2446"/>
                  <a:gd name="T4" fmla="*/ 1918 w 2740"/>
                  <a:gd name="T5" fmla="*/ 2445 h 2446"/>
                  <a:gd name="T6" fmla="*/ 816 w 2740"/>
                  <a:gd name="T7" fmla="*/ 2445 h 2446"/>
                  <a:gd name="T8" fmla="*/ 685 w 2740"/>
                  <a:gd name="T9" fmla="*/ 2410 h 2446"/>
                  <a:gd name="T10" fmla="*/ 589 w 2740"/>
                  <a:gd name="T11" fmla="*/ 2314 h 2446"/>
                  <a:gd name="T12" fmla="*/ 36 w 2740"/>
                  <a:gd name="T13" fmla="*/ 1356 h 2446"/>
                  <a:gd name="T14" fmla="*/ 0 w 2740"/>
                  <a:gd name="T15" fmla="*/ 1223 h 2446"/>
                  <a:gd name="T16" fmla="*/ 36 w 2740"/>
                  <a:gd name="T17" fmla="*/ 1089 h 2446"/>
                  <a:gd name="T18" fmla="*/ 587 w 2740"/>
                  <a:gd name="T19" fmla="*/ 135 h 2446"/>
                  <a:gd name="T20" fmla="*/ 685 w 2740"/>
                  <a:gd name="T21" fmla="*/ 37 h 2446"/>
                  <a:gd name="T22" fmla="*/ 810 w 2740"/>
                  <a:gd name="T23" fmla="*/ 1 h 2446"/>
                  <a:gd name="T24" fmla="*/ 1916 w 2740"/>
                  <a:gd name="T25" fmla="*/ 1 h 2446"/>
                  <a:gd name="T26" fmla="*/ 2055 w 2740"/>
                  <a:gd name="T27" fmla="*/ 37 h 2446"/>
                  <a:gd name="T28" fmla="*/ 2151 w 2740"/>
                  <a:gd name="T29" fmla="*/ 132 h 2446"/>
                  <a:gd name="T30" fmla="*/ 2702 w 2740"/>
                  <a:gd name="T31" fmla="*/ 1086 h 2446"/>
                  <a:gd name="T32" fmla="*/ 2740 w 2740"/>
                  <a:gd name="T33" fmla="*/ 1223 h 2446"/>
                  <a:gd name="T34" fmla="*/ 2701 w 2740"/>
                  <a:gd name="T35" fmla="*/ 1361 h 2446"/>
                  <a:gd name="T36" fmla="*/ 2151 w 2740"/>
                  <a:gd name="T37" fmla="*/ 2315 h 24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2740" h="2446">
                    <a:moveTo>
                      <a:pt x="2151" y="2315"/>
                    </a:moveTo>
                    <a:cubicBezTo>
                      <a:pt x="2128" y="2353"/>
                      <a:pt x="2096" y="2386"/>
                      <a:pt x="2055" y="2410"/>
                    </a:cubicBezTo>
                    <a:cubicBezTo>
                      <a:pt x="2012" y="2435"/>
                      <a:pt x="1965" y="2446"/>
                      <a:pt x="1918" y="2445"/>
                    </a:cubicBezTo>
                    <a:lnTo>
                      <a:pt x="816" y="2445"/>
                    </a:lnTo>
                    <a:cubicBezTo>
                      <a:pt x="772" y="2445"/>
                      <a:pt x="726" y="2434"/>
                      <a:pt x="685" y="2410"/>
                    </a:cubicBezTo>
                    <a:cubicBezTo>
                      <a:pt x="644" y="2386"/>
                      <a:pt x="611" y="2353"/>
                      <a:pt x="589" y="2314"/>
                    </a:cubicBezTo>
                    <a:lnTo>
                      <a:pt x="36" y="1356"/>
                    </a:lnTo>
                    <a:cubicBezTo>
                      <a:pt x="13" y="1317"/>
                      <a:pt x="0" y="1272"/>
                      <a:pt x="0" y="1223"/>
                    </a:cubicBezTo>
                    <a:cubicBezTo>
                      <a:pt x="0" y="1174"/>
                      <a:pt x="13" y="1129"/>
                      <a:pt x="36" y="1089"/>
                    </a:cubicBezTo>
                    <a:lnTo>
                      <a:pt x="587" y="135"/>
                    </a:lnTo>
                    <a:cubicBezTo>
                      <a:pt x="610" y="96"/>
                      <a:pt x="643" y="61"/>
                      <a:pt x="685" y="37"/>
                    </a:cubicBezTo>
                    <a:cubicBezTo>
                      <a:pt x="724" y="14"/>
                      <a:pt x="767" y="2"/>
                      <a:pt x="810" y="1"/>
                    </a:cubicBezTo>
                    <a:lnTo>
                      <a:pt x="1916" y="1"/>
                    </a:lnTo>
                    <a:cubicBezTo>
                      <a:pt x="1963" y="0"/>
                      <a:pt x="2011" y="11"/>
                      <a:pt x="2055" y="37"/>
                    </a:cubicBezTo>
                    <a:cubicBezTo>
                      <a:pt x="2096" y="60"/>
                      <a:pt x="2129" y="93"/>
                      <a:pt x="2151" y="132"/>
                    </a:cubicBezTo>
                    <a:lnTo>
                      <a:pt x="2702" y="1086"/>
                    </a:lnTo>
                    <a:cubicBezTo>
                      <a:pt x="2726" y="1126"/>
                      <a:pt x="2740" y="1173"/>
                      <a:pt x="2740" y="1223"/>
                    </a:cubicBezTo>
                    <a:cubicBezTo>
                      <a:pt x="2740" y="1274"/>
                      <a:pt x="2726" y="1321"/>
                      <a:pt x="2701" y="1361"/>
                    </a:cubicBezTo>
                    <a:lnTo>
                      <a:pt x="2151" y="2315"/>
                    </a:lnTo>
                    <a:close/>
                  </a:path>
                </a:pathLst>
              </a:custGeom>
              <a:gradFill>
                <a:gsLst>
                  <a:gs pos="0">
                    <a:srgbClr val="D3D3D3"/>
                  </a:gs>
                  <a:gs pos="100000">
                    <a:srgbClr val="F9F9F9"/>
                  </a:gs>
                </a:gsLst>
                <a:lin ang="16200000" scaled="0"/>
              </a:gradFill>
              <a:ln w="12700" cap="flat">
                <a:noFill/>
                <a:prstDash val="solid"/>
                <a:miter lim="800000"/>
                <a:headEnd/>
                <a:tailEnd/>
              </a:ln>
              <a:effectLst>
                <a:outerShdw blurRad="190500" dist="1143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16" tIns="45708" rIns="91416" bIns="45708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 sz="1799"/>
              </a:p>
            </p:txBody>
          </p:sp>
          <p:sp>
            <p:nvSpPr>
              <p:cNvPr id="19" name="Freeform 5">
                <a:extLst>
                  <a:ext uri="{FF2B5EF4-FFF2-40B4-BE49-F238E27FC236}">
                    <a16:creationId xmlns:a16="http://schemas.microsoft.com/office/drawing/2014/main" id="{DA84782B-C11B-49FE-B452-367BC1173053}"/>
                  </a:ext>
                </a:extLst>
              </p:cNvPr>
              <p:cNvSpPr>
                <a:spLocks/>
              </p:cNvSpPr>
              <p:nvPr/>
            </p:nvSpPr>
            <p:spPr bwMode="auto">
              <a:xfrm rot="1855731">
                <a:off x="3764581" y="2863367"/>
                <a:ext cx="1264630" cy="1140208"/>
              </a:xfrm>
              <a:custGeom>
                <a:avLst/>
                <a:gdLst>
                  <a:gd name="T0" fmla="*/ 2151 w 2740"/>
                  <a:gd name="T1" fmla="*/ 2315 h 2446"/>
                  <a:gd name="T2" fmla="*/ 2055 w 2740"/>
                  <a:gd name="T3" fmla="*/ 2410 h 2446"/>
                  <a:gd name="T4" fmla="*/ 1918 w 2740"/>
                  <a:gd name="T5" fmla="*/ 2445 h 2446"/>
                  <a:gd name="T6" fmla="*/ 816 w 2740"/>
                  <a:gd name="T7" fmla="*/ 2445 h 2446"/>
                  <a:gd name="T8" fmla="*/ 685 w 2740"/>
                  <a:gd name="T9" fmla="*/ 2410 h 2446"/>
                  <a:gd name="T10" fmla="*/ 589 w 2740"/>
                  <a:gd name="T11" fmla="*/ 2314 h 2446"/>
                  <a:gd name="T12" fmla="*/ 36 w 2740"/>
                  <a:gd name="T13" fmla="*/ 1356 h 2446"/>
                  <a:gd name="T14" fmla="*/ 0 w 2740"/>
                  <a:gd name="T15" fmla="*/ 1223 h 2446"/>
                  <a:gd name="T16" fmla="*/ 36 w 2740"/>
                  <a:gd name="T17" fmla="*/ 1089 h 2446"/>
                  <a:gd name="T18" fmla="*/ 587 w 2740"/>
                  <a:gd name="T19" fmla="*/ 135 h 2446"/>
                  <a:gd name="T20" fmla="*/ 685 w 2740"/>
                  <a:gd name="T21" fmla="*/ 37 h 2446"/>
                  <a:gd name="T22" fmla="*/ 810 w 2740"/>
                  <a:gd name="T23" fmla="*/ 1 h 2446"/>
                  <a:gd name="T24" fmla="*/ 1916 w 2740"/>
                  <a:gd name="T25" fmla="*/ 1 h 2446"/>
                  <a:gd name="T26" fmla="*/ 2055 w 2740"/>
                  <a:gd name="T27" fmla="*/ 37 h 2446"/>
                  <a:gd name="T28" fmla="*/ 2151 w 2740"/>
                  <a:gd name="T29" fmla="*/ 132 h 2446"/>
                  <a:gd name="T30" fmla="*/ 2702 w 2740"/>
                  <a:gd name="T31" fmla="*/ 1086 h 2446"/>
                  <a:gd name="T32" fmla="*/ 2740 w 2740"/>
                  <a:gd name="T33" fmla="*/ 1223 h 2446"/>
                  <a:gd name="T34" fmla="*/ 2701 w 2740"/>
                  <a:gd name="T35" fmla="*/ 1361 h 2446"/>
                  <a:gd name="T36" fmla="*/ 2151 w 2740"/>
                  <a:gd name="T37" fmla="*/ 2315 h 24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2740" h="2446">
                    <a:moveTo>
                      <a:pt x="2151" y="2315"/>
                    </a:moveTo>
                    <a:cubicBezTo>
                      <a:pt x="2128" y="2353"/>
                      <a:pt x="2096" y="2386"/>
                      <a:pt x="2055" y="2410"/>
                    </a:cubicBezTo>
                    <a:cubicBezTo>
                      <a:pt x="2012" y="2435"/>
                      <a:pt x="1965" y="2446"/>
                      <a:pt x="1918" y="2445"/>
                    </a:cubicBezTo>
                    <a:lnTo>
                      <a:pt x="816" y="2445"/>
                    </a:lnTo>
                    <a:cubicBezTo>
                      <a:pt x="772" y="2445"/>
                      <a:pt x="726" y="2434"/>
                      <a:pt x="685" y="2410"/>
                    </a:cubicBezTo>
                    <a:cubicBezTo>
                      <a:pt x="644" y="2386"/>
                      <a:pt x="611" y="2353"/>
                      <a:pt x="589" y="2314"/>
                    </a:cubicBezTo>
                    <a:lnTo>
                      <a:pt x="36" y="1356"/>
                    </a:lnTo>
                    <a:cubicBezTo>
                      <a:pt x="13" y="1317"/>
                      <a:pt x="0" y="1272"/>
                      <a:pt x="0" y="1223"/>
                    </a:cubicBezTo>
                    <a:cubicBezTo>
                      <a:pt x="0" y="1174"/>
                      <a:pt x="13" y="1129"/>
                      <a:pt x="36" y="1089"/>
                    </a:cubicBezTo>
                    <a:lnTo>
                      <a:pt x="587" y="135"/>
                    </a:lnTo>
                    <a:cubicBezTo>
                      <a:pt x="610" y="96"/>
                      <a:pt x="643" y="61"/>
                      <a:pt x="685" y="37"/>
                    </a:cubicBezTo>
                    <a:cubicBezTo>
                      <a:pt x="724" y="14"/>
                      <a:pt x="767" y="2"/>
                      <a:pt x="810" y="1"/>
                    </a:cubicBezTo>
                    <a:lnTo>
                      <a:pt x="1916" y="1"/>
                    </a:lnTo>
                    <a:cubicBezTo>
                      <a:pt x="1963" y="0"/>
                      <a:pt x="2011" y="11"/>
                      <a:pt x="2055" y="37"/>
                    </a:cubicBezTo>
                    <a:cubicBezTo>
                      <a:pt x="2096" y="60"/>
                      <a:pt x="2129" y="93"/>
                      <a:pt x="2151" y="132"/>
                    </a:cubicBezTo>
                    <a:lnTo>
                      <a:pt x="2702" y="1086"/>
                    </a:lnTo>
                    <a:cubicBezTo>
                      <a:pt x="2726" y="1126"/>
                      <a:pt x="2740" y="1173"/>
                      <a:pt x="2740" y="1223"/>
                    </a:cubicBezTo>
                    <a:cubicBezTo>
                      <a:pt x="2740" y="1274"/>
                      <a:pt x="2726" y="1321"/>
                      <a:pt x="2701" y="1361"/>
                    </a:cubicBezTo>
                    <a:lnTo>
                      <a:pt x="2151" y="2315"/>
                    </a:lnTo>
                    <a:close/>
                  </a:path>
                </a:pathLst>
              </a:custGeom>
              <a:gradFill>
                <a:gsLst>
                  <a:gs pos="0">
                    <a:srgbClr val="D3D3D3"/>
                  </a:gs>
                  <a:gs pos="100000">
                    <a:srgbClr val="F9F9F9"/>
                  </a:gs>
                </a:gsLst>
                <a:lin ang="21594000" scaled="0"/>
              </a:gradFill>
              <a:ln w="12700" cap="flat">
                <a:noFill/>
                <a:prstDash val="solid"/>
                <a:miter lim="800000"/>
                <a:headEnd/>
                <a:tailEnd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16" tIns="45708" rIns="91416" bIns="45708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 sz="1799"/>
              </a:p>
            </p:txBody>
          </p:sp>
        </p:grpSp>
        <p:sp>
          <p:nvSpPr>
            <p:cNvPr id="17" name="Freeform 5">
              <a:extLst>
                <a:ext uri="{FF2B5EF4-FFF2-40B4-BE49-F238E27FC236}">
                  <a16:creationId xmlns:a16="http://schemas.microsoft.com/office/drawing/2014/main" id="{24F62B0F-D8F9-4572-BD53-79CFD2C3A710}"/>
                </a:ext>
              </a:extLst>
            </p:cNvPr>
            <p:cNvSpPr>
              <a:spLocks/>
            </p:cNvSpPr>
            <p:nvPr/>
          </p:nvSpPr>
          <p:spPr bwMode="auto">
            <a:xfrm rot="1855731">
              <a:off x="5470180" y="1383052"/>
              <a:ext cx="576760" cy="520015"/>
            </a:xfrm>
            <a:custGeom>
              <a:avLst/>
              <a:gdLst>
                <a:gd name="T0" fmla="*/ 2151 w 2740"/>
                <a:gd name="T1" fmla="*/ 2315 h 2446"/>
                <a:gd name="T2" fmla="*/ 2055 w 2740"/>
                <a:gd name="T3" fmla="*/ 2410 h 2446"/>
                <a:gd name="T4" fmla="*/ 1918 w 2740"/>
                <a:gd name="T5" fmla="*/ 2445 h 2446"/>
                <a:gd name="T6" fmla="*/ 816 w 2740"/>
                <a:gd name="T7" fmla="*/ 2445 h 2446"/>
                <a:gd name="T8" fmla="*/ 685 w 2740"/>
                <a:gd name="T9" fmla="*/ 2410 h 2446"/>
                <a:gd name="T10" fmla="*/ 589 w 2740"/>
                <a:gd name="T11" fmla="*/ 2314 h 2446"/>
                <a:gd name="T12" fmla="*/ 36 w 2740"/>
                <a:gd name="T13" fmla="*/ 1356 h 2446"/>
                <a:gd name="T14" fmla="*/ 0 w 2740"/>
                <a:gd name="T15" fmla="*/ 1223 h 2446"/>
                <a:gd name="T16" fmla="*/ 36 w 2740"/>
                <a:gd name="T17" fmla="*/ 1089 h 2446"/>
                <a:gd name="T18" fmla="*/ 587 w 2740"/>
                <a:gd name="T19" fmla="*/ 135 h 2446"/>
                <a:gd name="T20" fmla="*/ 685 w 2740"/>
                <a:gd name="T21" fmla="*/ 37 h 2446"/>
                <a:gd name="T22" fmla="*/ 810 w 2740"/>
                <a:gd name="T23" fmla="*/ 1 h 2446"/>
                <a:gd name="T24" fmla="*/ 1916 w 2740"/>
                <a:gd name="T25" fmla="*/ 1 h 2446"/>
                <a:gd name="T26" fmla="*/ 2055 w 2740"/>
                <a:gd name="T27" fmla="*/ 37 h 2446"/>
                <a:gd name="T28" fmla="*/ 2151 w 2740"/>
                <a:gd name="T29" fmla="*/ 132 h 2446"/>
                <a:gd name="T30" fmla="*/ 2702 w 2740"/>
                <a:gd name="T31" fmla="*/ 1086 h 2446"/>
                <a:gd name="T32" fmla="*/ 2740 w 2740"/>
                <a:gd name="T33" fmla="*/ 1223 h 2446"/>
                <a:gd name="T34" fmla="*/ 2701 w 2740"/>
                <a:gd name="T35" fmla="*/ 1361 h 2446"/>
                <a:gd name="T36" fmla="*/ 2151 w 2740"/>
                <a:gd name="T37" fmla="*/ 2315 h 24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740" h="2446">
                  <a:moveTo>
                    <a:pt x="2151" y="2315"/>
                  </a:moveTo>
                  <a:cubicBezTo>
                    <a:pt x="2128" y="2353"/>
                    <a:pt x="2096" y="2386"/>
                    <a:pt x="2055" y="2410"/>
                  </a:cubicBezTo>
                  <a:cubicBezTo>
                    <a:pt x="2012" y="2435"/>
                    <a:pt x="1965" y="2446"/>
                    <a:pt x="1918" y="2445"/>
                  </a:cubicBezTo>
                  <a:lnTo>
                    <a:pt x="816" y="2445"/>
                  </a:lnTo>
                  <a:cubicBezTo>
                    <a:pt x="772" y="2445"/>
                    <a:pt x="726" y="2434"/>
                    <a:pt x="685" y="2410"/>
                  </a:cubicBezTo>
                  <a:cubicBezTo>
                    <a:pt x="644" y="2386"/>
                    <a:pt x="611" y="2353"/>
                    <a:pt x="589" y="2314"/>
                  </a:cubicBezTo>
                  <a:lnTo>
                    <a:pt x="36" y="1356"/>
                  </a:lnTo>
                  <a:cubicBezTo>
                    <a:pt x="13" y="1317"/>
                    <a:pt x="0" y="1272"/>
                    <a:pt x="0" y="1223"/>
                  </a:cubicBezTo>
                  <a:cubicBezTo>
                    <a:pt x="0" y="1174"/>
                    <a:pt x="13" y="1129"/>
                    <a:pt x="36" y="1089"/>
                  </a:cubicBezTo>
                  <a:lnTo>
                    <a:pt x="587" y="135"/>
                  </a:lnTo>
                  <a:cubicBezTo>
                    <a:pt x="610" y="96"/>
                    <a:pt x="643" y="61"/>
                    <a:pt x="685" y="37"/>
                  </a:cubicBezTo>
                  <a:cubicBezTo>
                    <a:pt x="724" y="14"/>
                    <a:pt x="767" y="2"/>
                    <a:pt x="810" y="1"/>
                  </a:cubicBezTo>
                  <a:lnTo>
                    <a:pt x="1916" y="1"/>
                  </a:lnTo>
                  <a:cubicBezTo>
                    <a:pt x="1963" y="0"/>
                    <a:pt x="2011" y="11"/>
                    <a:pt x="2055" y="37"/>
                  </a:cubicBezTo>
                  <a:cubicBezTo>
                    <a:pt x="2096" y="60"/>
                    <a:pt x="2129" y="93"/>
                    <a:pt x="2151" y="132"/>
                  </a:cubicBezTo>
                  <a:lnTo>
                    <a:pt x="2702" y="1086"/>
                  </a:lnTo>
                  <a:cubicBezTo>
                    <a:pt x="2726" y="1126"/>
                    <a:pt x="2740" y="1173"/>
                    <a:pt x="2740" y="1223"/>
                  </a:cubicBezTo>
                  <a:cubicBezTo>
                    <a:pt x="2740" y="1274"/>
                    <a:pt x="2726" y="1321"/>
                    <a:pt x="2701" y="1361"/>
                  </a:cubicBezTo>
                  <a:lnTo>
                    <a:pt x="2151" y="2315"/>
                  </a:lnTo>
                  <a:close/>
                </a:path>
              </a:pathLst>
            </a:custGeom>
            <a:noFill/>
            <a:ln w="9525" cap="flat">
              <a:solidFill>
                <a:srgbClr val="414455"/>
              </a:solidFill>
              <a:prstDash val="sysDash"/>
              <a:miter lim="800000"/>
              <a:headEnd/>
              <a:tailEnd/>
            </a:ln>
            <a:effectLst/>
          </p:spPr>
          <p:txBody>
            <a:bodyPr vert="horz" wrap="square" lIns="91416" tIns="45708" rIns="91416" bIns="45708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 sz="1799"/>
            </a:p>
          </p:txBody>
        </p:sp>
      </p:grpSp>
      <p:sp>
        <p:nvSpPr>
          <p:cNvPr id="20" name="文本框 9">
            <a:extLst>
              <a:ext uri="{FF2B5EF4-FFF2-40B4-BE49-F238E27FC236}">
                <a16:creationId xmlns:a16="http://schemas.microsoft.com/office/drawing/2014/main" id="{E99A2E68-AAFA-49FB-8E64-E897361B08A0}"/>
              </a:ext>
            </a:extLst>
          </p:cNvPr>
          <p:cNvSpPr txBox="1"/>
          <p:nvPr/>
        </p:nvSpPr>
        <p:spPr>
          <a:xfrm>
            <a:off x="1269833" y="308235"/>
            <a:ext cx="1871721" cy="346159"/>
          </a:xfrm>
          <a:prstGeom prst="rect">
            <a:avLst/>
          </a:prstGeom>
          <a:noFill/>
        </p:spPr>
        <p:txBody>
          <a:bodyPr wrap="square" lIns="68562" tIns="34281" rIns="68562" bIns="34281" rtlCol="0">
            <a:spAutoFit/>
          </a:bodyPr>
          <a:lstStyle/>
          <a:p>
            <a:pPr marL="0" lvl="1"/>
            <a:r>
              <a:rPr lang="zh-TW" altLang="en-US" sz="1799" dirty="0">
                <a:solidFill>
                  <a:srgbClr val="414455"/>
                </a:solidFill>
                <a:latin typeface="微软雅黑" pitchFamily="34" charset="-122"/>
                <a:ea typeface="微软雅黑" pitchFamily="34" charset="-122"/>
              </a:rPr>
              <a:t>公雲應用</a:t>
            </a:r>
            <a:endParaRPr lang="zh-CN" altLang="en-US" sz="1799" dirty="0">
              <a:solidFill>
                <a:srgbClr val="414455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21" name="直接连接符 21">
            <a:extLst>
              <a:ext uri="{FF2B5EF4-FFF2-40B4-BE49-F238E27FC236}">
                <a16:creationId xmlns:a16="http://schemas.microsoft.com/office/drawing/2014/main" id="{D332B124-81B0-4717-B57C-BB7A0C5379D8}"/>
              </a:ext>
            </a:extLst>
          </p:cNvPr>
          <p:cNvCxnSpPr/>
          <p:nvPr/>
        </p:nvCxnSpPr>
        <p:spPr>
          <a:xfrm>
            <a:off x="1341822" y="668181"/>
            <a:ext cx="9721436" cy="0"/>
          </a:xfrm>
          <a:prstGeom prst="line">
            <a:avLst/>
          </a:prstGeom>
          <a:ln>
            <a:solidFill>
              <a:srgbClr val="414455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" name="组合 22">
            <a:extLst>
              <a:ext uri="{FF2B5EF4-FFF2-40B4-BE49-F238E27FC236}">
                <a16:creationId xmlns:a16="http://schemas.microsoft.com/office/drawing/2014/main" id="{DB56C549-0BFA-43BC-8689-6924E5B99AD8}"/>
              </a:ext>
            </a:extLst>
          </p:cNvPr>
          <p:cNvGrpSpPr/>
          <p:nvPr/>
        </p:nvGrpSpPr>
        <p:grpSpPr>
          <a:xfrm>
            <a:off x="11236541" y="460205"/>
            <a:ext cx="258653" cy="233204"/>
            <a:chOff x="3720691" y="2824413"/>
            <a:chExt cx="1341120" cy="1209172"/>
          </a:xfrm>
        </p:grpSpPr>
        <p:sp>
          <p:nvSpPr>
            <p:cNvPr id="23" name="Freeform 5">
              <a:extLst>
                <a:ext uri="{FF2B5EF4-FFF2-40B4-BE49-F238E27FC236}">
                  <a16:creationId xmlns:a16="http://schemas.microsoft.com/office/drawing/2014/main" id="{C9CA96A2-D41A-4125-921E-1036C753B85B}"/>
                </a:ext>
              </a:extLst>
            </p:cNvPr>
            <p:cNvSpPr>
              <a:spLocks/>
            </p:cNvSpPr>
            <p:nvPr/>
          </p:nvSpPr>
          <p:spPr bwMode="auto">
            <a:xfrm rot="1855731">
              <a:off x="3720691" y="2824413"/>
              <a:ext cx="1341120" cy="1209172"/>
            </a:xfrm>
            <a:custGeom>
              <a:avLst/>
              <a:gdLst>
                <a:gd name="T0" fmla="*/ 2151 w 2740"/>
                <a:gd name="T1" fmla="*/ 2315 h 2446"/>
                <a:gd name="T2" fmla="*/ 2055 w 2740"/>
                <a:gd name="T3" fmla="*/ 2410 h 2446"/>
                <a:gd name="T4" fmla="*/ 1918 w 2740"/>
                <a:gd name="T5" fmla="*/ 2445 h 2446"/>
                <a:gd name="T6" fmla="*/ 816 w 2740"/>
                <a:gd name="T7" fmla="*/ 2445 h 2446"/>
                <a:gd name="T8" fmla="*/ 685 w 2740"/>
                <a:gd name="T9" fmla="*/ 2410 h 2446"/>
                <a:gd name="T10" fmla="*/ 589 w 2740"/>
                <a:gd name="T11" fmla="*/ 2314 h 2446"/>
                <a:gd name="T12" fmla="*/ 36 w 2740"/>
                <a:gd name="T13" fmla="*/ 1356 h 2446"/>
                <a:gd name="T14" fmla="*/ 0 w 2740"/>
                <a:gd name="T15" fmla="*/ 1223 h 2446"/>
                <a:gd name="T16" fmla="*/ 36 w 2740"/>
                <a:gd name="T17" fmla="*/ 1089 h 2446"/>
                <a:gd name="T18" fmla="*/ 587 w 2740"/>
                <a:gd name="T19" fmla="*/ 135 h 2446"/>
                <a:gd name="T20" fmla="*/ 685 w 2740"/>
                <a:gd name="T21" fmla="*/ 37 h 2446"/>
                <a:gd name="T22" fmla="*/ 810 w 2740"/>
                <a:gd name="T23" fmla="*/ 1 h 2446"/>
                <a:gd name="T24" fmla="*/ 1916 w 2740"/>
                <a:gd name="T25" fmla="*/ 1 h 2446"/>
                <a:gd name="T26" fmla="*/ 2055 w 2740"/>
                <a:gd name="T27" fmla="*/ 37 h 2446"/>
                <a:gd name="T28" fmla="*/ 2151 w 2740"/>
                <a:gd name="T29" fmla="*/ 132 h 2446"/>
                <a:gd name="T30" fmla="*/ 2702 w 2740"/>
                <a:gd name="T31" fmla="*/ 1086 h 2446"/>
                <a:gd name="T32" fmla="*/ 2740 w 2740"/>
                <a:gd name="T33" fmla="*/ 1223 h 2446"/>
                <a:gd name="T34" fmla="*/ 2701 w 2740"/>
                <a:gd name="T35" fmla="*/ 1361 h 2446"/>
                <a:gd name="T36" fmla="*/ 2151 w 2740"/>
                <a:gd name="T37" fmla="*/ 2315 h 24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740" h="2446">
                  <a:moveTo>
                    <a:pt x="2151" y="2315"/>
                  </a:moveTo>
                  <a:cubicBezTo>
                    <a:pt x="2128" y="2353"/>
                    <a:pt x="2096" y="2386"/>
                    <a:pt x="2055" y="2410"/>
                  </a:cubicBezTo>
                  <a:cubicBezTo>
                    <a:pt x="2012" y="2435"/>
                    <a:pt x="1965" y="2446"/>
                    <a:pt x="1918" y="2445"/>
                  </a:cubicBezTo>
                  <a:lnTo>
                    <a:pt x="816" y="2445"/>
                  </a:lnTo>
                  <a:cubicBezTo>
                    <a:pt x="772" y="2445"/>
                    <a:pt x="726" y="2434"/>
                    <a:pt x="685" y="2410"/>
                  </a:cubicBezTo>
                  <a:cubicBezTo>
                    <a:pt x="644" y="2386"/>
                    <a:pt x="611" y="2353"/>
                    <a:pt x="589" y="2314"/>
                  </a:cubicBezTo>
                  <a:lnTo>
                    <a:pt x="36" y="1356"/>
                  </a:lnTo>
                  <a:cubicBezTo>
                    <a:pt x="13" y="1317"/>
                    <a:pt x="0" y="1272"/>
                    <a:pt x="0" y="1223"/>
                  </a:cubicBezTo>
                  <a:cubicBezTo>
                    <a:pt x="0" y="1174"/>
                    <a:pt x="13" y="1129"/>
                    <a:pt x="36" y="1089"/>
                  </a:cubicBezTo>
                  <a:lnTo>
                    <a:pt x="587" y="135"/>
                  </a:lnTo>
                  <a:cubicBezTo>
                    <a:pt x="610" y="96"/>
                    <a:pt x="643" y="61"/>
                    <a:pt x="685" y="37"/>
                  </a:cubicBezTo>
                  <a:cubicBezTo>
                    <a:pt x="724" y="14"/>
                    <a:pt x="767" y="2"/>
                    <a:pt x="810" y="1"/>
                  </a:cubicBezTo>
                  <a:lnTo>
                    <a:pt x="1916" y="1"/>
                  </a:lnTo>
                  <a:cubicBezTo>
                    <a:pt x="1963" y="0"/>
                    <a:pt x="2011" y="11"/>
                    <a:pt x="2055" y="37"/>
                  </a:cubicBezTo>
                  <a:cubicBezTo>
                    <a:pt x="2096" y="60"/>
                    <a:pt x="2129" y="93"/>
                    <a:pt x="2151" y="132"/>
                  </a:cubicBezTo>
                  <a:lnTo>
                    <a:pt x="2702" y="1086"/>
                  </a:lnTo>
                  <a:cubicBezTo>
                    <a:pt x="2726" y="1126"/>
                    <a:pt x="2740" y="1173"/>
                    <a:pt x="2740" y="1223"/>
                  </a:cubicBezTo>
                  <a:cubicBezTo>
                    <a:pt x="2740" y="1274"/>
                    <a:pt x="2726" y="1321"/>
                    <a:pt x="2701" y="1361"/>
                  </a:cubicBezTo>
                  <a:lnTo>
                    <a:pt x="2151" y="2315"/>
                  </a:lnTo>
                  <a:close/>
                </a:path>
              </a:pathLst>
            </a:custGeom>
            <a:gradFill>
              <a:gsLst>
                <a:gs pos="0">
                  <a:srgbClr val="D3D3D3"/>
                </a:gs>
                <a:gs pos="100000">
                  <a:srgbClr val="F9F9F9"/>
                </a:gs>
              </a:gsLst>
              <a:lin ang="16200000" scaled="0"/>
            </a:gradFill>
            <a:ln w="12700" cap="flat">
              <a:noFill/>
              <a:prstDash val="solid"/>
              <a:miter lim="800000"/>
              <a:headEnd/>
              <a:tailEnd/>
            </a:ln>
            <a:effectLst>
              <a:outerShdw blurRad="190500" dist="1143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16" tIns="45708" rIns="91416" bIns="45708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 sz="1799">
                <a:latin typeface="方正兰亭黑简体" panose="02000000000000000000" pitchFamily="2" charset="-122"/>
                <a:ea typeface="方正兰亭黑简体" panose="02000000000000000000" pitchFamily="2" charset="-122"/>
              </a:endParaRPr>
            </a:p>
          </p:txBody>
        </p:sp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FE0FC2FC-CC8A-4CCB-B1FF-93EB83DA6314}"/>
                </a:ext>
              </a:extLst>
            </p:cNvPr>
            <p:cNvSpPr>
              <a:spLocks/>
            </p:cNvSpPr>
            <p:nvPr/>
          </p:nvSpPr>
          <p:spPr bwMode="auto">
            <a:xfrm rot="1855731">
              <a:off x="3764581" y="2863367"/>
              <a:ext cx="1264630" cy="1140208"/>
            </a:xfrm>
            <a:custGeom>
              <a:avLst/>
              <a:gdLst>
                <a:gd name="T0" fmla="*/ 2151 w 2740"/>
                <a:gd name="T1" fmla="*/ 2315 h 2446"/>
                <a:gd name="T2" fmla="*/ 2055 w 2740"/>
                <a:gd name="T3" fmla="*/ 2410 h 2446"/>
                <a:gd name="T4" fmla="*/ 1918 w 2740"/>
                <a:gd name="T5" fmla="*/ 2445 h 2446"/>
                <a:gd name="T6" fmla="*/ 816 w 2740"/>
                <a:gd name="T7" fmla="*/ 2445 h 2446"/>
                <a:gd name="T8" fmla="*/ 685 w 2740"/>
                <a:gd name="T9" fmla="*/ 2410 h 2446"/>
                <a:gd name="T10" fmla="*/ 589 w 2740"/>
                <a:gd name="T11" fmla="*/ 2314 h 2446"/>
                <a:gd name="T12" fmla="*/ 36 w 2740"/>
                <a:gd name="T13" fmla="*/ 1356 h 2446"/>
                <a:gd name="T14" fmla="*/ 0 w 2740"/>
                <a:gd name="T15" fmla="*/ 1223 h 2446"/>
                <a:gd name="T16" fmla="*/ 36 w 2740"/>
                <a:gd name="T17" fmla="*/ 1089 h 2446"/>
                <a:gd name="T18" fmla="*/ 587 w 2740"/>
                <a:gd name="T19" fmla="*/ 135 h 2446"/>
                <a:gd name="T20" fmla="*/ 685 w 2740"/>
                <a:gd name="T21" fmla="*/ 37 h 2446"/>
                <a:gd name="T22" fmla="*/ 810 w 2740"/>
                <a:gd name="T23" fmla="*/ 1 h 2446"/>
                <a:gd name="T24" fmla="*/ 1916 w 2740"/>
                <a:gd name="T25" fmla="*/ 1 h 2446"/>
                <a:gd name="T26" fmla="*/ 2055 w 2740"/>
                <a:gd name="T27" fmla="*/ 37 h 2446"/>
                <a:gd name="T28" fmla="*/ 2151 w 2740"/>
                <a:gd name="T29" fmla="*/ 132 h 2446"/>
                <a:gd name="T30" fmla="*/ 2702 w 2740"/>
                <a:gd name="T31" fmla="*/ 1086 h 2446"/>
                <a:gd name="T32" fmla="*/ 2740 w 2740"/>
                <a:gd name="T33" fmla="*/ 1223 h 2446"/>
                <a:gd name="T34" fmla="*/ 2701 w 2740"/>
                <a:gd name="T35" fmla="*/ 1361 h 2446"/>
                <a:gd name="T36" fmla="*/ 2151 w 2740"/>
                <a:gd name="T37" fmla="*/ 2315 h 24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740" h="2446">
                  <a:moveTo>
                    <a:pt x="2151" y="2315"/>
                  </a:moveTo>
                  <a:cubicBezTo>
                    <a:pt x="2128" y="2353"/>
                    <a:pt x="2096" y="2386"/>
                    <a:pt x="2055" y="2410"/>
                  </a:cubicBezTo>
                  <a:cubicBezTo>
                    <a:pt x="2012" y="2435"/>
                    <a:pt x="1965" y="2446"/>
                    <a:pt x="1918" y="2445"/>
                  </a:cubicBezTo>
                  <a:lnTo>
                    <a:pt x="816" y="2445"/>
                  </a:lnTo>
                  <a:cubicBezTo>
                    <a:pt x="772" y="2445"/>
                    <a:pt x="726" y="2434"/>
                    <a:pt x="685" y="2410"/>
                  </a:cubicBezTo>
                  <a:cubicBezTo>
                    <a:pt x="644" y="2386"/>
                    <a:pt x="611" y="2353"/>
                    <a:pt x="589" y="2314"/>
                  </a:cubicBezTo>
                  <a:lnTo>
                    <a:pt x="36" y="1356"/>
                  </a:lnTo>
                  <a:cubicBezTo>
                    <a:pt x="13" y="1317"/>
                    <a:pt x="0" y="1272"/>
                    <a:pt x="0" y="1223"/>
                  </a:cubicBezTo>
                  <a:cubicBezTo>
                    <a:pt x="0" y="1174"/>
                    <a:pt x="13" y="1129"/>
                    <a:pt x="36" y="1089"/>
                  </a:cubicBezTo>
                  <a:lnTo>
                    <a:pt x="587" y="135"/>
                  </a:lnTo>
                  <a:cubicBezTo>
                    <a:pt x="610" y="96"/>
                    <a:pt x="643" y="61"/>
                    <a:pt x="685" y="37"/>
                  </a:cubicBezTo>
                  <a:cubicBezTo>
                    <a:pt x="724" y="14"/>
                    <a:pt x="767" y="2"/>
                    <a:pt x="810" y="1"/>
                  </a:cubicBezTo>
                  <a:lnTo>
                    <a:pt x="1916" y="1"/>
                  </a:lnTo>
                  <a:cubicBezTo>
                    <a:pt x="1963" y="0"/>
                    <a:pt x="2011" y="11"/>
                    <a:pt x="2055" y="37"/>
                  </a:cubicBezTo>
                  <a:cubicBezTo>
                    <a:pt x="2096" y="60"/>
                    <a:pt x="2129" y="93"/>
                    <a:pt x="2151" y="132"/>
                  </a:cubicBezTo>
                  <a:lnTo>
                    <a:pt x="2702" y="1086"/>
                  </a:lnTo>
                  <a:cubicBezTo>
                    <a:pt x="2726" y="1126"/>
                    <a:pt x="2740" y="1173"/>
                    <a:pt x="2740" y="1223"/>
                  </a:cubicBezTo>
                  <a:cubicBezTo>
                    <a:pt x="2740" y="1274"/>
                    <a:pt x="2726" y="1321"/>
                    <a:pt x="2701" y="1361"/>
                  </a:cubicBezTo>
                  <a:lnTo>
                    <a:pt x="2151" y="2315"/>
                  </a:lnTo>
                  <a:close/>
                </a:path>
              </a:pathLst>
            </a:custGeom>
            <a:gradFill>
              <a:gsLst>
                <a:gs pos="0">
                  <a:srgbClr val="D3D3D3"/>
                </a:gs>
                <a:gs pos="100000">
                  <a:srgbClr val="F9F9F9"/>
                </a:gs>
              </a:gsLst>
              <a:lin ang="21594000" scaled="0"/>
            </a:gradFill>
            <a:ln w="12700" cap="flat">
              <a:noFill/>
              <a:prstDash val="solid"/>
              <a:miter lim="800000"/>
              <a:headEnd/>
              <a:tailE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16" tIns="45708" rIns="91416" bIns="45708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 sz="1799">
                <a:latin typeface="方正兰亭黑简体" panose="02000000000000000000" pitchFamily="2" charset="-122"/>
                <a:ea typeface="方正兰亭黑简体" panose="02000000000000000000" pitchFamily="2" charset="-122"/>
              </a:endParaRPr>
            </a:p>
          </p:txBody>
        </p:sp>
      </p:grpSp>
      <p:sp>
        <p:nvSpPr>
          <p:cNvPr id="30" name="文本框 9">
            <a:extLst>
              <a:ext uri="{FF2B5EF4-FFF2-40B4-BE49-F238E27FC236}">
                <a16:creationId xmlns:a16="http://schemas.microsoft.com/office/drawing/2014/main" id="{E52831D4-7766-4654-84E8-0224AC375163}"/>
              </a:ext>
            </a:extLst>
          </p:cNvPr>
          <p:cNvSpPr txBox="1"/>
          <p:nvPr/>
        </p:nvSpPr>
        <p:spPr>
          <a:xfrm>
            <a:off x="10703312" y="333463"/>
            <a:ext cx="431936" cy="346159"/>
          </a:xfrm>
          <a:prstGeom prst="rect">
            <a:avLst/>
          </a:prstGeom>
          <a:noFill/>
        </p:spPr>
        <p:txBody>
          <a:bodyPr wrap="square" lIns="68562" tIns="34281" rIns="68562" bIns="34281" rtlCol="0">
            <a:spAutoFit/>
          </a:bodyPr>
          <a:lstStyle/>
          <a:p>
            <a:pPr marL="0" lvl="1"/>
            <a:fld id="{019C1566-F6BD-42DB-B252-562BB8CFF26B}" type="slidenum">
              <a:rPr lang="en-US" altLang="zh-CN" sz="1799">
                <a:solidFill>
                  <a:srgbClr val="414455"/>
                </a:solidFill>
                <a:latin typeface="方正兰亭黑简体" panose="02000000000000000000" pitchFamily="2" charset="-122"/>
                <a:ea typeface="方正兰亭黑简体" panose="02000000000000000000" pitchFamily="2" charset="-122"/>
              </a:rPr>
              <a:pPr marL="0" lvl="1"/>
              <a:t>5</a:t>
            </a:fld>
            <a:endParaRPr lang="zh-CN" altLang="en-US" sz="1799" dirty="0">
              <a:solidFill>
                <a:srgbClr val="414455"/>
              </a:solidFill>
              <a:latin typeface="方正兰亭黑简体" panose="02000000000000000000" pitchFamily="2" charset="-122"/>
              <a:ea typeface="方正兰亭黑简体" panose="02000000000000000000" pitchFamily="2" charset="-122"/>
            </a:endParaRPr>
          </a:p>
        </p:txBody>
      </p:sp>
      <p:sp>
        <p:nvSpPr>
          <p:cNvPr id="31" name="Freeform 206">
            <a:extLst>
              <a:ext uri="{FF2B5EF4-FFF2-40B4-BE49-F238E27FC236}">
                <a16:creationId xmlns:a16="http://schemas.microsoft.com/office/drawing/2014/main" id="{A5CD1D51-65DA-42A8-A481-FDDDB0129A0C}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777996" y="303060"/>
            <a:ext cx="290648" cy="351334"/>
          </a:xfrm>
          <a:custGeom>
            <a:avLst/>
            <a:gdLst>
              <a:gd name="T0" fmla="*/ 0 w 77"/>
              <a:gd name="T1" fmla="*/ 85 h 93"/>
              <a:gd name="T2" fmla="*/ 30 w 77"/>
              <a:gd name="T3" fmla="*/ 20 h 93"/>
              <a:gd name="T4" fmla="*/ 38 w 77"/>
              <a:gd name="T5" fmla="*/ 26 h 93"/>
              <a:gd name="T6" fmla="*/ 39 w 77"/>
              <a:gd name="T7" fmla="*/ 27 h 93"/>
              <a:gd name="T8" fmla="*/ 39 w 77"/>
              <a:gd name="T9" fmla="*/ 27 h 93"/>
              <a:gd name="T10" fmla="*/ 40 w 77"/>
              <a:gd name="T11" fmla="*/ 27 h 93"/>
              <a:gd name="T12" fmla="*/ 40 w 77"/>
              <a:gd name="T13" fmla="*/ 28 h 93"/>
              <a:gd name="T14" fmla="*/ 40 w 77"/>
              <a:gd name="T15" fmla="*/ 28 h 93"/>
              <a:gd name="T16" fmla="*/ 41 w 77"/>
              <a:gd name="T17" fmla="*/ 28 h 93"/>
              <a:gd name="T18" fmla="*/ 41 w 77"/>
              <a:gd name="T19" fmla="*/ 29 h 93"/>
              <a:gd name="T20" fmla="*/ 42 w 77"/>
              <a:gd name="T21" fmla="*/ 29 h 93"/>
              <a:gd name="T22" fmla="*/ 42 w 77"/>
              <a:gd name="T23" fmla="*/ 29 h 93"/>
              <a:gd name="T24" fmla="*/ 43 w 77"/>
              <a:gd name="T25" fmla="*/ 29 h 93"/>
              <a:gd name="T26" fmla="*/ 43 w 77"/>
              <a:gd name="T27" fmla="*/ 30 h 93"/>
              <a:gd name="T28" fmla="*/ 43 w 77"/>
              <a:gd name="T29" fmla="*/ 30 h 93"/>
              <a:gd name="T30" fmla="*/ 48 w 77"/>
              <a:gd name="T31" fmla="*/ 33 h 93"/>
              <a:gd name="T32" fmla="*/ 48 w 77"/>
              <a:gd name="T33" fmla="*/ 33 h 93"/>
              <a:gd name="T34" fmla="*/ 49 w 77"/>
              <a:gd name="T35" fmla="*/ 34 h 93"/>
              <a:gd name="T36" fmla="*/ 49 w 77"/>
              <a:gd name="T37" fmla="*/ 34 h 93"/>
              <a:gd name="T38" fmla="*/ 50 w 77"/>
              <a:gd name="T39" fmla="*/ 34 h 93"/>
              <a:gd name="T40" fmla="*/ 50 w 77"/>
              <a:gd name="T41" fmla="*/ 35 h 93"/>
              <a:gd name="T42" fmla="*/ 50 w 77"/>
              <a:gd name="T43" fmla="*/ 35 h 93"/>
              <a:gd name="T44" fmla="*/ 51 w 77"/>
              <a:gd name="T45" fmla="*/ 35 h 93"/>
              <a:gd name="T46" fmla="*/ 51 w 77"/>
              <a:gd name="T47" fmla="*/ 36 h 93"/>
              <a:gd name="T48" fmla="*/ 52 w 77"/>
              <a:gd name="T49" fmla="*/ 36 h 93"/>
              <a:gd name="T50" fmla="*/ 52 w 77"/>
              <a:gd name="T51" fmla="*/ 36 h 93"/>
              <a:gd name="T52" fmla="*/ 53 w 77"/>
              <a:gd name="T53" fmla="*/ 37 h 93"/>
              <a:gd name="T54" fmla="*/ 53 w 77"/>
              <a:gd name="T55" fmla="*/ 37 h 93"/>
              <a:gd name="T56" fmla="*/ 48 w 77"/>
              <a:gd name="T57" fmla="*/ 79 h 93"/>
              <a:gd name="T58" fmla="*/ 7 w 77"/>
              <a:gd name="T59" fmla="*/ 91 h 93"/>
              <a:gd name="T60" fmla="*/ 35 w 77"/>
              <a:gd name="T61" fmla="*/ 64 h 93"/>
              <a:gd name="T62" fmla="*/ 19 w 77"/>
              <a:gd name="T63" fmla="*/ 53 h 93"/>
              <a:gd name="T64" fmla="*/ 3 w 77"/>
              <a:gd name="T65" fmla="*/ 88 h 93"/>
              <a:gd name="T66" fmla="*/ 73 w 77"/>
              <a:gd name="T67" fmla="*/ 93 h 93"/>
              <a:gd name="T68" fmla="*/ 54 w 77"/>
              <a:gd name="T69" fmla="*/ 83 h 93"/>
              <a:gd name="T70" fmla="*/ 69 w 77"/>
              <a:gd name="T71" fmla="*/ 42 h 93"/>
              <a:gd name="T72" fmla="*/ 34 w 77"/>
              <a:gd name="T73" fmla="*/ 0 h 93"/>
              <a:gd name="T74" fmla="*/ 69 w 77"/>
              <a:gd name="T75" fmla="*/ 42 h 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</a:cxnLst>
            <a:rect l="0" t="0" r="r" b="b"/>
            <a:pathLst>
              <a:path w="77" h="93">
                <a:moveTo>
                  <a:pt x="3" y="88"/>
                </a:moveTo>
                <a:cubicBezTo>
                  <a:pt x="2" y="87"/>
                  <a:pt x="1" y="86"/>
                  <a:pt x="0" y="85"/>
                </a:cubicBezTo>
                <a:cubicBezTo>
                  <a:pt x="0" y="72"/>
                  <a:pt x="0" y="58"/>
                  <a:pt x="0" y="45"/>
                </a:cubicBezTo>
                <a:cubicBezTo>
                  <a:pt x="12" y="40"/>
                  <a:pt x="21" y="32"/>
                  <a:pt x="30" y="20"/>
                </a:cubicBezTo>
                <a:cubicBezTo>
                  <a:pt x="38" y="26"/>
                  <a:pt x="38" y="26"/>
                  <a:pt x="38" y="26"/>
                </a:cubicBezTo>
                <a:cubicBezTo>
                  <a:pt x="38" y="26"/>
                  <a:pt x="38" y="26"/>
                  <a:pt x="38" y="26"/>
                </a:cubicBezTo>
                <a:cubicBezTo>
                  <a:pt x="38" y="27"/>
                  <a:pt x="38" y="27"/>
                  <a:pt x="38" y="27"/>
                </a:cubicBezTo>
                <a:cubicBezTo>
                  <a:pt x="39" y="27"/>
                  <a:pt x="39" y="27"/>
                  <a:pt x="39" y="27"/>
                </a:cubicBezTo>
                <a:cubicBezTo>
                  <a:pt x="39" y="27"/>
                  <a:pt x="39" y="27"/>
                  <a:pt x="39" y="27"/>
                </a:cubicBezTo>
                <a:cubicBezTo>
                  <a:pt x="39" y="27"/>
                  <a:pt x="39" y="27"/>
                  <a:pt x="39" y="27"/>
                </a:cubicBezTo>
                <a:cubicBezTo>
                  <a:pt x="39" y="27"/>
                  <a:pt x="39" y="27"/>
                  <a:pt x="39" y="27"/>
                </a:cubicBezTo>
                <a:cubicBezTo>
                  <a:pt x="40" y="27"/>
                  <a:pt x="40" y="27"/>
                  <a:pt x="40" y="27"/>
                </a:cubicBezTo>
                <a:cubicBezTo>
                  <a:pt x="40" y="27"/>
                  <a:pt x="40" y="27"/>
                  <a:pt x="40" y="27"/>
                </a:cubicBezTo>
                <a:cubicBezTo>
                  <a:pt x="40" y="28"/>
                  <a:pt x="40" y="28"/>
                  <a:pt x="40" y="28"/>
                </a:cubicBezTo>
                <a:cubicBezTo>
                  <a:pt x="40" y="28"/>
                  <a:pt x="40" y="28"/>
                  <a:pt x="40" y="28"/>
                </a:cubicBezTo>
                <a:cubicBezTo>
                  <a:pt x="40" y="28"/>
                  <a:pt x="40" y="28"/>
                  <a:pt x="40" y="28"/>
                </a:cubicBezTo>
                <a:cubicBezTo>
                  <a:pt x="41" y="28"/>
                  <a:pt x="41" y="28"/>
                  <a:pt x="41" y="28"/>
                </a:cubicBezTo>
                <a:cubicBezTo>
                  <a:pt x="41" y="28"/>
                  <a:pt x="41" y="28"/>
                  <a:pt x="41" y="28"/>
                </a:cubicBezTo>
                <a:cubicBezTo>
                  <a:pt x="41" y="28"/>
                  <a:pt x="41" y="28"/>
                  <a:pt x="41" y="28"/>
                </a:cubicBezTo>
                <a:cubicBezTo>
                  <a:pt x="41" y="29"/>
                  <a:pt x="41" y="29"/>
                  <a:pt x="41" y="29"/>
                </a:cubicBezTo>
                <a:cubicBezTo>
                  <a:pt x="42" y="29"/>
                  <a:pt x="42" y="29"/>
                  <a:pt x="42" y="29"/>
                </a:cubicBezTo>
                <a:cubicBezTo>
                  <a:pt x="42" y="29"/>
                  <a:pt x="42" y="29"/>
                  <a:pt x="42" y="29"/>
                </a:cubicBezTo>
                <a:cubicBezTo>
                  <a:pt x="42" y="29"/>
                  <a:pt x="42" y="29"/>
                  <a:pt x="42" y="29"/>
                </a:cubicBezTo>
                <a:cubicBezTo>
                  <a:pt x="42" y="29"/>
                  <a:pt x="42" y="29"/>
                  <a:pt x="42" y="29"/>
                </a:cubicBezTo>
                <a:cubicBezTo>
                  <a:pt x="42" y="29"/>
                  <a:pt x="42" y="29"/>
                  <a:pt x="42" y="29"/>
                </a:cubicBezTo>
                <a:cubicBezTo>
                  <a:pt x="43" y="29"/>
                  <a:pt x="43" y="29"/>
                  <a:pt x="43" y="29"/>
                </a:cubicBezTo>
                <a:cubicBezTo>
                  <a:pt x="43" y="30"/>
                  <a:pt x="43" y="30"/>
                  <a:pt x="43" y="30"/>
                </a:cubicBezTo>
                <a:cubicBezTo>
                  <a:pt x="43" y="30"/>
                  <a:pt x="43" y="30"/>
                  <a:pt x="43" y="30"/>
                </a:cubicBezTo>
                <a:cubicBezTo>
                  <a:pt x="43" y="30"/>
                  <a:pt x="43" y="30"/>
                  <a:pt x="43" y="30"/>
                </a:cubicBezTo>
                <a:cubicBezTo>
                  <a:pt x="43" y="30"/>
                  <a:pt x="43" y="30"/>
                  <a:pt x="43" y="30"/>
                </a:cubicBezTo>
                <a:cubicBezTo>
                  <a:pt x="44" y="30"/>
                  <a:pt x="44" y="30"/>
                  <a:pt x="44" y="30"/>
                </a:cubicBezTo>
                <a:cubicBezTo>
                  <a:pt x="48" y="33"/>
                  <a:pt x="48" y="33"/>
                  <a:pt x="48" y="33"/>
                </a:cubicBezTo>
                <a:cubicBezTo>
                  <a:pt x="48" y="33"/>
                  <a:pt x="48" y="33"/>
                  <a:pt x="48" y="33"/>
                </a:cubicBezTo>
                <a:cubicBezTo>
                  <a:pt x="48" y="33"/>
                  <a:pt x="48" y="33"/>
                  <a:pt x="48" y="33"/>
                </a:cubicBezTo>
                <a:cubicBezTo>
                  <a:pt x="48" y="34"/>
                  <a:pt x="48" y="34"/>
                  <a:pt x="48" y="34"/>
                </a:cubicBezTo>
                <a:cubicBezTo>
                  <a:pt x="49" y="34"/>
                  <a:pt x="49" y="34"/>
                  <a:pt x="49" y="34"/>
                </a:cubicBezTo>
                <a:cubicBezTo>
                  <a:pt x="49" y="34"/>
                  <a:pt x="49" y="34"/>
                  <a:pt x="49" y="34"/>
                </a:cubicBezTo>
                <a:cubicBezTo>
                  <a:pt x="49" y="34"/>
                  <a:pt x="49" y="34"/>
                  <a:pt x="49" y="34"/>
                </a:cubicBezTo>
                <a:cubicBezTo>
                  <a:pt x="49" y="34"/>
                  <a:pt x="49" y="34"/>
                  <a:pt x="49" y="34"/>
                </a:cubicBezTo>
                <a:cubicBezTo>
                  <a:pt x="50" y="34"/>
                  <a:pt x="50" y="34"/>
                  <a:pt x="50" y="34"/>
                </a:cubicBezTo>
                <a:cubicBezTo>
                  <a:pt x="50" y="35"/>
                  <a:pt x="50" y="35"/>
                  <a:pt x="50" y="35"/>
                </a:cubicBezTo>
                <a:cubicBezTo>
                  <a:pt x="50" y="35"/>
                  <a:pt x="50" y="35"/>
                  <a:pt x="50" y="35"/>
                </a:cubicBezTo>
                <a:cubicBezTo>
                  <a:pt x="50" y="35"/>
                  <a:pt x="50" y="35"/>
                  <a:pt x="50" y="35"/>
                </a:cubicBezTo>
                <a:cubicBezTo>
                  <a:pt x="50" y="35"/>
                  <a:pt x="50" y="35"/>
                  <a:pt x="50" y="35"/>
                </a:cubicBezTo>
                <a:cubicBezTo>
                  <a:pt x="51" y="35"/>
                  <a:pt x="51" y="35"/>
                  <a:pt x="51" y="35"/>
                </a:cubicBezTo>
                <a:cubicBezTo>
                  <a:pt x="51" y="35"/>
                  <a:pt x="51" y="35"/>
                  <a:pt x="51" y="35"/>
                </a:cubicBezTo>
                <a:cubicBezTo>
                  <a:pt x="51" y="35"/>
                  <a:pt x="51" y="35"/>
                  <a:pt x="51" y="35"/>
                </a:cubicBezTo>
                <a:cubicBezTo>
                  <a:pt x="51" y="36"/>
                  <a:pt x="51" y="36"/>
                  <a:pt x="51" y="36"/>
                </a:cubicBezTo>
                <a:cubicBezTo>
                  <a:pt x="52" y="36"/>
                  <a:pt x="52" y="36"/>
                  <a:pt x="52" y="36"/>
                </a:cubicBezTo>
                <a:cubicBezTo>
                  <a:pt x="52" y="36"/>
                  <a:pt x="52" y="36"/>
                  <a:pt x="52" y="36"/>
                </a:cubicBezTo>
                <a:cubicBezTo>
                  <a:pt x="52" y="36"/>
                  <a:pt x="52" y="36"/>
                  <a:pt x="52" y="36"/>
                </a:cubicBezTo>
                <a:cubicBezTo>
                  <a:pt x="52" y="36"/>
                  <a:pt x="52" y="36"/>
                  <a:pt x="52" y="36"/>
                </a:cubicBezTo>
                <a:cubicBezTo>
                  <a:pt x="52" y="36"/>
                  <a:pt x="52" y="36"/>
                  <a:pt x="52" y="36"/>
                </a:cubicBezTo>
                <a:cubicBezTo>
                  <a:pt x="53" y="37"/>
                  <a:pt x="53" y="37"/>
                  <a:pt x="53" y="37"/>
                </a:cubicBezTo>
                <a:cubicBezTo>
                  <a:pt x="53" y="37"/>
                  <a:pt x="53" y="37"/>
                  <a:pt x="53" y="37"/>
                </a:cubicBezTo>
                <a:cubicBezTo>
                  <a:pt x="53" y="37"/>
                  <a:pt x="53" y="37"/>
                  <a:pt x="53" y="37"/>
                </a:cubicBezTo>
                <a:cubicBezTo>
                  <a:pt x="62" y="43"/>
                  <a:pt x="62" y="43"/>
                  <a:pt x="62" y="43"/>
                </a:cubicBezTo>
                <a:cubicBezTo>
                  <a:pt x="53" y="55"/>
                  <a:pt x="49" y="67"/>
                  <a:pt x="48" y="79"/>
                </a:cubicBezTo>
                <a:cubicBezTo>
                  <a:pt x="36" y="84"/>
                  <a:pt x="23" y="88"/>
                  <a:pt x="11" y="93"/>
                </a:cubicBezTo>
                <a:cubicBezTo>
                  <a:pt x="9" y="92"/>
                  <a:pt x="8" y="91"/>
                  <a:pt x="7" y="91"/>
                </a:cubicBezTo>
                <a:cubicBezTo>
                  <a:pt x="23" y="68"/>
                  <a:pt x="23" y="68"/>
                  <a:pt x="23" y="68"/>
                </a:cubicBezTo>
                <a:cubicBezTo>
                  <a:pt x="27" y="69"/>
                  <a:pt x="32" y="68"/>
                  <a:pt x="35" y="64"/>
                </a:cubicBezTo>
                <a:cubicBezTo>
                  <a:pt x="38" y="60"/>
                  <a:pt x="37" y="54"/>
                  <a:pt x="32" y="51"/>
                </a:cubicBezTo>
                <a:cubicBezTo>
                  <a:pt x="28" y="47"/>
                  <a:pt x="22" y="49"/>
                  <a:pt x="19" y="53"/>
                </a:cubicBezTo>
                <a:cubicBezTo>
                  <a:pt x="16" y="57"/>
                  <a:pt x="16" y="62"/>
                  <a:pt x="19" y="65"/>
                </a:cubicBezTo>
                <a:cubicBezTo>
                  <a:pt x="3" y="88"/>
                  <a:pt x="3" y="88"/>
                  <a:pt x="3" y="88"/>
                </a:cubicBezTo>
                <a:close/>
                <a:moveTo>
                  <a:pt x="27" y="93"/>
                </a:moveTo>
                <a:cubicBezTo>
                  <a:pt x="73" y="93"/>
                  <a:pt x="73" y="93"/>
                  <a:pt x="73" y="93"/>
                </a:cubicBezTo>
                <a:cubicBezTo>
                  <a:pt x="73" y="83"/>
                  <a:pt x="73" y="83"/>
                  <a:pt x="73" y="83"/>
                </a:cubicBezTo>
                <a:cubicBezTo>
                  <a:pt x="54" y="83"/>
                  <a:pt x="54" y="83"/>
                  <a:pt x="54" y="83"/>
                </a:cubicBezTo>
                <a:cubicBezTo>
                  <a:pt x="27" y="93"/>
                  <a:pt x="27" y="93"/>
                  <a:pt x="27" y="93"/>
                </a:cubicBezTo>
                <a:close/>
                <a:moveTo>
                  <a:pt x="69" y="42"/>
                </a:moveTo>
                <a:cubicBezTo>
                  <a:pt x="77" y="31"/>
                  <a:pt x="77" y="31"/>
                  <a:pt x="77" y="31"/>
                </a:cubicBezTo>
                <a:cubicBezTo>
                  <a:pt x="34" y="0"/>
                  <a:pt x="34" y="0"/>
                  <a:pt x="34" y="0"/>
                </a:cubicBezTo>
                <a:cubicBezTo>
                  <a:pt x="26" y="12"/>
                  <a:pt x="26" y="12"/>
                  <a:pt x="26" y="12"/>
                </a:cubicBezTo>
                <a:lnTo>
                  <a:pt x="69" y="42"/>
                </a:lnTo>
                <a:close/>
              </a:path>
            </a:pathLst>
          </a:custGeom>
          <a:solidFill>
            <a:srgbClr val="414455"/>
          </a:solidFill>
          <a:ln>
            <a:noFill/>
          </a:ln>
        </p:spPr>
        <p:txBody>
          <a:bodyPr vert="horz" wrap="square" lIns="91416" tIns="45708" rIns="91416" bIns="45708" numCol="1" anchor="t" anchorCtr="0" compatLnSpc="1">
            <a:prstTxWarp prst="textNoShape">
              <a:avLst/>
            </a:prstTxWarp>
          </a:bodyPr>
          <a:lstStyle/>
          <a:p>
            <a:endParaRPr lang="zh-CN" altLang="en-US" sz="1799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ED1435A1-A423-4F5A-13D6-63C5809D8A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348" y="3725238"/>
            <a:ext cx="5507392" cy="2968202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C335CF32-0F07-841C-31F3-1807E76B06C4}"/>
              </a:ext>
            </a:extLst>
          </p:cNvPr>
          <p:cNvSpPr txBox="1"/>
          <p:nvPr/>
        </p:nvSpPr>
        <p:spPr>
          <a:xfrm>
            <a:off x="1200731" y="948641"/>
            <a:ext cx="10969583" cy="33644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664" indent="-285664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zh-TW" altLang="en-US" sz="1799" dirty="0">
                <a:solidFill>
                  <a:srgbClr val="4144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負責系統架構設計、資料流程規劃與實作開發。</a:t>
            </a:r>
            <a:endParaRPr lang="en-US" altLang="zh-TW" sz="1799" dirty="0">
              <a:solidFill>
                <a:srgbClr val="41445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664" indent="-285664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zh-TW" altLang="en-US" sz="1799" dirty="0">
                <a:solidFill>
                  <a:srgbClr val="4144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技術應用：</a:t>
            </a:r>
            <a:endParaRPr lang="en-US" altLang="zh-TW" sz="1799" dirty="0">
              <a:solidFill>
                <a:srgbClr val="41445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727" lvl="1" indent="-285664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zh-TW" altLang="en-US" sz="1799" dirty="0">
                <a:solidFill>
                  <a:srgbClr val="4144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使用 </a:t>
            </a:r>
            <a:r>
              <a:rPr lang="en-US" altLang="zh-TW" sz="1799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Azure App Service </a:t>
            </a:r>
            <a:r>
              <a:rPr lang="zh-TW" altLang="en-US" sz="1799" dirty="0">
                <a:solidFill>
                  <a:srgbClr val="4144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作為應用程式入口，接收並轉交請求。</a:t>
            </a:r>
            <a:endParaRPr lang="en-US" altLang="zh-TW" sz="1799" dirty="0">
              <a:solidFill>
                <a:srgbClr val="41445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727" lvl="1" indent="-285664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zh-TW" altLang="en-US" sz="1799" dirty="0">
                <a:solidFill>
                  <a:srgbClr val="4144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整合 </a:t>
            </a:r>
            <a:r>
              <a:rPr lang="en-US" altLang="zh-TW" sz="1799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Databricks </a:t>
            </a:r>
            <a:r>
              <a:rPr lang="en-US" altLang="zh-TW" sz="1799" dirty="0">
                <a:solidFill>
                  <a:srgbClr val="4144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(Delta Lake) </a:t>
            </a:r>
            <a:r>
              <a:rPr lang="zh-TW" altLang="en-US" sz="1799" dirty="0">
                <a:solidFill>
                  <a:srgbClr val="4144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進行數據處理與分析。</a:t>
            </a:r>
            <a:endParaRPr lang="en-US" altLang="zh-TW" sz="1799" dirty="0">
              <a:solidFill>
                <a:srgbClr val="41445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727" lvl="1" indent="-285664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zh-TW" altLang="en-US" sz="1799" dirty="0">
                <a:solidFill>
                  <a:srgbClr val="4144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透過 </a:t>
            </a:r>
            <a:r>
              <a:rPr lang="en-US" altLang="zh-TW" sz="1799" dirty="0" err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AzCopy</a:t>
            </a:r>
            <a:r>
              <a:rPr lang="en-US" altLang="zh-TW" sz="1799" dirty="0">
                <a:solidFill>
                  <a:srgbClr val="4144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TW" altLang="en-US" sz="1799" dirty="0">
                <a:solidFill>
                  <a:srgbClr val="4144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完成檔案上傳 </a:t>
            </a:r>
            <a:r>
              <a:rPr lang="en-US" altLang="zh-TW" sz="1799" dirty="0">
                <a:solidFill>
                  <a:srgbClr val="4144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TW" altLang="en-US" sz="1799" dirty="0">
                <a:solidFill>
                  <a:srgbClr val="4144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下載，並儲存於 </a:t>
            </a:r>
            <a:r>
              <a:rPr lang="en-US" altLang="zh-TW" sz="1799" dirty="0">
                <a:solidFill>
                  <a:srgbClr val="4144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Azure </a:t>
            </a:r>
            <a:r>
              <a:rPr lang="en-US" altLang="zh-TW" sz="1799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Blob Storage</a:t>
            </a:r>
            <a:r>
              <a:rPr lang="zh-TW" altLang="en-US" sz="1799" dirty="0">
                <a:solidFill>
                  <a:srgbClr val="4144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，供雲端運算與後續應用。</a:t>
            </a:r>
            <a:endParaRPr lang="en-US" altLang="zh-TW" sz="1799" dirty="0">
              <a:solidFill>
                <a:srgbClr val="41445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664" indent="-285664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zh-TW" altLang="en-US" sz="1799" dirty="0">
                <a:solidFill>
                  <a:srgbClr val="4144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成果：</a:t>
            </a:r>
            <a:endParaRPr lang="en-US" altLang="zh-TW" sz="1799" dirty="0">
              <a:solidFill>
                <a:srgbClr val="41445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727" lvl="1" indent="-285664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zh-TW" altLang="en-US" sz="1799" dirty="0">
                <a:solidFill>
                  <a:srgbClr val="4144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成功打通</a:t>
            </a:r>
            <a:r>
              <a:rPr lang="zh-TW" altLang="en-US" sz="1799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雲端與地端的數據溝通</a:t>
            </a:r>
            <a:r>
              <a:rPr lang="zh-TW" altLang="en-US" sz="1799" dirty="0">
                <a:solidFill>
                  <a:srgbClr val="4144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，建立完整的雲端數據處理解決方案。</a:t>
            </a:r>
            <a:endParaRPr lang="en-US" altLang="zh-TW" sz="1799" dirty="0">
              <a:solidFill>
                <a:srgbClr val="41445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727" lvl="1" indent="-285664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zh-TW" altLang="en-US" sz="1799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提升</a:t>
            </a:r>
            <a:r>
              <a:rPr lang="zh-TW" altLang="en-US" sz="1799" dirty="0">
                <a:solidFill>
                  <a:srgbClr val="4144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大數據處理</a:t>
            </a:r>
            <a:r>
              <a:rPr lang="zh-TW" altLang="en-US" sz="1799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效率</a:t>
            </a:r>
            <a:r>
              <a:rPr lang="zh-TW" altLang="en-US" sz="1799" dirty="0">
                <a:solidFill>
                  <a:srgbClr val="41445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，強化系統的即時性與擴充性。</a:t>
            </a:r>
            <a:endParaRPr lang="en-US" altLang="zh-TW" sz="1799" dirty="0">
              <a:solidFill>
                <a:srgbClr val="41445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563262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Text 0"/>
          <p:cNvSpPr/>
          <p:nvPr/>
        </p:nvSpPr>
        <p:spPr>
          <a:xfrm>
            <a:off x="658440" y="384120"/>
            <a:ext cx="228564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spc="111">
                <a:solidFill>
                  <a:srgbClr val="2563EB"/>
                </a:solidFill>
                <a:effectLst/>
                <a:uFillTx/>
                <a:latin typeface="Noto Sans CJK TC"/>
                <a:ea typeface="Noto Sans CJK TC"/>
              </a:rPr>
              <a:t>PROJECT EXPERIENCE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1"/>
          <p:cNvSpPr/>
          <p:nvPr/>
        </p:nvSpPr>
        <p:spPr>
          <a:xfrm>
            <a:off x="658440" y="676800"/>
            <a:ext cx="1078956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5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03</a:t>
            </a:r>
            <a:r>
              <a:rPr lang="zh-CN" sz="275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｜</a:t>
            </a:r>
            <a:r>
              <a:rPr lang="en-US" sz="275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CCTV AI </a:t>
            </a:r>
            <a:r>
              <a:rPr lang="zh-CN" sz="275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智慧影像辨識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2"/>
          <p:cNvSpPr/>
          <p:nvPr/>
        </p:nvSpPr>
        <p:spPr>
          <a:xfrm>
            <a:off x="658440" y="1197720"/>
            <a:ext cx="106981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Edge AI </a:t>
            </a:r>
            <a:r>
              <a:rPr lang="zh-CN" sz="1150" b="0" u="none" strike="noStrik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即時推論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× </a:t>
            </a:r>
            <a:r>
              <a:rPr lang="zh-CN" sz="1150" b="0" u="none" strike="noStrik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多場域應用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× </a:t>
            </a:r>
            <a:r>
              <a:rPr lang="zh-CN" sz="1150" b="0" u="none" strike="noStrik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系統整合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Shape 3"/>
          <p:cNvSpPr/>
          <p:nvPr/>
        </p:nvSpPr>
        <p:spPr>
          <a:xfrm>
            <a:off x="658440" y="1700640"/>
            <a:ext cx="1444320" cy="347040"/>
          </a:xfrm>
          <a:prstGeom prst="roundRect">
            <a:avLst>
              <a:gd name="adj" fmla="val 31579"/>
            </a:avLst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4"/>
          <p:cNvSpPr/>
          <p:nvPr/>
        </p:nvSpPr>
        <p:spPr>
          <a:xfrm>
            <a:off x="768240" y="1700640"/>
            <a:ext cx="73116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Noto Sans CJK TC"/>
                <a:ea typeface="Noto Sans CJK TC"/>
              </a:rPr>
              <a:t>PROJECT 03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5"/>
          <p:cNvSpPr/>
          <p:nvPr/>
        </p:nvSpPr>
        <p:spPr>
          <a:xfrm>
            <a:off x="1499760" y="1700640"/>
            <a:ext cx="49356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93C5FD"/>
                </a:solidFill>
                <a:effectLst/>
                <a:uFillTx/>
                <a:latin typeface="Noto Sans CJK TC"/>
                <a:ea typeface="Noto Sans CJK TC"/>
              </a:rPr>
              <a:t>CCTV AI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6"/>
          <p:cNvSpPr/>
          <p:nvPr/>
        </p:nvSpPr>
        <p:spPr>
          <a:xfrm>
            <a:off x="5120640" y="2578680"/>
            <a:ext cx="1919880" cy="1919880"/>
          </a:xfrm>
          <a:prstGeom prst="ellipse">
            <a:avLst/>
          </a:prstGeom>
          <a:solidFill>
            <a:srgbClr val="0B1220"/>
          </a:solidFill>
          <a:ln w="25400">
            <a:solidFill>
              <a:srgbClr val="1E40A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Shape 7"/>
          <p:cNvSpPr/>
          <p:nvPr/>
        </p:nvSpPr>
        <p:spPr>
          <a:xfrm>
            <a:off x="5431680" y="2889360"/>
            <a:ext cx="1298160" cy="1298160"/>
          </a:xfrm>
          <a:prstGeom prst="ellipse">
            <a:avLst/>
          </a:prstGeom>
          <a:solidFill>
            <a:srgbClr val="111C31"/>
          </a:solidFill>
          <a:ln w="12700">
            <a:solidFill>
              <a:srgbClr val="2D4C7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3" name="Image 0" descr="preencoded.png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5742360" y="3163680"/>
            <a:ext cx="658080" cy="658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4" name="Text 8"/>
          <p:cNvSpPr/>
          <p:nvPr/>
        </p:nvSpPr>
        <p:spPr>
          <a:xfrm>
            <a:off x="5577840" y="4005000"/>
            <a:ext cx="8409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20" b="1" u="none" strike="noStrike">
                <a:solidFill>
                  <a:srgbClr val="FFFFFF"/>
                </a:solidFill>
                <a:effectLst/>
                <a:uFillTx/>
                <a:latin typeface="Noto Sans CJK TC"/>
                <a:ea typeface="Noto Sans CJK TC"/>
              </a:rPr>
              <a:t>Edge AI</a:t>
            </a:r>
            <a:endParaRPr lang="en-US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9"/>
          <p:cNvSpPr/>
          <p:nvPr/>
        </p:nvSpPr>
        <p:spPr>
          <a:xfrm>
            <a:off x="749880" y="2240280"/>
            <a:ext cx="3245760" cy="1225080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6F0"/>
            </a:solidFill>
            <a:round/>
          </a:ln>
          <a:effectLst>
            <a:outerShdw blurRad="15120" dist="50402" dir="2700000" algn="bl" rotWithShape="0">
              <a:srgbClr val="B8C3D1">
                <a:alpha val="14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10"/>
          <p:cNvSpPr/>
          <p:nvPr/>
        </p:nvSpPr>
        <p:spPr>
          <a:xfrm>
            <a:off x="896040" y="2450520"/>
            <a:ext cx="529920" cy="529920"/>
          </a:xfrm>
          <a:prstGeom prst="ellipse">
            <a:avLst/>
          </a:prstGeom>
          <a:solidFill>
            <a:srgbClr val="06B6D4">
              <a:alpha val="92000"/>
            </a:srgbClr>
          </a:solidFill>
          <a:ln w="10160">
            <a:solidFill>
              <a:srgbClr val="06B6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7" name="Image 1" descr="preencoded.png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1042560" y="259704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8" name="Text 11"/>
          <p:cNvSpPr/>
          <p:nvPr/>
        </p:nvSpPr>
        <p:spPr>
          <a:xfrm>
            <a:off x="1554480" y="2395800"/>
            <a:ext cx="1572480" cy="264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18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跌倒 </a:t>
            </a:r>
            <a:r>
              <a:rPr lang="en-US" sz="118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/ </a:t>
            </a:r>
            <a:r>
              <a:rPr lang="zh-CN" sz="118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行為偵測</a:t>
            </a:r>
            <a:endParaRPr lang="en-US" sz="1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12"/>
          <p:cNvSpPr/>
          <p:nvPr/>
        </p:nvSpPr>
        <p:spPr>
          <a:xfrm>
            <a:off x="1554480" y="2679120"/>
            <a:ext cx="215748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9" b="0" u="none" strike="noStrik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ToF </a:t>
            </a:r>
            <a:r>
              <a:rPr lang="zh-CN" sz="939" b="0" u="none" strike="noStrik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深度影像、</a:t>
            </a:r>
            <a:r>
              <a:rPr lang="en-US" sz="939" b="0" u="none" strike="noStrik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RGB </a:t>
            </a:r>
            <a:r>
              <a:rPr lang="zh-CN" sz="939" b="0" u="none" strike="noStrik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影像</a:t>
            </a:r>
            <a:endParaRPr lang="en-US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9" b="0" u="none" strike="noStrik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LSTM / CNN </a:t>
            </a:r>
            <a:r>
              <a:rPr lang="zh-CN" sz="939" b="0" u="none" strike="noStrik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連續動作辨識</a:t>
            </a:r>
            <a:endParaRPr lang="en-US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13"/>
          <p:cNvSpPr/>
          <p:nvPr/>
        </p:nvSpPr>
        <p:spPr>
          <a:xfrm>
            <a:off x="3081600" y="2386440"/>
            <a:ext cx="712800" cy="292320"/>
          </a:xfrm>
          <a:prstGeom prst="roundRect">
            <a:avLst>
              <a:gd name="adj" fmla="val 37500"/>
            </a:avLst>
          </a:prstGeom>
          <a:solidFill>
            <a:srgbClr val="EAF2FF"/>
          </a:solidFill>
          <a:ln w="12700">
            <a:solidFill>
              <a:srgbClr val="EAF2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14"/>
          <p:cNvSpPr/>
          <p:nvPr/>
        </p:nvSpPr>
        <p:spPr>
          <a:xfrm>
            <a:off x="3081600" y="2386440"/>
            <a:ext cx="71280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020" b="1" u="none" strike="noStrike">
                <a:solidFill>
                  <a:srgbClr val="06B6D4"/>
                </a:solidFill>
                <a:effectLst/>
                <a:uFillTx/>
                <a:latin typeface="Noto Sans CJK TC"/>
                <a:ea typeface="Noto Sans CJK TC"/>
              </a:rPr>
              <a:t>長照・醫院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Shape 15"/>
          <p:cNvSpPr/>
          <p:nvPr/>
        </p:nvSpPr>
        <p:spPr>
          <a:xfrm>
            <a:off x="8192880" y="2240280"/>
            <a:ext cx="3245760" cy="1225080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6F0"/>
            </a:solidFill>
            <a:round/>
          </a:ln>
          <a:effectLst>
            <a:outerShdw blurRad="15120" dist="50402" dir="2700000" algn="bl" rotWithShape="0">
              <a:srgbClr val="B8C3D1">
                <a:alpha val="14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16"/>
          <p:cNvSpPr/>
          <p:nvPr/>
        </p:nvSpPr>
        <p:spPr>
          <a:xfrm>
            <a:off x="8339400" y="2450520"/>
            <a:ext cx="529920" cy="529920"/>
          </a:xfrm>
          <a:prstGeom prst="ellipse">
            <a:avLst/>
          </a:prstGeom>
          <a:solidFill>
            <a:srgbClr val="2563EB">
              <a:alpha val="92000"/>
            </a:srgbClr>
          </a:solidFill>
          <a:ln w="1016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4" name="Image 2" descr="preencoded.png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8485560" y="259704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5" name="Text 17"/>
          <p:cNvSpPr/>
          <p:nvPr/>
        </p:nvSpPr>
        <p:spPr>
          <a:xfrm>
            <a:off x="8997840" y="2395800"/>
            <a:ext cx="1572480" cy="264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18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車牌辨識</a:t>
            </a:r>
            <a:endParaRPr lang="en-US" sz="1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8"/>
          <p:cNvSpPr/>
          <p:nvPr/>
        </p:nvSpPr>
        <p:spPr>
          <a:xfrm>
            <a:off x="8997840" y="2679120"/>
            <a:ext cx="215748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39" b="0" u="none" strike="noStrik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停車場 </a:t>
            </a:r>
            <a:r>
              <a:rPr lang="en-US" sz="939" b="0" u="none" strike="noStrik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/ </a:t>
            </a:r>
            <a:r>
              <a:rPr lang="zh-CN" sz="939" b="0" u="none" strike="noStrik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道路行進間</a:t>
            </a:r>
            <a:endParaRPr lang="en-US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39" b="0" u="none" strike="noStrik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模糊、傾斜車牌與區間測速整合</a:t>
            </a:r>
            <a:endParaRPr lang="en-US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19"/>
          <p:cNvSpPr/>
          <p:nvPr/>
        </p:nvSpPr>
        <p:spPr>
          <a:xfrm>
            <a:off x="10524600" y="2386440"/>
            <a:ext cx="712800" cy="292320"/>
          </a:xfrm>
          <a:prstGeom prst="roundRect">
            <a:avLst>
              <a:gd name="adj" fmla="val 37500"/>
            </a:avLst>
          </a:prstGeom>
          <a:solidFill>
            <a:srgbClr val="EAF2FF"/>
          </a:solidFill>
          <a:ln w="12700">
            <a:solidFill>
              <a:srgbClr val="EAF2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20"/>
          <p:cNvSpPr/>
          <p:nvPr/>
        </p:nvSpPr>
        <p:spPr>
          <a:xfrm>
            <a:off x="10524600" y="2386440"/>
            <a:ext cx="71280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020" b="1" u="none" strike="noStrike">
                <a:solidFill>
                  <a:srgbClr val="2563EB"/>
                </a:solidFill>
                <a:effectLst/>
                <a:uFillTx/>
                <a:latin typeface="Noto Sans CJK TC"/>
                <a:ea typeface="Noto Sans CJK TC"/>
              </a:rPr>
              <a:t>交通・門禁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Shape 21"/>
          <p:cNvSpPr/>
          <p:nvPr/>
        </p:nvSpPr>
        <p:spPr>
          <a:xfrm>
            <a:off x="749880" y="4169520"/>
            <a:ext cx="3245760" cy="1225080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6F0"/>
            </a:solidFill>
            <a:round/>
          </a:ln>
          <a:effectLst>
            <a:outerShdw blurRad="15120" dist="50402" dir="2700000" algn="bl" rotWithShape="0">
              <a:srgbClr val="B8C3D1">
                <a:alpha val="14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Shape 22"/>
          <p:cNvSpPr/>
          <p:nvPr/>
        </p:nvSpPr>
        <p:spPr>
          <a:xfrm>
            <a:off x="896040" y="4380120"/>
            <a:ext cx="529920" cy="529920"/>
          </a:xfrm>
          <a:prstGeom prst="ellipse">
            <a:avLst/>
          </a:prstGeom>
          <a:solidFill>
            <a:srgbClr val="14B8A6">
              <a:alpha val="92000"/>
            </a:srgbClr>
          </a:solidFill>
          <a:ln w="10160">
            <a:solidFill>
              <a:srgbClr val="14B8A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1" name="Image 3" descr="preencoded.png"/>
          <p:cNvPicPr/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1042560" y="452628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2" name="Text 23"/>
          <p:cNvSpPr/>
          <p:nvPr/>
        </p:nvSpPr>
        <p:spPr>
          <a:xfrm>
            <a:off x="1554480" y="4325040"/>
            <a:ext cx="1572480" cy="264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18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人流 </a:t>
            </a:r>
            <a:r>
              <a:rPr lang="en-US" sz="118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/ </a:t>
            </a:r>
            <a:r>
              <a:rPr lang="zh-CN" sz="118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門禁辨識</a:t>
            </a:r>
            <a:endParaRPr lang="en-US" sz="1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24"/>
          <p:cNvSpPr/>
          <p:nvPr/>
        </p:nvSpPr>
        <p:spPr>
          <a:xfrm>
            <a:off x="1554480" y="4608720"/>
            <a:ext cx="215748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39" b="0" u="none" strike="noStrik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人臉、口罩、體溫</a:t>
            </a:r>
            <a:endParaRPr lang="en-US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39" b="0" u="none" strike="noStrik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人流計數・電子圍籬・跨線偵測</a:t>
            </a:r>
            <a:endParaRPr lang="en-US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Shape 25"/>
          <p:cNvSpPr/>
          <p:nvPr/>
        </p:nvSpPr>
        <p:spPr>
          <a:xfrm>
            <a:off x="3081600" y="4316040"/>
            <a:ext cx="712800" cy="292320"/>
          </a:xfrm>
          <a:prstGeom prst="roundRect">
            <a:avLst>
              <a:gd name="adj" fmla="val 37500"/>
            </a:avLst>
          </a:prstGeom>
          <a:solidFill>
            <a:srgbClr val="EAFBF7"/>
          </a:solidFill>
          <a:ln w="12700">
            <a:solidFill>
              <a:srgbClr val="EAFBF7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26"/>
          <p:cNvSpPr/>
          <p:nvPr/>
        </p:nvSpPr>
        <p:spPr>
          <a:xfrm>
            <a:off x="3081600" y="4316040"/>
            <a:ext cx="71280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020" b="1" u="none" strike="noStrike">
                <a:solidFill>
                  <a:srgbClr val="14B8A6"/>
                </a:solidFill>
                <a:effectLst/>
                <a:uFillTx/>
                <a:latin typeface="Noto Sans CJK TC"/>
                <a:ea typeface="Noto Sans CJK TC"/>
              </a:rPr>
              <a:t>大樓・賣場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Shape 27"/>
          <p:cNvSpPr/>
          <p:nvPr/>
        </p:nvSpPr>
        <p:spPr>
          <a:xfrm>
            <a:off x="8192880" y="4169520"/>
            <a:ext cx="3245760" cy="1225080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6F0"/>
            </a:solidFill>
            <a:round/>
          </a:ln>
          <a:effectLst>
            <a:outerShdw blurRad="15120" dist="50402" dir="2700000" algn="bl" rotWithShape="0">
              <a:srgbClr val="B8C3D1">
                <a:alpha val="14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Shape 28"/>
          <p:cNvSpPr/>
          <p:nvPr/>
        </p:nvSpPr>
        <p:spPr>
          <a:xfrm>
            <a:off x="8339400" y="4380120"/>
            <a:ext cx="529920" cy="529920"/>
          </a:xfrm>
          <a:prstGeom prst="ellipse">
            <a:avLst/>
          </a:prstGeom>
          <a:solidFill>
            <a:srgbClr val="F59E0B">
              <a:alpha val="92000"/>
            </a:srgbClr>
          </a:solidFill>
          <a:ln w="1016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8" name="Image 4" descr="preencoded.png"/>
          <p:cNvPicPr/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>
          <a:xfrm>
            <a:off x="8485560" y="452628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9" name="Text 29"/>
          <p:cNvSpPr/>
          <p:nvPr/>
        </p:nvSpPr>
        <p:spPr>
          <a:xfrm>
            <a:off x="8997840" y="4325040"/>
            <a:ext cx="1572480" cy="264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180" b="1" u="none" strike="noStrike">
                <a:solidFill>
                  <a:srgbClr val="0B1220"/>
                </a:solidFill>
                <a:effectLst/>
                <a:uFillTx/>
                <a:latin typeface="Noto Sans CJK TC"/>
                <a:ea typeface="Noto Sans CJK TC"/>
              </a:rPr>
              <a:t>智慧牧場</a:t>
            </a:r>
            <a:endParaRPr lang="en-US" sz="1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30"/>
          <p:cNvSpPr/>
          <p:nvPr/>
        </p:nvSpPr>
        <p:spPr>
          <a:xfrm>
            <a:off x="8997840" y="4608720"/>
            <a:ext cx="215748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39" b="0" u="none" strike="noStrik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家畜健康與活動狀態追蹤</a:t>
            </a:r>
            <a:endParaRPr lang="en-US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39" b="0" u="none" strike="noStrike">
                <a:solidFill>
                  <a:srgbClr val="0F172A"/>
                </a:solidFill>
                <a:effectLst/>
                <a:uFillTx/>
                <a:latin typeface="Noto Sans CJK TC"/>
                <a:ea typeface="Noto Sans CJK TC"/>
              </a:rPr>
              <a:t>搭配管理系統進行即時監控</a:t>
            </a:r>
            <a:endParaRPr lang="en-US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Shape 31"/>
          <p:cNvSpPr/>
          <p:nvPr/>
        </p:nvSpPr>
        <p:spPr>
          <a:xfrm>
            <a:off x="10524600" y="4316040"/>
            <a:ext cx="712800" cy="292320"/>
          </a:xfrm>
          <a:prstGeom prst="roundRect">
            <a:avLst>
              <a:gd name="adj" fmla="val 37500"/>
            </a:avLst>
          </a:prstGeom>
          <a:solidFill>
            <a:srgbClr val="FFF7E8"/>
          </a:solidFill>
          <a:ln w="12700">
            <a:solidFill>
              <a:srgbClr val="FFF7E8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32"/>
          <p:cNvSpPr/>
          <p:nvPr/>
        </p:nvSpPr>
        <p:spPr>
          <a:xfrm>
            <a:off x="10524600" y="4316040"/>
            <a:ext cx="71280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020" b="1" u="none" strike="noStrike">
                <a:solidFill>
                  <a:srgbClr val="F59E0B"/>
                </a:solidFill>
                <a:effectLst/>
                <a:uFillTx/>
                <a:latin typeface="Noto Sans CJK TC"/>
                <a:ea typeface="Noto Sans CJK TC"/>
              </a:rPr>
              <a:t>農牧場域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33"/>
          <p:cNvSpPr/>
          <p:nvPr/>
        </p:nvSpPr>
        <p:spPr>
          <a:xfrm>
            <a:off x="4069080" y="2843640"/>
            <a:ext cx="978120" cy="374760"/>
          </a:xfrm>
          <a:prstGeom prst="line">
            <a:avLst/>
          </a:prstGeom>
          <a:ln w="15240">
            <a:solidFill>
              <a:srgbClr val="9FB3CC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Shape 34"/>
          <p:cNvSpPr/>
          <p:nvPr/>
        </p:nvSpPr>
        <p:spPr>
          <a:xfrm flipV="1">
            <a:off x="7132320" y="2843640"/>
            <a:ext cx="987480" cy="374760"/>
          </a:xfrm>
          <a:prstGeom prst="line">
            <a:avLst/>
          </a:prstGeom>
          <a:ln w="15240">
            <a:solidFill>
              <a:srgbClr val="9FB3CC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Shape 35"/>
          <p:cNvSpPr/>
          <p:nvPr/>
        </p:nvSpPr>
        <p:spPr>
          <a:xfrm flipV="1">
            <a:off x="4069080" y="3949920"/>
            <a:ext cx="978120" cy="768240"/>
          </a:xfrm>
          <a:prstGeom prst="line">
            <a:avLst/>
          </a:prstGeom>
          <a:ln w="15240">
            <a:solidFill>
              <a:srgbClr val="9FB3CC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Shape 36"/>
          <p:cNvSpPr/>
          <p:nvPr/>
        </p:nvSpPr>
        <p:spPr>
          <a:xfrm>
            <a:off x="7132320" y="3949920"/>
            <a:ext cx="987480" cy="768240"/>
          </a:xfrm>
          <a:prstGeom prst="line">
            <a:avLst/>
          </a:prstGeom>
          <a:ln w="15240">
            <a:solidFill>
              <a:srgbClr val="9FB3CC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37"/>
          <p:cNvSpPr/>
          <p:nvPr/>
        </p:nvSpPr>
        <p:spPr>
          <a:xfrm>
            <a:off x="768240" y="5632560"/>
            <a:ext cx="5850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020" b="1" u="none" strike="noStrike">
                <a:solidFill>
                  <a:srgbClr val="64748B"/>
                </a:solidFill>
                <a:effectLst/>
                <a:uFillTx/>
                <a:latin typeface="Noto Sans CJK TC"/>
                <a:ea typeface="Noto Sans CJK TC"/>
              </a:rPr>
              <a:t>技術棧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38"/>
          <p:cNvSpPr/>
          <p:nvPr/>
        </p:nvSpPr>
        <p:spPr>
          <a:xfrm>
            <a:off x="1389960" y="5586840"/>
            <a:ext cx="676440" cy="292320"/>
          </a:xfrm>
          <a:prstGeom prst="roundRect">
            <a:avLst>
              <a:gd name="adj" fmla="val 37500"/>
            </a:avLst>
          </a:prstGeom>
          <a:solidFill>
            <a:srgbClr val="EAF2FF"/>
          </a:solidFill>
          <a:ln w="12700">
            <a:solidFill>
              <a:srgbClr val="EAF2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39"/>
          <p:cNvSpPr/>
          <p:nvPr/>
        </p:nvSpPr>
        <p:spPr>
          <a:xfrm>
            <a:off x="1389960" y="5586840"/>
            <a:ext cx="6764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1" u="none" strike="noStrike">
                <a:solidFill>
                  <a:srgbClr val="2563EB"/>
                </a:solidFill>
                <a:effectLst/>
                <a:uFillTx/>
                <a:latin typeface="Noto Sans CJK TC"/>
                <a:ea typeface="Noto Sans CJK TC"/>
              </a:rPr>
              <a:t>Python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40"/>
          <p:cNvSpPr/>
          <p:nvPr/>
        </p:nvSpPr>
        <p:spPr>
          <a:xfrm>
            <a:off x="2176200" y="5586840"/>
            <a:ext cx="676440" cy="292320"/>
          </a:xfrm>
          <a:prstGeom prst="roundRect">
            <a:avLst>
              <a:gd name="adj" fmla="val 37500"/>
            </a:avLst>
          </a:prstGeom>
          <a:solidFill>
            <a:srgbClr val="E8FAFD"/>
          </a:solidFill>
          <a:ln w="12700">
            <a:solidFill>
              <a:srgbClr val="E8FAFD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41"/>
          <p:cNvSpPr/>
          <p:nvPr/>
        </p:nvSpPr>
        <p:spPr>
          <a:xfrm>
            <a:off x="2176200" y="5586840"/>
            <a:ext cx="6764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1" u="none" strike="noStrike">
                <a:solidFill>
                  <a:srgbClr val="0891B2"/>
                </a:solidFill>
                <a:effectLst/>
                <a:uFillTx/>
                <a:latin typeface="Noto Sans CJK TC"/>
                <a:ea typeface="Noto Sans CJK TC"/>
              </a:rPr>
              <a:t>C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42"/>
          <p:cNvSpPr/>
          <p:nvPr/>
        </p:nvSpPr>
        <p:spPr>
          <a:xfrm>
            <a:off x="2962800" y="5586840"/>
            <a:ext cx="676440" cy="292320"/>
          </a:xfrm>
          <a:prstGeom prst="roundRect">
            <a:avLst>
              <a:gd name="adj" fmla="val 37500"/>
            </a:avLst>
          </a:prstGeom>
          <a:solidFill>
            <a:srgbClr val="EAF2FF"/>
          </a:solidFill>
          <a:ln w="12700">
            <a:solidFill>
              <a:srgbClr val="EAF2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43"/>
          <p:cNvSpPr/>
          <p:nvPr/>
        </p:nvSpPr>
        <p:spPr>
          <a:xfrm>
            <a:off x="2962800" y="5586840"/>
            <a:ext cx="6764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1" u="none" strike="noStrike">
                <a:solidFill>
                  <a:srgbClr val="2563EB"/>
                </a:solidFill>
                <a:effectLst/>
                <a:uFillTx/>
                <a:latin typeface="Noto Sans CJK TC"/>
                <a:ea typeface="Noto Sans CJK TC"/>
              </a:rPr>
              <a:t>Linux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Shape 44"/>
          <p:cNvSpPr/>
          <p:nvPr/>
        </p:nvSpPr>
        <p:spPr>
          <a:xfrm>
            <a:off x="3749040" y="5586840"/>
            <a:ext cx="676440" cy="292320"/>
          </a:xfrm>
          <a:prstGeom prst="roundRect">
            <a:avLst>
              <a:gd name="adj" fmla="val 37500"/>
            </a:avLst>
          </a:prstGeom>
          <a:solidFill>
            <a:srgbClr val="E8FAFD"/>
          </a:solidFill>
          <a:ln w="12700">
            <a:solidFill>
              <a:srgbClr val="E8FAFD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45"/>
          <p:cNvSpPr/>
          <p:nvPr/>
        </p:nvSpPr>
        <p:spPr>
          <a:xfrm>
            <a:off x="3749040" y="5586840"/>
            <a:ext cx="6764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1" u="none" strike="noStrike">
                <a:solidFill>
                  <a:srgbClr val="0891B2"/>
                </a:solidFill>
                <a:effectLst/>
                <a:uFillTx/>
                <a:latin typeface="Noto Sans CJK TC"/>
                <a:ea typeface="Noto Sans CJK TC"/>
              </a:rPr>
              <a:t>OpenCV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Shape 46"/>
          <p:cNvSpPr/>
          <p:nvPr/>
        </p:nvSpPr>
        <p:spPr>
          <a:xfrm>
            <a:off x="4535280" y="5586840"/>
            <a:ext cx="676440" cy="292320"/>
          </a:xfrm>
          <a:prstGeom prst="roundRect">
            <a:avLst>
              <a:gd name="adj" fmla="val 37500"/>
            </a:avLst>
          </a:prstGeom>
          <a:solidFill>
            <a:srgbClr val="EAF2FF"/>
          </a:solidFill>
          <a:ln w="12700">
            <a:solidFill>
              <a:srgbClr val="EAF2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47"/>
          <p:cNvSpPr/>
          <p:nvPr/>
        </p:nvSpPr>
        <p:spPr>
          <a:xfrm>
            <a:off x="4535280" y="5586840"/>
            <a:ext cx="6764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1" u="none" strike="noStrike">
                <a:solidFill>
                  <a:srgbClr val="2563EB"/>
                </a:solidFill>
                <a:effectLst/>
                <a:uFillTx/>
                <a:latin typeface="Noto Sans CJK TC"/>
                <a:ea typeface="Noto Sans CJK TC"/>
              </a:rPr>
              <a:t>CNN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48"/>
          <p:cNvSpPr/>
          <p:nvPr/>
        </p:nvSpPr>
        <p:spPr>
          <a:xfrm>
            <a:off x="5321880" y="5586840"/>
            <a:ext cx="676440" cy="292320"/>
          </a:xfrm>
          <a:prstGeom prst="roundRect">
            <a:avLst>
              <a:gd name="adj" fmla="val 37500"/>
            </a:avLst>
          </a:prstGeom>
          <a:solidFill>
            <a:srgbClr val="E8FAFD"/>
          </a:solidFill>
          <a:ln w="12700">
            <a:solidFill>
              <a:srgbClr val="E8FAFD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49"/>
          <p:cNvSpPr/>
          <p:nvPr/>
        </p:nvSpPr>
        <p:spPr>
          <a:xfrm>
            <a:off x="5321880" y="5586840"/>
            <a:ext cx="6764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1" u="none" strike="noStrike">
                <a:solidFill>
                  <a:srgbClr val="0891B2"/>
                </a:solidFill>
                <a:effectLst/>
                <a:uFillTx/>
                <a:latin typeface="Noto Sans CJK TC"/>
                <a:ea typeface="Noto Sans CJK TC"/>
              </a:rPr>
              <a:t>LSTM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Shape 50"/>
          <p:cNvSpPr/>
          <p:nvPr/>
        </p:nvSpPr>
        <p:spPr>
          <a:xfrm>
            <a:off x="6108120" y="5586840"/>
            <a:ext cx="676440" cy="292320"/>
          </a:xfrm>
          <a:prstGeom prst="roundRect">
            <a:avLst>
              <a:gd name="adj" fmla="val 37500"/>
            </a:avLst>
          </a:prstGeom>
          <a:solidFill>
            <a:srgbClr val="EAF2FF"/>
          </a:solidFill>
          <a:ln w="12700">
            <a:solidFill>
              <a:srgbClr val="EAF2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51"/>
          <p:cNvSpPr/>
          <p:nvPr/>
        </p:nvSpPr>
        <p:spPr>
          <a:xfrm>
            <a:off x="6108120" y="5586840"/>
            <a:ext cx="6764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1" u="none" strike="noStrike">
                <a:solidFill>
                  <a:srgbClr val="2563EB"/>
                </a:solidFill>
                <a:effectLst/>
                <a:uFillTx/>
                <a:latin typeface="Noto Sans CJK TC"/>
                <a:ea typeface="Noto Sans CJK TC"/>
              </a:rPr>
              <a:t>Edge AI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Shape 52"/>
          <p:cNvSpPr/>
          <p:nvPr/>
        </p:nvSpPr>
        <p:spPr>
          <a:xfrm>
            <a:off x="7425000" y="5532120"/>
            <a:ext cx="3913200" cy="529920"/>
          </a:xfrm>
          <a:prstGeom prst="roundRect">
            <a:avLst>
              <a:gd name="adj" fmla="val 20690"/>
            </a:avLst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53"/>
          <p:cNvSpPr/>
          <p:nvPr/>
        </p:nvSpPr>
        <p:spPr>
          <a:xfrm>
            <a:off x="7626240" y="5532120"/>
            <a:ext cx="3501720" cy="529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80" b="1" u="none" strike="noStrike">
                <a:solidFill>
                  <a:srgbClr val="FFFFFF"/>
                </a:solidFill>
                <a:effectLst/>
                <a:uFillTx/>
                <a:latin typeface="Noto Sans CJK TC"/>
                <a:ea typeface="Noto Sans CJK TC"/>
              </a:rPr>
              <a:t>研究延伸｜碩士論文：</a:t>
            </a:r>
            <a:r>
              <a:rPr lang="en-US" sz="980" b="1" u="none" strike="noStrike">
                <a:solidFill>
                  <a:srgbClr val="FFFFFF"/>
                </a:solidFill>
                <a:effectLst/>
                <a:uFillTx/>
                <a:latin typeface="Noto Sans CJK TC"/>
                <a:ea typeface="Noto Sans CJK TC"/>
              </a:rPr>
              <a:t>ToF </a:t>
            </a:r>
            <a:r>
              <a:rPr lang="zh-CN" sz="980" b="1" u="none" strike="noStrike">
                <a:solidFill>
                  <a:srgbClr val="FFFFFF"/>
                </a:solidFill>
                <a:effectLst/>
                <a:uFillTx/>
                <a:latin typeface="Noto Sans CJK TC"/>
                <a:ea typeface="Noto Sans CJK TC"/>
              </a:rPr>
              <a:t>深度影像 </a:t>
            </a:r>
            <a:r>
              <a:rPr lang="en-US" sz="980" b="1" u="none" strike="noStrike">
                <a:solidFill>
                  <a:srgbClr val="FFFFFF"/>
                </a:solidFill>
                <a:effectLst/>
                <a:uFillTx/>
                <a:latin typeface="Noto Sans CJK TC"/>
                <a:ea typeface="Noto Sans CJK TC"/>
              </a:rPr>
              <a:t>+ LSTM </a:t>
            </a:r>
            <a:r>
              <a:rPr lang="zh-CN" sz="980" b="1" u="none" strike="noStrike">
                <a:solidFill>
                  <a:srgbClr val="FFFFFF"/>
                </a:solidFill>
                <a:effectLst/>
                <a:uFillTx/>
                <a:latin typeface="Noto Sans CJK TC"/>
                <a:ea typeface="Noto Sans CJK TC"/>
              </a:rPr>
              <a:t>跌倒偵測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PlaceHolder 1"/>
          <p:cNvSpPr>
            <a:spLocks noGrp="1"/>
          </p:cNvSpPr>
          <p:nvPr>
            <p:ph type="sldNum" idx="8"/>
          </p:nvPr>
        </p:nvSpPr>
        <p:spPr>
          <a:xfrm>
            <a:off x="11612880" y="6473880"/>
            <a:ext cx="228240" cy="18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850" b="0" u="none" strike="noStrike">
                <a:solidFill>
                  <a:srgbClr val="94A3B8"/>
                </a:solidFill>
                <a:effectLst/>
                <a:uFillTx/>
                <a:latin typeface="Noto Sans CJK TC"/>
                <a:ea typeface="Noto Sans CJK TC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137FD96-8BB0-460F-947F-5037E7066AD0}" type="slidenum">
              <a:rPr lang="en-US" sz="850" b="0" u="none" strike="noStrike">
                <a:solidFill>
                  <a:srgbClr val="94A3B8"/>
                </a:solidFill>
                <a:effectLst/>
                <a:uFillTx/>
                <a:latin typeface="Noto Sans CJK TC"/>
                <a:ea typeface="Noto Sans CJK TC"/>
              </a:rPr>
              <a:t>6</a:t>
            </a:fld>
            <a:endParaRPr lang="en-US" sz="8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340A1-DA9B-6C64-DEB1-1A8788069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 72">
            <a:extLst>
              <a:ext uri="{FF2B5EF4-FFF2-40B4-BE49-F238E27FC236}">
                <a16:creationId xmlns:a16="http://schemas.microsoft.com/office/drawing/2014/main" id="{A6ACCC33-3AC0-2E69-1BDB-3E0E755D20A4}"/>
              </a:ext>
            </a:extLst>
          </p:cNvPr>
          <p:cNvSpPr/>
          <p:nvPr/>
        </p:nvSpPr>
        <p:spPr>
          <a:xfrm>
            <a:off x="-23086" y="893"/>
            <a:ext cx="935860" cy="6856215"/>
          </a:xfrm>
          <a:prstGeom prst="rect">
            <a:avLst/>
          </a:prstGeom>
          <a:solidFill>
            <a:srgbClr val="202A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99"/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2FB1A71F-ED61-B416-3267-4828AE31571A}"/>
              </a:ext>
            </a:extLst>
          </p:cNvPr>
          <p:cNvGrpSpPr/>
          <p:nvPr/>
        </p:nvGrpSpPr>
        <p:grpSpPr>
          <a:xfrm>
            <a:off x="552828" y="189483"/>
            <a:ext cx="670385" cy="604429"/>
            <a:chOff x="5424755" y="1340768"/>
            <a:chExt cx="670560" cy="604586"/>
          </a:xfrm>
        </p:grpSpPr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1D4D0C19-B6D7-D111-2147-FD3947211C4F}"/>
                </a:ext>
              </a:extLst>
            </p:cNvPr>
            <p:cNvGrpSpPr/>
            <p:nvPr/>
          </p:nvGrpSpPr>
          <p:grpSpPr>
            <a:xfrm>
              <a:off x="5424755" y="1340768"/>
              <a:ext cx="670560" cy="604586"/>
              <a:chOff x="3720691" y="2824413"/>
              <a:chExt cx="1341120" cy="1209172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45129B28-1AB4-957F-4C0B-9E74FC464CFB}"/>
                  </a:ext>
                </a:extLst>
              </p:cNvPr>
              <p:cNvSpPr>
                <a:spLocks/>
              </p:cNvSpPr>
              <p:nvPr/>
            </p:nvSpPr>
            <p:spPr bwMode="auto">
              <a:xfrm rot="1855731">
                <a:off x="3720691" y="2824413"/>
                <a:ext cx="1341120" cy="1209172"/>
              </a:xfrm>
              <a:custGeom>
                <a:avLst/>
                <a:gdLst>
                  <a:gd name="T0" fmla="*/ 2151 w 2740"/>
                  <a:gd name="T1" fmla="*/ 2315 h 2446"/>
                  <a:gd name="T2" fmla="*/ 2055 w 2740"/>
                  <a:gd name="T3" fmla="*/ 2410 h 2446"/>
                  <a:gd name="T4" fmla="*/ 1918 w 2740"/>
                  <a:gd name="T5" fmla="*/ 2445 h 2446"/>
                  <a:gd name="T6" fmla="*/ 816 w 2740"/>
                  <a:gd name="T7" fmla="*/ 2445 h 2446"/>
                  <a:gd name="T8" fmla="*/ 685 w 2740"/>
                  <a:gd name="T9" fmla="*/ 2410 h 2446"/>
                  <a:gd name="T10" fmla="*/ 589 w 2740"/>
                  <a:gd name="T11" fmla="*/ 2314 h 2446"/>
                  <a:gd name="T12" fmla="*/ 36 w 2740"/>
                  <a:gd name="T13" fmla="*/ 1356 h 2446"/>
                  <a:gd name="T14" fmla="*/ 0 w 2740"/>
                  <a:gd name="T15" fmla="*/ 1223 h 2446"/>
                  <a:gd name="T16" fmla="*/ 36 w 2740"/>
                  <a:gd name="T17" fmla="*/ 1089 h 2446"/>
                  <a:gd name="T18" fmla="*/ 587 w 2740"/>
                  <a:gd name="T19" fmla="*/ 135 h 2446"/>
                  <a:gd name="T20" fmla="*/ 685 w 2740"/>
                  <a:gd name="T21" fmla="*/ 37 h 2446"/>
                  <a:gd name="T22" fmla="*/ 810 w 2740"/>
                  <a:gd name="T23" fmla="*/ 1 h 2446"/>
                  <a:gd name="T24" fmla="*/ 1916 w 2740"/>
                  <a:gd name="T25" fmla="*/ 1 h 2446"/>
                  <a:gd name="T26" fmla="*/ 2055 w 2740"/>
                  <a:gd name="T27" fmla="*/ 37 h 2446"/>
                  <a:gd name="T28" fmla="*/ 2151 w 2740"/>
                  <a:gd name="T29" fmla="*/ 132 h 2446"/>
                  <a:gd name="T30" fmla="*/ 2702 w 2740"/>
                  <a:gd name="T31" fmla="*/ 1086 h 2446"/>
                  <a:gd name="T32" fmla="*/ 2740 w 2740"/>
                  <a:gd name="T33" fmla="*/ 1223 h 2446"/>
                  <a:gd name="T34" fmla="*/ 2701 w 2740"/>
                  <a:gd name="T35" fmla="*/ 1361 h 2446"/>
                  <a:gd name="T36" fmla="*/ 2151 w 2740"/>
                  <a:gd name="T37" fmla="*/ 2315 h 24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2740" h="2446">
                    <a:moveTo>
                      <a:pt x="2151" y="2315"/>
                    </a:moveTo>
                    <a:cubicBezTo>
                      <a:pt x="2128" y="2353"/>
                      <a:pt x="2096" y="2386"/>
                      <a:pt x="2055" y="2410"/>
                    </a:cubicBezTo>
                    <a:cubicBezTo>
                      <a:pt x="2012" y="2435"/>
                      <a:pt x="1965" y="2446"/>
                      <a:pt x="1918" y="2445"/>
                    </a:cubicBezTo>
                    <a:lnTo>
                      <a:pt x="816" y="2445"/>
                    </a:lnTo>
                    <a:cubicBezTo>
                      <a:pt x="772" y="2445"/>
                      <a:pt x="726" y="2434"/>
                      <a:pt x="685" y="2410"/>
                    </a:cubicBezTo>
                    <a:cubicBezTo>
                      <a:pt x="644" y="2386"/>
                      <a:pt x="611" y="2353"/>
                      <a:pt x="589" y="2314"/>
                    </a:cubicBezTo>
                    <a:lnTo>
                      <a:pt x="36" y="1356"/>
                    </a:lnTo>
                    <a:cubicBezTo>
                      <a:pt x="13" y="1317"/>
                      <a:pt x="0" y="1272"/>
                      <a:pt x="0" y="1223"/>
                    </a:cubicBezTo>
                    <a:cubicBezTo>
                      <a:pt x="0" y="1174"/>
                      <a:pt x="13" y="1129"/>
                      <a:pt x="36" y="1089"/>
                    </a:cubicBezTo>
                    <a:lnTo>
                      <a:pt x="587" y="135"/>
                    </a:lnTo>
                    <a:cubicBezTo>
                      <a:pt x="610" y="96"/>
                      <a:pt x="643" y="61"/>
                      <a:pt x="685" y="37"/>
                    </a:cubicBezTo>
                    <a:cubicBezTo>
                      <a:pt x="724" y="14"/>
                      <a:pt x="767" y="2"/>
                      <a:pt x="810" y="1"/>
                    </a:cubicBezTo>
                    <a:lnTo>
                      <a:pt x="1916" y="1"/>
                    </a:lnTo>
                    <a:cubicBezTo>
                      <a:pt x="1963" y="0"/>
                      <a:pt x="2011" y="11"/>
                      <a:pt x="2055" y="37"/>
                    </a:cubicBezTo>
                    <a:cubicBezTo>
                      <a:pt x="2096" y="60"/>
                      <a:pt x="2129" y="93"/>
                      <a:pt x="2151" y="132"/>
                    </a:cubicBezTo>
                    <a:lnTo>
                      <a:pt x="2702" y="1086"/>
                    </a:lnTo>
                    <a:cubicBezTo>
                      <a:pt x="2726" y="1126"/>
                      <a:pt x="2740" y="1173"/>
                      <a:pt x="2740" y="1223"/>
                    </a:cubicBezTo>
                    <a:cubicBezTo>
                      <a:pt x="2740" y="1274"/>
                      <a:pt x="2726" y="1321"/>
                      <a:pt x="2701" y="1361"/>
                    </a:cubicBezTo>
                    <a:lnTo>
                      <a:pt x="2151" y="2315"/>
                    </a:lnTo>
                    <a:close/>
                  </a:path>
                </a:pathLst>
              </a:custGeom>
              <a:gradFill>
                <a:gsLst>
                  <a:gs pos="0">
                    <a:srgbClr val="D3D3D3"/>
                  </a:gs>
                  <a:gs pos="100000">
                    <a:srgbClr val="F9F9F9"/>
                  </a:gs>
                </a:gsLst>
                <a:lin ang="16200000" scaled="0"/>
              </a:gradFill>
              <a:ln w="12700" cap="flat">
                <a:noFill/>
                <a:prstDash val="solid"/>
                <a:miter lim="800000"/>
                <a:headEnd/>
                <a:tailEnd/>
              </a:ln>
              <a:effectLst>
                <a:outerShdw blurRad="190500" dist="1143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16" tIns="45708" rIns="91416" bIns="45708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 sz="1799"/>
              </a:p>
            </p:txBody>
          </p:sp>
          <p:sp>
            <p:nvSpPr>
              <p:cNvPr id="19" name="Freeform 5">
                <a:extLst>
                  <a:ext uri="{FF2B5EF4-FFF2-40B4-BE49-F238E27FC236}">
                    <a16:creationId xmlns:a16="http://schemas.microsoft.com/office/drawing/2014/main" id="{F72324B1-FEF1-0AB1-E1F2-28CED4FF33BE}"/>
                  </a:ext>
                </a:extLst>
              </p:cNvPr>
              <p:cNvSpPr>
                <a:spLocks/>
              </p:cNvSpPr>
              <p:nvPr/>
            </p:nvSpPr>
            <p:spPr bwMode="auto">
              <a:xfrm rot="1855731">
                <a:off x="3764581" y="2863367"/>
                <a:ext cx="1264630" cy="1140208"/>
              </a:xfrm>
              <a:custGeom>
                <a:avLst/>
                <a:gdLst>
                  <a:gd name="T0" fmla="*/ 2151 w 2740"/>
                  <a:gd name="T1" fmla="*/ 2315 h 2446"/>
                  <a:gd name="T2" fmla="*/ 2055 w 2740"/>
                  <a:gd name="T3" fmla="*/ 2410 h 2446"/>
                  <a:gd name="T4" fmla="*/ 1918 w 2740"/>
                  <a:gd name="T5" fmla="*/ 2445 h 2446"/>
                  <a:gd name="T6" fmla="*/ 816 w 2740"/>
                  <a:gd name="T7" fmla="*/ 2445 h 2446"/>
                  <a:gd name="T8" fmla="*/ 685 w 2740"/>
                  <a:gd name="T9" fmla="*/ 2410 h 2446"/>
                  <a:gd name="T10" fmla="*/ 589 w 2740"/>
                  <a:gd name="T11" fmla="*/ 2314 h 2446"/>
                  <a:gd name="T12" fmla="*/ 36 w 2740"/>
                  <a:gd name="T13" fmla="*/ 1356 h 2446"/>
                  <a:gd name="T14" fmla="*/ 0 w 2740"/>
                  <a:gd name="T15" fmla="*/ 1223 h 2446"/>
                  <a:gd name="T16" fmla="*/ 36 w 2740"/>
                  <a:gd name="T17" fmla="*/ 1089 h 2446"/>
                  <a:gd name="T18" fmla="*/ 587 w 2740"/>
                  <a:gd name="T19" fmla="*/ 135 h 2446"/>
                  <a:gd name="T20" fmla="*/ 685 w 2740"/>
                  <a:gd name="T21" fmla="*/ 37 h 2446"/>
                  <a:gd name="T22" fmla="*/ 810 w 2740"/>
                  <a:gd name="T23" fmla="*/ 1 h 2446"/>
                  <a:gd name="T24" fmla="*/ 1916 w 2740"/>
                  <a:gd name="T25" fmla="*/ 1 h 2446"/>
                  <a:gd name="T26" fmla="*/ 2055 w 2740"/>
                  <a:gd name="T27" fmla="*/ 37 h 2446"/>
                  <a:gd name="T28" fmla="*/ 2151 w 2740"/>
                  <a:gd name="T29" fmla="*/ 132 h 2446"/>
                  <a:gd name="T30" fmla="*/ 2702 w 2740"/>
                  <a:gd name="T31" fmla="*/ 1086 h 2446"/>
                  <a:gd name="T32" fmla="*/ 2740 w 2740"/>
                  <a:gd name="T33" fmla="*/ 1223 h 2446"/>
                  <a:gd name="T34" fmla="*/ 2701 w 2740"/>
                  <a:gd name="T35" fmla="*/ 1361 h 2446"/>
                  <a:gd name="T36" fmla="*/ 2151 w 2740"/>
                  <a:gd name="T37" fmla="*/ 2315 h 24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2740" h="2446">
                    <a:moveTo>
                      <a:pt x="2151" y="2315"/>
                    </a:moveTo>
                    <a:cubicBezTo>
                      <a:pt x="2128" y="2353"/>
                      <a:pt x="2096" y="2386"/>
                      <a:pt x="2055" y="2410"/>
                    </a:cubicBezTo>
                    <a:cubicBezTo>
                      <a:pt x="2012" y="2435"/>
                      <a:pt x="1965" y="2446"/>
                      <a:pt x="1918" y="2445"/>
                    </a:cubicBezTo>
                    <a:lnTo>
                      <a:pt x="816" y="2445"/>
                    </a:lnTo>
                    <a:cubicBezTo>
                      <a:pt x="772" y="2445"/>
                      <a:pt x="726" y="2434"/>
                      <a:pt x="685" y="2410"/>
                    </a:cubicBezTo>
                    <a:cubicBezTo>
                      <a:pt x="644" y="2386"/>
                      <a:pt x="611" y="2353"/>
                      <a:pt x="589" y="2314"/>
                    </a:cubicBezTo>
                    <a:lnTo>
                      <a:pt x="36" y="1356"/>
                    </a:lnTo>
                    <a:cubicBezTo>
                      <a:pt x="13" y="1317"/>
                      <a:pt x="0" y="1272"/>
                      <a:pt x="0" y="1223"/>
                    </a:cubicBezTo>
                    <a:cubicBezTo>
                      <a:pt x="0" y="1174"/>
                      <a:pt x="13" y="1129"/>
                      <a:pt x="36" y="1089"/>
                    </a:cubicBezTo>
                    <a:lnTo>
                      <a:pt x="587" y="135"/>
                    </a:lnTo>
                    <a:cubicBezTo>
                      <a:pt x="610" y="96"/>
                      <a:pt x="643" y="61"/>
                      <a:pt x="685" y="37"/>
                    </a:cubicBezTo>
                    <a:cubicBezTo>
                      <a:pt x="724" y="14"/>
                      <a:pt x="767" y="2"/>
                      <a:pt x="810" y="1"/>
                    </a:cubicBezTo>
                    <a:lnTo>
                      <a:pt x="1916" y="1"/>
                    </a:lnTo>
                    <a:cubicBezTo>
                      <a:pt x="1963" y="0"/>
                      <a:pt x="2011" y="11"/>
                      <a:pt x="2055" y="37"/>
                    </a:cubicBezTo>
                    <a:cubicBezTo>
                      <a:pt x="2096" y="60"/>
                      <a:pt x="2129" y="93"/>
                      <a:pt x="2151" y="132"/>
                    </a:cubicBezTo>
                    <a:lnTo>
                      <a:pt x="2702" y="1086"/>
                    </a:lnTo>
                    <a:cubicBezTo>
                      <a:pt x="2726" y="1126"/>
                      <a:pt x="2740" y="1173"/>
                      <a:pt x="2740" y="1223"/>
                    </a:cubicBezTo>
                    <a:cubicBezTo>
                      <a:pt x="2740" y="1274"/>
                      <a:pt x="2726" y="1321"/>
                      <a:pt x="2701" y="1361"/>
                    </a:cubicBezTo>
                    <a:lnTo>
                      <a:pt x="2151" y="2315"/>
                    </a:lnTo>
                    <a:close/>
                  </a:path>
                </a:pathLst>
              </a:custGeom>
              <a:gradFill>
                <a:gsLst>
                  <a:gs pos="0">
                    <a:srgbClr val="D3D3D3"/>
                  </a:gs>
                  <a:gs pos="100000">
                    <a:srgbClr val="F9F9F9"/>
                  </a:gs>
                </a:gsLst>
                <a:lin ang="21594000" scaled="0"/>
              </a:gradFill>
              <a:ln w="12700" cap="flat">
                <a:noFill/>
                <a:prstDash val="solid"/>
                <a:miter lim="800000"/>
                <a:headEnd/>
                <a:tailEnd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16" tIns="45708" rIns="91416" bIns="45708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 sz="1799"/>
              </a:p>
            </p:txBody>
          </p:sp>
        </p:grpSp>
        <p:sp>
          <p:nvSpPr>
            <p:cNvPr id="17" name="Freeform 5">
              <a:extLst>
                <a:ext uri="{FF2B5EF4-FFF2-40B4-BE49-F238E27FC236}">
                  <a16:creationId xmlns:a16="http://schemas.microsoft.com/office/drawing/2014/main" id="{8FFFC4F1-5039-B821-2D7F-B35AA7353763}"/>
                </a:ext>
              </a:extLst>
            </p:cNvPr>
            <p:cNvSpPr>
              <a:spLocks/>
            </p:cNvSpPr>
            <p:nvPr/>
          </p:nvSpPr>
          <p:spPr bwMode="auto">
            <a:xfrm rot="1855731">
              <a:off x="5470180" y="1383052"/>
              <a:ext cx="576760" cy="520015"/>
            </a:xfrm>
            <a:custGeom>
              <a:avLst/>
              <a:gdLst>
                <a:gd name="T0" fmla="*/ 2151 w 2740"/>
                <a:gd name="T1" fmla="*/ 2315 h 2446"/>
                <a:gd name="T2" fmla="*/ 2055 w 2740"/>
                <a:gd name="T3" fmla="*/ 2410 h 2446"/>
                <a:gd name="T4" fmla="*/ 1918 w 2740"/>
                <a:gd name="T5" fmla="*/ 2445 h 2446"/>
                <a:gd name="T6" fmla="*/ 816 w 2740"/>
                <a:gd name="T7" fmla="*/ 2445 h 2446"/>
                <a:gd name="T8" fmla="*/ 685 w 2740"/>
                <a:gd name="T9" fmla="*/ 2410 h 2446"/>
                <a:gd name="T10" fmla="*/ 589 w 2740"/>
                <a:gd name="T11" fmla="*/ 2314 h 2446"/>
                <a:gd name="T12" fmla="*/ 36 w 2740"/>
                <a:gd name="T13" fmla="*/ 1356 h 2446"/>
                <a:gd name="T14" fmla="*/ 0 w 2740"/>
                <a:gd name="T15" fmla="*/ 1223 h 2446"/>
                <a:gd name="T16" fmla="*/ 36 w 2740"/>
                <a:gd name="T17" fmla="*/ 1089 h 2446"/>
                <a:gd name="T18" fmla="*/ 587 w 2740"/>
                <a:gd name="T19" fmla="*/ 135 h 2446"/>
                <a:gd name="T20" fmla="*/ 685 w 2740"/>
                <a:gd name="T21" fmla="*/ 37 h 2446"/>
                <a:gd name="T22" fmla="*/ 810 w 2740"/>
                <a:gd name="T23" fmla="*/ 1 h 2446"/>
                <a:gd name="T24" fmla="*/ 1916 w 2740"/>
                <a:gd name="T25" fmla="*/ 1 h 2446"/>
                <a:gd name="T26" fmla="*/ 2055 w 2740"/>
                <a:gd name="T27" fmla="*/ 37 h 2446"/>
                <a:gd name="T28" fmla="*/ 2151 w 2740"/>
                <a:gd name="T29" fmla="*/ 132 h 2446"/>
                <a:gd name="T30" fmla="*/ 2702 w 2740"/>
                <a:gd name="T31" fmla="*/ 1086 h 2446"/>
                <a:gd name="T32" fmla="*/ 2740 w 2740"/>
                <a:gd name="T33" fmla="*/ 1223 h 2446"/>
                <a:gd name="T34" fmla="*/ 2701 w 2740"/>
                <a:gd name="T35" fmla="*/ 1361 h 2446"/>
                <a:gd name="T36" fmla="*/ 2151 w 2740"/>
                <a:gd name="T37" fmla="*/ 2315 h 24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740" h="2446">
                  <a:moveTo>
                    <a:pt x="2151" y="2315"/>
                  </a:moveTo>
                  <a:cubicBezTo>
                    <a:pt x="2128" y="2353"/>
                    <a:pt x="2096" y="2386"/>
                    <a:pt x="2055" y="2410"/>
                  </a:cubicBezTo>
                  <a:cubicBezTo>
                    <a:pt x="2012" y="2435"/>
                    <a:pt x="1965" y="2446"/>
                    <a:pt x="1918" y="2445"/>
                  </a:cubicBezTo>
                  <a:lnTo>
                    <a:pt x="816" y="2445"/>
                  </a:lnTo>
                  <a:cubicBezTo>
                    <a:pt x="772" y="2445"/>
                    <a:pt x="726" y="2434"/>
                    <a:pt x="685" y="2410"/>
                  </a:cubicBezTo>
                  <a:cubicBezTo>
                    <a:pt x="644" y="2386"/>
                    <a:pt x="611" y="2353"/>
                    <a:pt x="589" y="2314"/>
                  </a:cubicBezTo>
                  <a:lnTo>
                    <a:pt x="36" y="1356"/>
                  </a:lnTo>
                  <a:cubicBezTo>
                    <a:pt x="13" y="1317"/>
                    <a:pt x="0" y="1272"/>
                    <a:pt x="0" y="1223"/>
                  </a:cubicBezTo>
                  <a:cubicBezTo>
                    <a:pt x="0" y="1174"/>
                    <a:pt x="13" y="1129"/>
                    <a:pt x="36" y="1089"/>
                  </a:cubicBezTo>
                  <a:lnTo>
                    <a:pt x="587" y="135"/>
                  </a:lnTo>
                  <a:cubicBezTo>
                    <a:pt x="610" y="96"/>
                    <a:pt x="643" y="61"/>
                    <a:pt x="685" y="37"/>
                  </a:cubicBezTo>
                  <a:cubicBezTo>
                    <a:pt x="724" y="14"/>
                    <a:pt x="767" y="2"/>
                    <a:pt x="810" y="1"/>
                  </a:cubicBezTo>
                  <a:lnTo>
                    <a:pt x="1916" y="1"/>
                  </a:lnTo>
                  <a:cubicBezTo>
                    <a:pt x="1963" y="0"/>
                    <a:pt x="2011" y="11"/>
                    <a:pt x="2055" y="37"/>
                  </a:cubicBezTo>
                  <a:cubicBezTo>
                    <a:pt x="2096" y="60"/>
                    <a:pt x="2129" y="93"/>
                    <a:pt x="2151" y="132"/>
                  </a:cubicBezTo>
                  <a:lnTo>
                    <a:pt x="2702" y="1086"/>
                  </a:lnTo>
                  <a:cubicBezTo>
                    <a:pt x="2726" y="1126"/>
                    <a:pt x="2740" y="1173"/>
                    <a:pt x="2740" y="1223"/>
                  </a:cubicBezTo>
                  <a:cubicBezTo>
                    <a:pt x="2740" y="1274"/>
                    <a:pt x="2726" y="1321"/>
                    <a:pt x="2701" y="1361"/>
                  </a:cubicBezTo>
                  <a:lnTo>
                    <a:pt x="2151" y="2315"/>
                  </a:lnTo>
                  <a:close/>
                </a:path>
              </a:pathLst>
            </a:custGeom>
            <a:noFill/>
            <a:ln w="9525" cap="flat">
              <a:solidFill>
                <a:srgbClr val="414455"/>
              </a:solidFill>
              <a:prstDash val="sysDash"/>
              <a:miter lim="800000"/>
              <a:headEnd/>
              <a:tailEnd/>
            </a:ln>
            <a:effectLst/>
          </p:spPr>
          <p:txBody>
            <a:bodyPr vert="horz" wrap="square" lIns="91416" tIns="45708" rIns="91416" bIns="45708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 sz="1799"/>
            </a:p>
          </p:txBody>
        </p:sp>
      </p:grpSp>
      <p:sp>
        <p:nvSpPr>
          <p:cNvPr id="20" name="文本框 9">
            <a:extLst>
              <a:ext uri="{FF2B5EF4-FFF2-40B4-BE49-F238E27FC236}">
                <a16:creationId xmlns:a16="http://schemas.microsoft.com/office/drawing/2014/main" id="{1B223927-120D-C11C-EF81-96D2DE13E289}"/>
              </a:ext>
            </a:extLst>
          </p:cNvPr>
          <p:cNvSpPr txBox="1"/>
          <p:nvPr/>
        </p:nvSpPr>
        <p:spPr>
          <a:xfrm>
            <a:off x="1269833" y="308235"/>
            <a:ext cx="1871721" cy="346159"/>
          </a:xfrm>
          <a:prstGeom prst="rect">
            <a:avLst/>
          </a:prstGeom>
          <a:noFill/>
        </p:spPr>
        <p:txBody>
          <a:bodyPr wrap="square" lIns="68562" tIns="34281" rIns="68562" bIns="34281" rtlCol="0">
            <a:spAutoFit/>
          </a:bodyPr>
          <a:lstStyle/>
          <a:p>
            <a:pPr marL="0" lvl="1"/>
            <a:r>
              <a:rPr lang="en-US" altLang="zh-TW" sz="1799" dirty="0">
                <a:solidFill>
                  <a:srgbClr val="414455"/>
                </a:solidFill>
                <a:latin typeface="微软雅黑" pitchFamily="34" charset="-122"/>
                <a:ea typeface="微软雅黑" pitchFamily="34" charset="-122"/>
              </a:rPr>
              <a:t>AI</a:t>
            </a:r>
            <a:r>
              <a:rPr lang="zh-TW" altLang="en-US" sz="1799" dirty="0">
                <a:solidFill>
                  <a:srgbClr val="414455"/>
                </a:solidFill>
                <a:latin typeface="微软雅黑" pitchFamily="34" charset="-122"/>
                <a:ea typeface="微软雅黑" pitchFamily="34" charset="-122"/>
              </a:rPr>
              <a:t> 專案經驗</a:t>
            </a:r>
            <a:endParaRPr lang="zh-CN" altLang="en-US" sz="1799" dirty="0">
              <a:solidFill>
                <a:srgbClr val="414455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21" name="直接连接符 21">
            <a:extLst>
              <a:ext uri="{FF2B5EF4-FFF2-40B4-BE49-F238E27FC236}">
                <a16:creationId xmlns:a16="http://schemas.microsoft.com/office/drawing/2014/main" id="{76F4D422-712C-1EFA-CB40-403B80D860ED}"/>
              </a:ext>
            </a:extLst>
          </p:cNvPr>
          <p:cNvCxnSpPr/>
          <p:nvPr/>
        </p:nvCxnSpPr>
        <p:spPr>
          <a:xfrm>
            <a:off x="1341822" y="668181"/>
            <a:ext cx="9721436" cy="0"/>
          </a:xfrm>
          <a:prstGeom prst="line">
            <a:avLst/>
          </a:prstGeom>
          <a:ln>
            <a:solidFill>
              <a:srgbClr val="414455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" name="组合 22">
            <a:extLst>
              <a:ext uri="{FF2B5EF4-FFF2-40B4-BE49-F238E27FC236}">
                <a16:creationId xmlns:a16="http://schemas.microsoft.com/office/drawing/2014/main" id="{12FB8480-9ADB-2EC0-4C3D-5261AB2FCEAC}"/>
              </a:ext>
            </a:extLst>
          </p:cNvPr>
          <p:cNvGrpSpPr/>
          <p:nvPr/>
        </p:nvGrpSpPr>
        <p:grpSpPr>
          <a:xfrm>
            <a:off x="11236541" y="460205"/>
            <a:ext cx="258653" cy="233204"/>
            <a:chOff x="3720691" y="2824413"/>
            <a:chExt cx="1341120" cy="1209172"/>
          </a:xfrm>
        </p:grpSpPr>
        <p:sp>
          <p:nvSpPr>
            <p:cNvPr id="23" name="Freeform 5">
              <a:extLst>
                <a:ext uri="{FF2B5EF4-FFF2-40B4-BE49-F238E27FC236}">
                  <a16:creationId xmlns:a16="http://schemas.microsoft.com/office/drawing/2014/main" id="{DC1D4F25-E8C1-D510-D054-9B00114FCD60}"/>
                </a:ext>
              </a:extLst>
            </p:cNvPr>
            <p:cNvSpPr>
              <a:spLocks/>
            </p:cNvSpPr>
            <p:nvPr/>
          </p:nvSpPr>
          <p:spPr bwMode="auto">
            <a:xfrm rot="1855731">
              <a:off x="3720691" y="2824413"/>
              <a:ext cx="1341120" cy="1209172"/>
            </a:xfrm>
            <a:custGeom>
              <a:avLst/>
              <a:gdLst>
                <a:gd name="T0" fmla="*/ 2151 w 2740"/>
                <a:gd name="T1" fmla="*/ 2315 h 2446"/>
                <a:gd name="T2" fmla="*/ 2055 w 2740"/>
                <a:gd name="T3" fmla="*/ 2410 h 2446"/>
                <a:gd name="T4" fmla="*/ 1918 w 2740"/>
                <a:gd name="T5" fmla="*/ 2445 h 2446"/>
                <a:gd name="T6" fmla="*/ 816 w 2740"/>
                <a:gd name="T7" fmla="*/ 2445 h 2446"/>
                <a:gd name="T8" fmla="*/ 685 w 2740"/>
                <a:gd name="T9" fmla="*/ 2410 h 2446"/>
                <a:gd name="T10" fmla="*/ 589 w 2740"/>
                <a:gd name="T11" fmla="*/ 2314 h 2446"/>
                <a:gd name="T12" fmla="*/ 36 w 2740"/>
                <a:gd name="T13" fmla="*/ 1356 h 2446"/>
                <a:gd name="T14" fmla="*/ 0 w 2740"/>
                <a:gd name="T15" fmla="*/ 1223 h 2446"/>
                <a:gd name="T16" fmla="*/ 36 w 2740"/>
                <a:gd name="T17" fmla="*/ 1089 h 2446"/>
                <a:gd name="T18" fmla="*/ 587 w 2740"/>
                <a:gd name="T19" fmla="*/ 135 h 2446"/>
                <a:gd name="T20" fmla="*/ 685 w 2740"/>
                <a:gd name="T21" fmla="*/ 37 h 2446"/>
                <a:gd name="T22" fmla="*/ 810 w 2740"/>
                <a:gd name="T23" fmla="*/ 1 h 2446"/>
                <a:gd name="T24" fmla="*/ 1916 w 2740"/>
                <a:gd name="T25" fmla="*/ 1 h 2446"/>
                <a:gd name="T26" fmla="*/ 2055 w 2740"/>
                <a:gd name="T27" fmla="*/ 37 h 2446"/>
                <a:gd name="T28" fmla="*/ 2151 w 2740"/>
                <a:gd name="T29" fmla="*/ 132 h 2446"/>
                <a:gd name="T30" fmla="*/ 2702 w 2740"/>
                <a:gd name="T31" fmla="*/ 1086 h 2446"/>
                <a:gd name="T32" fmla="*/ 2740 w 2740"/>
                <a:gd name="T33" fmla="*/ 1223 h 2446"/>
                <a:gd name="T34" fmla="*/ 2701 w 2740"/>
                <a:gd name="T35" fmla="*/ 1361 h 2446"/>
                <a:gd name="T36" fmla="*/ 2151 w 2740"/>
                <a:gd name="T37" fmla="*/ 2315 h 24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740" h="2446">
                  <a:moveTo>
                    <a:pt x="2151" y="2315"/>
                  </a:moveTo>
                  <a:cubicBezTo>
                    <a:pt x="2128" y="2353"/>
                    <a:pt x="2096" y="2386"/>
                    <a:pt x="2055" y="2410"/>
                  </a:cubicBezTo>
                  <a:cubicBezTo>
                    <a:pt x="2012" y="2435"/>
                    <a:pt x="1965" y="2446"/>
                    <a:pt x="1918" y="2445"/>
                  </a:cubicBezTo>
                  <a:lnTo>
                    <a:pt x="816" y="2445"/>
                  </a:lnTo>
                  <a:cubicBezTo>
                    <a:pt x="772" y="2445"/>
                    <a:pt x="726" y="2434"/>
                    <a:pt x="685" y="2410"/>
                  </a:cubicBezTo>
                  <a:cubicBezTo>
                    <a:pt x="644" y="2386"/>
                    <a:pt x="611" y="2353"/>
                    <a:pt x="589" y="2314"/>
                  </a:cubicBezTo>
                  <a:lnTo>
                    <a:pt x="36" y="1356"/>
                  </a:lnTo>
                  <a:cubicBezTo>
                    <a:pt x="13" y="1317"/>
                    <a:pt x="0" y="1272"/>
                    <a:pt x="0" y="1223"/>
                  </a:cubicBezTo>
                  <a:cubicBezTo>
                    <a:pt x="0" y="1174"/>
                    <a:pt x="13" y="1129"/>
                    <a:pt x="36" y="1089"/>
                  </a:cubicBezTo>
                  <a:lnTo>
                    <a:pt x="587" y="135"/>
                  </a:lnTo>
                  <a:cubicBezTo>
                    <a:pt x="610" y="96"/>
                    <a:pt x="643" y="61"/>
                    <a:pt x="685" y="37"/>
                  </a:cubicBezTo>
                  <a:cubicBezTo>
                    <a:pt x="724" y="14"/>
                    <a:pt x="767" y="2"/>
                    <a:pt x="810" y="1"/>
                  </a:cubicBezTo>
                  <a:lnTo>
                    <a:pt x="1916" y="1"/>
                  </a:lnTo>
                  <a:cubicBezTo>
                    <a:pt x="1963" y="0"/>
                    <a:pt x="2011" y="11"/>
                    <a:pt x="2055" y="37"/>
                  </a:cubicBezTo>
                  <a:cubicBezTo>
                    <a:pt x="2096" y="60"/>
                    <a:pt x="2129" y="93"/>
                    <a:pt x="2151" y="132"/>
                  </a:cubicBezTo>
                  <a:lnTo>
                    <a:pt x="2702" y="1086"/>
                  </a:lnTo>
                  <a:cubicBezTo>
                    <a:pt x="2726" y="1126"/>
                    <a:pt x="2740" y="1173"/>
                    <a:pt x="2740" y="1223"/>
                  </a:cubicBezTo>
                  <a:cubicBezTo>
                    <a:pt x="2740" y="1274"/>
                    <a:pt x="2726" y="1321"/>
                    <a:pt x="2701" y="1361"/>
                  </a:cubicBezTo>
                  <a:lnTo>
                    <a:pt x="2151" y="2315"/>
                  </a:lnTo>
                  <a:close/>
                </a:path>
              </a:pathLst>
            </a:custGeom>
            <a:gradFill>
              <a:gsLst>
                <a:gs pos="0">
                  <a:srgbClr val="D3D3D3"/>
                </a:gs>
                <a:gs pos="100000">
                  <a:srgbClr val="F9F9F9"/>
                </a:gs>
              </a:gsLst>
              <a:lin ang="16200000" scaled="0"/>
            </a:gradFill>
            <a:ln w="12700" cap="flat">
              <a:noFill/>
              <a:prstDash val="solid"/>
              <a:miter lim="800000"/>
              <a:headEnd/>
              <a:tailEnd/>
            </a:ln>
            <a:effectLst>
              <a:outerShdw blurRad="190500" dist="1143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16" tIns="45708" rIns="91416" bIns="45708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 sz="1799">
                <a:latin typeface="方正兰亭黑简体" panose="02000000000000000000" pitchFamily="2" charset="-122"/>
                <a:ea typeface="方正兰亭黑简体" panose="02000000000000000000" pitchFamily="2" charset="-122"/>
              </a:endParaRPr>
            </a:p>
          </p:txBody>
        </p:sp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F81B34C8-4AF6-6EED-9AF4-16892271CDE7}"/>
                </a:ext>
              </a:extLst>
            </p:cNvPr>
            <p:cNvSpPr>
              <a:spLocks/>
            </p:cNvSpPr>
            <p:nvPr/>
          </p:nvSpPr>
          <p:spPr bwMode="auto">
            <a:xfrm rot="1855731">
              <a:off x="3764581" y="2863367"/>
              <a:ext cx="1264630" cy="1140208"/>
            </a:xfrm>
            <a:custGeom>
              <a:avLst/>
              <a:gdLst>
                <a:gd name="T0" fmla="*/ 2151 w 2740"/>
                <a:gd name="T1" fmla="*/ 2315 h 2446"/>
                <a:gd name="T2" fmla="*/ 2055 w 2740"/>
                <a:gd name="T3" fmla="*/ 2410 h 2446"/>
                <a:gd name="T4" fmla="*/ 1918 w 2740"/>
                <a:gd name="T5" fmla="*/ 2445 h 2446"/>
                <a:gd name="T6" fmla="*/ 816 w 2740"/>
                <a:gd name="T7" fmla="*/ 2445 h 2446"/>
                <a:gd name="T8" fmla="*/ 685 w 2740"/>
                <a:gd name="T9" fmla="*/ 2410 h 2446"/>
                <a:gd name="T10" fmla="*/ 589 w 2740"/>
                <a:gd name="T11" fmla="*/ 2314 h 2446"/>
                <a:gd name="T12" fmla="*/ 36 w 2740"/>
                <a:gd name="T13" fmla="*/ 1356 h 2446"/>
                <a:gd name="T14" fmla="*/ 0 w 2740"/>
                <a:gd name="T15" fmla="*/ 1223 h 2446"/>
                <a:gd name="T16" fmla="*/ 36 w 2740"/>
                <a:gd name="T17" fmla="*/ 1089 h 2446"/>
                <a:gd name="T18" fmla="*/ 587 w 2740"/>
                <a:gd name="T19" fmla="*/ 135 h 2446"/>
                <a:gd name="T20" fmla="*/ 685 w 2740"/>
                <a:gd name="T21" fmla="*/ 37 h 2446"/>
                <a:gd name="T22" fmla="*/ 810 w 2740"/>
                <a:gd name="T23" fmla="*/ 1 h 2446"/>
                <a:gd name="T24" fmla="*/ 1916 w 2740"/>
                <a:gd name="T25" fmla="*/ 1 h 2446"/>
                <a:gd name="T26" fmla="*/ 2055 w 2740"/>
                <a:gd name="T27" fmla="*/ 37 h 2446"/>
                <a:gd name="T28" fmla="*/ 2151 w 2740"/>
                <a:gd name="T29" fmla="*/ 132 h 2446"/>
                <a:gd name="T30" fmla="*/ 2702 w 2740"/>
                <a:gd name="T31" fmla="*/ 1086 h 2446"/>
                <a:gd name="T32" fmla="*/ 2740 w 2740"/>
                <a:gd name="T33" fmla="*/ 1223 h 2446"/>
                <a:gd name="T34" fmla="*/ 2701 w 2740"/>
                <a:gd name="T35" fmla="*/ 1361 h 2446"/>
                <a:gd name="T36" fmla="*/ 2151 w 2740"/>
                <a:gd name="T37" fmla="*/ 2315 h 24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740" h="2446">
                  <a:moveTo>
                    <a:pt x="2151" y="2315"/>
                  </a:moveTo>
                  <a:cubicBezTo>
                    <a:pt x="2128" y="2353"/>
                    <a:pt x="2096" y="2386"/>
                    <a:pt x="2055" y="2410"/>
                  </a:cubicBezTo>
                  <a:cubicBezTo>
                    <a:pt x="2012" y="2435"/>
                    <a:pt x="1965" y="2446"/>
                    <a:pt x="1918" y="2445"/>
                  </a:cubicBezTo>
                  <a:lnTo>
                    <a:pt x="816" y="2445"/>
                  </a:lnTo>
                  <a:cubicBezTo>
                    <a:pt x="772" y="2445"/>
                    <a:pt x="726" y="2434"/>
                    <a:pt x="685" y="2410"/>
                  </a:cubicBezTo>
                  <a:cubicBezTo>
                    <a:pt x="644" y="2386"/>
                    <a:pt x="611" y="2353"/>
                    <a:pt x="589" y="2314"/>
                  </a:cubicBezTo>
                  <a:lnTo>
                    <a:pt x="36" y="1356"/>
                  </a:lnTo>
                  <a:cubicBezTo>
                    <a:pt x="13" y="1317"/>
                    <a:pt x="0" y="1272"/>
                    <a:pt x="0" y="1223"/>
                  </a:cubicBezTo>
                  <a:cubicBezTo>
                    <a:pt x="0" y="1174"/>
                    <a:pt x="13" y="1129"/>
                    <a:pt x="36" y="1089"/>
                  </a:cubicBezTo>
                  <a:lnTo>
                    <a:pt x="587" y="135"/>
                  </a:lnTo>
                  <a:cubicBezTo>
                    <a:pt x="610" y="96"/>
                    <a:pt x="643" y="61"/>
                    <a:pt x="685" y="37"/>
                  </a:cubicBezTo>
                  <a:cubicBezTo>
                    <a:pt x="724" y="14"/>
                    <a:pt x="767" y="2"/>
                    <a:pt x="810" y="1"/>
                  </a:cubicBezTo>
                  <a:lnTo>
                    <a:pt x="1916" y="1"/>
                  </a:lnTo>
                  <a:cubicBezTo>
                    <a:pt x="1963" y="0"/>
                    <a:pt x="2011" y="11"/>
                    <a:pt x="2055" y="37"/>
                  </a:cubicBezTo>
                  <a:cubicBezTo>
                    <a:pt x="2096" y="60"/>
                    <a:pt x="2129" y="93"/>
                    <a:pt x="2151" y="132"/>
                  </a:cubicBezTo>
                  <a:lnTo>
                    <a:pt x="2702" y="1086"/>
                  </a:lnTo>
                  <a:cubicBezTo>
                    <a:pt x="2726" y="1126"/>
                    <a:pt x="2740" y="1173"/>
                    <a:pt x="2740" y="1223"/>
                  </a:cubicBezTo>
                  <a:cubicBezTo>
                    <a:pt x="2740" y="1274"/>
                    <a:pt x="2726" y="1321"/>
                    <a:pt x="2701" y="1361"/>
                  </a:cubicBezTo>
                  <a:lnTo>
                    <a:pt x="2151" y="2315"/>
                  </a:lnTo>
                  <a:close/>
                </a:path>
              </a:pathLst>
            </a:custGeom>
            <a:gradFill>
              <a:gsLst>
                <a:gs pos="0">
                  <a:srgbClr val="D3D3D3"/>
                </a:gs>
                <a:gs pos="100000">
                  <a:srgbClr val="F9F9F9"/>
                </a:gs>
              </a:gsLst>
              <a:lin ang="21594000" scaled="0"/>
            </a:gradFill>
            <a:ln w="12700" cap="flat">
              <a:noFill/>
              <a:prstDash val="solid"/>
              <a:miter lim="800000"/>
              <a:headEnd/>
              <a:tailE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16" tIns="45708" rIns="91416" bIns="45708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 sz="1799">
                <a:latin typeface="方正兰亭黑简体" panose="02000000000000000000" pitchFamily="2" charset="-122"/>
                <a:ea typeface="方正兰亭黑简体" panose="02000000000000000000" pitchFamily="2" charset="-122"/>
              </a:endParaRPr>
            </a:p>
          </p:txBody>
        </p:sp>
      </p:grpSp>
      <p:sp>
        <p:nvSpPr>
          <p:cNvPr id="30" name="文本框 9">
            <a:extLst>
              <a:ext uri="{FF2B5EF4-FFF2-40B4-BE49-F238E27FC236}">
                <a16:creationId xmlns:a16="http://schemas.microsoft.com/office/drawing/2014/main" id="{09899E41-C0A0-2AE5-FCAF-66A0C5747DC3}"/>
              </a:ext>
            </a:extLst>
          </p:cNvPr>
          <p:cNvSpPr txBox="1"/>
          <p:nvPr/>
        </p:nvSpPr>
        <p:spPr>
          <a:xfrm>
            <a:off x="10703312" y="333463"/>
            <a:ext cx="431936" cy="346159"/>
          </a:xfrm>
          <a:prstGeom prst="rect">
            <a:avLst/>
          </a:prstGeom>
          <a:noFill/>
        </p:spPr>
        <p:txBody>
          <a:bodyPr wrap="square" lIns="68562" tIns="34281" rIns="68562" bIns="34281" rtlCol="0">
            <a:spAutoFit/>
          </a:bodyPr>
          <a:lstStyle/>
          <a:p>
            <a:pPr marL="0" lvl="1"/>
            <a:fld id="{019C1566-F6BD-42DB-B252-562BB8CFF26B}" type="slidenum">
              <a:rPr lang="en-US" altLang="zh-CN" sz="1799">
                <a:solidFill>
                  <a:srgbClr val="414455"/>
                </a:solidFill>
                <a:latin typeface="方正兰亭黑简体" panose="02000000000000000000" pitchFamily="2" charset="-122"/>
                <a:ea typeface="方正兰亭黑简体" panose="02000000000000000000" pitchFamily="2" charset="-122"/>
              </a:rPr>
              <a:pPr marL="0" lvl="1"/>
              <a:t>7</a:t>
            </a:fld>
            <a:endParaRPr lang="zh-CN" altLang="en-US" sz="1799" dirty="0">
              <a:solidFill>
                <a:srgbClr val="414455"/>
              </a:solidFill>
              <a:latin typeface="方正兰亭黑简体" panose="02000000000000000000" pitchFamily="2" charset="-122"/>
              <a:ea typeface="方正兰亭黑简体" panose="02000000000000000000" pitchFamily="2" charset="-122"/>
            </a:endParaRPr>
          </a:p>
        </p:txBody>
      </p:sp>
      <p:sp>
        <p:nvSpPr>
          <p:cNvPr id="31" name="Freeform 206">
            <a:extLst>
              <a:ext uri="{FF2B5EF4-FFF2-40B4-BE49-F238E27FC236}">
                <a16:creationId xmlns:a16="http://schemas.microsoft.com/office/drawing/2014/main" id="{2FC436D5-991C-CEE8-18B1-7E0369D6A5A4}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777996" y="303060"/>
            <a:ext cx="290648" cy="351334"/>
          </a:xfrm>
          <a:custGeom>
            <a:avLst/>
            <a:gdLst>
              <a:gd name="T0" fmla="*/ 0 w 77"/>
              <a:gd name="T1" fmla="*/ 85 h 93"/>
              <a:gd name="T2" fmla="*/ 30 w 77"/>
              <a:gd name="T3" fmla="*/ 20 h 93"/>
              <a:gd name="T4" fmla="*/ 38 w 77"/>
              <a:gd name="T5" fmla="*/ 26 h 93"/>
              <a:gd name="T6" fmla="*/ 39 w 77"/>
              <a:gd name="T7" fmla="*/ 27 h 93"/>
              <a:gd name="T8" fmla="*/ 39 w 77"/>
              <a:gd name="T9" fmla="*/ 27 h 93"/>
              <a:gd name="T10" fmla="*/ 40 w 77"/>
              <a:gd name="T11" fmla="*/ 27 h 93"/>
              <a:gd name="T12" fmla="*/ 40 w 77"/>
              <a:gd name="T13" fmla="*/ 28 h 93"/>
              <a:gd name="T14" fmla="*/ 40 w 77"/>
              <a:gd name="T15" fmla="*/ 28 h 93"/>
              <a:gd name="T16" fmla="*/ 41 w 77"/>
              <a:gd name="T17" fmla="*/ 28 h 93"/>
              <a:gd name="T18" fmla="*/ 41 w 77"/>
              <a:gd name="T19" fmla="*/ 29 h 93"/>
              <a:gd name="T20" fmla="*/ 42 w 77"/>
              <a:gd name="T21" fmla="*/ 29 h 93"/>
              <a:gd name="T22" fmla="*/ 42 w 77"/>
              <a:gd name="T23" fmla="*/ 29 h 93"/>
              <a:gd name="T24" fmla="*/ 43 w 77"/>
              <a:gd name="T25" fmla="*/ 29 h 93"/>
              <a:gd name="T26" fmla="*/ 43 w 77"/>
              <a:gd name="T27" fmla="*/ 30 h 93"/>
              <a:gd name="T28" fmla="*/ 43 w 77"/>
              <a:gd name="T29" fmla="*/ 30 h 93"/>
              <a:gd name="T30" fmla="*/ 48 w 77"/>
              <a:gd name="T31" fmla="*/ 33 h 93"/>
              <a:gd name="T32" fmla="*/ 48 w 77"/>
              <a:gd name="T33" fmla="*/ 33 h 93"/>
              <a:gd name="T34" fmla="*/ 49 w 77"/>
              <a:gd name="T35" fmla="*/ 34 h 93"/>
              <a:gd name="T36" fmla="*/ 49 w 77"/>
              <a:gd name="T37" fmla="*/ 34 h 93"/>
              <a:gd name="T38" fmla="*/ 50 w 77"/>
              <a:gd name="T39" fmla="*/ 34 h 93"/>
              <a:gd name="T40" fmla="*/ 50 w 77"/>
              <a:gd name="T41" fmla="*/ 35 h 93"/>
              <a:gd name="T42" fmla="*/ 50 w 77"/>
              <a:gd name="T43" fmla="*/ 35 h 93"/>
              <a:gd name="T44" fmla="*/ 51 w 77"/>
              <a:gd name="T45" fmla="*/ 35 h 93"/>
              <a:gd name="T46" fmla="*/ 51 w 77"/>
              <a:gd name="T47" fmla="*/ 36 h 93"/>
              <a:gd name="T48" fmla="*/ 52 w 77"/>
              <a:gd name="T49" fmla="*/ 36 h 93"/>
              <a:gd name="T50" fmla="*/ 52 w 77"/>
              <a:gd name="T51" fmla="*/ 36 h 93"/>
              <a:gd name="T52" fmla="*/ 53 w 77"/>
              <a:gd name="T53" fmla="*/ 37 h 93"/>
              <a:gd name="T54" fmla="*/ 53 w 77"/>
              <a:gd name="T55" fmla="*/ 37 h 93"/>
              <a:gd name="T56" fmla="*/ 48 w 77"/>
              <a:gd name="T57" fmla="*/ 79 h 93"/>
              <a:gd name="T58" fmla="*/ 7 w 77"/>
              <a:gd name="T59" fmla="*/ 91 h 93"/>
              <a:gd name="T60" fmla="*/ 35 w 77"/>
              <a:gd name="T61" fmla="*/ 64 h 93"/>
              <a:gd name="T62" fmla="*/ 19 w 77"/>
              <a:gd name="T63" fmla="*/ 53 h 93"/>
              <a:gd name="T64" fmla="*/ 3 w 77"/>
              <a:gd name="T65" fmla="*/ 88 h 93"/>
              <a:gd name="T66" fmla="*/ 73 w 77"/>
              <a:gd name="T67" fmla="*/ 93 h 93"/>
              <a:gd name="T68" fmla="*/ 54 w 77"/>
              <a:gd name="T69" fmla="*/ 83 h 93"/>
              <a:gd name="T70" fmla="*/ 69 w 77"/>
              <a:gd name="T71" fmla="*/ 42 h 93"/>
              <a:gd name="T72" fmla="*/ 34 w 77"/>
              <a:gd name="T73" fmla="*/ 0 h 93"/>
              <a:gd name="T74" fmla="*/ 69 w 77"/>
              <a:gd name="T75" fmla="*/ 42 h 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</a:cxnLst>
            <a:rect l="0" t="0" r="r" b="b"/>
            <a:pathLst>
              <a:path w="77" h="93">
                <a:moveTo>
                  <a:pt x="3" y="88"/>
                </a:moveTo>
                <a:cubicBezTo>
                  <a:pt x="2" y="87"/>
                  <a:pt x="1" y="86"/>
                  <a:pt x="0" y="85"/>
                </a:cubicBezTo>
                <a:cubicBezTo>
                  <a:pt x="0" y="72"/>
                  <a:pt x="0" y="58"/>
                  <a:pt x="0" y="45"/>
                </a:cubicBezTo>
                <a:cubicBezTo>
                  <a:pt x="12" y="40"/>
                  <a:pt x="21" y="32"/>
                  <a:pt x="30" y="20"/>
                </a:cubicBezTo>
                <a:cubicBezTo>
                  <a:pt x="38" y="26"/>
                  <a:pt x="38" y="26"/>
                  <a:pt x="38" y="26"/>
                </a:cubicBezTo>
                <a:cubicBezTo>
                  <a:pt x="38" y="26"/>
                  <a:pt x="38" y="26"/>
                  <a:pt x="38" y="26"/>
                </a:cubicBezTo>
                <a:cubicBezTo>
                  <a:pt x="38" y="27"/>
                  <a:pt x="38" y="27"/>
                  <a:pt x="38" y="27"/>
                </a:cubicBezTo>
                <a:cubicBezTo>
                  <a:pt x="39" y="27"/>
                  <a:pt x="39" y="27"/>
                  <a:pt x="39" y="27"/>
                </a:cubicBezTo>
                <a:cubicBezTo>
                  <a:pt x="39" y="27"/>
                  <a:pt x="39" y="27"/>
                  <a:pt x="39" y="27"/>
                </a:cubicBezTo>
                <a:cubicBezTo>
                  <a:pt x="39" y="27"/>
                  <a:pt x="39" y="27"/>
                  <a:pt x="39" y="27"/>
                </a:cubicBezTo>
                <a:cubicBezTo>
                  <a:pt x="39" y="27"/>
                  <a:pt x="39" y="27"/>
                  <a:pt x="39" y="27"/>
                </a:cubicBezTo>
                <a:cubicBezTo>
                  <a:pt x="40" y="27"/>
                  <a:pt x="40" y="27"/>
                  <a:pt x="40" y="27"/>
                </a:cubicBezTo>
                <a:cubicBezTo>
                  <a:pt x="40" y="27"/>
                  <a:pt x="40" y="27"/>
                  <a:pt x="40" y="27"/>
                </a:cubicBezTo>
                <a:cubicBezTo>
                  <a:pt x="40" y="28"/>
                  <a:pt x="40" y="28"/>
                  <a:pt x="40" y="28"/>
                </a:cubicBezTo>
                <a:cubicBezTo>
                  <a:pt x="40" y="28"/>
                  <a:pt x="40" y="28"/>
                  <a:pt x="40" y="28"/>
                </a:cubicBezTo>
                <a:cubicBezTo>
                  <a:pt x="40" y="28"/>
                  <a:pt x="40" y="28"/>
                  <a:pt x="40" y="28"/>
                </a:cubicBezTo>
                <a:cubicBezTo>
                  <a:pt x="41" y="28"/>
                  <a:pt x="41" y="28"/>
                  <a:pt x="41" y="28"/>
                </a:cubicBezTo>
                <a:cubicBezTo>
                  <a:pt x="41" y="28"/>
                  <a:pt x="41" y="28"/>
                  <a:pt x="41" y="28"/>
                </a:cubicBezTo>
                <a:cubicBezTo>
                  <a:pt x="41" y="28"/>
                  <a:pt x="41" y="28"/>
                  <a:pt x="41" y="28"/>
                </a:cubicBezTo>
                <a:cubicBezTo>
                  <a:pt x="41" y="29"/>
                  <a:pt x="41" y="29"/>
                  <a:pt x="41" y="29"/>
                </a:cubicBezTo>
                <a:cubicBezTo>
                  <a:pt x="42" y="29"/>
                  <a:pt x="42" y="29"/>
                  <a:pt x="42" y="29"/>
                </a:cubicBezTo>
                <a:cubicBezTo>
                  <a:pt x="42" y="29"/>
                  <a:pt x="42" y="29"/>
                  <a:pt x="42" y="29"/>
                </a:cubicBezTo>
                <a:cubicBezTo>
                  <a:pt x="42" y="29"/>
                  <a:pt x="42" y="29"/>
                  <a:pt x="42" y="29"/>
                </a:cubicBezTo>
                <a:cubicBezTo>
                  <a:pt x="42" y="29"/>
                  <a:pt x="42" y="29"/>
                  <a:pt x="42" y="29"/>
                </a:cubicBezTo>
                <a:cubicBezTo>
                  <a:pt x="42" y="29"/>
                  <a:pt x="42" y="29"/>
                  <a:pt x="42" y="29"/>
                </a:cubicBezTo>
                <a:cubicBezTo>
                  <a:pt x="43" y="29"/>
                  <a:pt x="43" y="29"/>
                  <a:pt x="43" y="29"/>
                </a:cubicBezTo>
                <a:cubicBezTo>
                  <a:pt x="43" y="30"/>
                  <a:pt x="43" y="30"/>
                  <a:pt x="43" y="30"/>
                </a:cubicBezTo>
                <a:cubicBezTo>
                  <a:pt x="43" y="30"/>
                  <a:pt x="43" y="30"/>
                  <a:pt x="43" y="30"/>
                </a:cubicBezTo>
                <a:cubicBezTo>
                  <a:pt x="43" y="30"/>
                  <a:pt x="43" y="30"/>
                  <a:pt x="43" y="30"/>
                </a:cubicBezTo>
                <a:cubicBezTo>
                  <a:pt x="43" y="30"/>
                  <a:pt x="43" y="30"/>
                  <a:pt x="43" y="30"/>
                </a:cubicBezTo>
                <a:cubicBezTo>
                  <a:pt x="44" y="30"/>
                  <a:pt x="44" y="30"/>
                  <a:pt x="44" y="30"/>
                </a:cubicBezTo>
                <a:cubicBezTo>
                  <a:pt x="48" y="33"/>
                  <a:pt x="48" y="33"/>
                  <a:pt x="48" y="33"/>
                </a:cubicBezTo>
                <a:cubicBezTo>
                  <a:pt x="48" y="33"/>
                  <a:pt x="48" y="33"/>
                  <a:pt x="48" y="33"/>
                </a:cubicBezTo>
                <a:cubicBezTo>
                  <a:pt x="48" y="33"/>
                  <a:pt x="48" y="33"/>
                  <a:pt x="48" y="33"/>
                </a:cubicBezTo>
                <a:cubicBezTo>
                  <a:pt x="48" y="34"/>
                  <a:pt x="48" y="34"/>
                  <a:pt x="48" y="34"/>
                </a:cubicBezTo>
                <a:cubicBezTo>
                  <a:pt x="49" y="34"/>
                  <a:pt x="49" y="34"/>
                  <a:pt x="49" y="34"/>
                </a:cubicBezTo>
                <a:cubicBezTo>
                  <a:pt x="49" y="34"/>
                  <a:pt x="49" y="34"/>
                  <a:pt x="49" y="34"/>
                </a:cubicBezTo>
                <a:cubicBezTo>
                  <a:pt x="49" y="34"/>
                  <a:pt x="49" y="34"/>
                  <a:pt x="49" y="34"/>
                </a:cubicBezTo>
                <a:cubicBezTo>
                  <a:pt x="49" y="34"/>
                  <a:pt x="49" y="34"/>
                  <a:pt x="49" y="34"/>
                </a:cubicBezTo>
                <a:cubicBezTo>
                  <a:pt x="50" y="34"/>
                  <a:pt x="50" y="34"/>
                  <a:pt x="50" y="34"/>
                </a:cubicBezTo>
                <a:cubicBezTo>
                  <a:pt x="50" y="35"/>
                  <a:pt x="50" y="35"/>
                  <a:pt x="50" y="35"/>
                </a:cubicBezTo>
                <a:cubicBezTo>
                  <a:pt x="50" y="35"/>
                  <a:pt x="50" y="35"/>
                  <a:pt x="50" y="35"/>
                </a:cubicBezTo>
                <a:cubicBezTo>
                  <a:pt x="50" y="35"/>
                  <a:pt x="50" y="35"/>
                  <a:pt x="50" y="35"/>
                </a:cubicBezTo>
                <a:cubicBezTo>
                  <a:pt x="50" y="35"/>
                  <a:pt x="50" y="35"/>
                  <a:pt x="50" y="35"/>
                </a:cubicBezTo>
                <a:cubicBezTo>
                  <a:pt x="51" y="35"/>
                  <a:pt x="51" y="35"/>
                  <a:pt x="51" y="35"/>
                </a:cubicBezTo>
                <a:cubicBezTo>
                  <a:pt x="51" y="35"/>
                  <a:pt x="51" y="35"/>
                  <a:pt x="51" y="35"/>
                </a:cubicBezTo>
                <a:cubicBezTo>
                  <a:pt x="51" y="35"/>
                  <a:pt x="51" y="35"/>
                  <a:pt x="51" y="35"/>
                </a:cubicBezTo>
                <a:cubicBezTo>
                  <a:pt x="51" y="36"/>
                  <a:pt x="51" y="36"/>
                  <a:pt x="51" y="36"/>
                </a:cubicBezTo>
                <a:cubicBezTo>
                  <a:pt x="52" y="36"/>
                  <a:pt x="52" y="36"/>
                  <a:pt x="52" y="36"/>
                </a:cubicBezTo>
                <a:cubicBezTo>
                  <a:pt x="52" y="36"/>
                  <a:pt x="52" y="36"/>
                  <a:pt x="52" y="36"/>
                </a:cubicBezTo>
                <a:cubicBezTo>
                  <a:pt x="52" y="36"/>
                  <a:pt x="52" y="36"/>
                  <a:pt x="52" y="36"/>
                </a:cubicBezTo>
                <a:cubicBezTo>
                  <a:pt x="52" y="36"/>
                  <a:pt x="52" y="36"/>
                  <a:pt x="52" y="36"/>
                </a:cubicBezTo>
                <a:cubicBezTo>
                  <a:pt x="52" y="36"/>
                  <a:pt x="52" y="36"/>
                  <a:pt x="52" y="36"/>
                </a:cubicBezTo>
                <a:cubicBezTo>
                  <a:pt x="53" y="37"/>
                  <a:pt x="53" y="37"/>
                  <a:pt x="53" y="37"/>
                </a:cubicBezTo>
                <a:cubicBezTo>
                  <a:pt x="53" y="37"/>
                  <a:pt x="53" y="37"/>
                  <a:pt x="53" y="37"/>
                </a:cubicBezTo>
                <a:cubicBezTo>
                  <a:pt x="53" y="37"/>
                  <a:pt x="53" y="37"/>
                  <a:pt x="53" y="37"/>
                </a:cubicBezTo>
                <a:cubicBezTo>
                  <a:pt x="62" y="43"/>
                  <a:pt x="62" y="43"/>
                  <a:pt x="62" y="43"/>
                </a:cubicBezTo>
                <a:cubicBezTo>
                  <a:pt x="53" y="55"/>
                  <a:pt x="49" y="67"/>
                  <a:pt x="48" y="79"/>
                </a:cubicBezTo>
                <a:cubicBezTo>
                  <a:pt x="36" y="84"/>
                  <a:pt x="23" y="88"/>
                  <a:pt x="11" y="93"/>
                </a:cubicBezTo>
                <a:cubicBezTo>
                  <a:pt x="9" y="92"/>
                  <a:pt x="8" y="91"/>
                  <a:pt x="7" y="91"/>
                </a:cubicBezTo>
                <a:cubicBezTo>
                  <a:pt x="23" y="68"/>
                  <a:pt x="23" y="68"/>
                  <a:pt x="23" y="68"/>
                </a:cubicBezTo>
                <a:cubicBezTo>
                  <a:pt x="27" y="69"/>
                  <a:pt x="32" y="68"/>
                  <a:pt x="35" y="64"/>
                </a:cubicBezTo>
                <a:cubicBezTo>
                  <a:pt x="38" y="60"/>
                  <a:pt x="37" y="54"/>
                  <a:pt x="32" y="51"/>
                </a:cubicBezTo>
                <a:cubicBezTo>
                  <a:pt x="28" y="47"/>
                  <a:pt x="22" y="49"/>
                  <a:pt x="19" y="53"/>
                </a:cubicBezTo>
                <a:cubicBezTo>
                  <a:pt x="16" y="57"/>
                  <a:pt x="16" y="62"/>
                  <a:pt x="19" y="65"/>
                </a:cubicBezTo>
                <a:cubicBezTo>
                  <a:pt x="3" y="88"/>
                  <a:pt x="3" y="88"/>
                  <a:pt x="3" y="88"/>
                </a:cubicBezTo>
                <a:close/>
                <a:moveTo>
                  <a:pt x="27" y="93"/>
                </a:moveTo>
                <a:cubicBezTo>
                  <a:pt x="73" y="93"/>
                  <a:pt x="73" y="93"/>
                  <a:pt x="73" y="93"/>
                </a:cubicBezTo>
                <a:cubicBezTo>
                  <a:pt x="73" y="83"/>
                  <a:pt x="73" y="83"/>
                  <a:pt x="73" y="83"/>
                </a:cubicBezTo>
                <a:cubicBezTo>
                  <a:pt x="54" y="83"/>
                  <a:pt x="54" y="83"/>
                  <a:pt x="54" y="83"/>
                </a:cubicBezTo>
                <a:cubicBezTo>
                  <a:pt x="27" y="93"/>
                  <a:pt x="27" y="93"/>
                  <a:pt x="27" y="93"/>
                </a:cubicBezTo>
                <a:close/>
                <a:moveTo>
                  <a:pt x="69" y="42"/>
                </a:moveTo>
                <a:cubicBezTo>
                  <a:pt x="77" y="31"/>
                  <a:pt x="77" y="31"/>
                  <a:pt x="77" y="31"/>
                </a:cubicBezTo>
                <a:cubicBezTo>
                  <a:pt x="34" y="0"/>
                  <a:pt x="34" y="0"/>
                  <a:pt x="34" y="0"/>
                </a:cubicBezTo>
                <a:cubicBezTo>
                  <a:pt x="26" y="12"/>
                  <a:pt x="26" y="12"/>
                  <a:pt x="26" y="12"/>
                </a:cubicBezTo>
                <a:lnTo>
                  <a:pt x="69" y="42"/>
                </a:lnTo>
                <a:close/>
              </a:path>
            </a:pathLst>
          </a:custGeom>
          <a:solidFill>
            <a:srgbClr val="414455"/>
          </a:solidFill>
          <a:ln>
            <a:noFill/>
          </a:ln>
        </p:spPr>
        <p:txBody>
          <a:bodyPr vert="horz" wrap="square" lIns="91416" tIns="45708" rIns="91416" bIns="45708" numCol="1" anchor="t" anchorCtr="0" compatLnSpc="1">
            <a:prstTxWarp prst="textNoShape">
              <a:avLst/>
            </a:prstTxWarp>
          </a:bodyPr>
          <a:lstStyle/>
          <a:p>
            <a:endParaRPr lang="zh-CN" altLang="en-US" sz="1799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6" name="群組 65">
            <a:extLst>
              <a:ext uri="{FF2B5EF4-FFF2-40B4-BE49-F238E27FC236}">
                <a16:creationId xmlns:a16="http://schemas.microsoft.com/office/drawing/2014/main" id="{17B3B853-82F4-21FC-DB5A-3D76BBA003F4}"/>
              </a:ext>
            </a:extLst>
          </p:cNvPr>
          <p:cNvGrpSpPr/>
          <p:nvPr/>
        </p:nvGrpSpPr>
        <p:grpSpPr>
          <a:xfrm>
            <a:off x="1560677" y="1255114"/>
            <a:ext cx="2043422" cy="4901756"/>
            <a:chOff x="2026906" y="1254548"/>
            <a:chExt cx="2043954" cy="4903032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DF279B48-2B3B-F968-E44F-801BC494EBB3}"/>
                </a:ext>
              </a:extLst>
            </p:cNvPr>
            <p:cNvSpPr/>
            <p:nvPr/>
          </p:nvSpPr>
          <p:spPr>
            <a:xfrm>
              <a:off x="2026907" y="2074006"/>
              <a:ext cx="2043953" cy="4083574"/>
            </a:xfrm>
            <a:prstGeom prst="rect">
              <a:avLst/>
            </a:prstGeom>
            <a:solidFill>
              <a:schemeClr val="accent4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just">
                <a:lnSpc>
                  <a:spcPct val="150000"/>
                </a:lnSpc>
                <a:spcBef>
                  <a:spcPts val="600"/>
                </a:spcBef>
              </a:pPr>
              <a:r>
                <a:rPr lang="zh-TW" altLang="en-US" sz="1400" dirty="0">
                  <a:solidFill>
                    <a:srgbClr val="414455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itchFamily="34" charset="-122"/>
                </a:rPr>
                <a:t>專案一</a:t>
              </a:r>
              <a:endParaRPr lang="en-US" altLang="zh-TW" sz="1400" dirty="0">
                <a:solidFill>
                  <a:srgbClr val="414455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itchFamily="34" charset="-122"/>
              </a:endParaRPr>
            </a:p>
            <a:p>
              <a:pPr algn="just">
                <a:lnSpc>
                  <a:spcPct val="150000"/>
                </a:lnSpc>
                <a:spcBef>
                  <a:spcPts val="600"/>
                </a:spcBef>
              </a:pPr>
              <a:r>
                <a:rPr lang="zh-TW" altLang="en-US" sz="1400" dirty="0">
                  <a:solidFill>
                    <a:srgbClr val="414455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itchFamily="34" charset="-122"/>
                </a:rPr>
                <a:t>深度影像辨識</a:t>
              </a:r>
            </a:p>
            <a:p>
              <a:pPr algn="just">
                <a:lnSpc>
                  <a:spcPct val="150000"/>
                </a:lnSpc>
                <a:spcBef>
                  <a:spcPts val="600"/>
                </a:spcBef>
              </a:pPr>
              <a:r>
                <a:rPr lang="zh-TW" altLang="en-US" sz="1400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itchFamily="34" charset="-122"/>
                </a:rPr>
                <a:t>動態</a:t>
              </a:r>
              <a:r>
                <a:rPr lang="en-US" altLang="zh-TW" sz="1400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itchFamily="34" charset="-122"/>
                </a:rPr>
                <a:t>LSTM</a:t>
              </a:r>
              <a:r>
                <a:rPr lang="zh-TW" altLang="en-US" sz="1400" dirty="0">
                  <a:solidFill>
                    <a:srgbClr val="414455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itchFamily="34" charset="-122"/>
                </a:rPr>
                <a:t>辨識</a:t>
              </a:r>
            </a:p>
            <a:p>
              <a:pPr algn="just">
                <a:lnSpc>
                  <a:spcPct val="150000"/>
                </a:lnSpc>
                <a:spcBef>
                  <a:spcPts val="600"/>
                </a:spcBef>
              </a:pPr>
              <a:r>
                <a:rPr lang="zh-TW" altLang="en-US" sz="1400" dirty="0">
                  <a:solidFill>
                    <a:srgbClr val="414455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itchFamily="34" charset="-122"/>
                </a:rPr>
                <a:t>長照產學合作</a:t>
              </a:r>
            </a:p>
            <a:p>
              <a:pPr algn="just">
                <a:lnSpc>
                  <a:spcPct val="150000"/>
                </a:lnSpc>
                <a:spcBef>
                  <a:spcPts val="600"/>
                </a:spcBef>
              </a:pPr>
              <a:endParaRPr lang="en-US" altLang="zh-TW" sz="1400" dirty="0">
                <a:solidFill>
                  <a:srgbClr val="414455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itchFamily="34" charset="-122"/>
              </a:endParaRPr>
            </a:p>
            <a:p>
              <a:pPr algn="just">
                <a:lnSpc>
                  <a:spcPct val="150000"/>
                </a:lnSpc>
                <a:spcBef>
                  <a:spcPts val="600"/>
                </a:spcBef>
              </a:pPr>
              <a:r>
                <a:rPr lang="zh-TW" altLang="en-US" sz="1400" dirty="0">
                  <a:solidFill>
                    <a:srgbClr val="414455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itchFamily="34" charset="-122"/>
                </a:rPr>
                <a:t>專案二</a:t>
              </a:r>
              <a:endParaRPr lang="en-US" altLang="zh-TW" sz="1400" dirty="0">
                <a:solidFill>
                  <a:srgbClr val="414455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itchFamily="34" charset="-122"/>
              </a:endParaRPr>
            </a:p>
            <a:p>
              <a:pPr algn="just">
                <a:lnSpc>
                  <a:spcPct val="150000"/>
                </a:lnSpc>
                <a:spcBef>
                  <a:spcPts val="600"/>
                </a:spcBef>
              </a:pPr>
              <a:r>
                <a:rPr lang="en-US" altLang="zh-TW" sz="1400" dirty="0">
                  <a:solidFill>
                    <a:srgbClr val="414455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itchFamily="34" charset="-122"/>
                </a:rPr>
                <a:t>RGB</a:t>
              </a:r>
              <a:r>
                <a:rPr lang="zh-TW" altLang="en-US" sz="1400" dirty="0">
                  <a:solidFill>
                    <a:srgbClr val="414455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itchFamily="34" charset="-122"/>
                </a:rPr>
                <a:t>影像結合馬賽克</a:t>
              </a:r>
            </a:p>
            <a:p>
              <a:pPr algn="just">
                <a:lnSpc>
                  <a:spcPct val="150000"/>
                </a:lnSpc>
                <a:spcBef>
                  <a:spcPts val="600"/>
                </a:spcBef>
              </a:pPr>
              <a:r>
                <a:rPr lang="zh-TW" altLang="en-US" sz="1400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itchFamily="34" charset="-122"/>
                </a:rPr>
                <a:t>靜態</a:t>
              </a:r>
              <a:r>
                <a:rPr lang="en-US" altLang="zh-TW" sz="1400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itchFamily="34" charset="-122"/>
                </a:rPr>
                <a:t>CNN</a:t>
              </a:r>
              <a:r>
                <a:rPr lang="zh-TW" altLang="en-US" sz="1400" dirty="0">
                  <a:solidFill>
                    <a:srgbClr val="414455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itchFamily="34" charset="-122"/>
                </a:rPr>
                <a:t>辨識</a:t>
              </a:r>
            </a:p>
            <a:p>
              <a:pPr algn="just">
                <a:lnSpc>
                  <a:spcPct val="150000"/>
                </a:lnSpc>
                <a:spcBef>
                  <a:spcPts val="600"/>
                </a:spcBef>
              </a:pPr>
              <a:r>
                <a:rPr lang="zh-TW" altLang="en-US" sz="1400" dirty="0">
                  <a:solidFill>
                    <a:srgbClr val="414455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itchFamily="34" charset="-122"/>
                </a:rPr>
                <a:t>醫院及智慧家電整合</a:t>
              </a:r>
            </a:p>
            <a:p>
              <a:pPr algn="just">
                <a:lnSpc>
                  <a:spcPct val="150000"/>
                </a:lnSpc>
                <a:spcBef>
                  <a:spcPts val="600"/>
                </a:spcBef>
              </a:pPr>
              <a:endParaRPr lang="zh-TW" altLang="en-US" sz="1400" dirty="0">
                <a:solidFill>
                  <a:schemeClr val="tx1"/>
                </a:solidFill>
                <a:sym typeface="微软雅黑" pitchFamily="34" charset="-122"/>
              </a:endParaRPr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CC11779C-0780-8CB4-C571-CA152CA412B4}"/>
                </a:ext>
              </a:extLst>
            </p:cNvPr>
            <p:cNvSpPr/>
            <p:nvPr/>
          </p:nvSpPr>
          <p:spPr>
            <a:xfrm>
              <a:off x="2026906" y="1254548"/>
              <a:ext cx="2043953" cy="81945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1799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跌倒偵測</a:t>
              </a:r>
              <a:endParaRPr lang="en-US" altLang="zh-TW" sz="1799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67" name="群組 66">
            <a:extLst>
              <a:ext uri="{FF2B5EF4-FFF2-40B4-BE49-F238E27FC236}">
                <a16:creationId xmlns:a16="http://schemas.microsoft.com/office/drawing/2014/main" id="{5868EC12-3E34-2488-C40B-CA64590B5CB2}"/>
              </a:ext>
            </a:extLst>
          </p:cNvPr>
          <p:cNvGrpSpPr/>
          <p:nvPr/>
        </p:nvGrpSpPr>
        <p:grpSpPr>
          <a:xfrm>
            <a:off x="4133180" y="1255114"/>
            <a:ext cx="2250777" cy="5272971"/>
            <a:chOff x="4278271" y="1254548"/>
            <a:chExt cx="2251363" cy="5274344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B9509EF1-2050-C259-6EAD-7BBAA67BB650}"/>
                </a:ext>
              </a:extLst>
            </p:cNvPr>
            <p:cNvSpPr/>
            <p:nvPr/>
          </p:nvSpPr>
          <p:spPr>
            <a:xfrm>
              <a:off x="4278271" y="2074006"/>
              <a:ext cx="2043953" cy="4083574"/>
            </a:xfrm>
            <a:prstGeom prst="rect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just">
                <a:lnSpc>
                  <a:spcPct val="150000"/>
                </a:lnSpc>
                <a:spcBef>
                  <a:spcPts val="600"/>
                </a:spcBef>
              </a:pPr>
              <a:r>
                <a:rPr lang="zh-TW" altLang="en-US" sz="1400" dirty="0">
                  <a:solidFill>
                    <a:srgbClr val="414455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大樓 </a:t>
              </a:r>
              <a:r>
                <a:rPr lang="en-US" altLang="zh-TW" sz="1400" dirty="0">
                  <a:solidFill>
                    <a:srgbClr val="414455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/ </a:t>
              </a:r>
              <a:r>
                <a:rPr lang="zh-TW" altLang="en-US" sz="1400" dirty="0">
                  <a:solidFill>
                    <a:srgbClr val="414455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停車場出入口</a:t>
              </a:r>
            </a:p>
            <a:p>
              <a:pPr algn="just">
                <a:lnSpc>
                  <a:spcPct val="150000"/>
                </a:lnSpc>
                <a:spcBef>
                  <a:spcPts val="600"/>
                </a:spcBef>
              </a:pPr>
              <a:r>
                <a:rPr lang="en-US" altLang="zh-TW" sz="1400" dirty="0">
                  <a:solidFill>
                    <a:srgbClr val="414455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DB</a:t>
              </a:r>
              <a:r>
                <a:rPr lang="zh-TW" altLang="en-US" sz="1400" dirty="0">
                  <a:solidFill>
                    <a:srgbClr val="414455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管理系統</a:t>
              </a:r>
              <a:r>
                <a:rPr lang="en-US" altLang="zh-TW" sz="1400" dirty="0">
                  <a:solidFill>
                    <a:srgbClr val="414455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</a:t>
              </a:r>
              <a:r>
                <a:rPr lang="zh-TW" altLang="en-US" sz="1400" dirty="0">
                  <a:solidFill>
                    <a:srgbClr val="414455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黑白名單</a:t>
              </a:r>
              <a:r>
                <a:rPr lang="en-US" altLang="zh-TW" sz="1400" dirty="0">
                  <a:solidFill>
                    <a:srgbClr val="414455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  <a:p>
              <a:pPr algn="just">
                <a:lnSpc>
                  <a:spcPct val="150000"/>
                </a:lnSpc>
                <a:spcBef>
                  <a:spcPts val="600"/>
                </a:spcBef>
              </a:pPr>
              <a:r>
                <a:rPr lang="zh-TW" altLang="en-US" sz="1400" dirty="0">
                  <a:solidFill>
                    <a:srgbClr val="414455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模糊搜尋</a:t>
              </a:r>
            </a:p>
            <a:p>
              <a:pPr algn="just">
                <a:lnSpc>
                  <a:spcPct val="150000"/>
                </a:lnSpc>
                <a:spcBef>
                  <a:spcPts val="600"/>
                </a:spcBef>
              </a:pPr>
              <a:r>
                <a:rPr lang="zh-TW" altLang="en-US" sz="1400" dirty="0">
                  <a:solidFill>
                    <a:srgbClr val="414455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注重辨識</a:t>
              </a:r>
              <a:r>
                <a:rPr lang="zh-TW" altLang="en-US" sz="1400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準確度</a:t>
              </a:r>
              <a:endParaRPr lang="en-US" altLang="zh-TW" sz="14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just">
                <a:lnSpc>
                  <a:spcPct val="150000"/>
                </a:lnSpc>
                <a:spcBef>
                  <a:spcPts val="600"/>
                </a:spcBef>
              </a:pPr>
              <a:endParaRPr lang="en-US" altLang="zh-TW" sz="1400" dirty="0">
                <a:solidFill>
                  <a:srgbClr val="414455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just">
                <a:lnSpc>
                  <a:spcPct val="150000"/>
                </a:lnSpc>
                <a:spcBef>
                  <a:spcPts val="600"/>
                </a:spcBef>
              </a:pPr>
              <a:r>
                <a:rPr lang="zh-TW" altLang="en-US" sz="1400" dirty="0">
                  <a:solidFill>
                    <a:srgbClr val="414455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道路行進間</a:t>
              </a:r>
            </a:p>
            <a:p>
              <a:pPr algn="just">
                <a:lnSpc>
                  <a:spcPct val="150000"/>
                </a:lnSpc>
                <a:spcBef>
                  <a:spcPts val="600"/>
                </a:spcBef>
              </a:pPr>
              <a:r>
                <a:rPr lang="zh-TW" altLang="en-US" sz="1400" dirty="0">
                  <a:solidFill>
                    <a:srgbClr val="414455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須能夠辨識條件較差的車牌</a:t>
              </a:r>
              <a:r>
                <a:rPr lang="en-US" altLang="zh-TW" sz="1400" dirty="0">
                  <a:solidFill>
                    <a:srgbClr val="414455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</a:t>
              </a:r>
              <a:r>
                <a:rPr lang="zh-TW" altLang="en-US" sz="1400" dirty="0">
                  <a:solidFill>
                    <a:srgbClr val="414455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如：傾斜、模糊等</a:t>
              </a:r>
              <a:r>
                <a:rPr lang="en-US" altLang="zh-TW" sz="1400" dirty="0">
                  <a:solidFill>
                    <a:srgbClr val="414455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  <a:p>
              <a:pPr algn="just">
                <a:lnSpc>
                  <a:spcPct val="150000"/>
                </a:lnSpc>
                <a:spcBef>
                  <a:spcPts val="600"/>
                </a:spcBef>
              </a:pPr>
              <a:r>
                <a:rPr lang="zh-TW" altLang="en-US" sz="1400" dirty="0">
                  <a:solidFill>
                    <a:srgbClr val="414455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結合區間測速功能</a:t>
              </a:r>
            </a:p>
            <a:p>
              <a:pPr algn="just">
                <a:lnSpc>
                  <a:spcPct val="150000"/>
                </a:lnSpc>
                <a:spcBef>
                  <a:spcPts val="600"/>
                </a:spcBef>
              </a:pPr>
              <a:r>
                <a:rPr lang="zh-TW" altLang="en-US" sz="1400" dirty="0">
                  <a:solidFill>
                    <a:srgbClr val="414455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注重辨識</a:t>
              </a:r>
              <a:r>
                <a:rPr lang="zh-TW" altLang="en-US" sz="1400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速度</a:t>
              </a:r>
            </a:p>
            <a:p>
              <a:pPr algn="just">
                <a:lnSpc>
                  <a:spcPct val="150000"/>
                </a:lnSpc>
                <a:spcBef>
                  <a:spcPts val="600"/>
                </a:spcBef>
              </a:pPr>
              <a:endParaRPr lang="zh-TW" altLang="en-US" sz="1400" dirty="0">
                <a:solidFill>
                  <a:schemeClr val="tx1"/>
                </a:solidFill>
              </a:endParaRPr>
            </a:p>
            <a:p>
              <a:pPr algn="just"/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51E3A533-BA92-C950-F3A9-EA61DB0E5644}"/>
                </a:ext>
              </a:extLst>
            </p:cNvPr>
            <p:cNvSpPr/>
            <p:nvPr/>
          </p:nvSpPr>
          <p:spPr>
            <a:xfrm>
              <a:off x="4278272" y="1254548"/>
              <a:ext cx="2043953" cy="81945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1799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車牌辨識</a:t>
              </a:r>
              <a:endParaRPr lang="en-US" altLang="zh-TW" sz="1799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24" name="Picture 6" descr="停车位icon图标下载免抠素材免费下载_觅元素51yuansu.com">
              <a:extLst>
                <a:ext uri="{FF2B5EF4-FFF2-40B4-BE49-F238E27FC236}">
                  <a16:creationId xmlns:a16="http://schemas.microsoft.com/office/drawing/2014/main" id="{B6A75587-AA42-62FF-9038-2E09069084E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clrChange>
                <a:clrFrom>
                  <a:srgbClr val="F6F6F6"/>
                </a:clrFrom>
                <a:clrTo>
                  <a:srgbClr val="F6F6F6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41136" y="5523240"/>
              <a:ext cx="1188498" cy="10056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" name="群組 2">
            <a:extLst>
              <a:ext uri="{FF2B5EF4-FFF2-40B4-BE49-F238E27FC236}">
                <a16:creationId xmlns:a16="http://schemas.microsoft.com/office/drawing/2014/main" id="{051B6E65-AC55-3C89-32A7-AA5B1A8092D6}"/>
              </a:ext>
            </a:extLst>
          </p:cNvPr>
          <p:cNvGrpSpPr/>
          <p:nvPr/>
        </p:nvGrpSpPr>
        <p:grpSpPr>
          <a:xfrm>
            <a:off x="6716182" y="1255114"/>
            <a:ext cx="2043421" cy="4901756"/>
            <a:chOff x="6529635" y="1254548"/>
            <a:chExt cx="2043953" cy="4903032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2495AF71-1E5D-D643-1E56-704AA96B8C8B}"/>
                </a:ext>
              </a:extLst>
            </p:cNvPr>
            <p:cNvSpPr/>
            <p:nvPr/>
          </p:nvSpPr>
          <p:spPr>
            <a:xfrm>
              <a:off x="6529635" y="2074006"/>
              <a:ext cx="2043953" cy="4083574"/>
            </a:xfrm>
            <a:prstGeom prst="rect">
              <a:avLst/>
            </a:prstGeom>
            <a:solidFill>
              <a:schemeClr val="accent4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just">
                <a:lnSpc>
                  <a:spcPct val="150000"/>
                </a:lnSpc>
                <a:spcBef>
                  <a:spcPts val="600"/>
                </a:spcBef>
              </a:pPr>
              <a:r>
                <a:rPr lang="zh-TW" altLang="en-US" sz="1400" dirty="0">
                  <a:solidFill>
                    <a:srgbClr val="414455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針對家畜進行智慧健康檢測，及追蹤其活動狀態，配合</a:t>
              </a:r>
              <a:r>
                <a:rPr lang="zh-TW" altLang="en-US" sz="1400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牧場管理</a:t>
              </a:r>
              <a:r>
                <a:rPr lang="zh-TW" altLang="en-US" sz="1400" dirty="0">
                  <a:solidFill>
                    <a:srgbClr val="414455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，避免不必要的損失。</a:t>
              </a: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A90B2F8F-D9DC-9C78-1525-A2A7F972F69C}"/>
                </a:ext>
              </a:extLst>
            </p:cNvPr>
            <p:cNvSpPr/>
            <p:nvPr/>
          </p:nvSpPr>
          <p:spPr>
            <a:xfrm>
              <a:off x="6529635" y="1254548"/>
              <a:ext cx="2043953" cy="81945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1799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智慧牧場</a:t>
              </a:r>
              <a:endParaRPr lang="en-US" altLang="zh-TW" sz="1799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26" name="群組 25">
              <a:extLst>
                <a:ext uri="{FF2B5EF4-FFF2-40B4-BE49-F238E27FC236}">
                  <a16:creationId xmlns:a16="http://schemas.microsoft.com/office/drawing/2014/main" id="{6E112CBE-C972-D4B0-620E-A8DCD63865BF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979176" y="3861397"/>
              <a:ext cx="816822" cy="768774"/>
              <a:chOff x="6457627" y="4533176"/>
              <a:chExt cx="2376264" cy="2236484"/>
            </a:xfrm>
          </p:grpSpPr>
          <p:pic>
            <p:nvPicPr>
              <p:cNvPr id="27" name="Picture 2" descr="Cow Icon | IconExperience - Professional Icons » O-Collection">
                <a:extLst>
                  <a:ext uri="{FF2B5EF4-FFF2-40B4-BE49-F238E27FC236}">
                    <a16:creationId xmlns:a16="http://schemas.microsoft.com/office/drawing/2014/main" id="{15159B42-0529-0D09-B8FE-DFD53EAC1FF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 cstate="print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4" t="4770" r="2555" b="6137"/>
              <a:stretch/>
            </p:blipFill>
            <p:spPr bwMode="auto">
              <a:xfrm>
                <a:off x="6457627" y="4533176"/>
                <a:ext cx="2376264" cy="223648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8" name="圖片 27">
                <a:extLst>
                  <a:ext uri="{FF2B5EF4-FFF2-40B4-BE49-F238E27FC236}">
                    <a16:creationId xmlns:a16="http://schemas.microsoft.com/office/drawing/2014/main" id="{9D3F7016-0DDA-E1C7-2CE1-31F728F8AE2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>
                <a:off x="8019885" y="5733256"/>
                <a:ext cx="568145" cy="533502"/>
              </a:xfrm>
              <a:prstGeom prst="rect">
                <a:avLst/>
              </a:prstGeom>
            </p:spPr>
          </p:pic>
        </p:grpSp>
        <p:pic>
          <p:nvPicPr>
            <p:cNvPr id="29" name="Picture 6" descr="cctv camera Icon - Free PNG &amp; SVG 2571053 - Noun Project">
              <a:extLst>
                <a:ext uri="{FF2B5EF4-FFF2-40B4-BE49-F238E27FC236}">
                  <a16:creationId xmlns:a16="http://schemas.microsoft.com/office/drawing/2014/main" id="{765BF83E-D65C-F09E-D23B-2829370C7CD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3409" y="3509982"/>
              <a:ext cx="570179" cy="5701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" name="群組 1">
            <a:extLst>
              <a:ext uri="{FF2B5EF4-FFF2-40B4-BE49-F238E27FC236}">
                <a16:creationId xmlns:a16="http://schemas.microsoft.com/office/drawing/2014/main" id="{5669E272-6C05-0A94-180B-3BC69A97E2B5}"/>
              </a:ext>
            </a:extLst>
          </p:cNvPr>
          <p:cNvGrpSpPr/>
          <p:nvPr/>
        </p:nvGrpSpPr>
        <p:grpSpPr>
          <a:xfrm>
            <a:off x="9307794" y="1255114"/>
            <a:ext cx="2043422" cy="4901755"/>
            <a:chOff x="8780998" y="1254548"/>
            <a:chExt cx="2043954" cy="4903031"/>
          </a:xfrm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AEC0EA4F-9A3C-8105-3B45-6736CB544A70}"/>
                </a:ext>
              </a:extLst>
            </p:cNvPr>
            <p:cNvSpPr/>
            <p:nvPr/>
          </p:nvSpPr>
          <p:spPr>
            <a:xfrm>
              <a:off x="8780999" y="2074005"/>
              <a:ext cx="2043953" cy="4083574"/>
            </a:xfrm>
            <a:prstGeom prst="rect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just">
                <a:lnSpc>
                  <a:spcPct val="150000"/>
                </a:lnSpc>
                <a:spcBef>
                  <a:spcPts val="600"/>
                </a:spcBef>
              </a:pPr>
              <a:r>
                <a:rPr lang="zh-TW" altLang="en-US" sz="1400" dirty="0">
                  <a:solidFill>
                    <a:srgbClr val="414455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人臉辨識</a:t>
              </a:r>
              <a:endParaRPr lang="en-US" altLang="zh-TW" sz="1400" dirty="0">
                <a:solidFill>
                  <a:srgbClr val="414455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just">
                <a:lnSpc>
                  <a:spcPct val="150000"/>
                </a:lnSpc>
                <a:spcBef>
                  <a:spcPts val="600"/>
                </a:spcBef>
              </a:pPr>
              <a:r>
                <a:rPr lang="zh-TW" altLang="en-US" sz="1400" dirty="0">
                  <a:solidFill>
                    <a:srgbClr val="414455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公司門口打卡機</a:t>
              </a:r>
            </a:p>
            <a:p>
              <a:pPr algn="just">
                <a:lnSpc>
                  <a:spcPct val="150000"/>
                </a:lnSpc>
                <a:spcBef>
                  <a:spcPts val="600"/>
                </a:spcBef>
              </a:pPr>
              <a:endParaRPr lang="en-US" altLang="zh-TW" sz="1400" dirty="0">
                <a:solidFill>
                  <a:srgbClr val="414455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just">
                <a:lnSpc>
                  <a:spcPct val="150000"/>
                </a:lnSpc>
                <a:spcBef>
                  <a:spcPts val="600"/>
                </a:spcBef>
              </a:pPr>
              <a:r>
                <a:rPr lang="zh-TW" altLang="en-US" sz="1400" dirty="0">
                  <a:solidFill>
                    <a:srgbClr val="414455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口罩偵測</a:t>
              </a:r>
            </a:p>
            <a:p>
              <a:pPr algn="just">
                <a:lnSpc>
                  <a:spcPct val="150000"/>
                </a:lnSpc>
                <a:spcBef>
                  <a:spcPts val="600"/>
                </a:spcBef>
              </a:pPr>
              <a:r>
                <a:rPr lang="zh-TW" altLang="en-US" sz="1400" dirty="0">
                  <a:solidFill>
                    <a:srgbClr val="414455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辦公大樓大廳入口</a:t>
              </a:r>
            </a:p>
            <a:p>
              <a:pPr algn="just">
                <a:lnSpc>
                  <a:spcPct val="150000"/>
                </a:lnSpc>
                <a:spcBef>
                  <a:spcPts val="600"/>
                </a:spcBef>
              </a:pPr>
              <a:r>
                <a:rPr lang="zh-TW" altLang="en-US" sz="1400" dirty="0">
                  <a:solidFill>
                    <a:srgbClr val="414455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超商、賣場出入口</a:t>
              </a:r>
            </a:p>
            <a:p>
              <a:pPr algn="just">
                <a:lnSpc>
                  <a:spcPct val="150000"/>
                </a:lnSpc>
                <a:spcBef>
                  <a:spcPts val="600"/>
                </a:spcBef>
              </a:pPr>
              <a:r>
                <a:rPr lang="zh-TW" altLang="en-US" sz="1400" dirty="0">
                  <a:solidFill>
                    <a:srgbClr val="414455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*結合體溫檢測</a:t>
              </a: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DAAE217C-24FC-B529-54EC-8A2D4ECC693D}"/>
                </a:ext>
              </a:extLst>
            </p:cNvPr>
            <p:cNvSpPr/>
            <p:nvPr/>
          </p:nvSpPr>
          <p:spPr>
            <a:xfrm>
              <a:off x="8780998" y="1254548"/>
              <a:ext cx="2043953" cy="81945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1799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人臉 </a:t>
              </a:r>
              <a:r>
                <a:rPr lang="en-US" altLang="zh-TW" sz="1799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/ </a:t>
              </a:r>
              <a:r>
                <a:rPr lang="zh-TW" altLang="en-US" sz="1799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口罩辨識</a:t>
              </a:r>
              <a:endParaRPr lang="en-US" altLang="zh-TW" sz="1799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64" name="Picture 6" descr="Facial Recognition Icon #190897 - Free Icons Library">
              <a:extLst>
                <a:ext uri="{FF2B5EF4-FFF2-40B4-BE49-F238E27FC236}">
                  <a16:creationId xmlns:a16="http://schemas.microsoft.com/office/drawing/2014/main" id="{D3B89CF0-9B6E-6E1C-E77E-A116C108AAA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22960" y="2127602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2" descr="智能體溫量測解決方案">
              <a:extLst>
                <a:ext uri="{FF2B5EF4-FFF2-40B4-BE49-F238E27FC236}">
                  <a16:creationId xmlns:a16="http://schemas.microsoft.com/office/drawing/2014/main" id="{3BA36BE8-6484-459E-C9CF-DAAD3D997EB4}"/>
                </a:ext>
              </a:extLst>
            </p:cNvPr>
            <p:cNvPicPr>
              <a:picLocks noChangeArrowheads="1"/>
            </p:cNvPicPr>
            <p:nvPr/>
          </p:nvPicPr>
          <p:blipFill>
            <a:blip r:embed="rId8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22960" y="3319591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0368258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29184"/>
            <a:ext cx="23774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50" b="1">
                <a:solidFill>
                  <a:srgbClr val="295BAA"/>
                </a:solidFill>
                <a:latin typeface="Microsoft JhengHei"/>
              </a:rPr>
              <a:t>PROJECT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881360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50" b="1">
                <a:solidFill>
                  <a:srgbClr val="22262D"/>
                </a:solidFill>
                <a:latin typeface="Microsoft JhengHei"/>
              </a:rPr>
              <a:t>04｜問答機器人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78992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350" b="0">
                <a:solidFill>
                  <a:srgbClr val="606874"/>
                </a:solidFill>
                <a:latin typeface="Microsoft JhengHei"/>
              </a:rPr>
              <a:t>RAG × LLMs × 多模態輸入，分流 MES 值班人員重複性 on-call 問題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72768"/>
            <a:ext cx="841248" cy="292608"/>
          </a:xfrm>
          <a:prstGeom prst="roundRect">
            <a:avLst/>
          </a:prstGeom>
          <a:solidFill>
            <a:srgbClr val="EEF4FC"/>
          </a:solidFill>
          <a:ln w="12700">
            <a:solidFill>
              <a:srgbClr val="EE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581912"/>
            <a:ext cx="841248" cy="25603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/>
            <a:r>
              <a:rPr sz="1050" b="1">
                <a:solidFill>
                  <a:srgbClr val="295BAA"/>
                </a:solidFill>
                <a:latin typeface="Microsoft JhengHei"/>
              </a:rPr>
              <a:t>PROJECT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72768" y="1572768"/>
            <a:ext cx="1005840" cy="292608"/>
          </a:xfrm>
          <a:prstGeom prst="roundRect">
            <a:avLst/>
          </a:prstGeom>
          <a:solidFill>
            <a:srgbClr val="EEF4FC"/>
          </a:solidFill>
          <a:ln w="12700">
            <a:solidFill>
              <a:srgbClr val="EE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72768" y="1581912"/>
            <a:ext cx="1005840" cy="25603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/>
            <a:r>
              <a:rPr sz="1050" b="1">
                <a:solidFill>
                  <a:srgbClr val="295BAA"/>
                </a:solidFill>
                <a:latin typeface="Microsoft JhengHei"/>
              </a:rPr>
              <a:t>CHATBOT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011680"/>
            <a:ext cx="3063240" cy="3127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D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" y="2011680"/>
            <a:ext cx="54864" cy="3127248"/>
          </a:xfrm>
          <a:prstGeom prst="rect">
            <a:avLst/>
          </a:prstGeom>
          <a:solidFill>
            <a:srgbClr val="C25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59" y="2157984"/>
            <a:ext cx="2752344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>
                <a:solidFill>
                  <a:srgbClr val="22262D"/>
                </a:solidFill>
                <a:latin typeface="Microsoft JhengHei"/>
              </a:rPr>
              <a:t>需求與解法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2496312"/>
            <a:ext cx="2752344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50" b="1">
                <a:solidFill>
                  <a:srgbClr val="C25447"/>
                </a:solidFill>
                <a:latin typeface="Microsoft JhengHei"/>
              </a:rPr>
              <a:t>降低重複處理，保留人工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2807208"/>
            <a:ext cx="2752344" cy="2203703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  <a:defRPr sz="1330">
                <a:solidFill>
                  <a:srgbClr val="606874"/>
                </a:solidFill>
                <a:latin typeface="Microsoft JhengHei"/>
              </a:defRPr>
            </a:pPr>
            <a:r>
              <a:t>MES 值班人員經常接到重複性 on-call。</a:t>
            </a:r>
          </a:p>
          <a:p>
            <a:pPr>
              <a:lnSpc>
                <a:spcPct val="100000"/>
              </a:lnSpc>
              <a:spcAft>
                <a:spcPts val="400"/>
              </a:spcAft>
              <a:defRPr sz="1330">
                <a:solidFill>
                  <a:srgbClr val="606874"/>
                </a:solidFill>
                <a:latin typeface="Microsoft JhengHei"/>
              </a:defRPr>
            </a:pPr>
            <a:r>
              <a:t>將文件與常見處理經驗建立知識庫。</a:t>
            </a:r>
          </a:p>
          <a:p>
            <a:pPr>
              <a:lnSpc>
                <a:spcPct val="100000"/>
              </a:lnSpc>
              <a:spcAft>
                <a:spcPts val="400"/>
              </a:spcAft>
              <a:defRPr sz="1330">
                <a:solidFill>
                  <a:srgbClr val="606874"/>
                </a:solidFill>
                <a:latin typeface="Microsoft JhengHei"/>
              </a:defRPr>
            </a:pPr>
            <a:r>
              <a:t>以 RAG + LLMs 先回覆標準問題；低信心或例外情境再轉人工。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50208" y="2011680"/>
            <a:ext cx="7571231" cy="3127248"/>
          </a:xfrm>
          <a:prstGeom prst="roundRect">
            <a:avLst/>
          </a:prstGeom>
          <a:solidFill>
            <a:srgbClr val="F8FAFD"/>
          </a:solidFill>
          <a:ln w="12700">
            <a:solidFill>
              <a:srgbClr val="D6DD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24528" y="2221992"/>
            <a:ext cx="27432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>
                <a:solidFill>
                  <a:srgbClr val="22262D"/>
                </a:solidFill>
                <a:latin typeface="Microsoft JhengHei"/>
              </a:rPr>
              <a:t>問答流程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61104" y="2926080"/>
            <a:ext cx="144475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E8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261104" y="3090672"/>
            <a:ext cx="1444752" cy="2468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700" b="1">
                <a:solidFill>
                  <a:srgbClr val="4E89D6"/>
                </a:solidFill>
                <a:latin typeface="Microsoft JhengHei"/>
              </a:rPr>
              <a:t>USER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3429000"/>
            <a:ext cx="1316736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80" b="0">
                <a:solidFill>
                  <a:srgbClr val="606874"/>
                </a:solidFill>
                <a:latin typeface="Microsoft JhengHei"/>
              </a:rPr>
              <a:t>文字／圖片／語音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2926080"/>
            <a:ext cx="144475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9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126480" y="3090672"/>
            <a:ext cx="1444752" cy="2468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700" b="1">
                <a:solidFill>
                  <a:srgbClr val="39959F"/>
                </a:solidFill>
                <a:latin typeface="Microsoft JhengHei"/>
              </a:rPr>
              <a:t>RAG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0488" y="3429000"/>
            <a:ext cx="1316736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80" b="0">
                <a:solidFill>
                  <a:srgbClr val="606874"/>
                </a:solidFill>
                <a:latin typeface="Microsoft JhengHei"/>
              </a:rPr>
              <a:t>知識檢索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91856" y="2926080"/>
            <a:ext cx="144475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46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991856" y="3090672"/>
            <a:ext cx="1444752" cy="2468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700" b="1">
                <a:solidFill>
                  <a:srgbClr val="7460C2"/>
                </a:solidFill>
                <a:latin typeface="Microsoft JhengHei"/>
              </a:rPr>
              <a:t>LLMs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55864" y="3429000"/>
            <a:ext cx="1316736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80" b="0">
                <a:solidFill>
                  <a:srgbClr val="606874"/>
                </a:solidFill>
                <a:latin typeface="Microsoft JhengHei"/>
              </a:rPr>
              <a:t>理解與生成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57232" y="2926080"/>
            <a:ext cx="1316736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9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857232" y="3090672"/>
            <a:ext cx="1316736" cy="2468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700" b="1">
                <a:solidFill>
                  <a:srgbClr val="559959"/>
                </a:solidFill>
                <a:latin typeface="Microsoft JhengHei"/>
              </a:rPr>
              <a:t>回答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429000"/>
            <a:ext cx="1188719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80" b="0">
                <a:solidFill>
                  <a:srgbClr val="606874"/>
                </a:solidFill>
                <a:latin typeface="Microsoft JhengHei"/>
              </a:rPr>
              <a:t>回覆使用者</a:t>
            </a:r>
          </a:p>
        </p:txBody>
      </p:sp>
      <p:sp>
        <p:nvSpPr>
          <p:cNvPr id="28" name="Chevron 27"/>
          <p:cNvSpPr/>
          <p:nvPr/>
        </p:nvSpPr>
        <p:spPr>
          <a:xfrm>
            <a:off x="5742432" y="3255264"/>
            <a:ext cx="274320" cy="329184"/>
          </a:xfrm>
          <a:prstGeom prst="chevron">
            <a:avLst/>
          </a:prstGeom>
          <a:solidFill>
            <a:srgbClr val="AAB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Chevron 28"/>
          <p:cNvSpPr/>
          <p:nvPr/>
        </p:nvSpPr>
        <p:spPr>
          <a:xfrm>
            <a:off x="7607808" y="3255264"/>
            <a:ext cx="274320" cy="329184"/>
          </a:xfrm>
          <a:prstGeom prst="chevron">
            <a:avLst/>
          </a:prstGeom>
          <a:solidFill>
            <a:srgbClr val="AAB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Chevron 29"/>
          <p:cNvSpPr/>
          <p:nvPr/>
        </p:nvSpPr>
        <p:spPr>
          <a:xfrm>
            <a:off x="9473184" y="3255264"/>
            <a:ext cx="274320" cy="329184"/>
          </a:xfrm>
          <a:prstGeom prst="chevron">
            <a:avLst/>
          </a:prstGeom>
          <a:solidFill>
            <a:srgbClr val="AAB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629400" y="4370832"/>
            <a:ext cx="260604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50" b="1">
                <a:solidFill>
                  <a:srgbClr val="C25447"/>
                </a:solidFill>
                <a:latin typeface="Microsoft JhengHei"/>
              </a:rPr>
              <a:t>無法判斷／例外情境</a:t>
            </a:r>
          </a:p>
        </p:txBody>
      </p:sp>
      <p:sp>
        <p:nvSpPr>
          <p:cNvPr id="32" name="Chevron 31"/>
          <p:cNvSpPr/>
          <p:nvPr/>
        </p:nvSpPr>
        <p:spPr>
          <a:xfrm>
            <a:off x="9299448" y="4306824"/>
            <a:ext cx="274320" cy="329184"/>
          </a:xfrm>
          <a:prstGeom prst="chevron">
            <a:avLst/>
          </a:prstGeom>
          <a:solidFill>
            <a:srgbClr val="C25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9646920" y="4169663"/>
            <a:ext cx="1527048" cy="694944"/>
          </a:xfrm>
          <a:prstGeom prst="roundRect">
            <a:avLst/>
          </a:prstGeom>
          <a:solidFill>
            <a:srgbClr val="FFF7F6"/>
          </a:solidFill>
          <a:ln w="12700">
            <a:solidFill>
              <a:srgbClr val="C254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646920" y="4315968"/>
            <a:ext cx="1527048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500" b="1">
                <a:solidFill>
                  <a:srgbClr val="C25447"/>
                </a:solidFill>
                <a:latin typeface="Microsoft JhengHei"/>
              </a:rPr>
              <a:t>MES 值班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394960"/>
            <a:ext cx="10863072" cy="694944"/>
          </a:xfrm>
          <a:prstGeom prst="roundRect">
            <a:avLst/>
          </a:prstGeom>
          <a:solidFill>
            <a:srgbClr val="EEF4FC"/>
          </a:solidFill>
          <a:ln w="12700">
            <a:solidFill>
              <a:srgbClr val="EE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77824" y="5532120"/>
            <a:ext cx="1005840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350" b="1">
                <a:solidFill>
                  <a:srgbClr val="295BAA"/>
                </a:solidFill>
                <a:latin typeface="Microsoft JhengHei"/>
              </a:rPr>
              <a:t>專案價值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5522976"/>
            <a:ext cx="92354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20" b="1">
                <a:solidFill>
                  <a:srgbClr val="22262D"/>
                </a:solidFill>
                <a:latin typeface="Microsoft JhengHei"/>
              </a:rPr>
              <a:t>先由機器人處理可標準化問題，降低值班負擔，同時保留人工接手機制。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510528"/>
            <a:ext cx="3200400" cy="14630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>
                <a:solidFill>
                  <a:srgbClr val="A0A6AF"/>
                </a:solidFill>
                <a:latin typeface="Microsoft JhengHei"/>
              </a:rPr>
              <a:t>AI × SYSTEM × CLOUD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45952" y="6473952"/>
            <a:ext cx="41148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850" b="0">
                <a:solidFill>
                  <a:srgbClr val="969CA5"/>
                </a:solidFill>
                <a:latin typeface="Microsoft JhengHei"/>
              </a:rPr>
              <a:t>06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46304"/>
            <a:ext cx="3657600" cy="25603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500" b="1">
                <a:solidFill>
                  <a:srgbClr val="2375D6"/>
                </a:solidFill>
                <a:latin typeface="Microsoft JhengHei"/>
              </a:rPr>
              <a:t>PROJECT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02336"/>
            <a:ext cx="5943600" cy="43891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2500" b="1">
                <a:solidFill>
                  <a:srgbClr val="191919"/>
                </a:solidFill>
                <a:latin typeface="Microsoft JhengHei"/>
              </a:rPr>
              <a:t>DevOps 與平台建置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32104"/>
            <a:ext cx="8686800" cy="25603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dirty="0" err="1">
                <a:solidFill>
                  <a:srgbClr val="696E78"/>
                </a:solidFill>
                <a:latin typeface="Microsoft JhengHei"/>
              </a:rPr>
              <a:t>串接</a:t>
            </a:r>
            <a:r>
              <a:rPr sz="1100" b="0" dirty="0">
                <a:solidFill>
                  <a:srgbClr val="696E78"/>
                </a:solidFill>
                <a:latin typeface="Microsoft JhengHei"/>
              </a:rPr>
              <a:t> GitLab CI/</a:t>
            </a:r>
            <a:r>
              <a:rPr sz="1100" b="0" dirty="0" err="1">
                <a:solidFill>
                  <a:srgbClr val="696E78"/>
                </a:solidFill>
                <a:latin typeface="Microsoft JhengHei"/>
              </a:rPr>
              <a:t>CD、部署自動化、監控平台與</a:t>
            </a:r>
            <a:r>
              <a:rPr sz="1100" b="0" dirty="0">
                <a:solidFill>
                  <a:srgbClr val="696E78"/>
                </a:solidFill>
                <a:latin typeface="Microsoft JhengHei"/>
              </a:rPr>
              <a:t> </a:t>
            </a:r>
            <a:r>
              <a:rPr sz="1100" b="0" dirty="0" err="1">
                <a:solidFill>
                  <a:srgbClr val="696E78"/>
                </a:solidFill>
                <a:latin typeface="Microsoft JhengHei"/>
              </a:rPr>
              <a:t>MLOps，建立端到端交付流程</a:t>
            </a:r>
            <a:endParaRPr sz="1100" b="0" dirty="0">
              <a:solidFill>
                <a:srgbClr val="696E78"/>
              </a:solidFill>
              <a:latin typeface="Microsoft JhengHei"/>
            </a:endParaRPr>
          </a:p>
        </p:txBody>
      </p:sp>
      <p:grpSp>
        <p:nvGrpSpPr>
          <p:cNvPr id="1025" name="群組 1024">
            <a:extLst>
              <a:ext uri="{FF2B5EF4-FFF2-40B4-BE49-F238E27FC236}">
                <a16:creationId xmlns:a16="http://schemas.microsoft.com/office/drawing/2014/main" id="{D9EDB322-9AC9-0AB9-AED1-A29E22B933B8}"/>
              </a:ext>
            </a:extLst>
          </p:cNvPr>
          <p:cNvGrpSpPr/>
          <p:nvPr/>
        </p:nvGrpSpPr>
        <p:grpSpPr>
          <a:xfrm>
            <a:off x="7955280" y="3593409"/>
            <a:ext cx="3585136" cy="2237426"/>
            <a:chOff x="8302064" y="2761488"/>
            <a:chExt cx="3585136" cy="2237426"/>
          </a:xfrm>
        </p:grpSpPr>
        <p:sp>
          <p:nvSpPr>
            <p:cNvPr id="24" name="Rounded Rectangle 23"/>
            <p:cNvSpPr/>
            <p:nvPr/>
          </p:nvSpPr>
          <p:spPr>
            <a:xfrm>
              <a:off x="9528048" y="2761488"/>
              <a:ext cx="2359152" cy="223742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88FE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9709835" y="2933684"/>
              <a:ext cx="1673352" cy="252377"/>
            </a:xfrm>
            <a:prstGeom prst="rect">
              <a:avLst/>
            </a:prstGeom>
            <a:noFill/>
          </p:spPr>
          <p:txBody>
            <a:bodyPr wrap="square" lIns="45720" tIns="18288" rIns="45720" bIns="18288" anchor="ctr">
              <a:spAutoFit/>
            </a:bodyPr>
            <a:lstStyle>
              <a:defPPr>
                <a:defRPr lang="en-US"/>
              </a:defPPr>
              <a:lvl1pPr>
                <a:defRPr sz="1400" b="1">
                  <a:solidFill>
                    <a:srgbClr val="2375D6"/>
                  </a:solidFill>
                  <a:latin typeface="Microsoft JhengHei"/>
                </a:defRPr>
              </a:lvl1pPr>
            </a:lstStyle>
            <a:p>
              <a:r>
                <a:rPr dirty="0"/>
                <a:t>③ MONITOR </a:t>
              </a:r>
              <a:r>
                <a:rPr dirty="0" err="1"/>
                <a:t>階段</a:t>
              </a:r>
              <a:endParaRPr dirty="0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9692640" y="3280914"/>
              <a:ext cx="2029968" cy="14947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marL="171450" indent="-171450">
                <a:lnSpc>
                  <a:spcPct val="150000"/>
                </a:lnSpc>
                <a:spcAft>
                  <a:spcPts val="100"/>
                </a:spcAft>
                <a:buFont typeface="Arial" panose="020B0604020202020204" pitchFamily="34" charset="0"/>
                <a:buChar char="•"/>
                <a:defRPr sz="1200">
                  <a:solidFill>
                    <a:srgbClr val="191919"/>
                  </a:solidFill>
                  <a:latin typeface="Microsoft JhengHei"/>
                </a:defRPr>
              </a:lvl1pPr>
            </a:lstStyle>
            <a:p>
              <a:r>
                <a:rPr lang="zh-TW" altLang="en-US" dirty="0"/>
                <a:t>監控指標 </a:t>
              </a:r>
              <a:r>
                <a:rPr lang="en-US" altLang="zh-TW" dirty="0"/>
                <a:t>(</a:t>
              </a:r>
              <a:r>
                <a:rPr dirty="0"/>
                <a:t>Prometheus</a:t>
              </a:r>
              <a:r>
                <a:rPr lang="en-US" altLang="zh-TW" dirty="0"/>
                <a:t>)</a:t>
              </a:r>
            </a:p>
            <a:p>
              <a:r>
                <a:rPr lang="zh-TW" altLang="en-US" dirty="0"/>
                <a:t>日誌收集 </a:t>
              </a:r>
              <a:r>
                <a:rPr lang="en-US" altLang="zh-TW" dirty="0"/>
                <a:t>(</a:t>
              </a:r>
              <a:r>
                <a:rPr dirty="0"/>
                <a:t>EFK</a:t>
              </a:r>
              <a:r>
                <a:rPr lang="en-US" altLang="zh-TW" dirty="0"/>
                <a:t>)</a:t>
              </a:r>
              <a:endParaRPr dirty="0"/>
            </a:p>
            <a:p>
              <a:r>
                <a:rPr lang="zh-TW" altLang="en-US" dirty="0"/>
                <a:t>長期儲存 </a:t>
              </a:r>
              <a:r>
                <a:rPr lang="en-US" altLang="zh-TW" dirty="0"/>
                <a:t>(</a:t>
              </a:r>
              <a:r>
                <a:rPr dirty="0"/>
                <a:t>Thanos</a:t>
              </a:r>
              <a:r>
                <a:rPr lang="en-US" altLang="zh-TW" dirty="0"/>
                <a:t>)</a:t>
              </a:r>
              <a:r>
                <a:rPr dirty="0"/>
                <a:t> </a:t>
              </a:r>
              <a:endParaRPr lang="en-US" dirty="0"/>
            </a:p>
            <a:p>
              <a:r>
                <a:rPr lang="zh-TW" altLang="en-US" dirty="0"/>
                <a:t>戰情室報表 </a:t>
              </a:r>
              <a:r>
                <a:rPr lang="en-US" altLang="zh-TW" dirty="0"/>
                <a:t>(</a:t>
              </a:r>
              <a:r>
                <a:rPr dirty="0"/>
                <a:t>Grafana</a:t>
              </a:r>
              <a:r>
                <a:rPr lang="en-US" altLang="zh-TW" dirty="0"/>
                <a:t>)</a:t>
              </a:r>
              <a:endParaRPr dirty="0"/>
            </a:p>
            <a:p>
              <a:r>
                <a:rPr dirty="0" err="1"/>
                <a:t>VictoriaMetrics</a:t>
              </a:r>
              <a:r>
                <a:rPr dirty="0"/>
                <a:t> cluster</a:t>
              </a:r>
            </a:p>
          </p:txBody>
        </p:sp>
        <p:cxnSp>
          <p:nvCxnSpPr>
            <p:cNvPr id="34" name="Connector 33"/>
            <p:cNvCxnSpPr>
              <a:cxnSpLocks/>
            </p:cNvCxnSpPr>
            <p:nvPr/>
          </p:nvCxnSpPr>
          <p:spPr>
            <a:xfrm flipH="1">
              <a:off x="8302064" y="3470091"/>
              <a:ext cx="1225984" cy="0"/>
            </a:xfrm>
            <a:prstGeom prst="line">
              <a:avLst/>
            </a:prstGeom>
            <a:ln w="19050">
              <a:solidFill>
                <a:srgbClr val="188FE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37" name="群組 1036">
            <a:extLst>
              <a:ext uri="{FF2B5EF4-FFF2-40B4-BE49-F238E27FC236}">
                <a16:creationId xmlns:a16="http://schemas.microsoft.com/office/drawing/2014/main" id="{93D2DE50-9718-97BA-A94C-B0F6F51434EC}"/>
              </a:ext>
            </a:extLst>
          </p:cNvPr>
          <p:cNvGrpSpPr/>
          <p:nvPr/>
        </p:nvGrpSpPr>
        <p:grpSpPr>
          <a:xfrm>
            <a:off x="292608" y="6236208"/>
            <a:ext cx="11594592" cy="411480"/>
            <a:chOff x="292608" y="6236208"/>
            <a:chExt cx="11594592" cy="411480"/>
          </a:xfrm>
        </p:grpSpPr>
        <p:sp>
          <p:nvSpPr>
            <p:cNvPr id="52" name="Rounded Rectangle 51"/>
            <p:cNvSpPr/>
            <p:nvPr/>
          </p:nvSpPr>
          <p:spPr>
            <a:xfrm>
              <a:off x="292608" y="6236208"/>
              <a:ext cx="11594592" cy="4114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A9D7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475488" y="6325578"/>
              <a:ext cx="3246120" cy="228600"/>
            </a:xfrm>
            <a:prstGeom prst="rect">
              <a:avLst/>
            </a:prstGeom>
            <a:noFill/>
          </p:spPr>
          <p:txBody>
            <a:bodyPr wrap="square" lIns="45720" tIns="18288" rIns="45720" bIns="18288" anchor="ctr">
              <a:spAutoFit/>
            </a:bodyPr>
            <a:lstStyle/>
            <a:p>
              <a:pPr algn="l"/>
              <a:r>
                <a:rPr sz="1200" b="1" dirty="0">
                  <a:solidFill>
                    <a:srgbClr val="2A9D78"/>
                  </a:solidFill>
                  <a:latin typeface="Microsoft JhengHei"/>
                </a:rPr>
                <a:t>⑤ </a:t>
              </a:r>
              <a:r>
                <a:rPr sz="1200" b="1" dirty="0" err="1">
                  <a:solidFill>
                    <a:srgbClr val="2A9D78"/>
                  </a:solidFill>
                  <a:latin typeface="Microsoft JhengHei"/>
                </a:rPr>
                <a:t>協助智能排程應用課導入</a:t>
              </a:r>
              <a:r>
                <a:rPr sz="1200" b="1" dirty="0">
                  <a:solidFill>
                    <a:srgbClr val="2A9D78"/>
                  </a:solidFill>
                  <a:latin typeface="Microsoft JhengHei"/>
                </a:rPr>
                <a:t> CICD </a:t>
              </a:r>
              <a:r>
                <a:rPr sz="1200" b="1" dirty="0" err="1">
                  <a:solidFill>
                    <a:srgbClr val="2A9D78"/>
                  </a:solidFill>
                  <a:latin typeface="Microsoft JhengHei"/>
                </a:rPr>
                <a:t>流程</a:t>
              </a:r>
              <a:endParaRPr sz="1200" b="1" dirty="0">
                <a:solidFill>
                  <a:srgbClr val="2A9D78"/>
                </a:solidFill>
                <a:latin typeface="Microsoft JhengHei"/>
              </a:endParaRP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3703320" y="6325578"/>
              <a:ext cx="4251960" cy="228600"/>
            </a:xfrm>
            <a:prstGeom prst="rect">
              <a:avLst/>
            </a:prstGeom>
            <a:noFill/>
          </p:spPr>
          <p:txBody>
            <a:bodyPr wrap="square" lIns="45720" tIns="18288" rIns="45720" bIns="18288" anchor="ctr">
              <a:spAutoFit/>
            </a:bodyPr>
            <a:lstStyle/>
            <a:p>
              <a:pPr algn="ctr"/>
              <a:r>
                <a:rPr sz="1200" b="0">
                  <a:solidFill>
                    <a:srgbClr val="191919"/>
                  </a:solidFill>
                  <a:latin typeface="Microsoft JhengHei"/>
                </a:rPr>
                <a:t>Pipeline 設計  →  自動化部署  →  硬體資源監控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8028431" y="6325578"/>
              <a:ext cx="3611880" cy="228600"/>
            </a:xfrm>
            <a:prstGeom prst="rect">
              <a:avLst/>
            </a:prstGeom>
            <a:noFill/>
          </p:spPr>
          <p:txBody>
            <a:bodyPr wrap="square" lIns="45720" tIns="18288" rIns="45720" bIns="18288" anchor="ctr">
              <a:spAutoFit/>
            </a:bodyPr>
            <a:lstStyle/>
            <a:p>
              <a:pPr algn="ctr"/>
              <a:r>
                <a:rPr sz="1200" b="1">
                  <a:solidFill>
                    <a:srgbClr val="2A9D78"/>
                  </a:solidFill>
                  <a:latin typeface="Microsoft JhengHei"/>
                </a:rPr>
                <a:t>Grafana Dashboard</a:t>
              </a:r>
            </a:p>
          </p:txBody>
        </p:sp>
      </p:grp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29849AB8-CA72-48A1-FB95-44AFF6378016}"/>
              </a:ext>
            </a:extLst>
          </p:cNvPr>
          <p:cNvGrpSpPr/>
          <p:nvPr/>
        </p:nvGrpSpPr>
        <p:grpSpPr>
          <a:xfrm>
            <a:off x="261088" y="3856554"/>
            <a:ext cx="3442232" cy="2003744"/>
            <a:chOff x="-229006" y="1481328"/>
            <a:chExt cx="3442232" cy="2003744"/>
          </a:xfrm>
        </p:grpSpPr>
        <p:sp>
          <p:nvSpPr>
            <p:cNvPr id="16" name="Rounded Rectangle 15"/>
            <p:cNvSpPr/>
            <p:nvPr/>
          </p:nvSpPr>
          <p:spPr>
            <a:xfrm>
              <a:off x="-229006" y="1481328"/>
              <a:ext cx="2493605" cy="200374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375D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0" y="1627867"/>
              <a:ext cx="1545336" cy="252377"/>
            </a:xfrm>
            <a:prstGeom prst="rect">
              <a:avLst/>
            </a:prstGeom>
            <a:noFill/>
          </p:spPr>
          <p:txBody>
            <a:bodyPr wrap="square" lIns="45720" tIns="18288" rIns="45720" bIns="18288" anchor="ctr">
              <a:spAutoFit/>
            </a:bodyPr>
            <a:lstStyle/>
            <a:p>
              <a:pPr algn="l"/>
              <a:r>
                <a:rPr sz="1400" b="1" dirty="0">
                  <a:solidFill>
                    <a:srgbClr val="2375D6"/>
                  </a:solidFill>
                  <a:latin typeface="Microsoft JhengHei"/>
                </a:rPr>
                <a:t>① TEST </a:t>
              </a:r>
              <a:r>
                <a:rPr sz="1400" b="1" dirty="0" err="1">
                  <a:solidFill>
                    <a:srgbClr val="2375D6"/>
                  </a:solidFill>
                  <a:latin typeface="Microsoft JhengHei"/>
                </a:rPr>
                <a:t>階段</a:t>
              </a:r>
              <a:endParaRPr sz="1400" b="1" dirty="0">
                <a:solidFill>
                  <a:srgbClr val="2375D6"/>
                </a:solidFill>
                <a:latin typeface="Microsoft JhengHei"/>
              </a:endParaRP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-97766" y="1920240"/>
              <a:ext cx="2264894" cy="62523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171450" indent="-171450">
                <a:lnSpc>
                  <a:spcPct val="150000"/>
                </a:lnSpc>
                <a:spcAft>
                  <a:spcPts val="100"/>
                </a:spcAft>
                <a:buFont typeface="Arial" panose="020B0604020202020204" pitchFamily="34" charset="0"/>
                <a:buChar char="•"/>
                <a:defRPr sz="960">
                  <a:solidFill>
                    <a:srgbClr val="191919"/>
                  </a:solidFill>
                  <a:latin typeface="Microsoft JhengHei"/>
                </a:defRPr>
              </a:pPr>
              <a:r>
                <a:rPr sz="1200" dirty="0"/>
                <a:t>SonarQube </a:t>
              </a:r>
              <a:r>
                <a:rPr sz="1200" dirty="0" err="1"/>
                <a:t>串接</a:t>
              </a:r>
              <a:r>
                <a:rPr sz="1200" dirty="0"/>
                <a:t> GitLab CI</a:t>
              </a:r>
            </a:p>
            <a:p>
              <a:pPr marL="171450" indent="-171450">
                <a:lnSpc>
                  <a:spcPct val="150000"/>
                </a:lnSpc>
                <a:spcAft>
                  <a:spcPts val="100"/>
                </a:spcAft>
                <a:buFont typeface="Arial" panose="020B0604020202020204" pitchFamily="34" charset="0"/>
                <a:buChar char="•"/>
                <a:defRPr sz="960">
                  <a:solidFill>
                    <a:srgbClr val="191919"/>
                  </a:solidFill>
                  <a:latin typeface="Microsoft JhengHei"/>
                </a:defRPr>
              </a:pPr>
              <a:r>
                <a:rPr sz="1200" dirty="0" err="1"/>
                <a:t>程式碼掃描與品質檢查</a:t>
              </a:r>
              <a:endParaRPr sz="1200" dirty="0"/>
            </a:p>
          </p:txBody>
        </p:sp>
        <p:cxnSp>
          <p:nvCxnSpPr>
            <p:cNvPr id="32" name="Connector 31"/>
            <p:cNvCxnSpPr>
              <a:cxnSpLocks/>
            </p:cNvCxnSpPr>
            <p:nvPr/>
          </p:nvCxnSpPr>
          <p:spPr>
            <a:xfrm>
              <a:off x="2264599" y="2003742"/>
              <a:ext cx="948627" cy="0"/>
            </a:xfrm>
            <a:prstGeom prst="line">
              <a:avLst/>
            </a:prstGeom>
            <a:ln w="19050">
              <a:solidFill>
                <a:srgbClr val="23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028" name="Picture 4" descr="GitLab SCM - Opsera">
              <a:extLst>
                <a:ext uri="{FF2B5EF4-FFF2-40B4-BE49-F238E27FC236}">
                  <a16:creationId xmlns:a16="http://schemas.microsoft.com/office/drawing/2014/main" id="{446DA517-4031-37B0-16DB-A898059B3B3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229005" y="2623688"/>
              <a:ext cx="795877" cy="7213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57" name="直線單箭頭接點 56">
              <a:extLst>
                <a:ext uri="{FF2B5EF4-FFF2-40B4-BE49-F238E27FC236}">
                  <a16:creationId xmlns:a16="http://schemas.microsoft.com/office/drawing/2014/main" id="{6B008BD5-2BC6-80E6-D20B-3894E43E01F3}"/>
                </a:ext>
              </a:extLst>
            </p:cNvPr>
            <p:cNvCxnSpPr/>
            <p:nvPr/>
          </p:nvCxnSpPr>
          <p:spPr>
            <a:xfrm>
              <a:off x="534608" y="2941277"/>
              <a:ext cx="335826" cy="0"/>
            </a:xfrm>
            <a:prstGeom prst="straightConnector1">
              <a:avLst/>
            </a:prstGeom>
            <a:ln w="28575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030" name="Picture 6" descr="SonarQube - Eclipsepedia">
              <a:extLst>
                <a:ext uri="{FF2B5EF4-FFF2-40B4-BE49-F238E27FC236}">
                  <a16:creationId xmlns:a16="http://schemas.microsoft.com/office/drawing/2014/main" id="{963C25F2-F6DC-6D9E-E822-6D5D45326A5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71116" y="2766764"/>
              <a:ext cx="1004572" cy="2639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24" name="群組 1023">
            <a:extLst>
              <a:ext uri="{FF2B5EF4-FFF2-40B4-BE49-F238E27FC236}">
                <a16:creationId xmlns:a16="http://schemas.microsoft.com/office/drawing/2014/main" id="{2B783948-7337-42B4-EAF3-87AE4DB7D287}"/>
              </a:ext>
            </a:extLst>
          </p:cNvPr>
          <p:cNvGrpSpPr/>
          <p:nvPr/>
        </p:nvGrpSpPr>
        <p:grpSpPr>
          <a:xfrm>
            <a:off x="7706264" y="216958"/>
            <a:ext cx="3440098" cy="1982938"/>
            <a:chOff x="7613214" y="173666"/>
            <a:chExt cx="3440098" cy="1982938"/>
          </a:xfrm>
        </p:grpSpPr>
        <p:sp>
          <p:nvSpPr>
            <p:cNvPr id="20" name="Rounded Rectangle 19"/>
            <p:cNvSpPr/>
            <p:nvPr/>
          </p:nvSpPr>
          <p:spPr>
            <a:xfrm>
              <a:off x="8814815" y="173666"/>
              <a:ext cx="2238497" cy="1982938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88FE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9025128" y="276077"/>
              <a:ext cx="1572768" cy="252377"/>
            </a:xfrm>
            <a:prstGeom prst="rect">
              <a:avLst/>
            </a:prstGeom>
            <a:noFill/>
          </p:spPr>
          <p:txBody>
            <a:bodyPr wrap="square" lIns="45720" tIns="18288" rIns="45720" bIns="18288" anchor="ctr">
              <a:spAutoFit/>
            </a:bodyPr>
            <a:lstStyle>
              <a:defPPr>
                <a:defRPr lang="en-US"/>
              </a:defPPr>
              <a:lvl1pPr>
                <a:defRPr sz="1400" b="1">
                  <a:solidFill>
                    <a:srgbClr val="2375D6"/>
                  </a:solidFill>
                  <a:latin typeface="Microsoft JhengHei"/>
                </a:defRPr>
              </a:lvl1pPr>
            </a:lstStyle>
            <a:p>
              <a:r>
                <a:rPr dirty="0"/>
                <a:t>② DEPLOY </a:t>
              </a:r>
              <a:r>
                <a:rPr dirty="0" err="1"/>
                <a:t>階段</a:t>
              </a:r>
              <a:endParaRPr dirty="0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979408" y="612578"/>
              <a:ext cx="1901952" cy="62523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lnSpc>
                  <a:spcPct val="150000"/>
                </a:lnSpc>
                <a:spcAft>
                  <a:spcPts val="100"/>
                </a:spcAft>
                <a:defRPr sz="1200">
                  <a:solidFill>
                    <a:srgbClr val="191919"/>
                  </a:solidFill>
                  <a:latin typeface="Microsoft JhengHei"/>
                </a:defRPr>
              </a:lvl1pPr>
            </a:lstStyle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dirty="0"/>
                <a:t>Ansible </a:t>
              </a:r>
              <a:r>
                <a:rPr dirty="0" err="1"/>
                <a:t>自動化部署</a:t>
              </a:r>
              <a:endParaRPr dirty="0"/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dirty="0" err="1"/>
                <a:t>串接</a:t>
              </a:r>
              <a:r>
                <a:rPr dirty="0"/>
                <a:t> GitLab CD </a:t>
              </a:r>
              <a:r>
                <a:rPr dirty="0" err="1"/>
                <a:t>流程</a:t>
              </a:r>
              <a:endParaRPr dirty="0"/>
            </a:p>
          </p:txBody>
        </p:sp>
        <p:cxnSp>
          <p:nvCxnSpPr>
            <p:cNvPr id="33" name="Connector 32"/>
            <p:cNvCxnSpPr>
              <a:cxnSpLocks/>
            </p:cNvCxnSpPr>
            <p:nvPr/>
          </p:nvCxnSpPr>
          <p:spPr>
            <a:xfrm flipH="1">
              <a:off x="7613214" y="1403453"/>
              <a:ext cx="1183314" cy="0"/>
            </a:xfrm>
            <a:prstGeom prst="line">
              <a:avLst/>
            </a:prstGeom>
            <a:ln w="19050">
              <a:solidFill>
                <a:srgbClr val="188FE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61" name="Picture 4" descr="GitLab SCM - Opsera">
              <a:extLst>
                <a:ext uri="{FF2B5EF4-FFF2-40B4-BE49-F238E27FC236}">
                  <a16:creationId xmlns:a16="http://schemas.microsoft.com/office/drawing/2014/main" id="{870E659A-0192-2943-73C9-10A7D2453F4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30384" y="1267878"/>
              <a:ext cx="795877" cy="7213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>
              <a:extLst>
                <a:ext uri="{FF2B5EF4-FFF2-40B4-BE49-F238E27FC236}">
                  <a16:creationId xmlns:a16="http://schemas.microsoft.com/office/drawing/2014/main" id="{38C2870C-E1D2-900C-9AE7-6A8AE8BF64E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9437" y="1361671"/>
              <a:ext cx="459039" cy="56614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5" name="群組 1034">
            <a:extLst>
              <a:ext uri="{FF2B5EF4-FFF2-40B4-BE49-F238E27FC236}">
                <a16:creationId xmlns:a16="http://schemas.microsoft.com/office/drawing/2014/main" id="{53B201FD-9A6D-2003-1511-C6454F7D4487}"/>
              </a:ext>
            </a:extLst>
          </p:cNvPr>
          <p:cNvGrpSpPr/>
          <p:nvPr/>
        </p:nvGrpSpPr>
        <p:grpSpPr>
          <a:xfrm>
            <a:off x="4590694" y="4555156"/>
            <a:ext cx="2395728" cy="1478366"/>
            <a:chOff x="4572000" y="4629826"/>
            <a:chExt cx="2395728" cy="1478366"/>
          </a:xfrm>
        </p:grpSpPr>
        <p:sp>
          <p:nvSpPr>
            <p:cNvPr id="28" name="Rounded Rectangle 27"/>
            <p:cNvSpPr/>
            <p:nvPr/>
          </p:nvSpPr>
          <p:spPr>
            <a:xfrm>
              <a:off x="4572000" y="4629826"/>
              <a:ext cx="2395728" cy="147836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153B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4688165" y="4732238"/>
              <a:ext cx="2160691" cy="252377"/>
            </a:xfrm>
            <a:prstGeom prst="rect">
              <a:avLst/>
            </a:prstGeom>
            <a:noFill/>
          </p:spPr>
          <p:txBody>
            <a:bodyPr wrap="square" lIns="45720" tIns="18288" rIns="45720" bIns="18288" anchor="ctr">
              <a:spAutoFit/>
            </a:bodyPr>
            <a:lstStyle/>
            <a:p>
              <a:pPr algn="l"/>
              <a:r>
                <a:rPr sz="1400" b="1" dirty="0">
                  <a:solidFill>
                    <a:srgbClr val="7153B8"/>
                  </a:solidFill>
                  <a:latin typeface="Microsoft JhengHei"/>
                </a:rPr>
                <a:t>④ </a:t>
              </a:r>
              <a:r>
                <a:rPr sz="1400" b="1" dirty="0" err="1">
                  <a:solidFill>
                    <a:srgbClr val="7153B8"/>
                  </a:solidFill>
                  <a:latin typeface="Microsoft JhengHei"/>
                </a:rPr>
                <a:t>MLOps</a:t>
              </a:r>
              <a:r>
                <a:rPr sz="1400" b="1" dirty="0">
                  <a:solidFill>
                    <a:srgbClr val="7153B8"/>
                  </a:solidFill>
                  <a:latin typeface="Microsoft JhengHei"/>
                </a:rPr>
                <a:t> </a:t>
              </a:r>
              <a:r>
                <a:rPr lang="en-US" altLang="zh-TW" sz="1400" b="1" dirty="0">
                  <a:solidFill>
                    <a:srgbClr val="7153B8"/>
                  </a:solidFill>
                  <a:latin typeface="Microsoft JhengHei"/>
                </a:rPr>
                <a:t>TRAIN</a:t>
              </a:r>
              <a:r>
                <a:rPr lang="zh-TW" altLang="en-US" sz="1400" b="1" dirty="0">
                  <a:solidFill>
                    <a:srgbClr val="7153B8"/>
                  </a:solidFill>
                  <a:latin typeface="Microsoft JhengHei"/>
                </a:rPr>
                <a:t> </a:t>
              </a:r>
              <a:r>
                <a:rPr sz="1400" b="1" dirty="0" err="1">
                  <a:solidFill>
                    <a:srgbClr val="7153B8"/>
                  </a:solidFill>
                  <a:latin typeface="Microsoft JhengHei"/>
                </a:rPr>
                <a:t>階段</a:t>
              </a:r>
              <a:endParaRPr sz="1400" b="1" dirty="0">
                <a:solidFill>
                  <a:srgbClr val="7153B8"/>
                </a:solidFill>
                <a:latin typeface="Microsoft JhengHei"/>
              </a:endParaRPr>
            </a:p>
          </p:txBody>
        </p:sp>
        <p:sp>
          <p:nvSpPr>
            <p:cNvPr id="1033" name="TextBox 26">
              <a:extLst>
                <a:ext uri="{FF2B5EF4-FFF2-40B4-BE49-F238E27FC236}">
                  <a16:creationId xmlns:a16="http://schemas.microsoft.com/office/drawing/2014/main" id="{ED123DA1-D3A0-FB1B-CC03-3FEE1A6418F5}"/>
                </a:ext>
              </a:extLst>
            </p:cNvPr>
            <p:cNvSpPr txBox="1"/>
            <p:nvPr/>
          </p:nvSpPr>
          <p:spPr>
            <a:xfrm>
              <a:off x="4709160" y="4970743"/>
              <a:ext cx="2029968" cy="62523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marL="171450" indent="-171450">
                <a:lnSpc>
                  <a:spcPct val="150000"/>
                </a:lnSpc>
                <a:spcAft>
                  <a:spcPts val="100"/>
                </a:spcAft>
                <a:buFont typeface="Arial" panose="020B0604020202020204" pitchFamily="34" charset="0"/>
                <a:buChar char="•"/>
                <a:defRPr sz="1200">
                  <a:solidFill>
                    <a:srgbClr val="191919"/>
                  </a:solidFill>
                  <a:latin typeface="Microsoft JhengHei"/>
                </a:defRPr>
              </a:lvl1pPr>
            </a:lstStyle>
            <a:p>
              <a:r>
                <a:rPr lang="zh-TW" altLang="en-US" dirty="0"/>
                <a:t>模型監控 </a:t>
              </a:r>
              <a:r>
                <a:rPr lang="en-US" altLang="zh-TW" dirty="0"/>
                <a:t>(</a:t>
              </a:r>
              <a:r>
                <a:rPr lang="en-US" altLang="zh-TW" dirty="0" err="1"/>
                <a:t>MLflow</a:t>
              </a:r>
              <a:r>
                <a:rPr lang="en-US" altLang="zh-TW" dirty="0"/>
                <a:t>)</a:t>
              </a:r>
            </a:p>
            <a:p>
              <a:r>
                <a:rPr lang="zh-TW" altLang="en-US" dirty="0"/>
                <a:t>資料版控 </a:t>
              </a:r>
              <a:r>
                <a:rPr lang="en-US" altLang="zh-TW" dirty="0"/>
                <a:t>(DVC)</a:t>
              </a:r>
              <a:endParaRPr dirty="0"/>
            </a:p>
          </p:txBody>
        </p:sp>
        <p:pic>
          <p:nvPicPr>
            <p:cNvPr id="1034" name="Picture 10" descr="A simple introduction to MLFlow. Some of you might have heard a… | by  Hitoruna | Medium">
              <a:extLst>
                <a:ext uri="{FF2B5EF4-FFF2-40B4-BE49-F238E27FC236}">
                  <a16:creationId xmlns:a16="http://schemas.microsoft.com/office/drawing/2014/main" id="{AD635129-0CC1-39C8-3097-92606B8BB40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60392" y="5616714"/>
              <a:ext cx="863752" cy="333722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6" name="Picture 12" descr="Home | Data Version Control · DVC">
              <a:extLst>
                <a:ext uri="{FF2B5EF4-FFF2-40B4-BE49-F238E27FC236}">
                  <a16:creationId xmlns:a16="http://schemas.microsoft.com/office/drawing/2014/main" id="{A7820D19-207C-29C7-AC64-D6DAC4D6E1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clrChange>
                <a:clrFrom>
                  <a:srgbClr val="EEF4F8"/>
                </a:clrFrom>
                <a:clrTo>
                  <a:srgbClr val="EEF4F8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65599" y="5442610"/>
              <a:ext cx="1183257" cy="6655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26" name="Picture 2" descr="What is DevOps?">
            <a:extLst>
              <a:ext uri="{FF2B5EF4-FFF2-40B4-BE49-F238E27FC236}">
                <a16:creationId xmlns:a16="http://schemas.microsoft.com/office/drawing/2014/main" id="{9FF175FC-4278-2348-E94F-55DB50DB87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4560" y="932547"/>
            <a:ext cx="7142152" cy="4017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929808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29184"/>
            <a:ext cx="23774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50" b="1">
                <a:solidFill>
                  <a:srgbClr val="295BAA"/>
                </a:solidFill>
                <a:latin typeface="Microsoft JhengHei"/>
              </a:rPr>
              <a:t>PROJECT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881360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50" b="1">
                <a:solidFill>
                  <a:srgbClr val="22262D"/>
                </a:solidFill>
                <a:latin typeface="Microsoft JhengHei"/>
              </a:rPr>
              <a:t>06｜新技術調研－RPA 工具與 GUI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78992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350" b="0">
                <a:solidFill>
                  <a:srgbClr val="606874"/>
                </a:solidFill>
                <a:latin typeface="Microsoft JhengHei"/>
              </a:rPr>
              <a:t>從腳本式自動化、流程式 RPA 到 GUI Agent，評估企業桌面自動化的適用場景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72768"/>
            <a:ext cx="841248" cy="292608"/>
          </a:xfrm>
          <a:prstGeom prst="roundRect">
            <a:avLst/>
          </a:prstGeom>
          <a:solidFill>
            <a:srgbClr val="EEF4FC"/>
          </a:solidFill>
          <a:ln w="12700">
            <a:solidFill>
              <a:srgbClr val="EE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581912"/>
            <a:ext cx="841248" cy="25603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/>
            <a:r>
              <a:rPr sz="1050" b="1">
                <a:solidFill>
                  <a:srgbClr val="295BAA"/>
                </a:solidFill>
                <a:latin typeface="Microsoft JhengHei"/>
              </a:rPr>
              <a:t>PROJECT 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72768" y="1572768"/>
            <a:ext cx="1645919" cy="292608"/>
          </a:xfrm>
          <a:prstGeom prst="roundRect">
            <a:avLst/>
          </a:prstGeom>
          <a:solidFill>
            <a:srgbClr val="EEF4FC"/>
          </a:solidFill>
          <a:ln w="12700">
            <a:solidFill>
              <a:srgbClr val="EE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72768" y="1581912"/>
            <a:ext cx="1645919" cy="25603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/>
            <a:r>
              <a:rPr sz="1050" b="1">
                <a:solidFill>
                  <a:srgbClr val="295BAA"/>
                </a:solidFill>
                <a:latin typeface="Microsoft JhengHei"/>
              </a:rPr>
              <a:t>RPA / GUI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084831"/>
            <a:ext cx="310896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54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822959" y="2267712"/>
            <a:ext cx="310896" cy="310896"/>
          </a:xfrm>
          <a:prstGeom prst="ellipse">
            <a:avLst/>
          </a:prstGeom>
          <a:solidFill>
            <a:srgbClr val="C25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61872" y="2212848"/>
            <a:ext cx="2267712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900" b="1">
                <a:solidFill>
                  <a:srgbClr val="22262D"/>
                </a:solidFill>
                <a:latin typeface="Microsoft JhengHei"/>
              </a:rPr>
              <a:t>AutoHotKey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2706624"/>
            <a:ext cx="2651760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20" b="1">
                <a:solidFill>
                  <a:srgbClr val="C25447"/>
                </a:solidFill>
                <a:latin typeface="Microsoft JhengHei"/>
              </a:rPr>
              <a:t>腳本式自動化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3127248"/>
            <a:ext cx="2688336" cy="155448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  <a:defRPr sz="1300">
                <a:solidFill>
                  <a:srgbClr val="606874"/>
                </a:solidFill>
                <a:latin typeface="Microsoft JhengHei"/>
              </a:defRPr>
            </a:pPr>
            <a:r>
              <a:t>鍵盤、滑鼠、熱鍵操作</a:t>
            </a:r>
          </a:p>
          <a:p>
            <a:pPr>
              <a:lnSpc>
                <a:spcPct val="100000"/>
              </a:lnSpc>
              <a:spcAft>
                <a:spcPts val="400"/>
              </a:spcAft>
              <a:defRPr sz="1300">
                <a:solidFill>
                  <a:srgbClr val="606874"/>
                </a:solidFill>
                <a:latin typeface="Microsoft JhengHei"/>
              </a:defRPr>
            </a:pPr>
            <a:r>
              <a:t>輕量、快速導入</a:t>
            </a:r>
          </a:p>
          <a:p>
            <a:pPr>
              <a:lnSpc>
                <a:spcPct val="100000"/>
              </a:lnSpc>
              <a:spcAft>
                <a:spcPts val="400"/>
              </a:spcAft>
              <a:defRPr sz="1300">
                <a:solidFill>
                  <a:srgbClr val="606874"/>
                </a:solidFill>
                <a:latin typeface="Microsoft JhengHei"/>
              </a:defRPr>
            </a:pPr>
            <a:r>
              <a:t>適合固定且規則明確的桌面流程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50208" y="2084831"/>
            <a:ext cx="310896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95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114800" y="2267712"/>
            <a:ext cx="310896" cy="310896"/>
          </a:xfrm>
          <a:prstGeom prst="ellipse">
            <a:avLst/>
          </a:prstGeom>
          <a:solidFill>
            <a:srgbClr val="295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3712" y="2212848"/>
            <a:ext cx="2267712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900" b="1">
                <a:solidFill>
                  <a:srgbClr val="22262D"/>
                </a:solidFill>
                <a:latin typeface="Microsoft JhengHei"/>
              </a:rPr>
              <a:t>OpenRPA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3088" y="2706624"/>
            <a:ext cx="2651760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20" b="1">
                <a:solidFill>
                  <a:srgbClr val="295BAA"/>
                </a:solidFill>
                <a:latin typeface="Microsoft JhengHei"/>
              </a:rPr>
              <a:t>流程式 RPA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33088" y="3127248"/>
            <a:ext cx="2688336" cy="155448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  <a:defRPr sz="1300">
                <a:solidFill>
                  <a:srgbClr val="606874"/>
                </a:solidFill>
                <a:latin typeface="Microsoft JhengHei"/>
              </a:defRPr>
            </a:pPr>
            <a:r>
              <a:t>以流程元件編排任務</a:t>
            </a:r>
          </a:p>
          <a:p>
            <a:pPr>
              <a:lnSpc>
                <a:spcPct val="100000"/>
              </a:lnSpc>
              <a:spcAft>
                <a:spcPts val="400"/>
              </a:spcAft>
              <a:defRPr sz="1300">
                <a:solidFill>
                  <a:srgbClr val="606874"/>
                </a:solidFill>
                <a:latin typeface="Microsoft JhengHei"/>
              </a:defRPr>
            </a:pPr>
            <a:r>
              <a:t>較容易視覺化維護</a:t>
            </a:r>
          </a:p>
          <a:p>
            <a:pPr>
              <a:lnSpc>
                <a:spcPct val="100000"/>
              </a:lnSpc>
              <a:spcAft>
                <a:spcPts val="400"/>
              </a:spcAft>
              <a:defRPr sz="1300">
                <a:solidFill>
                  <a:srgbClr val="606874"/>
                </a:solidFill>
                <a:latin typeface="Microsoft JhengHei"/>
              </a:defRPr>
            </a:pPr>
            <a:r>
              <a:t>適合多步驟、可標準化的流程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42048" y="2084831"/>
            <a:ext cx="310896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46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7406640" y="2267712"/>
            <a:ext cx="310896" cy="310896"/>
          </a:xfrm>
          <a:prstGeom prst="ellipse">
            <a:avLst/>
          </a:prstGeom>
          <a:solidFill>
            <a:srgbClr val="746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845552" y="2212848"/>
            <a:ext cx="2267712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900" b="1">
                <a:solidFill>
                  <a:srgbClr val="22262D"/>
                </a:solidFill>
                <a:latin typeface="Microsoft JhengHei"/>
              </a:rPr>
              <a:t>UFO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4927" y="2706624"/>
            <a:ext cx="2651760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20" b="1">
                <a:solidFill>
                  <a:srgbClr val="7460C2"/>
                </a:solidFill>
                <a:latin typeface="Microsoft JhengHei"/>
              </a:rPr>
              <a:t>GUI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7" y="3127248"/>
            <a:ext cx="2688336" cy="155448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  <a:defRPr sz="1300">
                <a:solidFill>
                  <a:srgbClr val="606874"/>
                </a:solidFill>
                <a:latin typeface="Microsoft JhengHei"/>
              </a:defRPr>
            </a:pPr>
            <a:r>
              <a:t>LLM 理解操作目標與畫面</a:t>
            </a:r>
          </a:p>
          <a:p>
            <a:pPr>
              <a:lnSpc>
                <a:spcPct val="100000"/>
              </a:lnSpc>
              <a:spcAft>
                <a:spcPts val="400"/>
              </a:spcAft>
              <a:defRPr sz="1300">
                <a:solidFill>
                  <a:srgbClr val="606874"/>
                </a:solidFill>
                <a:latin typeface="Microsoft JhengHei"/>
              </a:defRPr>
            </a:pPr>
            <a:r>
              <a:t>探索跨應用 GUI 任務執行</a:t>
            </a:r>
          </a:p>
          <a:p>
            <a:pPr>
              <a:lnSpc>
                <a:spcPct val="100000"/>
              </a:lnSpc>
              <a:spcAft>
                <a:spcPts val="400"/>
              </a:spcAft>
              <a:defRPr sz="1300">
                <a:solidFill>
                  <a:srgbClr val="606874"/>
                </a:solidFill>
                <a:latin typeface="Microsoft JhengHei"/>
              </a:defRPr>
            </a:pPr>
            <a:r>
              <a:t>重點評估穩定性、容錯與部署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266944"/>
            <a:ext cx="9692640" cy="566928"/>
          </a:xfrm>
          <a:prstGeom prst="roundRect">
            <a:avLst/>
          </a:prstGeom>
          <a:solidFill>
            <a:srgbClr val="F8FAFD"/>
          </a:solidFill>
          <a:ln w="12700">
            <a:solidFill>
              <a:srgbClr val="D6DD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8680" y="5422392"/>
            <a:ext cx="987552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1">
                <a:solidFill>
                  <a:srgbClr val="295BAA"/>
                </a:solidFill>
                <a:latin typeface="Microsoft JhengHei"/>
              </a:rPr>
              <a:t>工具定位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01952" y="5422392"/>
            <a:ext cx="8101583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50" b="1">
                <a:solidFill>
                  <a:srgbClr val="22262D"/>
                </a:solidFill>
                <a:latin typeface="Microsoft JhengHei"/>
              </a:rPr>
              <a:t>Script Automation  →  RPA Workflow  →  GUI Agent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97312" y="5394960"/>
            <a:ext cx="1024128" cy="292608"/>
          </a:xfrm>
          <a:prstGeom prst="roundRect">
            <a:avLst/>
          </a:prstGeom>
          <a:solidFill>
            <a:srgbClr val="EEF4FC"/>
          </a:solidFill>
          <a:ln w="12700">
            <a:solidFill>
              <a:srgbClr val="EE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497312" y="5404104"/>
            <a:ext cx="1024128" cy="25603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/>
            <a:r>
              <a:rPr sz="1050" b="1">
                <a:solidFill>
                  <a:srgbClr val="295BAA"/>
                </a:solidFill>
                <a:latin typeface="Microsoft JhengHei"/>
              </a:rPr>
              <a:t>PoC / 評估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510528"/>
            <a:ext cx="3200400" cy="14630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>
                <a:solidFill>
                  <a:srgbClr val="A0A6AF"/>
                </a:solidFill>
                <a:latin typeface="Microsoft JhengHei"/>
              </a:rPr>
              <a:t>AI × SYSTEM × CLOUD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45952" y="6473952"/>
            <a:ext cx="41148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850" b="0">
                <a:solidFill>
                  <a:srgbClr val="969CA5"/>
                </a:solidFill>
                <a:latin typeface="Microsoft JhengHei"/>
              </a:rPr>
              <a:t>08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29184"/>
            <a:ext cx="23774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50" b="1">
                <a:solidFill>
                  <a:srgbClr val="295BAA"/>
                </a:solidFill>
                <a:latin typeface="Microsoft JhengHei"/>
              </a:rPr>
              <a:t>PROJECT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881360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50" b="1">
                <a:solidFill>
                  <a:srgbClr val="22262D"/>
                </a:solidFill>
                <a:latin typeface="Microsoft JhengHei"/>
              </a:rPr>
              <a:t>07｜新技術調研－工作流程管理工具 n8n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78992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350" b="0">
                <a:solidFill>
                  <a:srgbClr val="606874"/>
                </a:solidFill>
                <a:latin typeface="Microsoft JhengHei"/>
              </a:rPr>
              <a:t>以低程式碼 Workflow Automation 串接系統、API、資料與 AI 服務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72768"/>
            <a:ext cx="841248" cy="292608"/>
          </a:xfrm>
          <a:prstGeom prst="roundRect">
            <a:avLst/>
          </a:prstGeom>
          <a:solidFill>
            <a:srgbClr val="EEF4FC"/>
          </a:solidFill>
          <a:ln w="12700">
            <a:solidFill>
              <a:srgbClr val="EE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581912"/>
            <a:ext cx="841248" cy="25603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/>
            <a:r>
              <a:rPr sz="1050" b="1">
                <a:solidFill>
                  <a:srgbClr val="295BAA"/>
                </a:solidFill>
                <a:latin typeface="Microsoft JhengHei"/>
              </a:rPr>
              <a:t>PROJECT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72768" y="1572768"/>
            <a:ext cx="1005840" cy="292608"/>
          </a:xfrm>
          <a:prstGeom prst="roundRect">
            <a:avLst/>
          </a:prstGeom>
          <a:solidFill>
            <a:srgbClr val="EEF4FC"/>
          </a:solidFill>
          <a:ln w="12700">
            <a:solidFill>
              <a:srgbClr val="EE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72768" y="1581912"/>
            <a:ext cx="1005840" cy="25603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/>
            <a:r>
              <a:rPr sz="1050" b="1">
                <a:solidFill>
                  <a:srgbClr val="295BAA"/>
                </a:solidFill>
                <a:latin typeface="Microsoft JhengHei"/>
              </a:rPr>
              <a:t>N8N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066543"/>
            <a:ext cx="10863072" cy="3090672"/>
          </a:xfrm>
          <a:prstGeom prst="roundRect">
            <a:avLst/>
          </a:prstGeom>
          <a:solidFill>
            <a:srgbClr val="F8FAFD"/>
          </a:solidFill>
          <a:ln w="12700">
            <a:solidFill>
              <a:srgbClr val="D6DD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267712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650" b="1">
                <a:solidFill>
                  <a:srgbClr val="22262D"/>
                </a:solidFill>
                <a:latin typeface="Microsoft JhengHei"/>
              </a:rPr>
              <a:t>Workflow Architecture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880360"/>
            <a:ext cx="1993392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54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3090672"/>
            <a:ext cx="1810512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600" b="1">
                <a:solidFill>
                  <a:srgbClr val="C25447"/>
                </a:solidFill>
                <a:latin typeface="Microsoft JhengHei"/>
              </a:rPr>
              <a:t>Trigger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3493008"/>
            <a:ext cx="1773936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80" b="0">
                <a:solidFill>
                  <a:srgbClr val="606874"/>
                </a:solidFill>
                <a:latin typeface="Microsoft JhengHei"/>
              </a:rPr>
              <a:t>Webhook
Schedule
Event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2880360"/>
            <a:ext cx="1993392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95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4720" y="3090672"/>
            <a:ext cx="1810512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600" b="1">
                <a:solidFill>
                  <a:srgbClr val="295BAA"/>
                </a:solidFill>
                <a:latin typeface="Microsoft JhengHei"/>
              </a:rPr>
              <a:t>n8n Workflow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008" y="3493008"/>
            <a:ext cx="1773936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80" b="0">
                <a:solidFill>
                  <a:srgbClr val="606874"/>
                </a:solidFill>
                <a:latin typeface="Microsoft JhengHei"/>
              </a:rPr>
              <a:t>條件判斷
資料轉換
流程編排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62472" y="2880360"/>
            <a:ext cx="1993392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9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53912" y="3090672"/>
            <a:ext cx="1810512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600" b="1">
                <a:solidFill>
                  <a:srgbClr val="39959F"/>
                </a:solidFill>
                <a:latin typeface="Microsoft JhengHei"/>
              </a:rPr>
              <a:t>Integration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3493008"/>
            <a:ext cx="1773936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80" b="0">
                <a:solidFill>
                  <a:srgbClr val="606874"/>
                </a:solidFill>
                <a:latin typeface="Microsoft JhengHei"/>
              </a:rPr>
              <a:t>API / DB / File
Mail / System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0" y="2880360"/>
            <a:ext cx="1993392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46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778240" y="3090672"/>
            <a:ext cx="1810512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600" b="1">
                <a:solidFill>
                  <a:srgbClr val="7460C2"/>
                </a:solidFill>
                <a:latin typeface="Microsoft JhengHei"/>
              </a:rPr>
              <a:t>Action / 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96528" y="3493008"/>
            <a:ext cx="1773936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80" b="0">
                <a:solidFill>
                  <a:srgbClr val="606874"/>
                </a:solidFill>
                <a:latin typeface="Microsoft JhengHei"/>
              </a:rPr>
              <a:t>通知 / 寫回
LLM / RAG / Agent</a:t>
            </a:r>
          </a:p>
        </p:txBody>
      </p:sp>
      <p:sp>
        <p:nvSpPr>
          <p:cNvPr id="23" name="Chevron 22"/>
          <p:cNvSpPr/>
          <p:nvPr/>
        </p:nvSpPr>
        <p:spPr>
          <a:xfrm>
            <a:off x="3017520" y="3456432"/>
            <a:ext cx="201168" cy="365760"/>
          </a:xfrm>
          <a:prstGeom prst="chevron">
            <a:avLst/>
          </a:prstGeom>
          <a:solidFill>
            <a:srgbClr val="AAB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Chevron 23"/>
          <p:cNvSpPr/>
          <p:nvPr/>
        </p:nvSpPr>
        <p:spPr>
          <a:xfrm>
            <a:off x="5715000" y="3456432"/>
            <a:ext cx="201168" cy="365760"/>
          </a:xfrm>
          <a:prstGeom prst="chevron">
            <a:avLst/>
          </a:prstGeom>
          <a:solidFill>
            <a:srgbClr val="AAB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Chevron 24"/>
          <p:cNvSpPr/>
          <p:nvPr/>
        </p:nvSpPr>
        <p:spPr>
          <a:xfrm>
            <a:off x="8357616" y="3456432"/>
            <a:ext cx="201168" cy="365760"/>
          </a:xfrm>
          <a:prstGeom prst="chevron">
            <a:avLst/>
          </a:prstGeom>
          <a:solidFill>
            <a:srgbClr val="AAB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68096" y="5413248"/>
            <a:ext cx="11430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320" b="1">
                <a:solidFill>
                  <a:srgbClr val="295BAA"/>
                </a:solidFill>
                <a:latin typeface="Microsoft JhengHei"/>
              </a:rPr>
              <a:t>調研重點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783080" y="5358384"/>
            <a:ext cx="1280160" cy="292608"/>
          </a:xfrm>
          <a:prstGeom prst="roundRect">
            <a:avLst/>
          </a:prstGeom>
          <a:solidFill>
            <a:srgbClr val="EEF4FC"/>
          </a:solidFill>
          <a:ln w="12700">
            <a:solidFill>
              <a:srgbClr val="EE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783080" y="5367528"/>
            <a:ext cx="1280160" cy="25603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/>
            <a:r>
              <a:rPr sz="1060" b="1">
                <a:solidFill>
                  <a:srgbClr val="295BAA"/>
                </a:solidFill>
                <a:latin typeface="Microsoft JhengHei"/>
              </a:rPr>
              <a:t>流程編排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182112" y="5358384"/>
            <a:ext cx="1691640" cy="292608"/>
          </a:xfrm>
          <a:prstGeom prst="roundRect">
            <a:avLst/>
          </a:prstGeom>
          <a:solidFill>
            <a:srgbClr val="EEF4FC"/>
          </a:solidFill>
          <a:ln w="12700">
            <a:solidFill>
              <a:srgbClr val="EE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182112" y="5367528"/>
            <a:ext cx="1691640" cy="25603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/>
            <a:r>
              <a:rPr sz="1060" b="1">
                <a:solidFill>
                  <a:srgbClr val="295BAA"/>
                </a:solidFill>
                <a:latin typeface="Microsoft JhengHei"/>
              </a:rPr>
              <a:t>API / Webhook 整合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10912" y="5358384"/>
            <a:ext cx="1600200" cy="292608"/>
          </a:xfrm>
          <a:prstGeom prst="roundRect">
            <a:avLst/>
          </a:prstGeom>
          <a:solidFill>
            <a:srgbClr val="EEF4FC"/>
          </a:solidFill>
          <a:ln w="12700">
            <a:solidFill>
              <a:srgbClr val="EE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010912" y="5367528"/>
            <a:ext cx="1600200" cy="25603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/>
            <a:r>
              <a:rPr sz="1060" b="1">
                <a:solidFill>
                  <a:srgbClr val="295BAA"/>
                </a:solidFill>
                <a:latin typeface="Microsoft JhengHei"/>
              </a:rPr>
              <a:t>部署與權限管理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739128" y="5358384"/>
            <a:ext cx="1508760" cy="292608"/>
          </a:xfrm>
          <a:prstGeom prst="roundRect">
            <a:avLst/>
          </a:prstGeom>
          <a:solidFill>
            <a:srgbClr val="EEF4FC"/>
          </a:solidFill>
          <a:ln w="12700">
            <a:solidFill>
              <a:srgbClr val="EE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739128" y="5367528"/>
            <a:ext cx="1508760" cy="25603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/>
            <a:r>
              <a:rPr sz="1060" b="1">
                <a:solidFill>
                  <a:srgbClr val="295BAA"/>
                </a:solidFill>
                <a:latin typeface="Microsoft JhengHei"/>
              </a:rPr>
              <a:t>AI Workflow 擴充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75904" y="5358384"/>
            <a:ext cx="1691640" cy="292608"/>
          </a:xfrm>
          <a:prstGeom prst="roundRect">
            <a:avLst/>
          </a:prstGeom>
          <a:solidFill>
            <a:srgbClr val="EEF4FC"/>
          </a:solidFill>
          <a:ln w="12700">
            <a:solidFill>
              <a:srgbClr val="EE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375904" y="5367528"/>
            <a:ext cx="1691640" cy="25603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/>
            <a:r>
              <a:rPr sz="1060" b="1">
                <a:solidFill>
                  <a:srgbClr val="295BAA"/>
                </a:solidFill>
                <a:latin typeface="Microsoft JhengHei"/>
              </a:rPr>
              <a:t>企業內部系統串接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925312"/>
            <a:ext cx="1024128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320" b="1">
                <a:solidFill>
                  <a:srgbClr val="22262D"/>
                </a:solidFill>
                <a:latin typeface="Microsoft JhengHei"/>
              </a:rPr>
              <a:t>定位：作為低程式碼整合平台候選方案，降低跨系統流程串接門檻並提升自動化彈性。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510528"/>
            <a:ext cx="3200400" cy="14630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>
                <a:solidFill>
                  <a:srgbClr val="A0A6AF"/>
                </a:solidFill>
                <a:latin typeface="Microsoft JhengHei"/>
              </a:rPr>
              <a:t>AI × SYSTEM × CLOUD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45952" y="6473952"/>
            <a:ext cx="41148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850" b="0">
                <a:solidFill>
                  <a:srgbClr val="969CA5"/>
                </a:solidFill>
                <a:latin typeface="Microsoft JhengHei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TC"/>
        <a:ea typeface=""/>
        <a:cs typeface=""/>
      </a:majorFont>
      <a:minorFont>
        <a:latin typeface="Noto Sans CJK TC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</TotalTime>
  <Words>1272</Words>
  <Application>Microsoft Office PowerPoint</Application>
  <PresentationFormat>寬螢幕</PresentationFormat>
  <Paragraphs>282</Paragraphs>
  <Slides>11</Slides>
  <Notes>7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20" baseType="lpstr">
      <vt:lpstr>微软雅黑</vt:lpstr>
      <vt:lpstr>Noto Sans CJK TC</vt:lpstr>
      <vt:lpstr>方正兰亭黑简体</vt:lpstr>
      <vt:lpstr>Microsoft JhengHei</vt:lpstr>
      <vt:lpstr>Arial</vt:lpstr>
      <vt:lpstr>Symbol</vt:lpstr>
      <vt:lpstr>Times New Roman</vt:lpstr>
      <vt:lpstr>Wingdings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韻文 曾</cp:lastModifiedBy>
  <cp:revision>7</cp:revision>
  <dcterms:modified xsi:type="dcterms:W3CDTF">2026-08-25T12:00:27Z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2026-08-24T12:01:29Z</dcterms:created>
  <dc:creator>OpenAI</dc:creator>
  <dc:description/>
  <dc:language>en-US</dc:language>
  <cp:lastModifiedBy>OpenAI</cp:lastModifiedBy>
  <dcterms:modified xsi:type="dcterms:W3CDTF">2026-08-24T12:01:29Z</dcterms:modified>
  <cp:revision>1</cp:revision>
  <dc:subject>自我介紹簡報優化版</dc:subject>
  <dc:title>曾韻文｜AI × 系統開發 × 雲端應用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5</vt:r8>
  </property>
  <property fmtid="{D5CDD505-2E9C-101B-9397-08002B2CF9AE}" pid="3" name="PresentationFormat">
    <vt:lpwstr>On-screen Show (16:9)</vt:lpwstr>
  </property>
  <property fmtid="{D5CDD505-2E9C-101B-9397-08002B2CF9AE}" pid="4" name="Slides">
    <vt:r8>5</vt:r8>
  </property>
</Properties>
</file>
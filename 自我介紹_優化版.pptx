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21.svg" ContentType="image/sv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411" r:id="rId6"/>
    <p:sldId id="260" r:id="rId7"/>
    <p:sldId id="414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45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move the slide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18D3FB2-51A7-4CEB-BBEF-5F80EC6F872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5653A5-FC01-4670-AFC6-6B631FB8C6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這頁將原本的學歷與工作經歷合併，以時間軸呈現。強調能力從資訊管理、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視覺，到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MES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系統與雲端整合逐步累積。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C1856B-5453-49AA-8F12-9D4706E4DA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Micro LED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專案將原本兩頁合併成一頁。先講製程痛點，再講演算法與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校正，最後收斂到成果。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9FCD21-8F0A-4829-AF95-B3F5205F39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雲端專案重點不是列服務名稱，而是把服務放進架構流程，讓面試者一眼看懂資料怎麼從地端進雲端、運算、儲存與交換。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254B56-0ED6-4E62-BD4E-CE1B9F17FF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447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將原本零散的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專案整併成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CCTV AI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平台概念，以四種典型應用呈現。碩士論文放在研究延伸，避免額外多一頁。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4494C9-8C31-42F3-A18E-B286B07C28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5CA1F-09B8-E752-B1BD-B3445BDFB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CA66BC-E732-F165-1CDF-F4044BE0A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4ACBBF-41C5-6927-B874-FCD48B748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F8102A-099D-3899-B192-28C493DFD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771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82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440" y="6492240"/>
            <a:ext cx="40230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rPr>
              <a:t>曾韻文 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rPr>
              <a:t>|  AI × SYSTEM × CLOUD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9966960" y="6492240"/>
            <a:ext cx="1599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rPr>
              <a:t>Self Introduction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11612880" y="6473880"/>
            <a:ext cx="22824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54C121-2A3C-470D-85CE-6B364E3A6350}" type="slidenum">
              <a: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title text format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B1069-3899-470A-8AB1-734237277644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7957-89EC-4DC7-A1B9-6F0B3159CB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124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7.sv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4.svg"/><Relationship Id="rId5" Type="http://schemas.openxmlformats.org/officeDocument/2006/relationships/image" Target="../media/image11.svg"/><Relationship Id="rId1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image" Target="../media/image10.svg"/><Relationship Id="rId9" Type="http://schemas.openxmlformats.org/officeDocument/2006/relationships/image" Target="../media/image15.svg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23.svg"/><Relationship Id="rId4" Type="http://schemas.openxmlformats.org/officeDocument/2006/relationships/image" Target="../media/image19.sv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1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17" Type="http://schemas.openxmlformats.org/officeDocument/2006/relationships/image" Target="../media/image36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7.png"/><Relationship Id="rId15" Type="http://schemas.openxmlformats.org/officeDocument/2006/relationships/image" Target="../media/image34.svg"/><Relationship Id="rId10" Type="http://schemas.openxmlformats.org/officeDocument/2006/relationships/image" Target="../media/image30.svg"/><Relationship Id="rId4" Type="http://schemas.openxmlformats.org/officeDocument/2006/relationships/image" Target="../media/image25.svg"/><Relationship Id="rId9" Type="http://schemas.openxmlformats.org/officeDocument/2006/relationships/image" Target="../media/image29.png"/><Relationship Id="rId14" Type="http://schemas.openxmlformats.org/officeDocument/2006/relationships/image" Target="../media/image3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12.png"/><Relationship Id="rId7" Type="http://schemas.openxmlformats.org/officeDocument/2006/relationships/image" Target="../media/image40.png"/><Relationship Id="rId12" Type="http://schemas.openxmlformats.org/officeDocument/2006/relationships/image" Target="../media/image4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svg"/><Relationship Id="rId11" Type="http://schemas.openxmlformats.org/officeDocument/2006/relationships/image" Target="../media/image44.png"/><Relationship Id="rId5" Type="http://schemas.openxmlformats.org/officeDocument/2006/relationships/image" Target="../media/image3.png"/><Relationship Id="rId10" Type="http://schemas.openxmlformats.org/officeDocument/2006/relationships/image" Target="../media/image43.svg"/><Relationship Id="rId4" Type="http://schemas.openxmlformats.org/officeDocument/2006/relationships/image" Target="../media/image38.svg"/><Relationship Id="rId9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jpe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7680960" y="0"/>
            <a:ext cx="360" cy="6858000"/>
          </a:xfrm>
          <a:prstGeom prst="line">
            <a:avLst/>
          </a:prstGeom>
          <a:ln w="7620">
            <a:solidFill>
              <a:srgbClr val="1E293B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8092440" y="0"/>
            <a:ext cx="360" cy="6858000"/>
          </a:xfrm>
          <a:prstGeom prst="line">
            <a:avLst/>
          </a:prstGeom>
          <a:ln w="7620">
            <a:solidFill>
              <a:srgbClr val="1E293B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7620">
            <a:solidFill>
              <a:srgbClr val="1E293B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8915400" y="0"/>
            <a:ext cx="360" cy="6858000"/>
          </a:xfrm>
          <a:prstGeom prst="line">
            <a:avLst/>
          </a:prstGeom>
          <a:ln w="7620">
            <a:solidFill>
              <a:srgbClr val="1E293B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9326880" y="0"/>
            <a:ext cx="360" cy="6858000"/>
          </a:xfrm>
          <a:prstGeom prst="line">
            <a:avLst/>
          </a:prstGeom>
          <a:ln w="7620">
            <a:solidFill>
              <a:srgbClr val="1E293B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9738360" y="0"/>
            <a:ext cx="360" cy="6858000"/>
          </a:xfrm>
          <a:prstGeom prst="line">
            <a:avLst/>
          </a:prstGeom>
          <a:ln w="7620">
            <a:solidFill>
              <a:srgbClr val="1E293B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10149840" y="0"/>
            <a:ext cx="360" cy="6858000"/>
          </a:xfrm>
          <a:prstGeom prst="line">
            <a:avLst/>
          </a:prstGeom>
          <a:ln w="7620">
            <a:solidFill>
              <a:srgbClr val="1E293B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7620">
            <a:solidFill>
              <a:srgbClr val="1E293B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10972800" y="0"/>
            <a:ext cx="360" cy="6858000"/>
          </a:xfrm>
          <a:prstGeom prst="line">
            <a:avLst/>
          </a:prstGeom>
          <a:ln w="7620">
            <a:solidFill>
              <a:srgbClr val="1E293B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11384280" y="0"/>
            <a:ext cx="360" cy="6858000"/>
          </a:xfrm>
          <a:prstGeom prst="line">
            <a:avLst/>
          </a:prstGeom>
          <a:ln w="7620">
            <a:solidFill>
              <a:srgbClr val="1E293B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7315200" y="182880"/>
            <a:ext cx="4846320" cy="360"/>
          </a:xfrm>
          <a:prstGeom prst="line">
            <a:avLst/>
          </a:prstGeom>
          <a:ln w="7620">
            <a:solidFill>
              <a:srgbClr val="1E293B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1"/>
          <p:cNvSpPr/>
          <p:nvPr/>
        </p:nvSpPr>
        <p:spPr>
          <a:xfrm>
            <a:off x="7315200" y="658080"/>
            <a:ext cx="4846320" cy="360"/>
          </a:xfrm>
          <a:prstGeom prst="line">
            <a:avLst/>
          </a:prstGeom>
          <a:ln w="7620">
            <a:solidFill>
              <a:srgbClr val="1E293B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2"/>
          <p:cNvSpPr/>
          <p:nvPr/>
        </p:nvSpPr>
        <p:spPr>
          <a:xfrm>
            <a:off x="7315200" y="1133640"/>
            <a:ext cx="4846320" cy="360"/>
          </a:xfrm>
          <a:prstGeom prst="line">
            <a:avLst/>
          </a:prstGeom>
          <a:ln w="7620">
            <a:solidFill>
              <a:srgbClr val="1E293B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3"/>
          <p:cNvSpPr/>
          <p:nvPr/>
        </p:nvSpPr>
        <p:spPr>
          <a:xfrm>
            <a:off x="7315200" y="1609200"/>
            <a:ext cx="4846320" cy="360"/>
          </a:xfrm>
          <a:prstGeom prst="line">
            <a:avLst/>
          </a:prstGeom>
          <a:ln w="7620">
            <a:solidFill>
              <a:srgbClr val="1E293B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7315200" y="2084760"/>
            <a:ext cx="4846320" cy="360"/>
          </a:xfrm>
          <a:prstGeom prst="line">
            <a:avLst/>
          </a:prstGeom>
          <a:ln w="7620">
            <a:solidFill>
              <a:srgbClr val="1E293B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5"/>
          <p:cNvSpPr/>
          <p:nvPr/>
        </p:nvSpPr>
        <p:spPr>
          <a:xfrm>
            <a:off x="7315200" y="2560320"/>
            <a:ext cx="4846320" cy="360"/>
          </a:xfrm>
          <a:prstGeom prst="line">
            <a:avLst/>
          </a:prstGeom>
          <a:ln w="7620">
            <a:solidFill>
              <a:srgbClr val="1E293B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7315200" y="3035520"/>
            <a:ext cx="4846320" cy="360"/>
          </a:xfrm>
          <a:prstGeom prst="line">
            <a:avLst/>
          </a:prstGeom>
          <a:ln w="7620">
            <a:solidFill>
              <a:srgbClr val="1E293B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7"/>
          <p:cNvSpPr/>
          <p:nvPr/>
        </p:nvSpPr>
        <p:spPr>
          <a:xfrm>
            <a:off x="7315200" y="3511080"/>
            <a:ext cx="4846320" cy="360"/>
          </a:xfrm>
          <a:prstGeom prst="line">
            <a:avLst/>
          </a:prstGeom>
          <a:ln w="7620">
            <a:solidFill>
              <a:srgbClr val="1E293B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8"/>
          <p:cNvSpPr/>
          <p:nvPr/>
        </p:nvSpPr>
        <p:spPr>
          <a:xfrm>
            <a:off x="7315200" y="3986640"/>
            <a:ext cx="4846320" cy="360"/>
          </a:xfrm>
          <a:prstGeom prst="line">
            <a:avLst/>
          </a:prstGeom>
          <a:ln w="7620">
            <a:solidFill>
              <a:srgbClr val="1E293B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9"/>
          <p:cNvSpPr/>
          <p:nvPr/>
        </p:nvSpPr>
        <p:spPr>
          <a:xfrm>
            <a:off x="7315200" y="4462200"/>
            <a:ext cx="4846320" cy="360"/>
          </a:xfrm>
          <a:prstGeom prst="line">
            <a:avLst/>
          </a:prstGeom>
          <a:ln w="7620">
            <a:solidFill>
              <a:srgbClr val="1E293B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0"/>
          <p:cNvSpPr/>
          <p:nvPr/>
        </p:nvSpPr>
        <p:spPr>
          <a:xfrm>
            <a:off x="7315200" y="4937760"/>
            <a:ext cx="4846320" cy="360"/>
          </a:xfrm>
          <a:prstGeom prst="line">
            <a:avLst/>
          </a:prstGeom>
          <a:ln w="7620">
            <a:solidFill>
              <a:srgbClr val="1E293B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1"/>
          <p:cNvSpPr/>
          <p:nvPr/>
        </p:nvSpPr>
        <p:spPr>
          <a:xfrm>
            <a:off x="7315200" y="5412960"/>
            <a:ext cx="4846320" cy="360"/>
          </a:xfrm>
          <a:prstGeom prst="line">
            <a:avLst/>
          </a:prstGeom>
          <a:ln w="7620">
            <a:solidFill>
              <a:srgbClr val="1E293B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2"/>
          <p:cNvSpPr/>
          <p:nvPr/>
        </p:nvSpPr>
        <p:spPr>
          <a:xfrm>
            <a:off x="8641080" y="1042560"/>
            <a:ext cx="2925720" cy="2925720"/>
          </a:xfrm>
          <a:prstGeom prst="ellipse">
            <a:avLst/>
          </a:prstGeom>
          <a:solidFill>
            <a:srgbClr val="2563EB">
              <a:alpha val="10000"/>
            </a:srgbClr>
          </a:solidFill>
          <a:ln w="25400">
            <a:solidFill>
              <a:srgbClr val="2563EB">
                <a:alpha val="4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3"/>
          <p:cNvSpPr/>
          <p:nvPr/>
        </p:nvSpPr>
        <p:spPr>
          <a:xfrm>
            <a:off x="9189720" y="1591200"/>
            <a:ext cx="1828440" cy="1828440"/>
          </a:xfrm>
          <a:prstGeom prst="ellipse">
            <a:avLst/>
          </a:prstGeom>
          <a:solidFill>
            <a:srgbClr val="06B6D4">
              <a:alpha val="12000"/>
            </a:srgbClr>
          </a:solidFill>
          <a:ln w="19050">
            <a:solidFill>
              <a:srgbClr val="06B6D4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537120" y="1929240"/>
            <a:ext cx="1096920" cy="109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Shape 24"/>
          <p:cNvSpPr/>
          <p:nvPr/>
        </p:nvSpPr>
        <p:spPr>
          <a:xfrm>
            <a:off x="768240" y="713160"/>
            <a:ext cx="1663920" cy="292320"/>
          </a:xfrm>
          <a:prstGeom prst="roundRect">
            <a:avLst>
              <a:gd name="adj" fmla="val 37500"/>
            </a:avLst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5"/>
          <p:cNvSpPr/>
          <p:nvPr/>
        </p:nvSpPr>
        <p:spPr>
          <a:xfrm>
            <a:off x="768240" y="713160"/>
            <a:ext cx="1663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BFDBFE"/>
                </a:solidFill>
                <a:effectLst/>
                <a:uFillTx/>
                <a:latin typeface="Noto Sans CJK TC"/>
                <a:ea typeface="Noto Sans CJK TC"/>
              </a:rPr>
              <a:t>SELF INTRODUCTION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6"/>
          <p:cNvSpPr/>
          <p:nvPr/>
        </p:nvSpPr>
        <p:spPr>
          <a:xfrm>
            <a:off x="768240" y="1325880"/>
            <a:ext cx="38401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400" b="1" u="none" strike="noStrik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曾韻文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7"/>
          <p:cNvSpPr/>
          <p:nvPr/>
        </p:nvSpPr>
        <p:spPr>
          <a:xfrm>
            <a:off x="768240" y="2030040"/>
            <a:ext cx="5668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DCEAFE"/>
                </a:solidFill>
                <a:effectLst/>
                <a:uFillTx/>
                <a:latin typeface="Noto Sans CJK TC"/>
                <a:ea typeface="Noto Sans CJK TC"/>
              </a:rPr>
              <a:t>AI × </a:t>
            </a:r>
            <a:r>
              <a:rPr lang="zh-CN" sz="2400" b="1" u="none" strike="noStrike">
                <a:solidFill>
                  <a:srgbClr val="DCEAFE"/>
                </a:solidFill>
                <a:effectLst/>
                <a:uFillTx/>
                <a:latin typeface="Noto Sans CJK TC"/>
                <a:ea typeface="Noto Sans CJK TC"/>
              </a:rPr>
              <a:t>系統開發 </a:t>
            </a:r>
            <a:r>
              <a:rPr lang="en-US" sz="2400" b="1" u="none" strike="noStrike">
                <a:solidFill>
                  <a:srgbClr val="DCEAFE"/>
                </a:solidFill>
                <a:effectLst/>
                <a:uFillTx/>
                <a:latin typeface="Noto Sans CJK TC"/>
                <a:ea typeface="Noto Sans CJK TC"/>
              </a:rPr>
              <a:t>× </a:t>
            </a:r>
            <a:r>
              <a:rPr lang="zh-CN" sz="2400" b="1" u="none" strike="noStrike">
                <a:solidFill>
                  <a:srgbClr val="DCEAFE"/>
                </a:solidFill>
                <a:effectLst/>
                <a:uFillTx/>
                <a:latin typeface="Noto Sans CJK TC"/>
                <a:ea typeface="Noto Sans CJK TC"/>
              </a:rPr>
              <a:t>雲端應用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8"/>
          <p:cNvSpPr/>
          <p:nvPr/>
        </p:nvSpPr>
        <p:spPr>
          <a:xfrm>
            <a:off x="768240" y="2724840"/>
            <a:ext cx="58975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20" b="0" u="none" strike="noStrike">
                <a:solidFill>
                  <a:srgbClr val="A8B6CC"/>
                </a:solidFill>
                <a:effectLst/>
                <a:uFillTx/>
                <a:latin typeface="Noto Sans CJK TC"/>
                <a:ea typeface="Noto Sans CJK TC"/>
              </a:rPr>
              <a:t>從 </a:t>
            </a:r>
            <a:r>
              <a:rPr lang="en-US" sz="1420" b="0" u="none" strike="noStrike">
                <a:solidFill>
                  <a:srgbClr val="A8B6CC"/>
                </a:solidFill>
                <a:effectLst/>
                <a:uFillTx/>
                <a:latin typeface="Noto Sans CJK TC"/>
                <a:ea typeface="Noto Sans CJK TC"/>
              </a:rPr>
              <a:t>Edge AI </a:t>
            </a:r>
            <a:r>
              <a:rPr lang="zh-CN" sz="1420" b="0" u="none" strike="noStrike">
                <a:solidFill>
                  <a:srgbClr val="A8B6CC"/>
                </a:solidFill>
                <a:effectLst/>
                <a:uFillTx/>
                <a:latin typeface="Noto Sans CJK TC"/>
                <a:ea typeface="Noto Sans CJK TC"/>
              </a:rPr>
              <a:t>影像辨識，到 </a:t>
            </a:r>
            <a:r>
              <a:rPr lang="en-US" sz="1420" b="0" u="none" strike="noStrike">
                <a:solidFill>
                  <a:srgbClr val="A8B6CC"/>
                </a:solidFill>
                <a:effectLst/>
                <a:uFillTx/>
                <a:latin typeface="Noto Sans CJK TC"/>
                <a:ea typeface="Noto Sans CJK TC"/>
              </a:rPr>
              <a:t>Micro LED </a:t>
            </a:r>
            <a:r>
              <a:rPr lang="zh-CN" sz="1420" b="0" u="none" strike="noStrike">
                <a:solidFill>
                  <a:srgbClr val="A8B6CC"/>
                </a:solidFill>
                <a:effectLst/>
                <a:uFillTx/>
                <a:latin typeface="Noto Sans CJK TC"/>
                <a:ea typeface="Noto Sans CJK TC"/>
              </a:rPr>
              <a:t>製程演算法與 </a:t>
            </a:r>
            <a:r>
              <a:rPr lang="en-US" sz="1420" b="0" u="none" strike="noStrike">
                <a:solidFill>
                  <a:srgbClr val="A8B6CC"/>
                </a:solidFill>
                <a:effectLst/>
                <a:uFillTx/>
                <a:latin typeface="Noto Sans CJK TC"/>
                <a:ea typeface="Noto Sans CJK TC"/>
              </a:rPr>
              <a:t>Azure </a:t>
            </a:r>
            <a:r>
              <a:rPr lang="zh-CN" sz="1420" b="0" u="none" strike="noStrike">
                <a:solidFill>
                  <a:srgbClr val="A8B6CC"/>
                </a:solidFill>
                <a:effectLst/>
                <a:uFillTx/>
                <a:latin typeface="Noto Sans CJK TC"/>
                <a:ea typeface="Noto Sans CJK TC"/>
              </a:rPr>
              <a:t>雲端系統整合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9"/>
          <p:cNvSpPr/>
          <p:nvPr/>
        </p:nvSpPr>
        <p:spPr>
          <a:xfrm>
            <a:off x="768240" y="3977640"/>
            <a:ext cx="1810080" cy="1096920"/>
          </a:xfrm>
          <a:prstGeom prst="roundRect">
            <a:avLst>
              <a:gd name="adj" fmla="val 10000"/>
            </a:avLst>
          </a:prstGeom>
          <a:solidFill>
            <a:srgbClr val="111C31"/>
          </a:solidFill>
          <a:ln w="12700">
            <a:solidFill>
              <a:srgbClr val="111C31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14400" y="418788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30"/>
          <p:cNvSpPr/>
          <p:nvPr/>
        </p:nvSpPr>
        <p:spPr>
          <a:xfrm>
            <a:off x="1298520" y="4105800"/>
            <a:ext cx="11152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AI / Computer Vision</a:t>
            </a:r>
            <a:endParaRPr lang="en-US" sz="11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1"/>
          <p:cNvSpPr/>
          <p:nvPr/>
        </p:nvSpPr>
        <p:spPr>
          <a:xfrm>
            <a:off x="914400" y="448956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9FB0C8"/>
                </a:solidFill>
                <a:effectLst/>
                <a:uFillTx/>
                <a:latin typeface="Noto Sans CJK TC"/>
                <a:ea typeface="Noto Sans CJK TC"/>
              </a:rPr>
              <a:t>CNN</a:t>
            </a:r>
            <a:r>
              <a:rPr lang="zh-CN" sz="889" b="0" u="none" strike="noStrike">
                <a:solidFill>
                  <a:srgbClr val="9FB0C8"/>
                </a:solidFill>
                <a:effectLst/>
                <a:uFillTx/>
                <a:latin typeface="Noto Sans CJK TC"/>
                <a:ea typeface="Noto Sans CJK TC"/>
              </a:rPr>
              <a:t>・</a:t>
            </a:r>
            <a:r>
              <a:rPr lang="en-US" sz="889" b="0" u="none" strike="noStrike">
                <a:solidFill>
                  <a:srgbClr val="9FB0C8"/>
                </a:solidFill>
                <a:effectLst/>
                <a:uFillTx/>
                <a:latin typeface="Noto Sans CJK TC"/>
                <a:ea typeface="Noto Sans CJK TC"/>
              </a:rPr>
              <a:t>LSTM</a:t>
            </a:r>
            <a:r>
              <a:rPr lang="zh-CN" sz="889" b="0" u="none" strike="noStrike">
                <a:solidFill>
                  <a:srgbClr val="9FB0C8"/>
                </a:solidFill>
                <a:effectLst/>
                <a:uFillTx/>
                <a:latin typeface="Noto Sans CJK TC"/>
                <a:ea typeface="Noto Sans CJK TC"/>
              </a:rPr>
              <a:t>・</a:t>
            </a:r>
            <a:r>
              <a:rPr lang="en-US" sz="889" b="0" u="none" strike="noStrike">
                <a:solidFill>
                  <a:srgbClr val="9FB0C8"/>
                </a:solidFill>
                <a:effectLst/>
                <a:uFillTx/>
                <a:latin typeface="Noto Sans CJK TC"/>
                <a:ea typeface="Noto Sans CJK TC"/>
              </a:rPr>
              <a:t>Edge AI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2"/>
          <p:cNvSpPr/>
          <p:nvPr/>
        </p:nvSpPr>
        <p:spPr>
          <a:xfrm>
            <a:off x="2779920" y="3977640"/>
            <a:ext cx="1810080" cy="1096920"/>
          </a:xfrm>
          <a:prstGeom prst="roundRect">
            <a:avLst>
              <a:gd name="adj" fmla="val 10000"/>
            </a:avLst>
          </a:prstGeom>
          <a:solidFill>
            <a:srgbClr val="111C31"/>
          </a:solidFill>
          <a:ln w="12700">
            <a:solidFill>
              <a:srgbClr val="111C31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2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2926080" y="418788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33"/>
          <p:cNvSpPr/>
          <p:nvPr/>
        </p:nvSpPr>
        <p:spPr>
          <a:xfrm>
            <a:off x="3310200" y="4105800"/>
            <a:ext cx="11152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System / MES</a:t>
            </a:r>
            <a:endParaRPr lang="en-US" sz="11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4"/>
          <p:cNvSpPr/>
          <p:nvPr/>
        </p:nvSpPr>
        <p:spPr>
          <a:xfrm>
            <a:off x="2926080" y="448956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9FB0C8"/>
                </a:solidFill>
                <a:effectLst/>
                <a:uFillTx/>
                <a:latin typeface="Noto Sans CJK TC"/>
                <a:ea typeface="Noto Sans CJK TC"/>
              </a:rPr>
              <a:t>Java</a:t>
            </a:r>
            <a:r>
              <a:rPr lang="zh-CN" sz="889" b="0" u="none" strike="noStrike">
                <a:solidFill>
                  <a:srgbClr val="9FB0C8"/>
                </a:solidFill>
                <a:effectLst/>
                <a:uFillTx/>
                <a:latin typeface="Noto Sans CJK TC"/>
                <a:ea typeface="Noto Sans CJK TC"/>
              </a:rPr>
              <a:t>・</a:t>
            </a:r>
            <a:r>
              <a:rPr lang="en-US" sz="889" b="0" u="none" strike="noStrike">
                <a:solidFill>
                  <a:srgbClr val="9FB0C8"/>
                </a:solidFill>
                <a:effectLst/>
                <a:uFillTx/>
                <a:latin typeface="Noto Sans CJK TC"/>
                <a:ea typeface="Noto Sans CJK TC"/>
              </a:rPr>
              <a:t>REST API</a:t>
            </a:r>
            <a:r>
              <a:rPr lang="zh-CN" sz="889" b="0" u="none" strike="noStrike">
                <a:solidFill>
                  <a:srgbClr val="9FB0C8"/>
                </a:solidFill>
                <a:effectLst/>
                <a:uFillTx/>
                <a:latin typeface="Noto Sans CJK TC"/>
                <a:ea typeface="Noto Sans CJK TC"/>
              </a:rPr>
              <a:t>・</a:t>
            </a:r>
            <a:r>
              <a:rPr lang="en-US" sz="889" b="0" u="none" strike="noStrike">
                <a:solidFill>
                  <a:srgbClr val="9FB0C8"/>
                </a:solidFill>
                <a:effectLst/>
                <a:uFillTx/>
                <a:latin typeface="Noto Sans CJK TC"/>
                <a:ea typeface="Noto Sans CJK TC"/>
              </a:rPr>
              <a:t>Database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5"/>
          <p:cNvSpPr/>
          <p:nvPr/>
        </p:nvSpPr>
        <p:spPr>
          <a:xfrm>
            <a:off x="4791600" y="3977640"/>
            <a:ext cx="1810080" cy="1096920"/>
          </a:xfrm>
          <a:prstGeom prst="roundRect">
            <a:avLst>
              <a:gd name="adj" fmla="val 10000"/>
            </a:avLst>
          </a:prstGeom>
          <a:solidFill>
            <a:srgbClr val="111C31"/>
          </a:solidFill>
          <a:ln w="12700">
            <a:solidFill>
              <a:srgbClr val="111C31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" name="Image 3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937760" y="418788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36"/>
          <p:cNvSpPr/>
          <p:nvPr/>
        </p:nvSpPr>
        <p:spPr>
          <a:xfrm>
            <a:off x="5321880" y="4105800"/>
            <a:ext cx="11152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Cloud / Data</a:t>
            </a:r>
            <a:endParaRPr lang="en-US" sz="11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7"/>
          <p:cNvSpPr/>
          <p:nvPr/>
        </p:nvSpPr>
        <p:spPr>
          <a:xfrm>
            <a:off x="4937760" y="448956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9FB0C8"/>
                </a:solidFill>
                <a:effectLst/>
                <a:uFillTx/>
                <a:latin typeface="Noto Sans CJK TC"/>
                <a:ea typeface="Noto Sans CJK TC"/>
              </a:rPr>
              <a:t>Azure</a:t>
            </a:r>
            <a:r>
              <a:rPr lang="zh-CN" sz="889" b="0" u="none" strike="noStrike">
                <a:solidFill>
                  <a:srgbClr val="9FB0C8"/>
                </a:solidFill>
                <a:effectLst/>
                <a:uFillTx/>
                <a:latin typeface="Noto Sans CJK TC"/>
                <a:ea typeface="Noto Sans CJK TC"/>
              </a:rPr>
              <a:t>・</a:t>
            </a:r>
            <a:r>
              <a:rPr lang="en-US" sz="889" b="0" u="none" strike="noStrike">
                <a:solidFill>
                  <a:srgbClr val="9FB0C8"/>
                </a:solidFill>
                <a:effectLst/>
                <a:uFillTx/>
                <a:latin typeface="Noto Sans CJK TC"/>
                <a:ea typeface="Noto Sans CJK TC"/>
              </a:rPr>
              <a:t>Databricks</a:t>
            </a:r>
            <a:r>
              <a:rPr lang="zh-CN" sz="889" b="0" u="none" strike="noStrike">
                <a:solidFill>
                  <a:srgbClr val="9FB0C8"/>
                </a:solidFill>
                <a:effectLst/>
                <a:uFillTx/>
                <a:latin typeface="Noto Sans CJK TC"/>
                <a:ea typeface="Noto Sans CJK TC"/>
              </a:rPr>
              <a:t>・</a:t>
            </a:r>
            <a:r>
              <a:rPr lang="en-US" sz="889" b="0" u="none" strike="noStrike">
                <a:solidFill>
                  <a:srgbClr val="9FB0C8"/>
                </a:solidFill>
                <a:effectLst/>
                <a:uFillTx/>
                <a:latin typeface="Noto Sans CJK TC"/>
                <a:ea typeface="Noto Sans CJK TC"/>
              </a:rPr>
              <a:t>Delta Lake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8"/>
          <p:cNvSpPr/>
          <p:nvPr/>
        </p:nvSpPr>
        <p:spPr>
          <a:xfrm>
            <a:off x="768240" y="598932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F91AA"/>
                </a:solidFill>
                <a:effectLst/>
                <a:uFillTx/>
                <a:latin typeface="Noto Sans CJK TC"/>
                <a:ea typeface="Noto Sans CJK TC"/>
              </a:rPr>
              <a:t>2020 — 2025  |  AI Software Engineer → MES System Development Engineer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9"/>
          <p:cNvSpPr/>
          <p:nvPr/>
        </p:nvSpPr>
        <p:spPr>
          <a:xfrm>
            <a:off x="11109960" y="6291000"/>
            <a:ext cx="347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01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658440" y="38412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2563EB"/>
                </a:solidFill>
                <a:effectLst/>
                <a:uFillTx/>
                <a:latin typeface="Noto Sans CJK TC"/>
                <a:ea typeface="Noto Sans CJK TC"/>
              </a:rPr>
              <a:t>PROFILE JOURNEY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658440" y="67680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學歷背景 </a:t>
            </a:r>
            <a:r>
              <a:rPr lang="en-US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× </a:t>
            </a:r>
            <a:r>
              <a:rPr lang="zh-CN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工作經歷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658440" y="11977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將研究背景、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AI </a:t>
            </a:r>
            <a:r>
              <a:rPr lang="zh-CN" sz="11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經驗與系統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/ </a:t>
            </a:r>
            <a:r>
              <a:rPr lang="zh-CN" sz="11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雲端能力串成一條完整職涯路徑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3"/>
          <p:cNvSpPr/>
          <p:nvPr/>
        </p:nvSpPr>
        <p:spPr>
          <a:xfrm>
            <a:off x="932400" y="3520440"/>
            <a:ext cx="10287000" cy="360"/>
          </a:xfrm>
          <a:prstGeom prst="line">
            <a:avLst/>
          </a:prstGeom>
          <a:ln w="25400">
            <a:solidFill>
              <a:srgbClr val="B8C6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4"/>
          <p:cNvSpPr/>
          <p:nvPr/>
        </p:nvSpPr>
        <p:spPr>
          <a:xfrm>
            <a:off x="1609200" y="3410640"/>
            <a:ext cx="219240" cy="21924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1444680" y="2030040"/>
            <a:ext cx="548280" cy="54828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591200" y="21762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6"/>
          <p:cNvSpPr/>
          <p:nvPr/>
        </p:nvSpPr>
        <p:spPr>
          <a:xfrm>
            <a:off x="1005840" y="269748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2563EB"/>
                </a:solidFill>
                <a:effectLst/>
                <a:uFillTx/>
                <a:latin typeface="Noto Sans CJK TC"/>
                <a:ea typeface="Noto Sans CJK TC"/>
              </a:rPr>
              <a:t>2014–2018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932760" y="2898720"/>
            <a:ext cx="1608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資訊管理系｜大學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932760" y="3182040"/>
            <a:ext cx="160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國立高雄第一科技大學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951120" y="3822120"/>
            <a:ext cx="157248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A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0"/>
          <p:cNvSpPr/>
          <p:nvPr/>
        </p:nvSpPr>
        <p:spPr>
          <a:xfrm>
            <a:off x="1069920" y="3959280"/>
            <a:ext cx="13345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資訊系統與程式設計基礎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1"/>
          <p:cNvSpPr/>
          <p:nvPr/>
        </p:nvSpPr>
        <p:spPr>
          <a:xfrm>
            <a:off x="3762540" y="3410640"/>
            <a:ext cx="219240" cy="219240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2"/>
          <p:cNvSpPr/>
          <p:nvPr/>
        </p:nvSpPr>
        <p:spPr>
          <a:xfrm>
            <a:off x="3578031" y="2030040"/>
            <a:ext cx="548280" cy="54828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6B6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3724551" y="21762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13"/>
          <p:cNvSpPr/>
          <p:nvPr/>
        </p:nvSpPr>
        <p:spPr>
          <a:xfrm>
            <a:off x="3139191" y="269748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06B6D4"/>
                </a:solidFill>
                <a:effectLst/>
                <a:uFillTx/>
                <a:latin typeface="Noto Sans CJK TC"/>
                <a:ea typeface="Noto Sans CJK TC"/>
              </a:rPr>
              <a:t>2018–2020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4"/>
          <p:cNvSpPr/>
          <p:nvPr/>
        </p:nvSpPr>
        <p:spPr>
          <a:xfrm>
            <a:off x="3066111" y="2898720"/>
            <a:ext cx="1608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資訊管理所｜碩士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5"/>
          <p:cNvSpPr/>
          <p:nvPr/>
        </p:nvSpPr>
        <p:spPr>
          <a:xfrm>
            <a:off x="3066111" y="3182040"/>
            <a:ext cx="160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國立雲林科技大學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6"/>
          <p:cNvSpPr/>
          <p:nvPr/>
        </p:nvSpPr>
        <p:spPr>
          <a:xfrm>
            <a:off x="3090222" y="3822120"/>
            <a:ext cx="157248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A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7"/>
          <p:cNvSpPr/>
          <p:nvPr/>
        </p:nvSpPr>
        <p:spPr>
          <a:xfrm>
            <a:off x="3209022" y="3959280"/>
            <a:ext cx="13345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ToF </a:t>
            </a:r>
            <a:r>
              <a:rPr lang="zh-CN" sz="95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深度影像 </a:t>
            </a:r>
            <a:r>
              <a:rPr lang="en-US" sz="95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+ LSTM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人體動作 </a:t>
            </a:r>
            <a:r>
              <a:rPr lang="en-US" sz="95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/ </a:t>
            </a:r>
            <a:r>
              <a:rPr lang="zh-CN" sz="95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跌倒偵測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8"/>
          <p:cNvSpPr/>
          <p:nvPr/>
        </p:nvSpPr>
        <p:spPr>
          <a:xfrm>
            <a:off x="5915880" y="3410640"/>
            <a:ext cx="219240" cy="21924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9"/>
          <p:cNvSpPr/>
          <p:nvPr/>
        </p:nvSpPr>
        <p:spPr>
          <a:xfrm>
            <a:off x="5731137" y="2030040"/>
            <a:ext cx="548280" cy="54828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 2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5877657" y="21762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20"/>
          <p:cNvSpPr/>
          <p:nvPr/>
        </p:nvSpPr>
        <p:spPr>
          <a:xfrm>
            <a:off x="5292297" y="269748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14B8A6"/>
                </a:solidFill>
                <a:effectLst/>
                <a:uFillTx/>
                <a:latin typeface="Noto Sans CJK TC"/>
                <a:ea typeface="Noto Sans CJK TC"/>
              </a:rPr>
              <a:t>2020–2022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1"/>
          <p:cNvSpPr/>
          <p:nvPr/>
        </p:nvSpPr>
        <p:spPr>
          <a:xfrm>
            <a:off x="5219217" y="2898720"/>
            <a:ext cx="1608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AI </a:t>
            </a:r>
            <a:r>
              <a:rPr lang="zh-CN" sz="128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軟體工程師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2"/>
          <p:cNvSpPr/>
          <p:nvPr/>
        </p:nvSpPr>
        <p:spPr>
          <a:xfrm>
            <a:off x="5219217" y="3182040"/>
            <a:ext cx="160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杭特電子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3"/>
          <p:cNvSpPr/>
          <p:nvPr/>
        </p:nvSpPr>
        <p:spPr>
          <a:xfrm>
            <a:off x="5254832" y="3822120"/>
            <a:ext cx="157248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A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4"/>
          <p:cNvSpPr/>
          <p:nvPr/>
        </p:nvSpPr>
        <p:spPr>
          <a:xfrm>
            <a:off x="5373632" y="3959280"/>
            <a:ext cx="13345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 dirty="0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Edge AI / CCTV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u="none" strike="noStrike" dirty="0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車牌・人臉・跌倒</a:t>
            </a:r>
            <a:br>
              <a:rPr lang="en-US" altLang="zh-CN" sz="950" b="0" u="none" strike="noStrike" dirty="0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</a:br>
            <a:r>
              <a:rPr lang="zh-CN" sz="950" b="0" u="none" strike="noStrike" dirty="0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・智慧牧場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5"/>
          <p:cNvSpPr/>
          <p:nvPr/>
        </p:nvSpPr>
        <p:spPr>
          <a:xfrm>
            <a:off x="10222560" y="3401100"/>
            <a:ext cx="219240" cy="219240"/>
          </a:xfrm>
          <a:prstGeom prst="ellipse">
            <a:avLst/>
          </a:prstGeom>
          <a:solidFill>
            <a:schemeClr val="accent4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6"/>
          <p:cNvSpPr/>
          <p:nvPr/>
        </p:nvSpPr>
        <p:spPr>
          <a:xfrm>
            <a:off x="7881742" y="2030040"/>
            <a:ext cx="548280" cy="54828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3" descr="preencoded.png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028262" y="21762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27"/>
          <p:cNvSpPr/>
          <p:nvPr/>
        </p:nvSpPr>
        <p:spPr>
          <a:xfrm>
            <a:off x="7442902" y="269748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 dirty="0">
                <a:solidFill>
                  <a:srgbClr val="F59E0B"/>
                </a:solidFill>
                <a:effectLst/>
                <a:uFillTx/>
                <a:latin typeface="Noto Sans CJK TC"/>
                <a:ea typeface="Noto Sans CJK TC"/>
              </a:rPr>
              <a:t>2022–2025</a:t>
            </a:r>
            <a:endParaRPr lang="en-US" sz="10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8"/>
          <p:cNvSpPr/>
          <p:nvPr/>
        </p:nvSpPr>
        <p:spPr>
          <a:xfrm>
            <a:off x="7369822" y="2898720"/>
            <a:ext cx="1608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MES </a:t>
            </a:r>
            <a:r>
              <a:rPr lang="zh-CN" sz="128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系統開發工程師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9"/>
          <p:cNvSpPr/>
          <p:nvPr/>
        </p:nvSpPr>
        <p:spPr>
          <a:xfrm>
            <a:off x="7369822" y="3182040"/>
            <a:ext cx="160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友達光電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0"/>
          <p:cNvSpPr/>
          <p:nvPr/>
        </p:nvSpPr>
        <p:spPr>
          <a:xfrm>
            <a:off x="7399694" y="3822120"/>
            <a:ext cx="157248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A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1"/>
          <p:cNvSpPr/>
          <p:nvPr/>
        </p:nvSpPr>
        <p:spPr>
          <a:xfrm>
            <a:off x="7518494" y="3959280"/>
            <a:ext cx="13345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 dirty="0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Micro LED </a:t>
            </a:r>
            <a:r>
              <a:rPr lang="zh-CN" sz="950" b="0" u="none" strike="noStrike" dirty="0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演算法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 dirty="0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MES / Azure / Full-stack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2"/>
          <p:cNvSpPr/>
          <p:nvPr/>
        </p:nvSpPr>
        <p:spPr>
          <a:xfrm>
            <a:off x="841320" y="5244201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1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核心能力累積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33"/>
          <p:cNvSpPr/>
          <p:nvPr/>
        </p:nvSpPr>
        <p:spPr>
          <a:xfrm>
            <a:off x="2240280" y="5134401"/>
            <a:ext cx="2395440" cy="85932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4" descr="preencoded.png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2386440" y="5372001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34"/>
          <p:cNvSpPr/>
          <p:nvPr/>
        </p:nvSpPr>
        <p:spPr>
          <a:xfrm>
            <a:off x="2770560" y="5253201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AI / </a:t>
            </a:r>
            <a:r>
              <a:rPr lang="zh-CN" sz="112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影像辨識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5"/>
          <p:cNvSpPr/>
          <p:nvPr/>
        </p:nvSpPr>
        <p:spPr>
          <a:xfrm>
            <a:off x="2770560" y="5545881"/>
            <a:ext cx="1663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8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模型訓練・推論・場域整合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6"/>
          <p:cNvSpPr/>
          <p:nvPr/>
        </p:nvSpPr>
        <p:spPr>
          <a:xfrm>
            <a:off x="4974480" y="5134401"/>
            <a:ext cx="2395440" cy="85932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Image 5" descr="preencoded.png"/>
          <p:cNvPicPr/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5120640" y="5372001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 37"/>
          <p:cNvSpPr/>
          <p:nvPr/>
        </p:nvSpPr>
        <p:spPr>
          <a:xfrm>
            <a:off x="5504760" y="5253201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2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系統開發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8"/>
          <p:cNvSpPr/>
          <p:nvPr/>
        </p:nvSpPr>
        <p:spPr>
          <a:xfrm>
            <a:off x="5504760" y="5545881"/>
            <a:ext cx="1663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8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前後端・</a:t>
            </a:r>
            <a:r>
              <a:rPr lang="en-US" sz="88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REST API</a:t>
            </a:r>
            <a:r>
              <a:rPr lang="zh-CN" sz="88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・資料庫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9"/>
          <p:cNvSpPr/>
          <p:nvPr/>
        </p:nvSpPr>
        <p:spPr>
          <a:xfrm>
            <a:off x="7708320" y="5134401"/>
            <a:ext cx="2395440" cy="85932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6" descr="preencoded.png"/>
          <p:cNvPicPr/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7854840" y="5372001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40"/>
          <p:cNvSpPr/>
          <p:nvPr/>
        </p:nvSpPr>
        <p:spPr>
          <a:xfrm>
            <a:off x="8238600" y="5253201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2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雲端與資料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1"/>
          <p:cNvSpPr/>
          <p:nvPr/>
        </p:nvSpPr>
        <p:spPr>
          <a:xfrm>
            <a:off x="8238600" y="5545881"/>
            <a:ext cx="1663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Azure</a:t>
            </a:r>
            <a:r>
              <a:rPr lang="zh-CN" sz="88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・</a:t>
            </a:r>
            <a:r>
              <a:rPr lang="en-US" sz="88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Databricks</a:t>
            </a:r>
            <a:r>
              <a:rPr lang="zh-CN" sz="88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・</a:t>
            </a:r>
            <a:r>
              <a:rPr lang="en-US" sz="88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Blob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sldNum" idx="5"/>
          </p:nvPr>
        </p:nvSpPr>
        <p:spPr>
          <a:xfrm>
            <a:off x="11612880" y="6473880"/>
            <a:ext cx="22824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9FC632-438D-4D5C-AC6B-89944F4EAFC2}" type="slidenum">
              <a: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rPr>
              <a:t>2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Shape 25">
            <a:extLst>
              <a:ext uri="{FF2B5EF4-FFF2-40B4-BE49-F238E27FC236}">
                <a16:creationId xmlns:a16="http://schemas.microsoft.com/office/drawing/2014/main" id="{E7889F4A-4D50-A052-DCC4-9E743AC0DB8D}"/>
              </a:ext>
            </a:extLst>
          </p:cNvPr>
          <p:cNvSpPr/>
          <p:nvPr/>
        </p:nvSpPr>
        <p:spPr>
          <a:xfrm>
            <a:off x="8069220" y="3429000"/>
            <a:ext cx="219240" cy="21924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26">
            <a:extLst>
              <a:ext uri="{FF2B5EF4-FFF2-40B4-BE49-F238E27FC236}">
                <a16:creationId xmlns:a16="http://schemas.microsoft.com/office/drawing/2014/main" id="{E8291F39-011E-2BAD-17C6-D650B97326D1}"/>
              </a:ext>
            </a:extLst>
          </p:cNvPr>
          <p:cNvSpPr/>
          <p:nvPr/>
        </p:nvSpPr>
        <p:spPr>
          <a:xfrm>
            <a:off x="10041543" y="2025720"/>
            <a:ext cx="548280" cy="548280"/>
          </a:xfrm>
          <a:prstGeom prst="ellipse">
            <a:avLst/>
          </a:prstGeom>
          <a:solidFill>
            <a:srgbClr val="FFFFFF"/>
          </a:solidFill>
          <a:ln w="17780">
            <a:solidFill>
              <a:schemeClr val="accent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6B40D2A7-2638-D2F7-1C5A-97C3B560CF4E}"/>
              </a:ext>
            </a:extLst>
          </p:cNvPr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188063" y="217188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Text 27">
            <a:extLst>
              <a:ext uri="{FF2B5EF4-FFF2-40B4-BE49-F238E27FC236}">
                <a16:creationId xmlns:a16="http://schemas.microsoft.com/office/drawing/2014/main" id="{266ACBE3-DF6A-9C2C-23B1-69EF737530A6}"/>
              </a:ext>
            </a:extLst>
          </p:cNvPr>
          <p:cNvSpPr/>
          <p:nvPr/>
        </p:nvSpPr>
        <p:spPr>
          <a:xfrm>
            <a:off x="9602703" y="269316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 dirty="0">
                <a:solidFill>
                  <a:schemeClr val="accent4"/>
                </a:solidFill>
                <a:effectLst/>
                <a:uFillTx/>
                <a:latin typeface="Noto Sans CJK TC"/>
                <a:ea typeface="Noto Sans CJK TC"/>
              </a:rPr>
              <a:t>2025</a:t>
            </a:r>
            <a:r>
              <a:rPr lang="en-US" altLang="zh-TW" sz="1060" b="1" u="none" strike="noStrike" dirty="0">
                <a:solidFill>
                  <a:schemeClr val="accent4"/>
                </a:solidFill>
                <a:effectLst/>
                <a:uFillTx/>
                <a:latin typeface="Noto Sans CJK TC"/>
                <a:ea typeface="Noto Sans CJK TC"/>
              </a:rPr>
              <a:t>–</a:t>
            </a:r>
            <a:endParaRPr lang="en-US" sz="1060" b="0" u="none" strike="noStrike" dirty="0">
              <a:solidFill>
                <a:schemeClr val="accent4"/>
              </a:solidFill>
              <a:effectLst/>
              <a:uFillTx/>
              <a:latin typeface="Arial"/>
            </a:endParaRPr>
          </a:p>
        </p:txBody>
      </p:sp>
      <p:sp>
        <p:nvSpPr>
          <p:cNvPr id="6" name="Text 28">
            <a:extLst>
              <a:ext uri="{FF2B5EF4-FFF2-40B4-BE49-F238E27FC236}">
                <a16:creationId xmlns:a16="http://schemas.microsoft.com/office/drawing/2014/main" id="{52011B32-13E7-1C1B-EEB5-1A383A5CE71C}"/>
              </a:ext>
            </a:extLst>
          </p:cNvPr>
          <p:cNvSpPr/>
          <p:nvPr/>
        </p:nvSpPr>
        <p:spPr>
          <a:xfrm>
            <a:off x="9529623" y="2894400"/>
            <a:ext cx="1608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TW" sz="1280" b="1" u="none" strike="noStrike" dirty="0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DevOps </a:t>
            </a:r>
            <a:r>
              <a:rPr lang="zh-CN" sz="1280" b="1" u="none" strike="noStrike" dirty="0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工程師</a:t>
            </a:r>
            <a:endParaRPr lang="en-US" sz="12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 29">
            <a:extLst>
              <a:ext uri="{FF2B5EF4-FFF2-40B4-BE49-F238E27FC236}">
                <a16:creationId xmlns:a16="http://schemas.microsoft.com/office/drawing/2014/main" id="{67223B46-06EE-ADA8-CF1D-DB5FA050FD8B}"/>
              </a:ext>
            </a:extLst>
          </p:cNvPr>
          <p:cNvSpPr/>
          <p:nvPr/>
        </p:nvSpPr>
        <p:spPr>
          <a:xfrm>
            <a:off x="9529623" y="3177720"/>
            <a:ext cx="160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altLang="en-US" sz="1000" b="0" u="none" strike="noStrike" dirty="0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矽品精密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Shape 30">
            <a:extLst>
              <a:ext uri="{FF2B5EF4-FFF2-40B4-BE49-F238E27FC236}">
                <a16:creationId xmlns:a16="http://schemas.microsoft.com/office/drawing/2014/main" id="{C5F6DBCD-4D4E-177C-99C7-FD2DEC90C672}"/>
              </a:ext>
            </a:extLst>
          </p:cNvPr>
          <p:cNvSpPr/>
          <p:nvPr/>
        </p:nvSpPr>
        <p:spPr>
          <a:xfrm>
            <a:off x="9555351" y="3822120"/>
            <a:ext cx="1572480" cy="914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A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31">
            <a:extLst>
              <a:ext uri="{FF2B5EF4-FFF2-40B4-BE49-F238E27FC236}">
                <a16:creationId xmlns:a16="http://schemas.microsoft.com/office/drawing/2014/main" id="{D118560B-DFA0-88AD-1C73-36194F75154E}"/>
              </a:ext>
            </a:extLst>
          </p:cNvPr>
          <p:cNvSpPr/>
          <p:nvPr/>
        </p:nvSpPr>
        <p:spPr>
          <a:xfrm>
            <a:off x="9674151" y="3959280"/>
            <a:ext cx="133452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 dirty="0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Micro LED </a:t>
            </a:r>
            <a:r>
              <a:rPr lang="zh-CN" sz="950" b="0" u="none" strike="noStrike" dirty="0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演算法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 dirty="0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MES / Azure / Full-stack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658440" y="38412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2563EB"/>
                </a:solidFill>
                <a:effectLst/>
                <a:uFillTx/>
                <a:latin typeface="Noto Sans CJK TC"/>
                <a:ea typeface="Noto Sans CJK TC"/>
              </a:rPr>
              <a:t>PROJECT EXPERIENCE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658440" y="67680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01</a:t>
            </a:r>
            <a:r>
              <a:rPr lang="zh-CN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｜</a:t>
            </a:r>
            <a:r>
              <a:rPr lang="en-US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Micro LED </a:t>
            </a:r>
            <a:r>
              <a:rPr lang="zh-CN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製程演算法與 </a:t>
            </a:r>
            <a:r>
              <a:rPr lang="en-US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AI </a:t>
            </a:r>
            <a:r>
              <a:rPr lang="zh-CN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校正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658440" y="11977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從製程問題拆解、演算法設計到系統化導入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3"/>
          <p:cNvSpPr/>
          <p:nvPr/>
        </p:nvSpPr>
        <p:spPr>
          <a:xfrm>
            <a:off x="658440" y="1700640"/>
            <a:ext cx="1444320" cy="347040"/>
          </a:xfrm>
          <a:prstGeom prst="roundRect">
            <a:avLst>
              <a:gd name="adj" fmla="val 31579"/>
            </a:avLst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768240" y="1700640"/>
            <a:ext cx="7311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PROJECT 01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1499760" y="170064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3C5FD"/>
                </a:solidFill>
                <a:effectLst/>
                <a:uFillTx/>
                <a:latin typeface="Noto Sans CJK TC"/>
                <a:ea typeface="Noto Sans CJK TC"/>
              </a:rPr>
              <a:t>MICRO LED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6"/>
          <p:cNvSpPr/>
          <p:nvPr/>
        </p:nvSpPr>
        <p:spPr>
          <a:xfrm>
            <a:off x="658440" y="2258640"/>
            <a:ext cx="4315680" cy="1023840"/>
          </a:xfrm>
          <a:prstGeom prst="roundRect">
            <a:avLst>
              <a:gd name="adj" fmla="val 7143"/>
            </a:avLst>
          </a:prstGeom>
          <a:solidFill>
            <a:srgbClr val="FFF7E8"/>
          </a:solidFill>
          <a:ln w="12700">
            <a:solidFill>
              <a:srgbClr val="F7D9A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96040" y="25513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7"/>
          <p:cNvSpPr/>
          <p:nvPr/>
        </p:nvSpPr>
        <p:spPr>
          <a:xfrm>
            <a:off x="1371600" y="2395800"/>
            <a:ext cx="1188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4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製程挑戰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1371600" y="2670120"/>
            <a:ext cx="32457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巨量轉移分佈、修補路徑、玻璃對組，以及 </a:t>
            </a:r>
            <a:r>
              <a:rPr lang="en-US" sz="105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Wafer / TFT / </a:t>
            </a:r>
            <a:r>
              <a:rPr lang="zh-CN" sz="105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機台誤差造成的 </a:t>
            </a:r>
            <a:r>
              <a:rPr lang="en-US" sz="105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LED </a:t>
            </a:r>
            <a:r>
              <a:rPr lang="zh-CN" sz="105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偏移。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658440" y="3456360"/>
            <a:ext cx="4315680" cy="15724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5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96040" y="36849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10"/>
          <p:cNvSpPr/>
          <p:nvPr/>
        </p:nvSpPr>
        <p:spPr>
          <a:xfrm>
            <a:off x="1371600" y="356616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4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核心工作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1362600" y="3840480"/>
            <a:ext cx="327312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152280" indent="-152280" defTabSz="914400">
              <a:lnSpc>
                <a:spcPct val="100000"/>
              </a:lnSpc>
              <a:buClr>
                <a:srgbClr val="0F172A"/>
              </a:buClr>
              <a:buFont typeface="Symbol" charset="2"/>
              <a:buChar char=""/>
            </a:pPr>
            <a:r>
              <a:rPr lang="en-US" sz="102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Mass Transfer / Repair / Bonding / Total Pitch </a:t>
            </a:r>
            <a:r>
              <a:rPr lang="zh-CN" sz="102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演算法設計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F172A"/>
              </a:buClr>
              <a:buFont typeface="Symbol" charset="2"/>
              <a:buChar char=""/>
            </a:pPr>
            <a:r>
              <a:rPr lang="zh-CN" sz="102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最佳路徑規劃，降低製程時間與不必要移動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F172A"/>
              </a:buClr>
              <a:buFont typeface="Symbol" charset="2"/>
              <a:buChar char=""/>
            </a:pPr>
            <a:r>
              <a:rPr lang="zh-CN" sz="102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預先模擬玻璃板對組，加速生產流程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0F172A"/>
              </a:buClr>
              <a:buFont typeface="Symbol" charset="2"/>
              <a:buChar char=""/>
            </a:pPr>
            <a:r>
              <a:rPr lang="zh-CN" sz="102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回歸模型校正 </a:t>
            </a:r>
            <a:r>
              <a:rPr lang="en-US" sz="102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LED </a:t>
            </a:r>
            <a:r>
              <a:rPr lang="zh-CN" sz="1020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偏移點位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5248800" y="1920240"/>
            <a:ext cx="6272280" cy="3492720"/>
          </a:xfrm>
          <a:prstGeom prst="roundRect">
            <a:avLst>
              <a:gd name="adj" fmla="val 2094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5532120" y="2139840"/>
            <a:ext cx="2285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Micro LED </a:t>
            </a: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製程最佳化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5532120" y="246888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FA2BD"/>
                </a:solidFill>
                <a:effectLst/>
                <a:uFillTx/>
                <a:latin typeface="Noto Sans CJK TC"/>
                <a:ea typeface="Noto Sans CJK TC"/>
              </a:rPr>
              <a:t>Distribution → Path Planning → Offset Calibration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5"/>
          <p:cNvSpPr/>
          <p:nvPr/>
        </p:nvSpPr>
        <p:spPr>
          <a:xfrm>
            <a:off x="5559480" y="2971800"/>
            <a:ext cx="1005480" cy="438480"/>
          </a:xfrm>
          <a:prstGeom prst="roundRect">
            <a:avLst>
              <a:gd name="adj" fmla="val 25000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6"/>
          <p:cNvSpPr/>
          <p:nvPr/>
        </p:nvSpPr>
        <p:spPr>
          <a:xfrm>
            <a:off x="5650920" y="3063240"/>
            <a:ext cx="91080" cy="5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7"/>
          <p:cNvSpPr/>
          <p:nvPr/>
        </p:nvSpPr>
        <p:spPr>
          <a:xfrm>
            <a:off x="5788080" y="3063240"/>
            <a:ext cx="91080" cy="5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5925240" y="3063240"/>
            <a:ext cx="91080" cy="5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9"/>
          <p:cNvSpPr/>
          <p:nvPr/>
        </p:nvSpPr>
        <p:spPr>
          <a:xfrm>
            <a:off x="6062400" y="3063240"/>
            <a:ext cx="91080" cy="5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0"/>
          <p:cNvSpPr/>
          <p:nvPr/>
        </p:nvSpPr>
        <p:spPr>
          <a:xfrm>
            <a:off x="5650920" y="3127320"/>
            <a:ext cx="91080" cy="5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1"/>
          <p:cNvSpPr/>
          <p:nvPr/>
        </p:nvSpPr>
        <p:spPr>
          <a:xfrm>
            <a:off x="5788080" y="3127320"/>
            <a:ext cx="91080" cy="5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2"/>
          <p:cNvSpPr/>
          <p:nvPr/>
        </p:nvSpPr>
        <p:spPr>
          <a:xfrm>
            <a:off x="5925240" y="3127320"/>
            <a:ext cx="91080" cy="5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3"/>
          <p:cNvSpPr/>
          <p:nvPr/>
        </p:nvSpPr>
        <p:spPr>
          <a:xfrm>
            <a:off x="6062400" y="3127320"/>
            <a:ext cx="91080" cy="5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4"/>
          <p:cNvSpPr/>
          <p:nvPr/>
        </p:nvSpPr>
        <p:spPr>
          <a:xfrm>
            <a:off x="5650920" y="3191400"/>
            <a:ext cx="91080" cy="5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5"/>
          <p:cNvSpPr/>
          <p:nvPr/>
        </p:nvSpPr>
        <p:spPr>
          <a:xfrm>
            <a:off x="5788080" y="3191400"/>
            <a:ext cx="91080" cy="5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6"/>
          <p:cNvSpPr/>
          <p:nvPr/>
        </p:nvSpPr>
        <p:spPr>
          <a:xfrm>
            <a:off x="5925240" y="3191400"/>
            <a:ext cx="91080" cy="5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7"/>
          <p:cNvSpPr/>
          <p:nvPr/>
        </p:nvSpPr>
        <p:spPr>
          <a:xfrm>
            <a:off x="6062400" y="3191400"/>
            <a:ext cx="91080" cy="5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8"/>
          <p:cNvSpPr/>
          <p:nvPr/>
        </p:nvSpPr>
        <p:spPr>
          <a:xfrm>
            <a:off x="5650920" y="3255120"/>
            <a:ext cx="91080" cy="5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9"/>
          <p:cNvSpPr/>
          <p:nvPr/>
        </p:nvSpPr>
        <p:spPr>
          <a:xfrm>
            <a:off x="5788080" y="3255120"/>
            <a:ext cx="91080" cy="5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0"/>
          <p:cNvSpPr/>
          <p:nvPr/>
        </p:nvSpPr>
        <p:spPr>
          <a:xfrm>
            <a:off x="5925240" y="3255120"/>
            <a:ext cx="91080" cy="5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31"/>
          <p:cNvSpPr/>
          <p:nvPr/>
        </p:nvSpPr>
        <p:spPr>
          <a:xfrm>
            <a:off x="6062400" y="3255120"/>
            <a:ext cx="91080" cy="5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2"/>
          <p:cNvSpPr/>
          <p:nvPr/>
        </p:nvSpPr>
        <p:spPr>
          <a:xfrm>
            <a:off x="6245280" y="29991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EF4444"/>
                </a:solidFill>
                <a:effectLst/>
                <a:uFillTx/>
                <a:latin typeface="Noto Sans CJK TC"/>
                <a:ea typeface="Noto Sans CJK TC"/>
              </a:rPr>
              <a:t>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3"/>
          <p:cNvSpPr/>
          <p:nvPr/>
        </p:nvSpPr>
        <p:spPr>
          <a:xfrm>
            <a:off x="5559480" y="3611880"/>
            <a:ext cx="1005480" cy="438480"/>
          </a:xfrm>
          <a:prstGeom prst="roundRect">
            <a:avLst>
              <a:gd name="adj" fmla="val 25000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4"/>
          <p:cNvSpPr/>
          <p:nvPr/>
        </p:nvSpPr>
        <p:spPr>
          <a:xfrm>
            <a:off x="5650920" y="3703320"/>
            <a:ext cx="91080" cy="5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5"/>
          <p:cNvSpPr/>
          <p:nvPr/>
        </p:nvSpPr>
        <p:spPr>
          <a:xfrm>
            <a:off x="5788080" y="3703320"/>
            <a:ext cx="91080" cy="5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6"/>
          <p:cNvSpPr/>
          <p:nvPr/>
        </p:nvSpPr>
        <p:spPr>
          <a:xfrm>
            <a:off x="5925240" y="3703320"/>
            <a:ext cx="91080" cy="5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37"/>
          <p:cNvSpPr/>
          <p:nvPr/>
        </p:nvSpPr>
        <p:spPr>
          <a:xfrm>
            <a:off x="6062400" y="3703320"/>
            <a:ext cx="91080" cy="5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8"/>
          <p:cNvSpPr/>
          <p:nvPr/>
        </p:nvSpPr>
        <p:spPr>
          <a:xfrm>
            <a:off x="5650920" y="3767400"/>
            <a:ext cx="91080" cy="5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39"/>
          <p:cNvSpPr/>
          <p:nvPr/>
        </p:nvSpPr>
        <p:spPr>
          <a:xfrm>
            <a:off x="5788080" y="3767400"/>
            <a:ext cx="91080" cy="5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0"/>
          <p:cNvSpPr/>
          <p:nvPr/>
        </p:nvSpPr>
        <p:spPr>
          <a:xfrm>
            <a:off x="5925240" y="3767400"/>
            <a:ext cx="91080" cy="5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41"/>
          <p:cNvSpPr/>
          <p:nvPr/>
        </p:nvSpPr>
        <p:spPr>
          <a:xfrm>
            <a:off x="6062400" y="3767400"/>
            <a:ext cx="91080" cy="5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42"/>
          <p:cNvSpPr/>
          <p:nvPr/>
        </p:nvSpPr>
        <p:spPr>
          <a:xfrm>
            <a:off x="5650920" y="3831480"/>
            <a:ext cx="91080" cy="5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43"/>
          <p:cNvSpPr/>
          <p:nvPr/>
        </p:nvSpPr>
        <p:spPr>
          <a:xfrm>
            <a:off x="5788080" y="3831480"/>
            <a:ext cx="91080" cy="5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44"/>
          <p:cNvSpPr/>
          <p:nvPr/>
        </p:nvSpPr>
        <p:spPr>
          <a:xfrm>
            <a:off x="5925240" y="3831480"/>
            <a:ext cx="91080" cy="5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45"/>
          <p:cNvSpPr/>
          <p:nvPr/>
        </p:nvSpPr>
        <p:spPr>
          <a:xfrm>
            <a:off x="6062400" y="3831480"/>
            <a:ext cx="91080" cy="5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46"/>
          <p:cNvSpPr/>
          <p:nvPr/>
        </p:nvSpPr>
        <p:spPr>
          <a:xfrm>
            <a:off x="5650920" y="3895200"/>
            <a:ext cx="91080" cy="5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47"/>
          <p:cNvSpPr/>
          <p:nvPr/>
        </p:nvSpPr>
        <p:spPr>
          <a:xfrm>
            <a:off x="5788080" y="3895200"/>
            <a:ext cx="91080" cy="5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48"/>
          <p:cNvSpPr/>
          <p:nvPr/>
        </p:nvSpPr>
        <p:spPr>
          <a:xfrm>
            <a:off x="5925240" y="3895200"/>
            <a:ext cx="91080" cy="5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49"/>
          <p:cNvSpPr/>
          <p:nvPr/>
        </p:nvSpPr>
        <p:spPr>
          <a:xfrm>
            <a:off x="6062400" y="3895200"/>
            <a:ext cx="91080" cy="5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50"/>
          <p:cNvSpPr/>
          <p:nvPr/>
        </p:nvSpPr>
        <p:spPr>
          <a:xfrm>
            <a:off x="6245280" y="363924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22C55E"/>
                </a:solidFill>
                <a:effectLst/>
                <a:uFillTx/>
                <a:latin typeface="Noto Sans CJK TC"/>
                <a:ea typeface="Noto Sans CJK TC"/>
              </a:rPr>
              <a:t>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1"/>
          <p:cNvSpPr/>
          <p:nvPr/>
        </p:nvSpPr>
        <p:spPr>
          <a:xfrm>
            <a:off x="5559480" y="4251960"/>
            <a:ext cx="1005480" cy="438480"/>
          </a:xfrm>
          <a:prstGeom prst="roundRect">
            <a:avLst>
              <a:gd name="adj" fmla="val 25000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52"/>
          <p:cNvSpPr/>
          <p:nvPr/>
        </p:nvSpPr>
        <p:spPr>
          <a:xfrm>
            <a:off x="5650920" y="4343400"/>
            <a:ext cx="91080" cy="5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53"/>
          <p:cNvSpPr/>
          <p:nvPr/>
        </p:nvSpPr>
        <p:spPr>
          <a:xfrm>
            <a:off x="5788080" y="4343400"/>
            <a:ext cx="91080" cy="5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54"/>
          <p:cNvSpPr/>
          <p:nvPr/>
        </p:nvSpPr>
        <p:spPr>
          <a:xfrm>
            <a:off x="5925240" y="4343400"/>
            <a:ext cx="91080" cy="5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55"/>
          <p:cNvSpPr/>
          <p:nvPr/>
        </p:nvSpPr>
        <p:spPr>
          <a:xfrm>
            <a:off x="6062400" y="4343400"/>
            <a:ext cx="91080" cy="5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56"/>
          <p:cNvSpPr/>
          <p:nvPr/>
        </p:nvSpPr>
        <p:spPr>
          <a:xfrm>
            <a:off x="5650920" y="4407480"/>
            <a:ext cx="91080" cy="5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57"/>
          <p:cNvSpPr/>
          <p:nvPr/>
        </p:nvSpPr>
        <p:spPr>
          <a:xfrm>
            <a:off x="5788080" y="4407480"/>
            <a:ext cx="91080" cy="5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58"/>
          <p:cNvSpPr/>
          <p:nvPr/>
        </p:nvSpPr>
        <p:spPr>
          <a:xfrm>
            <a:off x="5925240" y="4407480"/>
            <a:ext cx="91080" cy="5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59"/>
          <p:cNvSpPr/>
          <p:nvPr/>
        </p:nvSpPr>
        <p:spPr>
          <a:xfrm>
            <a:off x="6062400" y="4407480"/>
            <a:ext cx="91080" cy="5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60"/>
          <p:cNvSpPr/>
          <p:nvPr/>
        </p:nvSpPr>
        <p:spPr>
          <a:xfrm>
            <a:off x="5650920" y="4471560"/>
            <a:ext cx="91080" cy="5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61"/>
          <p:cNvSpPr/>
          <p:nvPr/>
        </p:nvSpPr>
        <p:spPr>
          <a:xfrm>
            <a:off x="5788080" y="4471560"/>
            <a:ext cx="91080" cy="5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62"/>
          <p:cNvSpPr/>
          <p:nvPr/>
        </p:nvSpPr>
        <p:spPr>
          <a:xfrm>
            <a:off x="5925240" y="4471560"/>
            <a:ext cx="91080" cy="5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63"/>
          <p:cNvSpPr/>
          <p:nvPr/>
        </p:nvSpPr>
        <p:spPr>
          <a:xfrm>
            <a:off x="6062400" y="4471560"/>
            <a:ext cx="91080" cy="5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64"/>
          <p:cNvSpPr/>
          <p:nvPr/>
        </p:nvSpPr>
        <p:spPr>
          <a:xfrm>
            <a:off x="5650920" y="4535280"/>
            <a:ext cx="91080" cy="5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65"/>
          <p:cNvSpPr/>
          <p:nvPr/>
        </p:nvSpPr>
        <p:spPr>
          <a:xfrm>
            <a:off x="5788080" y="4535280"/>
            <a:ext cx="91080" cy="5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66"/>
          <p:cNvSpPr/>
          <p:nvPr/>
        </p:nvSpPr>
        <p:spPr>
          <a:xfrm>
            <a:off x="5925240" y="4535280"/>
            <a:ext cx="91080" cy="5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67"/>
          <p:cNvSpPr/>
          <p:nvPr/>
        </p:nvSpPr>
        <p:spPr>
          <a:xfrm>
            <a:off x="6062400" y="4535280"/>
            <a:ext cx="91080" cy="5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8"/>
          <p:cNvSpPr/>
          <p:nvPr/>
        </p:nvSpPr>
        <p:spPr>
          <a:xfrm>
            <a:off x="6245280" y="427932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3B82F6"/>
                </a:solidFill>
                <a:effectLst/>
                <a:uFillTx/>
                <a:latin typeface="Noto Sans CJK TC"/>
                <a:ea typeface="Noto Sans CJK TC"/>
              </a:rPr>
              <a:t>B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69"/>
          <p:cNvSpPr/>
          <p:nvPr/>
        </p:nvSpPr>
        <p:spPr>
          <a:xfrm>
            <a:off x="6748200" y="3684960"/>
            <a:ext cx="932760" cy="360"/>
          </a:xfrm>
          <a:prstGeom prst="line">
            <a:avLst/>
          </a:prstGeom>
          <a:ln w="27940">
            <a:solidFill>
              <a:srgbClr val="06B6D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70"/>
          <p:cNvSpPr/>
          <p:nvPr/>
        </p:nvSpPr>
        <p:spPr>
          <a:xfrm>
            <a:off x="7727040" y="2634240"/>
            <a:ext cx="1992960" cy="1992960"/>
          </a:xfrm>
          <a:prstGeom prst="ellipse">
            <a:avLst/>
          </a:prstGeom>
          <a:solidFill>
            <a:srgbClr val="1B2842"/>
          </a:solidFill>
          <a:ln w="15240">
            <a:solidFill>
              <a:srgbClr val="5B7D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71"/>
          <p:cNvSpPr/>
          <p:nvPr/>
        </p:nvSpPr>
        <p:spPr>
          <a:xfrm>
            <a:off x="8065080" y="3026520"/>
            <a:ext cx="59040" cy="59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72"/>
          <p:cNvSpPr/>
          <p:nvPr/>
        </p:nvSpPr>
        <p:spPr>
          <a:xfrm>
            <a:off x="8266320" y="3026520"/>
            <a:ext cx="59040" cy="59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73"/>
          <p:cNvSpPr/>
          <p:nvPr/>
        </p:nvSpPr>
        <p:spPr>
          <a:xfrm>
            <a:off x="8467200" y="3026520"/>
            <a:ext cx="59040" cy="59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74"/>
          <p:cNvSpPr/>
          <p:nvPr/>
        </p:nvSpPr>
        <p:spPr>
          <a:xfrm>
            <a:off x="8668440" y="3026520"/>
            <a:ext cx="59040" cy="59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75"/>
          <p:cNvSpPr/>
          <p:nvPr/>
        </p:nvSpPr>
        <p:spPr>
          <a:xfrm>
            <a:off x="8869680" y="3026520"/>
            <a:ext cx="59040" cy="59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76"/>
          <p:cNvSpPr/>
          <p:nvPr/>
        </p:nvSpPr>
        <p:spPr>
          <a:xfrm>
            <a:off x="9070920" y="3026520"/>
            <a:ext cx="59040" cy="59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77"/>
          <p:cNvSpPr/>
          <p:nvPr/>
        </p:nvSpPr>
        <p:spPr>
          <a:xfrm>
            <a:off x="9272160" y="3026520"/>
            <a:ext cx="59040" cy="59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78"/>
          <p:cNvSpPr/>
          <p:nvPr/>
        </p:nvSpPr>
        <p:spPr>
          <a:xfrm>
            <a:off x="8065080" y="3227760"/>
            <a:ext cx="59040" cy="59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79"/>
          <p:cNvSpPr/>
          <p:nvPr/>
        </p:nvSpPr>
        <p:spPr>
          <a:xfrm>
            <a:off x="8266320" y="3227760"/>
            <a:ext cx="59040" cy="59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80"/>
          <p:cNvSpPr/>
          <p:nvPr/>
        </p:nvSpPr>
        <p:spPr>
          <a:xfrm>
            <a:off x="8467200" y="3227760"/>
            <a:ext cx="59040" cy="59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81"/>
          <p:cNvSpPr/>
          <p:nvPr/>
        </p:nvSpPr>
        <p:spPr>
          <a:xfrm>
            <a:off x="8668440" y="3227760"/>
            <a:ext cx="59040" cy="59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82"/>
          <p:cNvSpPr/>
          <p:nvPr/>
        </p:nvSpPr>
        <p:spPr>
          <a:xfrm>
            <a:off x="8869680" y="3227760"/>
            <a:ext cx="59040" cy="59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83"/>
          <p:cNvSpPr/>
          <p:nvPr/>
        </p:nvSpPr>
        <p:spPr>
          <a:xfrm>
            <a:off x="9070920" y="3227760"/>
            <a:ext cx="59040" cy="59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84"/>
          <p:cNvSpPr/>
          <p:nvPr/>
        </p:nvSpPr>
        <p:spPr>
          <a:xfrm>
            <a:off x="9272160" y="3227760"/>
            <a:ext cx="59040" cy="59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85"/>
          <p:cNvSpPr/>
          <p:nvPr/>
        </p:nvSpPr>
        <p:spPr>
          <a:xfrm>
            <a:off x="8065080" y="3429000"/>
            <a:ext cx="59040" cy="59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86"/>
          <p:cNvSpPr/>
          <p:nvPr/>
        </p:nvSpPr>
        <p:spPr>
          <a:xfrm>
            <a:off x="8266320" y="3429000"/>
            <a:ext cx="59040" cy="59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87"/>
          <p:cNvSpPr/>
          <p:nvPr/>
        </p:nvSpPr>
        <p:spPr>
          <a:xfrm>
            <a:off x="8467200" y="3429000"/>
            <a:ext cx="59040" cy="59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88"/>
          <p:cNvSpPr/>
          <p:nvPr/>
        </p:nvSpPr>
        <p:spPr>
          <a:xfrm>
            <a:off x="8668440" y="3429000"/>
            <a:ext cx="59040" cy="59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89"/>
          <p:cNvSpPr/>
          <p:nvPr/>
        </p:nvSpPr>
        <p:spPr>
          <a:xfrm>
            <a:off x="8869680" y="3429000"/>
            <a:ext cx="59040" cy="59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90"/>
          <p:cNvSpPr/>
          <p:nvPr/>
        </p:nvSpPr>
        <p:spPr>
          <a:xfrm>
            <a:off x="9070920" y="3429000"/>
            <a:ext cx="59040" cy="59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91"/>
          <p:cNvSpPr/>
          <p:nvPr/>
        </p:nvSpPr>
        <p:spPr>
          <a:xfrm>
            <a:off x="9272160" y="3429000"/>
            <a:ext cx="59040" cy="59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92"/>
          <p:cNvSpPr/>
          <p:nvPr/>
        </p:nvSpPr>
        <p:spPr>
          <a:xfrm>
            <a:off x="8065080" y="3630240"/>
            <a:ext cx="59040" cy="59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93"/>
          <p:cNvSpPr/>
          <p:nvPr/>
        </p:nvSpPr>
        <p:spPr>
          <a:xfrm>
            <a:off x="8266320" y="3630240"/>
            <a:ext cx="59040" cy="59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94"/>
          <p:cNvSpPr/>
          <p:nvPr/>
        </p:nvSpPr>
        <p:spPr>
          <a:xfrm>
            <a:off x="8467200" y="3630240"/>
            <a:ext cx="59040" cy="59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95"/>
          <p:cNvSpPr/>
          <p:nvPr/>
        </p:nvSpPr>
        <p:spPr>
          <a:xfrm>
            <a:off x="8668440" y="3630240"/>
            <a:ext cx="59040" cy="59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96"/>
          <p:cNvSpPr/>
          <p:nvPr/>
        </p:nvSpPr>
        <p:spPr>
          <a:xfrm>
            <a:off x="8869680" y="3630240"/>
            <a:ext cx="59040" cy="59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97"/>
          <p:cNvSpPr/>
          <p:nvPr/>
        </p:nvSpPr>
        <p:spPr>
          <a:xfrm>
            <a:off x="9070920" y="3630240"/>
            <a:ext cx="59040" cy="59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98"/>
          <p:cNvSpPr/>
          <p:nvPr/>
        </p:nvSpPr>
        <p:spPr>
          <a:xfrm>
            <a:off x="9272160" y="3630240"/>
            <a:ext cx="59040" cy="59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99"/>
          <p:cNvSpPr/>
          <p:nvPr/>
        </p:nvSpPr>
        <p:spPr>
          <a:xfrm>
            <a:off x="8065080" y="3831480"/>
            <a:ext cx="59040" cy="59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00"/>
          <p:cNvSpPr/>
          <p:nvPr/>
        </p:nvSpPr>
        <p:spPr>
          <a:xfrm>
            <a:off x="8266320" y="3831480"/>
            <a:ext cx="59040" cy="59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01"/>
          <p:cNvSpPr/>
          <p:nvPr/>
        </p:nvSpPr>
        <p:spPr>
          <a:xfrm>
            <a:off x="8467200" y="3831480"/>
            <a:ext cx="59040" cy="59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02"/>
          <p:cNvSpPr/>
          <p:nvPr/>
        </p:nvSpPr>
        <p:spPr>
          <a:xfrm>
            <a:off x="8668440" y="3831480"/>
            <a:ext cx="59040" cy="59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03"/>
          <p:cNvSpPr/>
          <p:nvPr/>
        </p:nvSpPr>
        <p:spPr>
          <a:xfrm>
            <a:off x="8869680" y="3831480"/>
            <a:ext cx="59040" cy="59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04"/>
          <p:cNvSpPr/>
          <p:nvPr/>
        </p:nvSpPr>
        <p:spPr>
          <a:xfrm>
            <a:off x="9070920" y="3831480"/>
            <a:ext cx="59040" cy="59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05"/>
          <p:cNvSpPr/>
          <p:nvPr/>
        </p:nvSpPr>
        <p:spPr>
          <a:xfrm>
            <a:off x="9272160" y="3831480"/>
            <a:ext cx="59040" cy="59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06"/>
          <p:cNvSpPr/>
          <p:nvPr/>
        </p:nvSpPr>
        <p:spPr>
          <a:xfrm>
            <a:off x="8065080" y="4032360"/>
            <a:ext cx="59040" cy="59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07"/>
          <p:cNvSpPr/>
          <p:nvPr/>
        </p:nvSpPr>
        <p:spPr>
          <a:xfrm>
            <a:off x="8266320" y="4032360"/>
            <a:ext cx="59040" cy="59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08"/>
          <p:cNvSpPr/>
          <p:nvPr/>
        </p:nvSpPr>
        <p:spPr>
          <a:xfrm>
            <a:off x="8467200" y="4032360"/>
            <a:ext cx="59040" cy="59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09"/>
          <p:cNvSpPr/>
          <p:nvPr/>
        </p:nvSpPr>
        <p:spPr>
          <a:xfrm>
            <a:off x="8668440" y="4032360"/>
            <a:ext cx="59040" cy="59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10"/>
          <p:cNvSpPr/>
          <p:nvPr/>
        </p:nvSpPr>
        <p:spPr>
          <a:xfrm>
            <a:off x="8869680" y="4032360"/>
            <a:ext cx="59040" cy="59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11"/>
          <p:cNvSpPr/>
          <p:nvPr/>
        </p:nvSpPr>
        <p:spPr>
          <a:xfrm>
            <a:off x="9070920" y="4032360"/>
            <a:ext cx="59040" cy="59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12"/>
          <p:cNvSpPr/>
          <p:nvPr/>
        </p:nvSpPr>
        <p:spPr>
          <a:xfrm>
            <a:off x="9272160" y="4032360"/>
            <a:ext cx="59040" cy="59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13"/>
          <p:cNvSpPr/>
          <p:nvPr/>
        </p:nvSpPr>
        <p:spPr>
          <a:xfrm>
            <a:off x="8065080" y="4233600"/>
            <a:ext cx="59040" cy="59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14"/>
          <p:cNvSpPr/>
          <p:nvPr/>
        </p:nvSpPr>
        <p:spPr>
          <a:xfrm>
            <a:off x="8266320" y="4233600"/>
            <a:ext cx="59040" cy="59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15"/>
          <p:cNvSpPr/>
          <p:nvPr/>
        </p:nvSpPr>
        <p:spPr>
          <a:xfrm>
            <a:off x="8467200" y="4233600"/>
            <a:ext cx="59040" cy="59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16"/>
          <p:cNvSpPr/>
          <p:nvPr/>
        </p:nvSpPr>
        <p:spPr>
          <a:xfrm>
            <a:off x="8668440" y="4233600"/>
            <a:ext cx="59040" cy="59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17"/>
          <p:cNvSpPr/>
          <p:nvPr/>
        </p:nvSpPr>
        <p:spPr>
          <a:xfrm>
            <a:off x="8869680" y="4233600"/>
            <a:ext cx="59040" cy="59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18"/>
          <p:cNvSpPr/>
          <p:nvPr/>
        </p:nvSpPr>
        <p:spPr>
          <a:xfrm>
            <a:off x="9070920" y="4233600"/>
            <a:ext cx="59040" cy="59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19"/>
          <p:cNvSpPr/>
          <p:nvPr/>
        </p:nvSpPr>
        <p:spPr>
          <a:xfrm>
            <a:off x="9272160" y="4233600"/>
            <a:ext cx="59040" cy="59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" rIns="90000" bIns="-3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20"/>
          <p:cNvSpPr/>
          <p:nvPr/>
        </p:nvSpPr>
        <p:spPr>
          <a:xfrm>
            <a:off x="9098280" y="3218760"/>
            <a:ext cx="118440" cy="118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21"/>
          <p:cNvSpPr/>
          <p:nvPr/>
        </p:nvSpPr>
        <p:spPr>
          <a:xfrm flipV="1">
            <a:off x="9253440" y="2889360"/>
            <a:ext cx="731520" cy="393120"/>
          </a:xfrm>
          <a:prstGeom prst="line">
            <a:avLst/>
          </a:prstGeom>
          <a:ln w="2032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22"/>
          <p:cNvSpPr/>
          <p:nvPr/>
        </p:nvSpPr>
        <p:spPr>
          <a:xfrm>
            <a:off x="10003680" y="275220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u="none" strike="noStrike">
                <a:solidFill>
                  <a:srgbClr val="FBBF24"/>
                </a:solidFill>
                <a:effectLst/>
                <a:uFillTx/>
                <a:latin typeface="Noto Sans CJK TC"/>
                <a:ea typeface="Noto Sans CJK TC"/>
              </a:rPr>
              <a:t>偏移點位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23"/>
          <p:cNvSpPr/>
          <p:nvPr/>
        </p:nvSpPr>
        <p:spPr>
          <a:xfrm>
            <a:off x="9985320" y="3127320"/>
            <a:ext cx="1170000" cy="529920"/>
          </a:xfrm>
          <a:prstGeom prst="roundRect">
            <a:avLst>
              <a:gd name="adj" fmla="val 20690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2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0104120" y="32644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 124"/>
          <p:cNvSpPr/>
          <p:nvPr/>
        </p:nvSpPr>
        <p:spPr>
          <a:xfrm>
            <a:off x="10396800" y="3173040"/>
            <a:ext cx="6580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20" b="1" u="none" strike="noStrike" dirty="0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回歸模型</a:t>
            </a:r>
            <a:endParaRPr lang="en-US" sz="9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20" b="1" u="none" strike="noStrike" dirty="0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校正</a:t>
            </a:r>
            <a:endParaRPr lang="en-US" sz="9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25"/>
          <p:cNvSpPr/>
          <p:nvPr/>
        </p:nvSpPr>
        <p:spPr>
          <a:xfrm>
            <a:off x="5468040" y="4837320"/>
            <a:ext cx="5806080" cy="420120"/>
          </a:xfrm>
          <a:prstGeom prst="roundRect">
            <a:avLst>
              <a:gd name="adj" fmla="val 17391"/>
            </a:avLst>
          </a:prstGeom>
          <a:solidFill>
            <a:srgbClr val="13253C"/>
          </a:solidFill>
          <a:ln w="12700">
            <a:solidFill>
              <a:srgbClr val="1325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7" name="Image 3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5650920" y="49467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 126"/>
          <p:cNvSpPr/>
          <p:nvPr/>
        </p:nvSpPr>
        <p:spPr>
          <a:xfrm>
            <a:off x="5961960" y="4883040"/>
            <a:ext cx="5074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20" b="1" u="none" strike="noStrike">
                <a:solidFill>
                  <a:srgbClr val="E2E8F0"/>
                </a:solidFill>
                <a:effectLst/>
                <a:uFillTx/>
                <a:latin typeface="Noto Sans CJK TC"/>
                <a:ea typeface="Noto Sans CJK TC"/>
              </a:rPr>
              <a:t>成果｜巨量修補演算法列入公司營業秘密成果，並提升製程效率與可重複性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27"/>
          <p:cNvSpPr/>
          <p:nvPr/>
        </p:nvSpPr>
        <p:spPr>
          <a:xfrm>
            <a:off x="676800" y="5285160"/>
            <a:ext cx="932400" cy="292320"/>
          </a:xfrm>
          <a:prstGeom prst="roundRect">
            <a:avLst>
              <a:gd name="adj" fmla="val 375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28"/>
          <p:cNvSpPr/>
          <p:nvPr/>
        </p:nvSpPr>
        <p:spPr>
          <a:xfrm>
            <a:off x="676800" y="5285160"/>
            <a:ext cx="932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2563EB"/>
                </a:solidFill>
                <a:effectLst/>
                <a:uFillTx/>
                <a:latin typeface="Noto Sans CJK TC"/>
                <a:ea typeface="Noto Sans CJK TC"/>
              </a:rPr>
              <a:t>Python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29"/>
          <p:cNvSpPr/>
          <p:nvPr/>
        </p:nvSpPr>
        <p:spPr>
          <a:xfrm>
            <a:off x="1700640" y="5285160"/>
            <a:ext cx="932400" cy="292320"/>
          </a:xfrm>
          <a:prstGeom prst="roundRect">
            <a:avLst>
              <a:gd name="adj" fmla="val 37500"/>
            </a:avLst>
          </a:prstGeom>
          <a:solidFill>
            <a:srgbClr val="E8FAFD"/>
          </a:solidFill>
          <a:ln w="12700">
            <a:solidFill>
              <a:srgbClr val="E8FA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30"/>
          <p:cNvSpPr/>
          <p:nvPr/>
        </p:nvSpPr>
        <p:spPr>
          <a:xfrm>
            <a:off x="1700640" y="5285160"/>
            <a:ext cx="932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0891B2"/>
                </a:solidFill>
                <a:effectLst/>
                <a:uFillTx/>
                <a:latin typeface="Noto Sans CJK TC"/>
                <a:ea typeface="Noto Sans CJK TC"/>
              </a:rPr>
              <a:t>Algorithm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31"/>
          <p:cNvSpPr/>
          <p:nvPr/>
        </p:nvSpPr>
        <p:spPr>
          <a:xfrm>
            <a:off x="2724840" y="5285160"/>
            <a:ext cx="932400" cy="292320"/>
          </a:xfrm>
          <a:prstGeom prst="roundRect">
            <a:avLst>
              <a:gd name="adj" fmla="val 375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32"/>
          <p:cNvSpPr/>
          <p:nvPr/>
        </p:nvSpPr>
        <p:spPr>
          <a:xfrm>
            <a:off x="2724840" y="5285160"/>
            <a:ext cx="932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2563EB"/>
                </a:solidFill>
                <a:effectLst/>
                <a:uFillTx/>
                <a:latin typeface="Noto Sans CJK TC"/>
                <a:ea typeface="Noto Sans CJK TC"/>
              </a:rPr>
              <a:t>Regression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33"/>
          <p:cNvSpPr/>
          <p:nvPr/>
        </p:nvSpPr>
        <p:spPr>
          <a:xfrm>
            <a:off x="3749040" y="5285160"/>
            <a:ext cx="932400" cy="292320"/>
          </a:xfrm>
          <a:prstGeom prst="roundRect">
            <a:avLst>
              <a:gd name="adj" fmla="val 375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34"/>
          <p:cNvSpPr/>
          <p:nvPr/>
        </p:nvSpPr>
        <p:spPr>
          <a:xfrm>
            <a:off x="3749040" y="5285160"/>
            <a:ext cx="932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2563EB"/>
                </a:solidFill>
                <a:effectLst/>
                <a:uFillTx/>
                <a:latin typeface="Noto Sans CJK TC"/>
                <a:ea typeface="Noto Sans CJK TC"/>
              </a:rPr>
              <a:t>MES Integration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sldNum" idx="6"/>
          </p:nvPr>
        </p:nvSpPr>
        <p:spPr>
          <a:xfrm>
            <a:off x="11612880" y="6473880"/>
            <a:ext cx="22824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2442F7-1505-42A3-AC92-9A14A77EADB2}" type="slidenum">
              <a: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rPr>
              <a:t>3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/>
          <p:nvPr/>
        </p:nvSpPr>
        <p:spPr>
          <a:xfrm>
            <a:off x="658440" y="38412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2563EB"/>
                </a:solidFill>
                <a:effectLst/>
                <a:uFillTx/>
                <a:latin typeface="Noto Sans CJK TC"/>
                <a:ea typeface="Noto Sans CJK TC"/>
              </a:rPr>
              <a:t>PROJECT EXPERIENCE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658440" y="67680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02</a:t>
            </a:r>
            <a:r>
              <a:rPr lang="zh-CN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｜</a:t>
            </a:r>
            <a:r>
              <a:rPr lang="en-US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Azure </a:t>
            </a:r>
            <a:r>
              <a:rPr lang="zh-CN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雲端應用與資料流程整合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658440" y="11977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設計從地端系統到雲端運算、儲存與檔案交換的完整資料路徑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3"/>
          <p:cNvSpPr/>
          <p:nvPr/>
        </p:nvSpPr>
        <p:spPr>
          <a:xfrm>
            <a:off x="658440" y="1700640"/>
            <a:ext cx="1444320" cy="347040"/>
          </a:xfrm>
          <a:prstGeom prst="roundRect">
            <a:avLst>
              <a:gd name="adj" fmla="val 31579"/>
            </a:avLst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4"/>
          <p:cNvSpPr/>
          <p:nvPr/>
        </p:nvSpPr>
        <p:spPr>
          <a:xfrm>
            <a:off x="768240" y="1700640"/>
            <a:ext cx="7311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PROJECT 02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1499760" y="170064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3C5FD"/>
                </a:solidFill>
                <a:effectLst/>
                <a:uFillTx/>
                <a:latin typeface="Noto Sans CJK TC"/>
                <a:ea typeface="Noto Sans CJK TC"/>
              </a:rPr>
              <a:t>CLOUD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6"/>
          <p:cNvSpPr/>
          <p:nvPr/>
        </p:nvSpPr>
        <p:spPr>
          <a:xfrm>
            <a:off x="658440" y="2176200"/>
            <a:ext cx="10881000" cy="24228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5F0"/>
            </a:solidFill>
            <a:round/>
          </a:ln>
          <a:effectLst>
            <a:outerShdw blurRad="15120" dist="50402" dir="2700000" algn="bl" rotWithShape="0">
              <a:srgbClr val="B8C3D1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7"/>
          <p:cNvSpPr/>
          <p:nvPr/>
        </p:nvSpPr>
        <p:spPr>
          <a:xfrm>
            <a:off x="914400" y="2761560"/>
            <a:ext cx="1517400" cy="122508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8"/>
          <p:cNvSpPr/>
          <p:nvPr/>
        </p:nvSpPr>
        <p:spPr>
          <a:xfrm>
            <a:off x="1060560" y="2990160"/>
            <a:ext cx="438480" cy="438480"/>
          </a:xfrm>
          <a:prstGeom prst="ellipse">
            <a:avLst/>
          </a:prstGeom>
          <a:solidFill>
            <a:srgbClr val="0B1220">
              <a:alpha val="94000"/>
            </a:srgbClr>
          </a:solidFill>
          <a:ln w="10160">
            <a:solidFill>
              <a:srgbClr val="0B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179720" y="31089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 9"/>
          <p:cNvSpPr/>
          <p:nvPr/>
        </p:nvSpPr>
        <p:spPr>
          <a:xfrm>
            <a:off x="1600200" y="2907720"/>
            <a:ext cx="74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地端系統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0"/>
          <p:cNvSpPr/>
          <p:nvPr/>
        </p:nvSpPr>
        <p:spPr>
          <a:xfrm>
            <a:off x="1600200" y="3218760"/>
            <a:ext cx="740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User / MES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1"/>
          <p:cNvSpPr/>
          <p:nvPr/>
        </p:nvSpPr>
        <p:spPr>
          <a:xfrm>
            <a:off x="2541960" y="3373920"/>
            <a:ext cx="164520" cy="360"/>
          </a:xfrm>
          <a:prstGeom prst="line">
            <a:avLst/>
          </a:prstGeom>
          <a:ln w="2286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2"/>
          <p:cNvSpPr/>
          <p:nvPr/>
        </p:nvSpPr>
        <p:spPr>
          <a:xfrm>
            <a:off x="2834640" y="2761560"/>
            <a:ext cx="1535760" cy="122508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3"/>
          <p:cNvSpPr/>
          <p:nvPr/>
        </p:nvSpPr>
        <p:spPr>
          <a:xfrm>
            <a:off x="2980800" y="2990160"/>
            <a:ext cx="438480" cy="438480"/>
          </a:xfrm>
          <a:prstGeom prst="ellipse">
            <a:avLst/>
          </a:prstGeom>
          <a:solidFill>
            <a:srgbClr val="2563EB">
              <a:alpha val="94000"/>
            </a:srgbClr>
          </a:solidFill>
          <a:ln w="101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3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3099960" y="31089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Text 14"/>
          <p:cNvSpPr/>
          <p:nvPr/>
        </p:nvSpPr>
        <p:spPr>
          <a:xfrm>
            <a:off x="3520440" y="2907720"/>
            <a:ext cx="75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App Service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5"/>
          <p:cNvSpPr/>
          <p:nvPr/>
        </p:nvSpPr>
        <p:spPr>
          <a:xfrm>
            <a:off x="3520440" y="3218760"/>
            <a:ext cx="75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API / HTTP POST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6"/>
          <p:cNvSpPr/>
          <p:nvPr/>
        </p:nvSpPr>
        <p:spPr>
          <a:xfrm>
            <a:off x="4480560" y="3373920"/>
            <a:ext cx="237600" cy="360"/>
          </a:xfrm>
          <a:prstGeom prst="line">
            <a:avLst/>
          </a:prstGeom>
          <a:ln w="2286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7"/>
          <p:cNvSpPr/>
          <p:nvPr/>
        </p:nvSpPr>
        <p:spPr>
          <a:xfrm>
            <a:off x="4846320" y="2761560"/>
            <a:ext cx="1782720" cy="122508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8"/>
          <p:cNvSpPr/>
          <p:nvPr/>
        </p:nvSpPr>
        <p:spPr>
          <a:xfrm>
            <a:off x="4992480" y="2990160"/>
            <a:ext cx="438480" cy="438480"/>
          </a:xfrm>
          <a:prstGeom prst="ellipse">
            <a:avLst/>
          </a:prstGeom>
          <a:solidFill>
            <a:srgbClr val="EF4444">
              <a:alpha val="94000"/>
            </a:srgbClr>
          </a:solidFill>
          <a:ln w="1016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9" name="Image 2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5111640" y="31089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Text 19"/>
          <p:cNvSpPr/>
          <p:nvPr/>
        </p:nvSpPr>
        <p:spPr>
          <a:xfrm>
            <a:off x="5532120" y="290772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Databricks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0"/>
          <p:cNvSpPr/>
          <p:nvPr/>
        </p:nvSpPr>
        <p:spPr>
          <a:xfrm>
            <a:off x="5532120" y="3218760"/>
            <a:ext cx="1005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Delta Lake / Compute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1"/>
          <p:cNvSpPr/>
          <p:nvPr/>
        </p:nvSpPr>
        <p:spPr>
          <a:xfrm>
            <a:off x="6738840" y="3373920"/>
            <a:ext cx="265320" cy="360"/>
          </a:xfrm>
          <a:prstGeom prst="line">
            <a:avLst/>
          </a:prstGeom>
          <a:ln w="22860">
            <a:solidFill>
              <a:srgbClr val="06B6D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2"/>
          <p:cNvSpPr/>
          <p:nvPr/>
        </p:nvSpPr>
        <p:spPr>
          <a:xfrm>
            <a:off x="7132320" y="2761560"/>
            <a:ext cx="1627200" cy="122508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3"/>
          <p:cNvSpPr/>
          <p:nvPr/>
        </p:nvSpPr>
        <p:spPr>
          <a:xfrm>
            <a:off x="7278480" y="2990160"/>
            <a:ext cx="438480" cy="438480"/>
          </a:xfrm>
          <a:prstGeom prst="ellipse">
            <a:avLst/>
          </a:prstGeom>
          <a:solidFill>
            <a:srgbClr val="06B6D4">
              <a:alpha val="94000"/>
            </a:srgbClr>
          </a:solidFill>
          <a:ln w="10160">
            <a:solidFill>
              <a:srgbClr val="06B6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5" name="Image 3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7397640" y="31089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Text 24"/>
          <p:cNvSpPr/>
          <p:nvPr/>
        </p:nvSpPr>
        <p:spPr>
          <a:xfrm>
            <a:off x="7818120" y="2907720"/>
            <a:ext cx="84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Blob Storage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5"/>
          <p:cNvSpPr/>
          <p:nvPr/>
        </p:nvSpPr>
        <p:spPr>
          <a:xfrm>
            <a:off x="7818120" y="3218760"/>
            <a:ext cx="849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Cloud Storage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6"/>
          <p:cNvSpPr/>
          <p:nvPr/>
        </p:nvSpPr>
        <p:spPr>
          <a:xfrm>
            <a:off x="8869680" y="3373920"/>
            <a:ext cx="255960" cy="360"/>
          </a:xfrm>
          <a:prstGeom prst="line">
            <a:avLst/>
          </a:prstGeom>
          <a:ln w="2286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7"/>
          <p:cNvSpPr/>
          <p:nvPr/>
        </p:nvSpPr>
        <p:spPr>
          <a:xfrm>
            <a:off x="9253800" y="2761560"/>
            <a:ext cx="1499400" cy="122508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8"/>
          <p:cNvSpPr/>
          <p:nvPr/>
        </p:nvSpPr>
        <p:spPr>
          <a:xfrm>
            <a:off x="9399960" y="2990160"/>
            <a:ext cx="438480" cy="438480"/>
          </a:xfrm>
          <a:prstGeom prst="ellipse">
            <a:avLst/>
          </a:prstGeom>
          <a:solidFill>
            <a:srgbClr val="14B8A6">
              <a:alpha val="94000"/>
            </a:srgbClr>
          </a:solidFill>
          <a:ln w="1016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1" name="Image 4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9518760" y="31089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Text 29"/>
          <p:cNvSpPr/>
          <p:nvPr/>
        </p:nvSpPr>
        <p:spPr>
          <a:xfrm>
            <a:off x="9939600" y="2907720"/>
            <a:ext cx="722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AzCopy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0"/>
          <p:cNvSpPr/>
          <p:nvPr/>
        </p:nvSpPr>
        <p:spPr>
          <a:xfrm>
            <a:off x="9939600" y="3218760"/>
            <a:ext cx="722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Upload / Download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1"/>
          <p:cNvSpPr/>
          <p:nvPr/>
        </p:nvSpPr>
        <p:spPr>
          <a:xfrm>
            <a:off x="2404800" y="249624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API Request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2"/>
          <p:cNvSpPr/>
          <p:nvPr/>
        </p:nvSpPr>
        <p:spPr>
          <a:xfrm>
            <a:off x="4334400" y="2496240"/>
            <a:ext cx="6764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Data Processing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3"/>
          <p:cNvSpPr/>
          <p:nvPr/>
        </p:nvSpPr>
        <p:spPr>
          <a:xfrm>
            <a:off x="6583680" y="249624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Persist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4"/>
          <p:cNvSpPr/>
          <p:nvPr/>
        </p:nvSpPr>
        <p:spPr>
          <a:xfrm>
            <a:off x="8723520" y="2496240"/>
            <a:ext cx="566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File Transfer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5"/>
          <p:cNvSpPr/>
          <p:nvPr/>
        </p:nvSpPr>
        <p:spPr>
          <a:xfrm>
            <a:off x="694800" y="48463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1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我的角色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36"/>
          <p:cNvSpPr/>
          <p:nvPr/>
        </p:nvSpPr>
        <p:spPr>
          <a:xfrm>
            <a:off x="694800" y="5166360"/>
            <a:ext cx="2431800" cy="749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A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0" name="Image 5" descr="preencoded.png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841320" y="54039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Text 37"/>
          <p:cNvSpPr/>
          <p:nvPr/>
        </p:nvSpPr>
        <p:spPr>
          <a:xfrm>
            <a:off x="1170360" y="523044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6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架構設計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8"/>
          <p:cNvSpPr/>
          <p:nvPr/>
        </p:nvSpPr>
        <p:spPr>
          <a:xfrm>
            <a:off x="1170360" y="547740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系統入口、資料流與雲端服務串接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39"/>
          <p:cNvSpPr/>
          <p:nvPr/>
        </p:nvSpPr>
        <p:spPr>
          <a:xfrm>
            <a:off x="3374280" y="5166360"/>
            <a:ext cx="2431800" cy="749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A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4" name="Image 6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3520440" y="54039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Text 40"/>
          <p:cNvSpPr/>
          <p:nvPr/>
        </p:nvSpPr>
        <p:spPr>
          <a:xfrm>
            <a:off x="3849480" y="523044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6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資料處理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41"/>
          <p:cNvSpPr/>
          <p:nvPr/>
        </p:nvSpPr>
        <p:spPr>
          <a:xfrm>
            <a:off x="3849480" y="547740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Databricks / Delta Lake </a:t>
            </a:r>
            <a:r>
              <a:rPr lang="zh-CN" sz="8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運算與分析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42"/>
          <p:cNvSpPr/>
          <p:nvPr/>
        </p:nvSpPr>
        <p:spPr>
          <a:xfrm>
            <a:off x="6053400" y="5166360"/>
            <a:ext cx="2431800" cy="749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A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8" name="Image 7" descr="preencoded.png"/>
          <p:cNvPicPr/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/>
        </p:blipFill>
        <p:spPr>
          <a:xfrm>
            <a:off x="6199560" y="54039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Text 43"/>
          <p:cNvSpPr/>
          <p:nvPr/>
        </p:nvSpPr>
        <p:spPr>
          <a:xfrm>
            <a:off x="6528960" y="523044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6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系統整合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44"/>
          <p:cNvSpPr/>
          <p:nvPr/>
        </p:nvSpPr>
        <p:spPr>
          <a:xfrm>
            <a:off x="6528960" y="547740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打通地端與雲端資料交換流程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45"/>
          <p:cNvSpPr/>
          <p:nvPr/>
        </p:nvSpPr>
        <p:spPr>
          <a:xfrm>
            <a:off x="8906400" y="5029200"/>
            <a:ext cx="2358720" cy="100548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46"/>
          <p:cNvSpPr/>
          <p:nvPr/>
        </p:nvSpPr>
        <p:spPr>
          <a:xfrm>
            <a:off x="9125640" y="519372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93C5FD"/>
                </a:solidFill>
                <a:effectLst/>
                <a:uFillTx/>
                <a:latin typeface="Noto Sans CJK TC"/>
                <a:ea typeface="Noto Sans CJK TC"/>
              </a:rPr>
              <a:t>專案成果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47"/>
          <p:cNvSpPr/>
          <p:nvPr/>
        </p:nvSpPr>
        <p:spPr>
          <a:xfrm>
            <a:off x="9125640" y="5468040"/>
            <a:ext cx="18100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10" b="1" u="none" strike="noStrik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建立完整雲端資料處理流程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10" b="1" u="none" strike="noStrik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強化即時性與擴充性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1"/>
          <p:cNvSpPr>
            <a:spLocks noGrp="1"/>
          </p:cNvSpPr>
          <p:nvPr>
            <p:ph type="sldNum" idx="7"/>
          </p:nvPr>
        </p:nvSpPr>
        <p:spPr>
          <a:xfrm>
            <a:off x="11612880" y="6473880"/>
            <a:ext cx="22824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135384-F0B0-474E-8AAD-2D1D5A492CB7}" type="slidenum">
              <a: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rPr>
              <a:t>4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/>
          <p:cNvSpPr/>
          <p:nvPr/>
        </p:nvSpPr>
        <p:spPr>
          <a:xfrm>
            <a:off x="-23086" y="893"/>
            <a:ext cx="935860" cy="6856215"/>
          </a:xfrm>
          <a:prstGeom prst="rect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6D02087-9053-465D-A619-8303B3912B43}"/>
              </a:ext>
            </a:extLst>
          </p:cNvPr>
          <p:cNvGrpSpPr/>
          <p:nvPr/>
        </p:nvGrpSpPr>
        <p:grpSpPr>
          <a:xfrm>
            <a:off x="552828" y="189483"/>
            <a:ext cx="670385" cy="604429"/>
            <a:chOff x="5424755" y="1340768"/>
            <a:chExt cx="670560" cy="604586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4CB3831D-CF2E-47CA-8766-233D062AD6C7}"/>
                </a:ext>
              </a:extLst>
            </p:cNvPr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4FA345B5-5BFB-4989-9986-E49DC407D656}"/>
                  </a:ext>
                </a:extLst>
              </p:cNvPr>
              <p:cNvSpPr>
                <a:spLocks/>
              </p:cNvSpPr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  <a:headEnd/>
                <a:tailEnd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799"/>
              </a:p>
            </p:txBody>
          </p:sp>
          <p:sp>
            <p:nvSpPr>
              <p:cNvPr id="19" name="Freeform 5">
                <a:extLst>
                  <a:ext uri="{FF2B5EF4-FFF2-40B4-BE49-F238E27FC236}">
                    <a16:creationId xmlns:a16="http://schemas.microsoft.com/office/drawing/2014/main" id="{DA84782B-C11B-49FE-B452-367BC1173053}"/>
                  </a:ext>
                </a:extLst>
              </p:cNvPr>
              <p:cNvSpPr>
                <a:spLocks/>
              </p:cNvSpPr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799"/>
              </a:p>
            </p:txBody>
          </p:sp>
        </p:grp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24F62B0F-D8F9-4572-BD53-79CFD2C3A710}"/>
                </a:ext>
              </a:extLst>
            </p:cNvPr>
            <p:cNvSpPr>
              <a:spLocks/>
            </p:cNvSpPr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  <a:headEnd/>
              <a:tailEnd/>
            </a:ln>
            <a:effectLst/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20" name="文本框 9">
            <a:extLst>
              <a:ext uri="{FF2B5EF4-FFF2-40B4-BE49-F238E27FC236}">
                <a16:creationId xmlns:a16="http://schemas.microsoft.com/office/drawing/2014/main" id="{E99A2E68-AAFA-49FB-8E64-E897361B08A0}"/>
              </a:ext>
            </a:extLst>
          </p:cNvPr>
          <p:cNvSpPr txBox="1"/>
          <p:nvPr/>
        </p:nvSpPr>
        <p:spPr>
          <a:xfrm>
            <a:off x="1269833" y="308235"/>
            <a:ext cx="1871721" cy="346159"/>
          </a:xfrm>
          <a:prstGeom prst="rect">
            <a:avLst/>
          </a:prstGeom>
          <a:noFill/>
        </p:spPr>
        <p:txBody>
          <a:bodyPr wrap="square" lIns="68562" tIns="34281" rIns="68562" bIns="34281" rtlCol="0">
            <a:spAutoFit/>
          </a:bodyPr>
          <a:lstStyle/>
          <a:p>
            <a:pPr marL="0" lvl="1"/>
            <a:r>
              <a:rPr lang="zh-TW" altLang="en-US" sz="1799" dirty="0">
                <a:solidFill>
                  <a:srgbClr val="414455"/>
                </a:solidFill>
                <a:latin typeface="微软雅黑" pitchFamily="34" charset="-122"/>
                <a:ea typeface="微软雅黑" pitchFamily="34" charset="-122"/>
              </a:rPr>
              <a:t>公雲應用</a:t>
            </a:r>
            <a:endParaRPr lang="zh-CN" altLang="en-US" sz="1799" dirty="0">
              <a:solidFill>
                <a:srgbClr val="4144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1" name="直接连接符 21">
            <a:extLst>
              <a:ext uri="{FF2B5EF4-FFF2-40B4-BE49-F238E27FC236}">
                <a16:creationId xmlns:a16="http://schemas.microsoft.com/office/drawing/2014/main" id="{D332B124-81B0-4717-B57C-BB7A0C5379D8}"/>
              </a:ext>
            </a:extLst>
          </p:cNvPr>
          <p:cNvCxnSpPr/>
          <p:nvPr/>
        </p:nvCxnSpPr>
        <p:spPr>
          <a:xfrm>
            <a:off x="1341822" y="668181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2">
            <a:extLst>
              <a:ext uri="{FF2B5EF4-FFF2-40B4-BE49-F238E27FC236}">
                <a16:creationId xmlns:a16="http://schemas.microsoft.com/office/drawing/2014/main" id="{DB56C549-0BFA-43BC-8689-6924E5B99AD8}"/>
              </a:ext>
            </a:extLst>
          </p:cNvPr>
          <p:cNvGrpSpPr/>
          <p:nvPr/>
        </p:nvGrpSpPr>
        <p:grpSpPr>
          <a:xfrm>
            <a:off x="11236541" y="460205"/>
            <a:ext cx="258653" cy="233204"/>
            <a:chOff x="3720691" y="2824413"/>
            <a:chExt cx="1341120" cy="1209172"/>
          </a:xfrm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C9CA96A2-D41A-4125-921E-1036C753B85B}"/>
                </a:ext>
              </a:extLst>
            </p:cNvPr>
            <p:cNvSpPr>
              <a:spLocks/>
            </p:cNvSpPr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  <a:headEnd/>
              <a:tailEnd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FE0FC2FC-CC8A-4CCB-B1FF-93EB83DA6314}"/>
                </a:ext>
              </a:extLst>
            </p:cNvPr>
            <p:cNvSpPr>
              <a:spLocks/>
            </p:cNvSpPr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30" name="文本框 9">
            <a:extLst>
              <a:ext uri="{FF2B5EF4-FFF2-40B4-BE49-F238E27FC236}">
                <a16:creationId xmlns:a16="http://schemas.microsoft.com/office/drawing/2014/main" id="{E52831D4-7766-4654-84E8-0224AC375163}"/>
              </a:ext>
            </a:extLst>
          </p:cNvPr>
          <p:cNvSpPr txBox="1"/>
          <p:nvPr/>
        </p:nvSpPr>
        <p:spPr>
          <a:xfrm>
            <a:off x="10703312" y="333463"/>
            <a:ext cx="431936" cy="346159"/>
          </a:xfrm>
          <a:prstGeom prst="rect">
            <a:avLst/>
          </a:prstGeom>
          <a:noFill/>
        </p:spPr>
        <p:txBody>
          <a:bodyPr wrap="square" lIns="68562" tIns="34281" rIns="68562" bIns="34281" rtlCol="0">
            <a:spAutoFit/>
          </a:bodyPr>
          <a:lstStyle/>
          <a:p>
            <a:pPr marL="0" lvl="1"/>
            <a:fld id="{019C1566-F6BD-42DB-B252-562BB8CFF26B}" type="slidenum">
              <a:rPr lang="en-US" altLang="zh-CN" sz="1799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pPr marL="0" lvl="1"/>
              <a:t>5</a:t>
            </a:fld>
            <a:endParaRPr lang="zh-CN" altLang="en-US" sz="1799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31" name="Freeform 206">
            <a:extLst>
              <a:ext uri="{FF2B5EF4-FFF2-40B4-BE49-F238E27FC236}">
                <a16:creationId xmlns:a16="http://schemas.microsoft.com/office/drawing/2014/main" id="{A5CD1D51-65DA-42A8-A481-FDDDB0129A0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77996" y="303060"/>
            <a:ext cx="290648" cy="351334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D1435A1-A423-4F5A-13D6-63C5809D8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348" y="3725238"/>
            <a:ext cx="5507392" cy="2968202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335CF32-0F07-841C-31F3-1807E76B06C4}"/>
              </a:ext>
            </a:extLst>
          </p:cNvPr>
          <p:cNvSpPr txBox="1"/>
          <p:nvPr/>
        </p:nvSpPr>
        <p:spPr>
          <a:xfrm>
            <a:off x="1200731" y="948641"/>
            <a:ext cx="10969583" cy="3364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664" indent="-285664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負責系統架構設計、資料流程規劃與實作開發。</a:t>
            </a:r>
            <a:endParaRPr lang="en-US" altLang="zh-TW" sz="1799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664" indent="-285664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技術應用：</a:t>
            </a:r>
            <a:endParaRPr lang="en-US" altLang="zh-TW" sz="1799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727" lvl="1" indent="-285664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TW" sz="17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Azure App Service </a:t>
            </a:r>
            <a:r>
              <a:rPr lang="zh-TW" altLang="en-US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作為應用程式入口，接收並轉交請求。</a:t>
            </a:r>
            <a:endParaRPr lang="en-US" altLang="zh-TW" sz="1799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727" lvl="1" indent="-285664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整合 </a:t>
            </a:r>
            <a:r>
              <a:rPr lang="en-US" altLang="zh-TW" sz="17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Databricks </a:t>
            </a:r>
            <a:r>
              <a:rPr lang="en-US" altLang="zh-TW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(Delta Lake) </a:t>
            </a:r>
            <a:r>
              <a:rPr lang="zh-TW" altLang="en-US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進行數據處理與分析。</a:t>
            </a:r>
            <a:endParaRPr lang="en-US" altLang="zh-TW" sz="1799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727" lvl="1" indent="-285664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透過 </a:t>
            </a:r>
            <a:r>
              <a:rPr lang="en-US" altLang="zh-TW" sz="1799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AzCopy</a:t>
            </a:r>
            <a:r>
              <a:rPr lang="en-US" altLang="zh-TW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完成檔案上傳 </a:t>
            </a:r>
            <a:r>
              <a:rPr lang="en-US" altLang="zh-TW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下載，並儲存於 </a:t>
            </a:r>
            <a:r>
              <a:rPr lang="en-US" altLang="zh-TW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Azure </a:t>
            </a:r>
            <a:r>
              <a:rPr lang="en-US" altLang="zh-TW" sz="17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Blob Storage</a:t>
            </a:r>
            <a:r>
              <a:rPr lang="zh-TW" altLang="en-US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，供雲端運算與後續應用。</a:t>
            </a:r>
            <a:endParaRPr lang="en-US" altLang="zh-TW" sz="1799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664" indent="-285664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成果：</a:t>
            </a:r>
            <a:endParaRPr lang="en-US" altLang="zh-TW" sz="1799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727" lvl="1" indent="-285664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成功打通</a:t>
            </a:r>
            <a:r>
              <a:rPr lang="zh-TW" altLang="en-US" sz="17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雲端與地端的數據溝通</a:t>
            </a:r>
            <a:r>
              <a:rPr lang="zh-TW" altLang="en-US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，建立完整的雲端數據處理解決方案。</a:t>
            </a:r>
            <a:endParaRPr lang="en-US" altLang="zh-TW" sz="1799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727" lvl="1" indent="-285664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7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zh-TW" altLang="en-US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大數據處理</a:t>
            </a:r>
            <a:r>
              <a:rPr lang="zh-TW" altLang="en-US" sz="17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</a:t>
            </a:r>
            <a:r>
              <a:rPr lang="zh-TW" altLang="en-US" sz="1799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，強化系統的即時性與擴充性。</a:t>
            </a:r>
            <a:endParaRPr lang="en-US" altLang="zh-TW" sz="1799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6326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 0"/>
          <p:cNvSpPr/>
          <p:nvPr/>
        </p:nvSpPr>
        <p:spPr>
          <a:xfrm>
            <a:off x="658440" y="38412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2563EB"/>
                </a:solidFill>
                <a:effectLst/>
                <a:uFillTx/>
                <a:latin typeface="Noto Sans CJK TC"/>
                <a:ea typeface="Noto Sans CJK TC"/>
              </a:rPr>
              <a:t>PROJECT EXPERIENCE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"/>
          <p:cNvSpPr/>
          <p:nvPr/>
        </p:nvSpPr>
        <p:spPr>
          <a:xfrm>
            <a:off x="658440" y="67680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03</a:t>
            </a:r>
            <a:r>
              <a:rPr lang="zh-CN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｜</a:t>
            </a:r>
            <a:r>
              <a:rPr lang="en-US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CCTV AI </a:t>
            </a:r>
            <a:r>
              <a:rPr lang="zh-CN" sz="275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智慧影像辨識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"/>
          <p:cNvSpPr/>
          <p:nvPr/>
        </p:nvSpPr>
        <p:spPr>
          <a:xfrm>
            <a:off x="658440" y="11977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Edge AI </a:t>
            </a:r>
            <a:r>
              <a:rPr lang="zh-CN" sz="11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即時推論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× </a:t>
            </a:r>
            <a:r>
              <a:rPr lang="zh-CN" sz="11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多場域應用 </a:t>
            </a: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× </a:t>
            </a:r>
            <a:r>
              <a:rPr lang="zh-CN" sz="1150" b="0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系統整合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3"/>
          <p:cNvSpPr/>
          <p:nvPr/>
        </p:nvSpPr>
        <p:spPr>
          <a:xfrm>
            <a:off x="658440" y="1700640"/>
            <a:ext cx="1444320" cy="347040"/>
          </a:xfrm>
          <a:prstGeom prst="roundRect">
            <a:avLst>
              <a:gd name="adj" fmla="val 31579"/>
            </a:avLst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4"/>
          <p:cNvSpPr/>
          <p:nvPr/>
        </p:nvSpPr>
        <p:spPr>
          <a:xfrm>
            <a:off x="768240" y="1700640"/>
            <a:ext cx="7311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PROJECT 03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5"/>
          <p:cNvSpPr/>
          <p:nvPr/>
        </p:nvSpPr>
        <p:spPr>
          <a:xfrm>
            <a:off x="1499760" y="170064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3C5FD"/>
                </a:solidFill>
                <a:effectLst/>
                <a:uFillTx/>
                <a:latin typeface="Noto Sans CJK TC"/>
                <a:ea typeface="Noto Sans CJK TC"/>
              </a:rPr>
              <a:t>CCTV AI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6"/>
          <p:cNvSpPr/>
          <p:nvPr/>
        </p:nvSpPr>
        <p:spPr>
          <a:xfrm>
            <a:off x="5120640" y="2578680"/>
            <a:ext cx="1919880" cy="1919880"/>
          </a:xfrm>
          <a:prstGeom prst="ellipse">
            <a:avLst/>
          </a:prstGeom>
          <a:solidFill>
            <a:srgbClr val="0B1220"/>
          </a:solidFill>
          <a:ln w="25400">
            <a:solidFill>
              <a:srgbClr val="1E40A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7"/>
          <p:cNvSpPr/>
          <p:nvPr/>
        </p:nvSpPr>
        <p:spPr>
          <a:xfrm>
            <a:off x="5431680" y="2889360"/>
            <a:ext cx="1298160" cy="1298160"/>
          </a:xfrm>
          <a:prstGeom prst="ellipse">
            <a:avLst/>
          </a:prstGeom>
          <a:solidFill>
            <a:srgbClr val="111C31"/>
          </a:solidFill>
          <a:ln w="12700">
            <a:solidFill>
              <a:srgbClr val="2D4C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3" name="Image 0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742360" y="3163680"/>
            <a:ext cx="658080" cy="65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 8"/>
          <p:cNvSpPr/>
          <p:nvPr/>
        </p:nvSpPr>
        <p:spPr>
          <a:xfrm>
            <a:off x="5577840" y="4005000"/>
            <a:ext cx="840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Edge AI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9"/>
          <p:cNvSpPr/>
          <p:nvPr/>
        </p:nvSpPr>
        <p:spPr>
          <a:xfrm>
            <a:off x="749880" y="2240280"/>
            <a:ext cx="3245760" cy="122508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blurRad="15120" dist="50402" dir="2700000" algn="bl" rotWithShape="0">
              <a:srgbClr val="B8C3D1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0"/>
          <p:cNvSpPr/>
          <p:nvPr/>
        </p:nvSpPr>
        <p:spPr>
          <a:xfrm>
            <a:off x="896040" y="2450520"/>
            <a:ext cx="529920" cy="529920"/>
          </a:xfrm>
          <a:prstGeom prst="ellipse">
            <a:avLst/>
          </a:prstGeom>
          <a:solidFill>
            <a:srgbClr val="06B6D4">
              <a:alpha val="92000"/>
            </a:srgbClr>
          </a:solidFill>
          <a:ln w="10160">
            <a:solidFill>
              <a:srgbClr val="06B6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" name="Image 1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042560" y="259704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Text 11"/>
          <p:cNvSpPr/>
          <p:nvPr/>
        </p:nvSpPr>
        <p:spPr>
          <a:xfrm>
            <a:off x="1554480" y="2395800"/>
            <a:ext cx="157248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8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跌倒 </a:t>
            </a:r>
            <a:r>
              <a:rPr lang="en-US" sz="118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/ </a:t>
            </a:r>
            <a:r>
              <a:rPr lang="zh-CN" sz="118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行為偵測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2"/>
          <p:cNvSpPr/>
          <p:nvPr/>
        </p:nvSpPr>
        <p:spPr>
          <a:xfrm>
            <a:off x="1554480" y="2679120"/>
            <a:ext cx="21574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ToF </a:t>
            </a:r>
            <a:r>
              <a:rPr lang="zh-CN" sz="939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深度影像、</a:t>
            </a:r>
            <a:r>
              <a:rPr lang="en-US" sz="939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RGB </a:t>
            </a:r>
            <a:r>
              <a:rPr lang="zh-CN" sz="939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影像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LSTM / CNN </a:t>
            </a:r>
            <a:r>
              <a:rPr lang="zh-CN" sz="939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連續動作辨識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3"/>
          <p:cNvSpPr/>
          <p:nvPr/>
        </p:nvSpPr>
        <p:spPr>
          <a:xfrm>
            <a:off x="3081600" y="2386440"/>
            <a:ext cx="712800" cy="292320"/>
          </a:xfrm>
          <a:prstGeom prst="roundRect">
            <a:avLst>
              <a:gd name="adj" fmla="val 375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4"/>
          <p:cNvSpPr/>
          <p:nvPr/>
        </p:nvSpPr>
        <p:spPr>
          <a:xfrm>
            <a:off x="3081600" y="2386440"/>
            <a:ext cx="712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20" b="1" u="none" strike="noStrike">
                <a:solidFill>
                  <a:srgbClr val="06B6D4"/>
                </a:solidFill>
                <a:effectLst/>
                <a:uFillTx/>
                <a:latin typeface="Noto Sans CJK TC"/>
                <a:ea typeface="Noto Sans CJK TC"/>
              </a:rPr>
              <a:t>長照・醫院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5"/>
          <p:cNvSpPr/>
          <p:nvPr/>
        </p:nvSpPr>
        <p:spPr>
          <a:xfrm>
            <a:off x="8192880" y="2240280"/>
            <a:ext cx="3245760" cy="122508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blurRad="15120" dist="50402" dir="2700000" algn="bl" rotWithShape="0">
              <a:srgbClr val="B8C3D1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6"/>
          <p:cNvSpPr/>
          <p:nvPr/>
        </p:nvSpPr>
        <p:spPr>
          <a:xfrm>
            <a:off x="8339400" y="2450520"/>
            <a:ext cx="529920" cy="529920"/>
          </a:xfrm>
          <a:prstGeom prst="ellipse">
            <a:avLst/>
          </a:prstGeom>
          <a:solidFill>
            <a:srgbClr val="2563EB">
              <a:alpha val="92000"/>
            </a:srgbClr>
          </a:solidFill>
          <a:ln w="101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4" name="Image 2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485560" y="259704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Text 17"/>
          <p:cNvSpPr/>
          <p:nvPr/>
        </p:nvSpPr>
        <p:spPr>
          <a:xfrm>
            <a:off x="8997840" y="2395800"/>
            <a:ext cx="157248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8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車牌辨識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8"/>
          <p:cNvSpPr/>
          <p:nvPr/>
        </p:nvSpPr>
        <p:spPr>
          <a:xfrm>
            <a:off x="8997840" y="2679120"/>
            <a:ext cx="21574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39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停車場 </a:t>
            </a:r>
            <a:r>
              <a:rPr lang="en-US" sz="939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/ </a:t>
            </a:r>
            <a:r>
              <a:rPr lang="zh-CN" sz="939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道路行進間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39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模糊、傾斜車牌與區間測速整合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9"/>
          <p:cNvSpPr/>
          <p:nvPr/>
        </p:nvSpPr>
        <p:spPr>
          <a:xfrm>
            <a:off x="10524600" y="2386440"/>
            <a:ext cx="712800" cy="292320"/>
          </a:xfrm>
          <a:prstGeom prst="roundRect">
            <a:avLst>
              <a:gd name="adj" fmla="val 375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0"/>
          <p:cNvSpPr/>
          <p:nvPr/>
        </p:nvSpPr>
        <p:spPr>
          <a:xfrm>
            <a:off x="10524600" y="2386440"/>
            <a:ext cx="712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20" b="1" u="none" strike="noStrike">
                <a:solidFill>
                  <a:srgbClr val="2563EB"/>
                </a:solidFill>
                <a:effectLst/>
                <a:uFillTx/>
                <a:latin typeface="Noto Sans CJK TC"/>
                <a:ea typeface="Noto Sans CJK TC"/>
              </a:rPr>
              <a:t>交通・門禁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21"/>
          <p:cNvSpPr/>
          <p:nvPr/>
        </p:nvSpPr>
        <p:spPr>
          <a:xfrm>
            <a:off x="749880" y="4169520"/>
            <a:ext cx="3245760" cy="122508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blurRad="15120" dist="50402" dir="2700000" algn="bl" rotWithShape="0">
              <a:srgbClr val="B8C3D1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22"/>
          <p:cNvSpPr/>
          <p:nvPr/>
        </p:nvSpPr>
        <p:spPr>
          <a:xfrm>
            <a:off x="896040" y="4380120"/>
            <a:ext cx="529920" cy="529920"/>
          </a:xfrm>
          <a:prstGeom prst="ellipse">
            <a:avLst/>
          </a:prstGeom>
          <a:solidFill>
            <a:srgbClr val="14B8A6">
              <a:alpha val="92000"/>
            </a:srgbClr>
          </a:solidFill>
          <a:ln w="1016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1" name="Image 3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042560" y="452628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Text 23"/>
          <p:cNvSpPr/>
          <p:nvPr/>
        </p:nvSpPr>
        <p:spPr>
          <a:xfrm>
            <a:off x="1554480" y="4325040"/>
            <a:ext cx="157248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8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人流 </a:t>
            </a:r>
            <a:r>
              <a:rPr lang="en-US" sz="118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/ </a:t>
            </a:r>
            <a:r>
              <a:rPr lang="zh-CN" sz="118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門禁辨識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4"/>
          <p:cNvSpPr/>
          <p:nvPr/>
        </p:nvSpPr>
        <p:spPr>
          <a:xfrm>
            <a:off x="1554480" y="4608720"/>
            <a:ext cx="21574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39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人臉、口罩、體溫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39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人流計數・電子圍籬・跨線偵測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25"/>
          <p:cNvSpPr/>
          <p:nvPr/>
        </p:nvSpPr>
        <p:spPr>
          <a:xfrm>
            <a:off x="3081600" y="4316040"/>
            <a:ext cx="712800" cy="292320"/>
          </a:xfrm>
          <a:prstGeom prst="roundRect">
            <a:avLst>
              <a:gd name="adj" fmla="val 37500"/>
            </a:avLst>
          </a:prstGeom>
          <a:solidFill>
            <a:srgbClr val="EAFBF7"/>
          </a:solidFill>
          <a:ln w="12700">
            <a:solidFill>
              <a:srgbClr val="EAFBF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6"/>
          <p:cNvSpPr/>
          <p:nvPr/>
        </p:nvSpPr>
        <p:spPr>
          <a:xfrm>
            <a:off x="3081600" y="4316040"/>
            <a:ext cx="712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20" b="1" u="none" strike="noStrike">
                <a:solidFill>
                  <a:srgbClr val="14B8A6"/>
                </a:solidFill>
                <a:effectLst/>
                <a:uFillTx/>
                <a:latin typeface="Noto Sans CJK TC"/>
                <a:ea typeface="Noto Sans CJK TC"/>
              </a:rPr>
              <a:t>大樓・賣場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27"/>
          <p:cNvSpPr/>
          <p:nvPr/>
        </p:nvSpPr>
        <p:spPr>
          <a:xfrm>
            <a:off x="8192880" y="4169520"/>
            <a:ext cx="3245760" cy="122508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blurRad="15120" dist="50402" dir="2700000" algn="bl" rotWithShape="0">
              <a:srgbClr val="B8C3D1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28"/>
          <p:cNvSpPr/>
          <p:nvPr/>
        </p:nvSpPr>
        <p:spPr>
          <a:xfrm>
            <a:off x="8339400" y="4380120"/>
            <a:ext cx="529920" cy="529920"/>
          </a:xfrm>
          <a:prstGeom prst="ellipse">
            <a:avLst/>
          </a:prstGeom>
          <a:solidFill>
            <a:srgbClr val="F59E0B">
              <a:alpha val="92000"/>
            </a:srgbClr>
          </a:solidFill>
          <a:ln w="1016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8" name="Image 4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8485560" y="452628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" name="Text 29"/>
          <p:cNvSpPr/>
          <p:nvPr/>
        </p:nvSpPr>
        <p:spPr>
          <a:xfrm>
            <a:off x="8997840" y="4325040"/>
            <a:ext cx="157248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80" b="1" u="none" strike="noStrike">
                <a:solidFill>
                  <a:srgbClr val="0B1220"/>
                </a:solidFill>
                <a:effectLst/>
                <a:uFillTx/>
                <a:latin typeface="Noto Sans CJK TC"/>
                <a:ea typeface="Noto Sans CJK TC"/>
              </a:rPr>
              <a:t>智慧牧場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30"/>
          <p:cNvSpPr/>
          <p:nvPr/>
        </p:nvSpPr>
        <p:spPr>
          <a:xfrm>
            <a:off x="8997840" y="4608720"/>
            <a:ext cx="21574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39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家畜健康與活動狀態追蹤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39" b="0" u="none" strike="noStrike">
                <a:solidFill>
                  <a:srgbClr val="0F172A"/>
                </a:solidFill>
                <a:effectLst/>
                <a:uFillTx/>
                <a:latin typeface="Noto Sans CJK TC"/>
                <a:ea typeface="Noto Sans CJK TC"/>
              </a:rPr>
              <a:t>搭配管理系統進行即時監控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31"/>
          <p:cNvSpPr/>
          <p:nvPr/>
        </p:nvSpPr>
        <p:spPr>
          <a:xfrm>
            <a:off x="10524600" y="4316040"/>
            <a:ext cx="712800" cy="292320"/>
          </a:xfrm>
          <a:prstGeom prst="roundRect">
            <a:avLst>
              <a:gd name="adj" fmla="val 37500"/>
            </a:avLst>
          </a:prstGeom>
          <a:solidFill>
            <a:srgbClr val="FFF7E8"/>
          </a:solidFill>
          <a:ln w="12700">
            <a:solidFill>
              <a:srgbClr val="FFF7E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2"/>
          <p:cNvSpPr/>
          <p:nvPr/>
        </p:nvSpPr>
        <p:spPr>
          <a:xfrm>
            <a:off x="10524600" y="4316040"/>
            <a:ext cx="712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20" b="1" u="none" strike="noStrike">
                <a:solidFill>
                  <a:srgbClr val="F59E0B"/>
                </a:solidFill>
                <a:effectLst/>
                <a:uFillTx/>
                <a:latin typeface="Noto Sans CJK TC"/>
                <a:ea typeface="Noto Sans CJK TC"/>
              </a:rPr>
              <a:t>農牧場域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33"/>
          <p:cNvSpPr/>
          <p:nvPr/>
        </p:nvSpPr>
        <p:spPr>
          <a:xfrm>
            <a:off x="4069080" y="2843640"/>
            <a:ext cx="978120" cy="374760"/>
          </a:xfrm>
          <a:prstGeom prst="line">
            <a:avLst/>
          </a:prstGeom>
          <a:ln w="15240">
            <a:solidFill>
              <a:srgbClr val="9FB3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34"/>
          <p:cNvSpPr/>
          <p:nvPr/>
        </p:nvSpPr>
        <p:spPr>
          <a:xfrm flipV="1">
            <a:off x="7132320" y="2843640"/>
            <a:ext cx="987480" cy="374760"/>
          </a:xfrm>
          <a:prstGeom prst="line">
            <a:avLst/>
          </a:prstGeom>
          <a:ln w="15240">
            <a:solidFill>
              <a:srgbClr val="9FB3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35"/>
          <p:cNvSpPr/>
          <p:nvPr/>
        </p:nvSpPr>
        <p:spPr>
          <a:xfrm flipV="1">
            <a:off x="4069080" y="3949920"/>
            <a:ext cx="978120" cy="768240"/>
          </a:xfrm>
          <a:prstGeom prst="line">
            <a:avLst/>
          </a:prstGeom>
          <a:ln w="15240">
            <a:solidFill>
              <a:srgbClr val="9FB3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36"/>
          <p:cNvSpPr/>
          <p:nvPr/>
        </p:nvSpPr>
        <p:spPr>
          <a:xfrm>
            <a:off x="7132320" y="3949920"/>
            <a:ext cx="987480" cy="768240"/>
          </a:xfrm>
          <a:prstGeom prst="line">
            <a:avLst/>
          </a:prstGeom>
          <a:ln w="15240">
            <a:solidFill>
              <a:srgbClr val="9FB3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37"/>
          <p:cNvSpPr/>
          <p:nvPr/>
        </p:nvSpPr>
        <p:spPr>
          <a:xfrm>
            <a:off x="768240" y="5632560"/>
            <a:ext cx="58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20" b="1" u="none" strike="noStrike">
                <a:solidFill>
                  <a:srgbClr val="64748B"/>
                </a:solidFill>
                <a:effectLst/>
                <a:uFillTx/>
                <a:latin typeface="Noto Sans CJK TC"/>
                <a:ea typeface="Noto Sans CJK TC"/>
              </a:rPr>
              <a:t>技術棧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38"/>
          <p:cNvSpPr/>
          <p:nvPr/>
        </p:nvSpPr>
        <p:spPr>
          <a:xfrm>
            <a:off x="1389960" y="5586840"/>
            <a:ext cx="676440" cy="292320"/>
          </a:xfrm>
          <a:prstGeom prst="roundRect">
            <a:avLst>
              <a:gd name="adj" fmla="val 375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39"/>
          <p:cNvSpPr/>
          <p:nvPr/>
        </p:nvSpPr>
        <p:spPr>
          <a:xfrm>
            <a:off x="1389960" y="5586840"/>
            <a:ext cx="676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2563EB"/>
                </a:solidFill>
                <a:effectLst/>
                <a:uFillTx/>
                <a:latin typeface="Noto Sans CJK TC"/>
                <a:ea typeface="Noto Sans CJK TC"/>
              </a:rPr>
              <a:t>Python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40"/>
          <p:cNvSpPr/>
          <p:nvPr/>
        </p:nvSpPr>
        <p:spPr>
          <a:xfrm>
            <a:off x="2176200" y="5586840"/>
            <a:ext cx="676440" cy="292320"/>
          </a:xfrm>
          <a:prstGeom prst="roundRect">
            <a:avLst>
              <a:gd name="adj" fmla="val 37500"/>
            </a:avLst>
          </a:prstGeom>
          <a:solidFill>
            <a:srgbClr val="E8FAFD"/>
          </a:solidFill>
          <a:ln w="12700">
            <a:solidFill>
              <a:srgbClr val="E8FA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41"/>
          <p:cNvSpPr/>
          <p:nvPr/>
        </p:nvSpPr>
        <p:spPr>
          <a:xfrm>
            <a:off x="2176200" y="5586840"/>
            <a:ext cx="676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0891B2"/>
                </a:solidFill>
                <a:effectLst/>
                <a:uFillTx/>
                <a:latin typeface="Noto Sans CJK TC"/>
                <a:ea typeface="Noto Sans CJK TC"/>
              </a:rPr>
              <a:t>C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42"/>
          <p:cNvSpPr/>
          <p:nvPr/>
        </p:nvSpPr>
        <p:spPr>
          <a:xfrm>
            <a:off x="2962800" y="5586840"/>
            <a:ext cx="676440" cy="292320"/>
          </a:xfrm>
          <a:prstGeom prst="roundRect">
            <a:avLst>
              <a:gd name="adj" fmla="val 375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43"/>
          <p:cNvSpPr/>
          <p:nvPr/>
        </p:nvSpPr>
        <p:spPr>
          <a:xfrm>
            <a:off x="2962800" y="5586840"/>
            <a:ext cx="676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2563EB"/>
                </a:solidFill>
                <a:effectLst/>
                <a:uFillTx/>
                <a:latin typeface="Noto Sans CJK TC"/>
                <a:ea typeface="Noto Sans CJK TC"/>
              </a:rPr>
              <a:t>Linux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44"/>
          <p:cNvSpPr/>
          <p:nvPr/>
        </p:nvSpPr>
        <p:spPr>
          <a:xfrm>
            <a:off x="3749040" y="5586840"/>
            <a:ext cx="676440" cy="292320"/>
          </a:xfrm>
          <a:prstGeom prst="roundRect">
            <a:avLst>
              <a:gd name="adj" fmla="val 37500"/>
            </a:avLst>
          </a:prstGeom>
          <a:solidFill>
            <a:srgbClr val="E8FAFD"/>
          </a:solidFill>
          <a:ln w="12700">
            <a:solidFill>
              <a:srgbClr val="E8FA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45"/>
          <p:cNvSpPr/>
          <p:nvPr/>
        </p:nvSpPr>
        <p:spPr>
          <a:xfrm>
            <a:off x="3749040" y="5586840"/>
            <a:ext cx="676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0891B2"/>
                </a:solidFill>
                <a:effectLst/>
                <a:uFillTx/>
                <a:latin typeface="Noto Sans CJK TC"/>
                <a:ea typeface="Noto Sans CJK TC"/>
              </a:rPr>
              <a:t>OpenCV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46"/>
          <p:cNvSpPr/>
          <p:nvPr/>
        </p:nvSpPr>
        <p:spPr>
          <a:xfrm>
            <a:off x="4535280" y="5586840"/>
            <a:ext cx="676440" cy="292320"/>
          </a:xfrm>
          <a:prstGeom prst="roundRect">
            <a:avLst>
              <a:gd name="adj" fmla="val 375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47"/>
          <p:cNvSpPr/>
          <p:nvPr/>
        </p:nvSpPr>
        <p:spPr>
          <a:xfrm>
            <a:off x="4535280" y="5586840"/>
            <a:ext cx="676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2563EB"/>
                </a:solidFill>
                <a:effectLst/>
                <a:uFillTx/>
                <a:latin typeface="Noto Sans CJK TC"/>
                <a:ea typeface="Noto Sans CJK TC"/>
              </a:rPr>
              <a:t>CNN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48"/>
          <p:cNvSpPr/>
          <p:nvPr/>
        </p:nvSpPr>
        <p:spPr>
          <a:xfrm>
            <a:off x="5321880" y="5586840"/>
            <a:ext cx="676440" cy="292320"/>
          </a:xfrm>
          <a:prstGeom prst="roundRect">
            <a:avLst>
              <a:gd name="adj" fmla="val 37500"/>
            </a:avLst>
          </a:prstGeom>
          <a:solidFill>
            <a:srgbClr val="E8FAFD"/>
          </a:solidFill>
          <a:ln w="12700">
            <a:solidFill>
              <a:srgbClr val="E8FAF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49"/>
          <p:cNvSpPr/>
          <p:nvPr/>
        </p:nvSpPr>
        <p:spPr>
          <a:xfrm>
            <a:off x="5321880" y="5586840"/>
            <a:ext cx="676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0891B2"/>
                </a:solidFill>
                <a:effectLst/>
                <a:uFillTx/>
                <a:latin typeface="Noto Sans CJK TC"/>
                <a:ea typeface="Noto Sans CJK TC"/>
              </a:rPr>
              <a:t>LSTM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50"/>
          <p:cNvSpPr/>
          <p:nvPr/>
        </p:nvSpPr>
        <p:spPr>
          <a:xfrm>
            <a:off x="6108120" y="5586840"/>
            <a:ext cx="676440" cy="292320"/>
          </a:xfrm>
          <a:prstGeom prst="roundRect">
            <a:avLst>
              <a:gd name="adj" fmla="val 375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51"/>
          <p:cNvSpPr/>
          <p:nvPr/>
        </p:nvSpPr>
        <p:spPr>
          <a:xfrm>
            <a:off x="6108120" y="5586840"/>
            <a:ext cx="676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2563EB"/>
                </a:solidFill>
                <a:effectLst/>
                <a:uFillTx/>
                <a:latin typeface="Noto Sans CJK TC"/>
                <a:ea typeface="Noto Sans CJK TC"/>
              </a:rPr>
              <a:t>Edge AI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52"/>
          <p:cNvSpPr/>
          <p:nvPr/>
        </p:nvSpPr>
        <p:spPr>
          <a:xfrm>
            <a:off x="7425000" y="5532120"/>
            <a:ext cx="3913200" cy="529920"/>
          </a:xfrm>
          <a:prstGeom prst="roundRect">
            <a:avLst>
              <a:gd name="adj" fmla="val 20690"/>
            </a:avLst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53"/>
          <p:cNvSpPr/>
          <p:nvPr/>
        </p:nvSpPr>
        <p:spPr>
          <a:xfrm>
            <a:off x="7626240" y="5532120"/>
            <a:ext cx="35017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80" b="1" u="none" strike="noStrik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研究延伸｜碩士論文：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ToF </a:t>
            </a:r>
            <a:r>
              <a:rPr lang="zh-CN" sz="980" b="1" u="none" strike="noStrik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深度影像 </a:t>
            </a: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+ LSTM </a:t>
            </a:r>
            <a:r>
              <a:rPr lang="zh-CN" sz="980" b="1" u="none" strike="noStrike">
                <a:solidFill>
                  <a:srgbClr val="FFFFFF"/>
                </a:solidFill>
                <a:effectLst/>
                <a:uFillTx/>
                <a:latin typeface="Noto Sans CJK TC"/>
                <a:ea typeface="Noto Sans CJK TC"/>
              </a:rPr>
              <a:t>跌倒偵測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1"/>
          <p:cNvSpPr>
            <a:spLocks noGrp="1"/>
          </p:cNvSpPr>
          <p:nvPr>
            <p:ph type="sldNum" idx="8"/>
          </p:nvPr>
        </p:nvSpPr>
        <p:spPr>
          <a:xfrm>
            <a:off x="11612880" y="6473880"/>
            <a:ext cx="22824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37FD96-8BB0-460F-947F-5037E7066AD0}" type="slidenum">
              <a:rPr lang="en-US" sz="850" b="0" u="none" strike="noStrike">
                <a:solidFill>
                  <a:srgbClr val="94A3B8"/>
                </a:solidFill>
                <a:effectLst/>
                <a:uFillTx/>
                <a:latin typeface="Noto Sans CJK TC"/>
                <a:ea typeface="Noto Sans CJK TC"/>
              </a:rPr>
              <a:t>6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340A1-DA9B-6C64-DEB1-1A8788069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>
            <a:extLst>
              <a:ext uri="{FF2B5EF4-FFF2-40B4-BE49-F238E27FC236}">
                <a16:creationId xmlns:a16="http://schemas.microsoft.com/office/drawing/2014/main" id="{A6ACCC33-3AC0-2E69-1BDB-3E0E755D20A4}"/>
              </a:ext>
            </a:extLst>
          </p:cNvPr>
          <p:cNvSpPr/>
          <p:nvPr/>
        </p:nvSpPr>
        <p:spPr>
          <a:xfrm>
            <a:off x="-23086" y="893"/>
            <a:ext cx="935860" cy="6856215"/>
          </a:xfrm>
          <a:prstGeom prst="rect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FB1A71F-ED61-B416-3267-4828AE31571A}"/>
              </a:ext>
            </a:extLst>
          </p:cNvPr>
          <p:cNvGrpSpPr/>
          <p:nvPr/>
        </p:nvGrpSpPr>
        <p:grpSpPr>
          <a:xfrm>
            <a:off x="552828" y="189483"/>
            <a:ext cx="670385" cy="604429"/>
            <a:chOff x="5424755" y="1340768"/>
            <a:chExt cx="670560" cy="604586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D4D0C19-B6D7-D111-2147-FD3947211C4F}"/>
                </a:ext>
              </a:extLst>
            </p:cNvPr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45129B28-1AB4-957F-4C0B-9E74FC464CFB}"/>
                  </a:ext>
                </a:extLst>
              </p:cNvPr>
              <p:cNvSpPr>
                <a:spLocks/>
              </p:cNvSpPr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  <a:headEnd/>
                <a:tailEnd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799"/>
              </a:p>
            </p:txBody>
          </p:sp>
          <p:sp>
            <p:nvSpPr>
              <p:cNvPr id="19" name="Freeform 5">
                <a:extLst>
                  <a:ext uri="{FF2B5EF4-FFF2-40B4-BE49-F238E27FC236}">
                    <a16:creationId xmlns:a16="http://schemas.microsoft.com/office/drawing/2014/main" id="{F72324B1-FEF1-0AB1-E1F2-28CED4FF33BE}"/>
                  </a:ext>
                </a:extLst>
              </p:cNvPr>
              <p:cNvSpPr>
                <a:spLocks/>
              </p:cNvSpPr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799"/>
              </a:p>
            </p:txBody>
          </p:sp>
        </p:grp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8FFFC4F1-5039-B821-2D7F-B35AA7353763}"/>
                </a:ext>
              </a:extLst>
            </p:cNvPr>
            <p:cNvSpPr>
              <a:spLocks/>
            </p:cNvSpPr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  <a:headEnd/>
              <a:tailEnd/>
            </a:ln>
            <a:effectLst/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20" name="文本框 9">
            <a:extLst>
              <a:ext uri="{FF2B5EF4-FFF2-40B4-BE49-F238E27FC236}">
                <a16:creationId xmlns:a16="http://schemas.microsoft.com/office/drawing/2014/main" id="{1B223927-120D-C11C-EF81-96D2DE13E289}"/>
              </a:ext>
            </a:extLst>
          </p:cNvPr>
          <p:cNvSpPr txBox="1"/>
          <p:nvPr/>
        </p:nvSpPr>
        <p:spPr>
          <a:xfrm>
            <a:off x="1269833" y="308235"/>
            <a:ext cx="1871721" cy="346159"/>
          </a:xfrm>
          <a:prstGeom prst="rect">
            <a:avLst/>
          </a:prstGeom>
          <a:noFill/>
        </p:spPr>
        <p:txBody>
          <a:bodyPr wrap="square" lIns="68562" tIns="34281" rIns="68562" bIns="34281" rtlCol="0">
            <a:spAutoFit/>
          </a:bodyPr>
          <a:lstStyle/>
          <a:p>
            <a:pPr marL="0" lvl="1"/>
            <a:r>
              <a:rPr lang="en-US" altLang="zh-TW" sz="1799" dirty="0">
                <a:solidFill>
                  <a:srgbClr val="414455"/>
                </a:solidFill>
                <a:latin typeface="微软雅黑" pitchFamily="34" charset="-122"/>
                <a:ea typeface="微软雅黑" pitchFamily="34" charset="-122"/>
              </a:rPr>
              <a:t>AI</a:t>
            </a:r>
            <a:r>
              <a:rPr lang="zh-TW" altLang="en-US" sz="1799" dirty="0">
                <a:solidFill>
                  <a:srgbClr val="414455"/>
                </a:solidFill>
                <a:latin typeface="微软雅黑" pitchFamily="34" charset="-122"/>
                <a:ea typeface="微软雅黑" pitchFamily="34" charset="-122"/>
              </a:rPr>
              <a:t> 專案經驗</a:t>
            </a:r>
            <a:endParaRPr lang="zh-CN" altLang="en-US" sz="1799" dirty="0">
              <a:solidFill>
                <a:srgbClr val="4144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1" name="直接连接符 21">
            <a:extLst>
              <a:ext uri="{FF2B5EF4-FFF2-40B4-BE49-F238E27FC236}">
                <a16:creationId xmlns:a16="http://schemas.microsoft.com/office/drawing/2014/main" id="{76F4D422-712C-1EFA-CB40-403B80D860ED}"/>
              </a:ext>
            </a:extLst>
          </p:cNvPr>
          <p:cNvCxnSpPr/>
          <p:nvPr/>
        </p:nvCxnSpPr>
        <p:spPr>
          <a:xfrm>
            <a:off x="1341822" y="668181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2">
            <a:extLst>
              <a:ext uri="{FF2B5EF4-FFF2-40B4-BE49-F238E27FC236}">
                <a16:creationId xmlns:a16="http://schemas.microsoft.com/office/drawing/2014/main" id="{12FB8480-9ADB-2EC0-4C3D-5261AB2FCEAC}"/>
              </a:ext>
            </a:extLst>
          </p:cNvPr>
          <p:cNvGrpSpPr/>
          <p:nvPr/>
        </p:nvGrpSpPr>
        <p:grpSpPr>
          <a:xfrm>
            <a:off x="11236541" y="460205"/>
            <a:ext cx="258653" cy="233204"/>
            <a:chOff x="3720691" y="2824413"/>
            <a:chExt cx="1341120" cy="1209172"/>
          </a:xfrm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DC1D4F25-E8C1-D510-D054-9B00114FCD60}"/>
                </a:ext>
              </a:extLst>
            </p:cNvPr>
            <p:cNvSpPr>
              <a:spLocks/>
            </p:cNvSpPr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  <a:headEnd/>
              <a:tailEnd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F81B34C8-4AF6-6EED-9AF4-16892271CDE7}"/>
                </a:ext>
              </a:extLst>
            </p:cNvPr>
            <p:cNvSpPr>
              <a:spLocks/>
            </p:cNvSpPr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30" name="文本框 9">
            <a:extLst>
              <a:ext uri="{FF2B5EF4-FFF2-40B4-BE49-F238E27FC236}">
                <a16:creationId xmlns:a16="http://schemas.microsoft.com/office/drawing/2014/main" id="{09899E41-C0A0-2AE5-FCAF-66A0C5747DC3}"/>
              </a:ext>
            </a:extLst>
          </p:cNvPr>
          <p:cNvSpPr txBox="1"/>
          <p:nvPr/>
        </p:nvSpPr>
        <p:spPr>
          <a:xfrm>
            <a:off x="10703312" y="333463"/>
            <a:ext cx="431936" cy="346159"/>
          </a:xfrm>
          <a:prstGeom prst="rect">
            <a:avLst/>
          </a:prstGeom>
          <a:noFill/>
        </p:spPr>
        <p:txBody>
          <a:bodyPr wrap="square" lIns="68562" tIns="34281" rIns="68562" bIns="34281" rtlCol="0">
            <a:spAutoFit/>
          </a:bodyPr>
          <a:lstStyle/>
          <a:p>
            <a:pPr marL="0" lvl="1"/>
            <a:fld id="{019C1566-F6BD-42DB-B252-562BB8CFF26B}" type="slidenum">
              <a:rPr lang="en-US" altLang="zh-CN" sz="1799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pPr marL="0" lvl="1"/>
              <a:t>7</a:t>
            </a:fld>
            <a:endParaRPr lang="zh-CN" altLang="en-US" sz="1799" dirty="0">
              <a:solidFill>
                <a:srgbClr val="414455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31" name="Freeform 206">
            <a:extLst>
              <a:ext uri="{FF2B5EF4-FFF2-40B4-BE49-F238E27FC236}">
                <a16:creationId xmlns:a16="http://schemas.microsoft.com/office/drawing/2014/main" id="{2FC436D5-991C-CEE8-18B1-7E0369D6A5A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77996" y="303060"/>
            <a:ext cx="290648" cy="351334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6" name="群組 65">
            <a:extLst>
              <a:ext uri="{FF2B5EF4-FFF2-40B4-BE49-F238E27FC236}">
                <a16:creationId xmlns:a16="http://schemas.microsoft.com/office/drawing/2014/main" id="{17B3B853-82F4-21FC-DB5A-3D76BBA003F4}"/>
              </a:ext>
            </a:extLst>
          </p:cNvPr>
          <p:cNvGrpSpPr/>
          <p:nvPr/>
        </p:nvGrpSpPr>
        <p:grpSpPr>
          <a:xfrm>
            <a:off x="1560677" y="1255114"/>
            <a:ext cx="2043422" cy="4901756"/>
            <a:chOff x="2026906" y="1254548"/>
            <a:chExt cx="2043954" cy="4903032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279B48-2B3B-F968-E44F-801BC494EBB3}"/>
                </a:ext>
              </a:extLst>
            </p:cNvPr>
            <p:cNvSpPr/>
            <p:nvPr/>
          </p:nvSpPr>
          <p:spPr>
            <a:xfrm>
              <a:off x="2026907" y="2074006"/>
              <a:ext cx="2043953" cy="4083574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專案一</a:t>
              </a:r>
              <a:endParaRPr lang="en-US" altLang="zh-TW" sz="14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endParaRP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深度影像辨識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動態</a:t>
              </a:r>
              <a:r>
                <a:rPr lang="en-US" altLang="zh-TW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LSTM</a:t>
              </a: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辨識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長照產學合作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endParaRPr lang="en-US" altLang="zh-TW" sz="14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endParaRP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專案二</a:t>
              </a:r>
              <a:endParaRPr lang="en-US" altLang="zh-TW" sz="14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endParaRP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TW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RGB</a:t>
              </a: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影像結合馬賽克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靜態</a:t>
              </a:r>
              <a:r>
                <a:rPr lang="en-US" altLang="zh-TW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CNN</a:t>
              </a: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辨識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醫院及智慧家電整合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endParaRPr lang="zh-TW" altLang="en-US" sz="1400" dirty="0">
                <a:solidFill>
                  <a:schemeClr val="tx1"/>
                </a:solidFill>
                <a:sym typeface="微软雅黑" pitchFamily="34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C11779C-0780-8CB4-C571-CA152CA412B4}"/>
                </a:ext>
              </a:extLst>
            </p:cNvPr>
            <p:cNvSpPr/>
            <p:nvPr/>
          </p:nvSpPr>
          <p:spPr>
            <a:xfrm>
              <a:off x="2026906" y="1254548"/>
              <a:ext cx="2043953" cy="81945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799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跌倒偵測</a:t>
              </a:r>
              <a:endParaRPr lang="en-US" altLang="zh-TW" sz="179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7" name="群組 66">
            <a:extLst>
              <a:ext uri="{FF2B5EF4-FFF2-40B4-BE49-F238E27FC236}">
                <a16:creationId xmlns:a16="http://schemas.microsoft.com/office/drawing/2014/main" id="{5868EC12-3E34-2488-C40B-CA64590B5CB2}"/>
              </a:ext>
            </a:extLst>
          </p:cNvPr>
          <p:cNvGrpSpPr/>
          <p:nvPr/>
        </p:nvGrpSpPr>
        <p:grpSpPr>
          <a:xfrm>
            <a:off x="4133180" y="1255114"/>
            <a:ext cx="2250777" cy="5272971"/>
            <a:chOff x="4278271" y="1254548"/>
            <a:chExt cx="2251363" cy="5274344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9509EF1-2050-C259-6EAD-7BBAA67BB650}"/>
                </a:ext>
              </a:extLst>
            </p:cNvPr>
            <p:cNvSpPr/>
            <p:nvPr/>
          </p:nvSpPr>
          <p:spPr>
            <a:xfrm>
              <a:off x="4278271" y="2074006"/>
              <a:ext cx="2043953" cy="4083574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大樓 </a:t>
              </a:r>
              <a:r>
                <a:rPr lang="en-US" altLang="zh-TW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停車場出入口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TW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DB</a:t>
              </a: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管理系統</a:t>
              </a:r>
              <a:r>
                <a:rPr lang="en-US" altLang="zh-TW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黑白名單</a:t>
              </a:r>
              <a:r>
                <a:rPr lang="en-US" altLang="zh-TW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模糊搜尋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注重辨識</a:t>
              </a:r>
              <a:r>
                <a:rPr lang="zh-TW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準確度</a:t>
              </a:r>
              <a:endParaRPr lang="en-US" altLang="zh-TW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endParaRPr lang="en-US" altLang="zh-TW" sz="14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道路行進間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須能夠辨識條件較差的車牌</a:t>
              </a:r>
              <a:r>
                <a:rPr lang="en-US" altLang="zh-TW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如：傾斜、模糊等</a:t>
              </a:r>
              <a:r>
                <a:rPr lang="en-US" altLang="zh-TW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結合區間測速功能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注重辨識</a:t>
              </a:r>
              <a:r>
                <a:rPr lang="zh-TW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速度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endParaRPr lang="zh-TW" altLang="en-US" sz="1400" dirty="0">
                <a:solidFill>
                  <a:schemeClr val="tx1"/>
                </a:solidFill>
              </a:endParaRPr>
            </a:p>
            <a:p>
              <a:pPr algn="just"/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1E3A533-BA92-C950-F3A9-EA61DB0E5644}"/>
                </a:ext>
              </a:extLst>
            </p:cNvPr>
            <p:cNvSpPr/>
            <p:nvPr/>
          </p:nvSpPr>
          <p:spPr>
            <a:xfrm>
              <a:off x="4278272" y="1254548"/>
              <a:ext cx="2043953" cy="81945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799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車牌辨識</a:t>
              </a:r>
              <a:endParaRPr lang="en-US" altLang="zh-TW" sz="179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4" name="Picture 6" descr="停车位icon图标下载免抠素材免费下载_觅元素51yuansu.com">
              <a:extLst>
                <a:ext uri="{FF2B5EF4-FFF2-40B4-BE49-F238E27FC236}">
                  <a16:creationId xmlns:a16="http://schemas.microsoft.com/office/drawing/2014/main" id="{B6A75587-AA42-62FF-9038-2E09069084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1136" y="5523240"/>
              <a:ext cx="1188498" cy="10056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051B6E65-AC55-3C89-32A7-AA5B1A8092D6}"/>
              </a:ext>
            </a:extLst>
          </p:cNvPr>
          <p:cNvGrpSpPr/>
          <p:nvPr/>
        </p:nvGrpSpPr>
        <p:grpSpPr>
          <a:xfrm>
            <a:off x="6716182" y="1255114"/>
            <a:ext cx="2043421" cy="4901756"/>
            <a:chOff x="6529635" y="1254548"/>
            <a:chExt cx="2043953" cy="4903032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495AF71-1E5D-D643-1E56-704AA96B8C8B}"/>
                </a:ext>
              </a:extLst>
            </p:cNvPr>
            <p:cNvSpPr/>
            <p:nvPr/>
          </p:nvSpPr>
          <p:spPr>
            <a:xfrm>
              <a:off x="6529635" y="2074006"/>
              <a:ext cx="2043953" cy="4083574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針對家畜進行智慧健康檢測，及追蹤其活動狀態，配合</a:t>
              </a:r>
              <a:r>
                <a:rPr lang="zh-TW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牧場管理</a:t>
              </a: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，避免不必要的損失。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90B2F8F-D9DC-9C78-1525-A2A7F972F69C}"/>
                </a:ext>
              </a:extLst>
            </p:cNvPr>
            <p:cNvSpPr/>
            <p:nvPr/>
          </p:nvSpPr>
          <p:spPr>
            <a:xfrm>
              <a:off x="6529635" y="1254548"/>
              <a:ext cx="2043953" cy="81945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799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智慧牧場</a:t>
              </a:r>
              <a:endParaRPr lang="en-US" altLang="zh-TW" sz="179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6E112CBE-C972-D4B0-620E-A8DCD63865B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79176" y="3861397"/>
              <a:ext cx="816822" cy="768774"/>
              <a:chOff x="6457627" y="4533176"/>
              <a:chExt cx="2376264" cy="2236484"/>
            </a:xfrm>
          </p:grpSpPr>
          <p:pic>
            <p:nvPicPr>
              <p:cNvPr id="27" name="Picture 2" descr="Cow Icon | IconExperience - Professional Icons » O-Collection">
                <a:extLst>
                  <a:ext uri="{FF2B5EF4-FFF2-40B4-BE49-F238E27FC236}">
                    <a16:creationId xmlns:a16="http://schemas.microsoft.com/office/drawing/2014/main" id="{15159B42-0529-0D09-B8FE-DFD53EAC1F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84" t="4770" r="2555" b="6137"/>
              <a:stretch/>
            </p:blipFill>
            <p:spPr bwMode="auto">
              <a:xfrm>
                <a:off x="6457627" y="4533176"/>
                <a:ext cx="2376264" cy="22364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8" name="圖片 27">
                <a:extLst>
                  <a:ext uri="{FF2B5EF4-FFF2-40B4-BE49-F238E27FC236}">
                    <a16:creationId xmlns:a16="http://schemas.microsoft.com/office/drawing/2014/main" id="{9D3F7016-0DDA-E1C7-2CE1-31F728F8AE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8019885" y="5733256"/>
                <a:ext cx="568145" cy="533502"/>
              </a:xfrm>
              <a:prstGeom prst="rect">
                <a:avLst/>
              </a:prstGeom>
            </p:spPr>
          </p:pic>
        </p:grpSp>
        <p:pic>
          <p:nvPicPr>
            <p:cNvPr id="29" name="Picture 6" descr="cctv camera Icon - Free PNG &amp; SVG 2571053 - Noun Project">
              <a:extLst>
                <a:ext uri="{FF2B5EF4-FFF2-40B4-BE49-F238E27FC236}">
                  <a16:creationId xmlns:a16="http://schemas.microsoft.com/office/drawing/2014/main" id="{765BF83E-D65C-F09E-D23B-2829370C7C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3409" y="3509982"/>
              <a:ext cx="570179" cy="5701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5669E272-6C05-0A94-180B-3BC69A97E2B5}"/>
              </a:ext>
            </a:extLst>
          </p:cNvPr>
          <p:cNvGrpSpPr/>
          <p:nvPr/>
        </p:nvGrpSpPr>
        <p:grpSpPr>
          <a:xfrm>
            <a:off x="9307794" y="1255114"/>
            <a:ext cx="2043422" cy="4901755"/>
            <a:chOff x="8780998" y="1254548"/>
            <a:chExt cx="2043954" cy="4903031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EC0EA4F-9A3C-8105-3B45-6736CB544A70}"/>
                </a:ext>
              </a:extLst>
            </p:cNvPr>
            <p:cNvSpPr/>
            <p:nvPr/>
          </p:nvSpPr>
          <p:spPr>
            <a:xfrm>
              <a:off x="8780999" y="2074005"/>
              <a:ext cx="2043953" cy="4083574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人臉辨識</a:t>
              </a:r>
              <a:endParaRPr lang="en-US" altLang="zh-TW" sz="14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公司門口打卡機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endParaRPr lang="en-US" altLang="zh-TW" sz="140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口罩偵測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辦公大樓大廳入口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超商、賣場出入口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</a:pPr>
              <a:r>
                <a:rPr lang="zh-TW" altLang="en-US" sz="140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*結合體溫檢測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AAE217C-24FC-B529-54EC-8A2D4ECC693D}"/>
                </a:ext>
              </a:extLst>
            </p:cNvPr>
            <p:cNvSpPr/>
            <p:nvPr/>
          </p:nvSpPr>
          <p:spPr>
            <a:xfrm>
              <a:off x="8780998" y="1254548"/>
              <a:ext cx="2043953" cy="81945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799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人臉 </a:t>
              </a:r>
              <a:r>
                <a:rPr lang="en-US" altLang="zh-TW" sz="1799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TW" altLang="en-US" sz="1799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口罩辨識</a:t>
              </a:r>
              <a:endParaRPr lang="en-US" altLang="zh-TW" sz="179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64" name="Picture 6" descr="Facial Recognition Icon #190897 - Free Icons Library">
              <a:extLst>
                <a:ext uri="{FF2B5EF4-FFF2-40B4-BE49-F238E27FC236}">
                  <a16:creationId xmlns:a16="http://schemas.microsoft.com/office/drawing/2014/main" id="{D3B89CF0-9B6E-6E1C-E77E-A116C108AA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22960" y="2127602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2" descr="智能體溫量測解決方案">
              <a:extLst>
                <a:ext uri="{FF2B5EF4-FFF2-40B4-BE49-F238E27FC236}">
                  <a16:creationId xmlns:a16="http://schemas.microsoft.com/office/drawing/2014/main" id="{3BA36BE8-6484-459E-C9CF-DAAD3D997EB4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22960" y="331959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36825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9184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295BAA"/>
                </a:solidFill>
                <a:latin typeface="Microsoft JhengHei"/>
              </a:rPr>
              <a:t>PROJECT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50" b="1">
                <a:solidFill>
                  <a:srgbClr val="22262D"/>
                </a:solidFill>
                <a:latin typeface="Microsoft JhengHei"/>
              </a:rPr>
              <a:t>04｜問答機器人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606874"/>
                </a:solidFill>
                <a:latin typeface="Microsoft JhengHei"/>
              </a:rPr>
              <a:t>RAG × LLMs × 多模態輸入，分流 MES 值班人員重複性 on-call 問題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841248" cy="292608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84124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295BAA"/>
                </a:solidFill>
                <a:latin typeface="Microsoft JhengHei"/>
              </a:rPr>
              <a:t>PROJECT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72768" y="1572768"/>
            <a:ext cx="1005840" cy="292608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2768" y="1581912"/>
            <a:ext cx="10058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295BAA"/>
                </a:solidFill>
                <a:latin typeface="Microsoft JhengHei"/>
              </a:rPr>
              <a:t>CHATBOT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11680"/>
            <a:ext cx="306324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011680"/>
            <a:ext cx="54864" cy="3127248"/>
          </a:xfrm>
          <a:prstGeom prst="rect">
            <a:avLst/>
          </a:prstGeom>
          <a:solidFill>
            <a:srgbClr val="C25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157984"/>
            <a:ext cx="275234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22262D"/>
                </a:solidFill>
                <a:latin typeface="Microsoft JhengHei"/>
              </a:rPr>
              <a:t>需求與解法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496312"/>
            <a:ext cx="2752344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C25447"/>
                </a:solidFill>
                <a:latin typeface="Microsoft JhengHei"/>
              </a:rPr>
              <a:t>降低重複處理，保留人工 escalation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807208"/>
            <a:ext cx="2752344" cy="220370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330">
                <a:solidFill>
                  <a:srgbClr val="606874"/>
                </a:solidFill>
                <a:latin typeface="Microsoft JhengHei"/>
              </a:defRPr>
            </a:pPr>
            <a:r>
              <a:t>MES 值班人員經常接到重複性 on-call。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330">
                <a:solidFill>
                  <a:srgbClr val="606874"/>
                </a:solidFill>
                <a:latin typeface="Microsoft JhengHei"/>
              </a:defRPr>
            </a:pPr>
            <a:r>
              <a:t>將文件與常見處理經驗建立知識庫。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330">
                <a:solidFill>
                  <a:srgbClr val="606874"/>
                </a:solidFill>
                <a:latin typeface="Microsoft JhengHei"/>
              </a:defRPr>
            </a:pPr>
            <a:r>
              <a:t>以 RAG + LLMs 先回覆標準問題；低信心或例外情境再轉人工。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50208" y="2011680"/>
            <a:ext cx="7571231" cy="3127248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24528" y="2221992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22262D"/>
                </a:solidFill>
                <a:latin typeface="Microsoft JhengHei"/>
              </a:rPr>
              <a:t>問答流程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4" y="2926080"/>
            <a:ext cx="1444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61104" y="3090672"/>
            <a:ext cx="1444752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4E89D6"/>
                </a:solidFill>
                <a:latin typeface="Microsoft JhengHei"/>
              </a:rPr>
              <a:t>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429000"/>
            <a:ext cx="1316736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0">
                <a:solidFill>
                  <a:srgbClr val="606874"/>
                </a:solidFill>
                <a:latin typeface="Microsoft JhengHei"/>
              </a:rPr>
              <a:t>文字／圖片／語音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926080"/>
            <a:ext cx="1444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9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3090672"/>
            <a:ext cx="1444752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39959F"/>
                </a:solidFill>
                <a:latin typeface="Microsoft JhengHei"/>
              </a:rPr>
              <a:t>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3429000"/>
            <a:ext cx="1316736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0">
                <a:solidFill>
                  <a:srgbClr val="606874"/>
                </a:solidFill>
                <a:latin typeface="Microsoft JhengHei"/>
              </a:rPr>
              <a:t>知識檢索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2926080"/>
            <a:ext cx="1444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6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91856" y="3090672"/>
            <a:ext cx="1444752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7460C2"/>
                </a:solidFill>
                <a:latin typeface="Microsoft JhengHei"/>
              </a:rPr>
              <a:t>LLMs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3429000"/>
            <a:ext cx="1316736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0">
                <a:solidFill>
                  <a:srgbClr val="606874"/>
                </a:solidFill>
                <a:latin typeface="Microsoft JhengHei"/>
              </a:rPr>
              <a:t>理解與生成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57232" y="2926080"/>
            <a:ext cx="1316736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9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57232" y="3090672"/>
            <a:ext cx="1316736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559959"/>
                </a:solidFill>
                <a:latin typeface="Microsoft JhengHei"/>
              </a:rPr>
              <a:t>回答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429000"/>
            <a:ext cx="118871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0">
                <a:solidFill>
                  <a:srgbClr val="606874"/>
                </a:solidFill>
                <a:latin typeface="Microsoft JhengHei"/>
              </a:rPr>
              <a:t>回覆使用者</a:t>
            </a:r>
          </a:p>
        </p:txBody>
      </p:sp>
      <p:sp>
        <p:nvSpPr>
          <p:cNvPr id="28" name="Chevron 27"/>
          <p:cNvSpPr/>
          <p:nvPr/>
        </p:nvSpPr>
        <p:spPr>
          <a:xfrm>
            <a:off x="5742432" y="3255264"/>
            <a:ext cx="274320" cy="329184"/>
          </a:xfrm>
          <a:prstGeom prst="chevron">
            <a:avLst/>
          </a:prstGeom>
          <a:solidFill>
            <a:srgbClr val="AA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hevron 28"/>
          <p:cNvSpPr/>
          <p:nvPr/>
        </p:nvSpPr>
        <p:spPr>
          <a:xfrm>
            <a:off x="7607808" y="3255264"/>
            <a:ext cx="274320" cy="329184"/>
          </a:xfrm>
          <a:prstGeom prst="chevron">
            <a:avLst/>
          </a:prstGeom>
          <a:solidFill>
            <a:srgbClr val="AA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hevron 29"/>
          <p:cNvSpPr/>
          <p:nvPr/>
        </p:nvSpPr>
        <p:spPr>
          <a:xfrm>
            <a:off x="9473184" y="3255264"/>
            <a:ext cx="274320" cy="329184"/>
          </a:xfrm>
          <a:prstGeom prst="chevron">
            <a:avLst/>
          </a:prstGeom>
          <a:solidFill>
            <a:srgbClr val="AA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4370832"/>
            <a:ext cx="26060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1">
                <a:solidFill>
                  <a:srgbClr val="C25447"/>
                </a:solidFill>
                <a:latin typeface="Microsoft JhengHei"/>
              </a:rPr>
              <a:t>無法判斷／例外情境</a:t>
            </a:r>
          </a:p>
        </p:txBody>
      </p:sp>
      <p:sp>
        <p:nvSpPr>
          <p:cNvPr id="32" name="Chevron 31"/>
          <p:cNvSpPr/>
          <p:nvPr/>
        </p:nvSpPr>
        <p:spPr>
          <a:xfrm>
            <a:off x="9299448" y="4306824"/>
            <a:ext cx="274320" cy="329184"/>
          </a:xfrm>
          <a:prstGeom prst="chevron">
            <a:avLst/>
          </a:prstGeom>
          <a:solidFill>
            <a:srgbClr val="C25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646920" y="4169663"/>
            <a:ext cx="1527048" cy="694944"/>
          </a:xfrm>
          <a:prstGeom prst="roundRect">
            <a:avLst/>
          </a:prstGeom>
          <a:solidFill>
            <a:srgbClr val="FFF7F6"/>
          </a:solidFill>
          <a:ln w="12700">
            <a:solidFill>
              <a:srgbClr val="C25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46920" y="4315968"/>
            <a:ext cx="152704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C25447"/>
                </a:solidFill>
                <a:latin typeface="Microsoft JhengHei"/>
              </a:rPr>
              <a:t>MES 值班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394960"/>
            <a:ext cx="10863072" cy="694944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7824" y="5532120"/>
            <a:ext cx="100584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>
                <a:solidFill>
                  <a:srgbClr val="295BAA"/>
                </a:solidFill>
                <a:latin typeface="Microsoft JhengHei"/>
              </a:rPr>
              <a:t>專案價值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5522976"/>
            <a:ext cx="9235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20" b="1">
                <a:solidFill>
                  <a:srgbClr val="22262D"/>
                </a:solidFill>
                <a:latin typeface="Microsoft JhengHei"/>
              </a:rPr>
              <a:t>先由機器人處理可標準化問題，降低值班負擔，同時保留人工接手機制。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10528"/>
            <a:ext cx="32004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>
                <a:solidFill>
                  <a:srgbClr val="A0A6AF"/>
                </a:solidFill>
                <a:latin typeface="Microsoft JhengHei"/>
              </a:rPr>
              <a:t>AI × SYSTEM × CLOUD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45952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0">
                <a:solidFill>
                  <a:srgbClr val="969CA5"/>
                </a:solidFill>
                <a:latin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9184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295BAA"/>
                </a:solidFill>
                <a:latin typeface="Microsoft JhengHei"/>
              </a:rPr>
              <a:t>PROJECT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50" b="1">
                <a:solidFill>
                  <a:srgbClr val="22262D"/>
                </a:solidFill>
                <a:latin typeface="Microsoft JhengHei"/>
              </a:rPr>
              <a:t>05｜DevOps 與平台建置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606874"/>
                </a:solidFill>
                <a:latin typeface="Microsoft JhengHei"/>
              </a:rPr>
              <a:t>從程式碼品質、部署、監控到 MLOps，串起 GitLab CI/CD 與平台可觀測性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841248" cy="292608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84124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295BAA"/>
                </a:solidFill>
                <a:latin typeface="Microsoft JhengHei"/>
              </a:rPr>
              <a:t>PROJECT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72768" y="1572768"/>
            <a:ext cx="1005840" cy="292608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2768" y="1581912"/>
            <a:ext cx="10058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295BAA"/>
                </a:solidFill>
                <a:latin typeface="Microsoft JhengHei"/>
              </a:rPr>
              <a:t>DEVOPS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84831"/>
            <a:ext cx="257860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9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59" y="2249424"/>
            <a:ext cx="749808" cy="292608"/>
          </a:xfrm>
          <a:prstGeom prst="roundRect">
            <a:avLst/>
          </a:prstGeom>
          <a:solidFill>
            <a:srgbClr val="295BAA"/>
          </a:solidFill>
          <a:ln w="12700">
            <a:solidFill>
              <a:srgbClr val="29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258568"/>
            <a:ext cx="74980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</a:rPr>
              <a:t>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79191"/>
            <a:ext cx="2249424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30" b="1">
                <a:solidFill>
                  <a:srgbClr val="22262D"/>
                </a:solidFill>
                <a:latin typeface="Microsoft JhengHei"/>
              </a:rPr>
              <a:t>SonarQube × GitLab 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310128"/>
            <a:ext cx="2231136" cy="7772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80">
                <a:solidFill>
                  <a:srgbClr val="606874"/>
                </a:solidFill>
                <a:latin typeface="Microsoft JhengHei"/>
              </a:defRPr>
            </a:pPr>
            <a:r>
              <a:t>程式碼掃描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80">
                <a:solidFill>
                  <a:srgbClr val="606874"/>
                </a:solidFill>
                <a:latin typeface="Microsoft JhengHei"/>
              </a:defRPr>
            </a:pPr>
            <a:r>
              <a:t>品質檢查與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2084831"/>
            <a:ext cx="257860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9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66160" y="2249424"/>
            <a:ext cx="749808" cy="292608"/>
          </a:xfrm>
          <a:prstGeom prst="roundRect">
            <a:avLst/>
          </a:prstGeom>
          <a:solidFill>
            <a:srgbClr val="559959"/>
          </a:solidFill>
          <a:ln w="12700">
            <a:solidFill>
              <a:srgbClr val="559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2258568"/>
            <a:ext cx="74980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</a:rPr>
              <a:t>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679191"/>
            <a:ext cx="2249424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30" b="1">
                <a:solidFill>
                  <a:srgbClr val="22262D"/>
                </a:solidFill>
                <a:latin typeface="Microsoft JhengHei"/>
              </a:rPr>
              <a:t>Ansible × GitLab 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10128"/>
            <a:ext cx="2231136" cy="7772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80">
                <a:solidFill>
                  <a:srgbClr val="606874"/>
                </a:solidFill>
                <a:latin typeface="Microsoft JhengHei"/>
              </a:defRPr>
            </a:pPr>
            <a:r>
              <a:t>自動化部署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80">
                <a:solidFill>
                  <a:srgbClr val="606874"/>
                </a:solidFill>
                <a:latin typeface="Microsoft JhengHei"/>
              </a:defRPr>
            </a:pPr>
            <a:r>
              <a:t>環境設定與交付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084831"/>
            <a:ext cx="257860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9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09359" y="2249424"/>
            <a:ext cx="749808" cy="292608"/>
          </a:xfrm>
          <a:prstGeom prst="roundRect">
            <a:avLst/>
          </a:prstGeom>
          <a:solidFill>
            <a:srgbClr val="E19135"/>
          </a:solidFill>
          <a:ln w="12700">
            <a:solidFill>
              <a:srgbClr val="E19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59" y="2258568"/>
            <a:ext cx="74980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</a:rPr>
              <a:t>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679191"/>
            <a:ext cx="2249424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30" b="1">
                <a:solidFill>
                  <a:srgbClr val="22262D"/>
                </a:solidFill>
                <a:latin typeface="Microsoft JhengHei"/>
              </a:rPr>
              <a:t>Prometheus / EFK / Thanos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310128"/>
            <a:ext cx="2231136" cy="7772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80">
                <a:solidFill>
                  <a:srgbClr val="606874"/>
                </a:solidFill>
                <a:latin typeface="Microsoft JhengHei"/>
              </a:defRPr>
            </a:pPr>
            <a:r>
              <a:t>指標 + 日誌收集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80">
                <a:solidFill>
                  <a:srgbClr val="606874"/>
                </a:solidFill>
                <a:latin typeface="Microsoft JhengHei"/>
              </a:defRPr>
            </a:pPr>
            <a:r>
              <a:t>Grafana 戰情室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2084831"/>
            <a:ext cx="257860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6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052560" y="2249424"/>
            <a:ext cx="749808" cy="292608"/>
          </a:xfrm>
          <a:prstGeom prst="roundRect">
            <a:avLst/>
          </a:prstGeom>
          <a:solidFill>
            <a:srgbClr val="7460C2"/>
          </a:solidFill>
          <a:ln w="12700">
            <a:solidFill>
              <a:srgbClr val="746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52560" y="2258568"/>
            <a:ext cx="74980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JhengHei"/>
              </a:rPr>
              <a:t>MLOps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679191"/>
            <a:ext cx="2249424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30" b="1">
                <a:solidFill>
                  <a:srgbClr val="22262D"/>
                </a:solidFill>
                <a:latin typeface="Microsoft JhengHei"/>
              </a:rPr>
              <a:t>MLflow × DVC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310128"/>
            <a:ext cx="2231136" cy="7772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280">
                <a:solidFill>
                  <a:srgbClr val="606874"/>
                </a:solidFill>
                <a:latin typeface="Microsoft JhengHei"/>
              </a:defRPr>
            </a:pPr>
            <a:r>
              <a:t>模型監控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280">
                <a:solidFill>
                  <a:srgbClr val="606874"/>
                </a:solidFill>
                <a:latin typeface="Microsoft JhengHei"/>
              </a:defRPr>
            </a:pPr>
            <a:r>
              <a:t>資料版本管理</a:t>
            </a:r>
          </a:p>
        </p:txBody>
      </p:sp>
      <p:sp>
        <p:nvSpPr>
          <p:cNvPr id="29" name="Chevron 28"/>
          <p:cNvSpPr/>
          <p:nvPr/>
        </p:nvSpPr>
        <p:spPr>
          <a:xfrm>
            <a:off x="3246120" y="3044952"/>
            <a:ext cx="146304" cy="347472"/>
          </a:xfrm>
          <a:prstGeom prst="chevron">
            <a:avLst/>
          </a:prstGeom>
          <a:solidFill>
            <a:srgbClr val="AA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hevron 29"/>
          <p:cNvSpPr/>
          <p:nvPr/>
        </p:nvSpPr>
        <p:spPr>
          <a:xfrm>
            <a:off x="5989320" y="3044952"/>
            <a:ext cx="146304" cy="347472"/>
          </a:xfrm>
          <a:prstGeom prst="chevron">
            <a:avLst/>
          </a:prstGeom>
          <a:solidFill>
            <a:srgbClr val="AA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hevron 30"/>
          <p:cNvSpPr/>
          <p:nvPr/>
        </p:nvSpPr>
        <p:spPr>
          <a:xfrm>
            <a:off x="8732520" y="3044952"/>
            <a:ext cx="146304" cy="347472"/>
          </a:xfrm>
          <a:prstGeom prst="chevron">
            <a:avLst/>
          </a:prstGeom>
          <a:solidFill>
            <a:srgbClr val="AA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291072" y="3767328"/>
            <a:ext cx="2267712" cy="384048"/>
          </a:xfrm>
          <a:prstGeom prst="roundRect">
            <a:avLst/>
          </a:prstGeom>
          <a:solidFill>
            <a:srgbClr val="FFF8EE"/>
          </a:solidFill>
          <a:ln w="12700">
            <a:solidFill>
              <a:srgbClr val="FFF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36792" y="3831336"/>
            <a:ext cx="216712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30" b="1">
                <a:solidFill>
                  <a:srgbClr val="E19135"/>
                </a:solidFill>
                <a:latin typeface="Microsoft JhengHei"/>
              </a:rPr>
              <a:t>Host → Prom/EFK → Thanos → Grafana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681728"/>
            <a:ext cx="10863072" cy="1133856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4882896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295BAA"/>
                </a:solidFill>
                <a:latin typeface="Microsoft JhengHei"/>
              </a:rPr>
              <a:t>平台導入 / 延伸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4846320"/>
            <a:ext cx="38404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>
                <a:solidFill>
                  <a:srgbClr val="22262D"/>
                </a:solidFill>
                <a:latin typeface="Microsoft JhengHei"/>
              </a:rPr>
              <a:t>智能排程應用課：CI/CD Pipeline 設計
Grafana 硬體資源監控儀表板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4846320"/>
            <a:ext cx="393192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>
                <a:solidFill>
                  <a:srgbClr val="22262D"/>
                </a:solidFill>
                <a:latin typeface="Microsoft JhengHei"/>
              </a:rPr>
              <a:t>VictoriaMetrics Cluster
作為監控平台擴充與長期維運方案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39712" y="4855464"/>
            <a:ext cx="9144" cy="694944"/>
          </a:xfrm>
          <a:prstGeom prst="rect">
            <a:avLst/>
          </a:prstGeom>
          <a:solidFill>
            <a:srgbClr val="D6D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6510528"/>
            <a:ext cx="32004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>
                <a:solidFill>
                  <a:srgbClr val="A0A6AF"/>
                </a:solidFill>
                <a:latin typeface="Microsoft JhengHei"/>
              </a:rPr>
              <a:t>AI × SYSTEM × CLOUD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45952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0">
                <a:solidFill>
                  <a:srgbClr val="969CA5"/>
                </a:solidFill>
                <a:latin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9184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295BAA"/>
                </a:solidFill>
                <a:latin typeface="Microsoft JhengHei"/>
              </a:rPr>
              <a:t>PROJECT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50" b="1">
                <a:solidFill>
                  <a:srgbClr val="22262D"/>
                </a:solidFill>
                <a:latin typeface="Microsoft JhengHei"/>
              </a:rPr>
              <a:t>06｜新技術調研－RPA 工具與 GUI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606874"/>
                </a:solidFill>
                <a:latin typeface="Microsoft JhengHei"/>
              </a:rPr>
              <a:t>從腳本式自動化、流程式 RPA 到 GUI Agent，評估企業桌面自動化的適用場景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841248" cy="292608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84124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295BAA"/>
                </a:solidFill>
                <a:latin typeface="Microsoft JhengHei"/>
              </a:rPr>
              <a:t>PROJECT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72768" y="1572768"/>
            <a:ext cx="1645919" cy="292608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2768" y="1581912"/>
            <a:ext cx="1645919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295BAA"/>
                </a:solidFill>
                <a:latin typeface="Microsoft JhengHei"/>
              </a:rPr>
              <a:t>RPA / GUI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84831"/>
            <a:ext cx="31089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5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59" y="2267712"/>
            <a:ext cx="310896" cy="310896"/>
          </a:xfrm>
          <a:prstGeom prst="ellipse">
            <a:avLst/>
          </a:prstGeom>
          <a:solidFill>
            <a:srgbClr val="C25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2212848"/>
            <a:ext cx="22677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22262D"/>
                </a:solidFill>
                <a:latin typeface="Microsoft JhengHei"/>
              </a:rPr>
              <a:t>AutoHotKey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706624"/>
            <a:ext cx="26517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20" b="1">
                <a:solidFill>
                  <a:srgbClr val="C25447"/>
                </a:solidFill>
                <a:latin typeface="Microsoft JhengHei"/>
              </a:rPr>
              <a:t>腳本式自動化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127248"/>
            <a:ext cx="2688336" cy="1554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300">
                <a:solidFill>
                  <a:srgbClr val="606874"/>
                </a:solidFill>
                <a:latin typeface="Microsoft JhengHei"/>
              </a:defRPr>
            </a:pPr>
            <a:r>
              <a:t>鍵盤、滑鼠、熱鍵操作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300">
                <a:solidFill>
                  <a:srgbClr val="606874"/>
                </a:solidFill>
                <a:latin typeface="Microsoft JhengHei"/>
              </a:defRPr>
            </a:pPr>
            <a:r>
              <a:t>輕量、快速導入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300">
                <a:solidFill>
                  <a:srgbClr val="606874"/>
                </a:solidFill>
                <a:latin typeface="Microsoft JhengHei"/>
              </a:defRPr>
            </a:pPr>
            <a:r>
              <a:t>適合固定且規則明確的桌面流程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50208" y="2084831"/>
            <a:ext cx="31089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9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114800" y="2267712"/>
            <a:ext cx="310896" cy="310896"/>
          </a:xfrm>
          <a:prstGeom prst="ellipse">
            <a:avLst/>
          </a:prstGeom>
          <a:solidFill>
            <a:srgbClr val="29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2212848"/>
            <a:ext cx="22677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22262D"/>
                </a:solidFill>
                <a:latin typeface="Microsoft JhengHei"/>
              </a:rPr>
              <a:t>OpenRPA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8" y="2706624"/>
            <a:ext cx="26517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20" b="1">
                <a:solidFill>
                  <a:srgbClr val="295BAA"/>
                </a:solidFill>
                <a:latin typeface="Microsoft JhengHei"/>
              </a:rPr>
              <a:t>流程式 RPA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8" y="3127248"/>
            <a:ext cx="2688336" cy="1554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300">
                <a:solidFill>
                  <a:srgbClr val="606874"/>
                </a:solidFill>
                <a:latin typeface="Microsoft JhengHei"/>
              </a:defRPr>
            </a:pPr>
            <a:r>
              <a:t>以流程元件編排任務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300">
                <a:solidFill>
                  <a:srgbClr val="606874"/>
                </a:solidFill>
                <a:latin typeface="Microsoft JhengHei"/>
              </a:defRPr>
            </a:pPr>
            <a:r>
              <a:t>較容易視覺化維護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300">
                <a:solidFill>
                  <a:srgbClr val="606874"/>
                </a:solidFill>
                <a:latin typeface="Microsoft JhengHei"/>
              </a:defRPr>
            </a:pPr>
            <a:r>
              <a:t>適合多步驟、可標準化的流程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2084831"/>
            <a:ext cx="31089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6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06640" y="2267712"/>
            <a:ext cx="310896" cy="310896"/>
          </a:xfrm>
          <a:prstGeom prst="ellipse">
            <a:avLst/>
          </a:prstGeom>
          <a:solidFill>
            <a:srgbClr val="746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45552" y="2212848"/>
            <a:ext cx="22677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22262D"/>
                </a:solidFill>
                <a:latin typeface="Microsoft JhengHei"/>
              </a:rPr>
              <a:t>UFO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2706624"/>
            <a:ext cx="26517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20" b="1">
                <a:solidFill>
                  <a:srgbClr val="7460C2"/>
                </a:solidFill>
                <a:latin typeface="Microsoft JhengHei"/>
              </a:rPr>
              <a:t>GUI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3127248"/>
            <a:ext cx="2688336" cy="1554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300">
                <a:solidFill>
                  <a:srgbClr val="606874"/>
                </a:solidFill>
                <a:latin typeface="Microsoft JhengHei"/>
              </a:defRPr>
            </a:pPr>
            <a:r>
              <a:t>LLM 理解操作目標與畫面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300">
                <a:solidFill>
                  <a:srgbClr val="606874"/>
                </a:solidFill>
                <a:latin typeface="Microsoft JhengHei"/>
              </a:defRPr>
            </a:pPr>
            <a:r>
              <a:t>探索跨應用 GUI 任務執行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300">
                <a:solidFill>
                  <a:srgbClr val="606874"/>
                </a:solidFill>
                <a:latin typeface="Microsoft JhengHei"/>
              </a:defRPr>
            </a:pPr>
            <a:r>
              <a:t>重點評估穩定性、容錯與部署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266944"/>
            <a:ext cx="9692640" cy="566928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422392"/>
            <a:ext cx="9875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295BAA"/>
                </a:solidFill>
                <a:latin typeface="Microsoft JhengHei"/>
              </a:rPr>
              <a:t>工具定位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1952" y="5422392"/>
            <a:ext cx="8101583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50" b="1">
                <a:solidFill>
                  <a:srgbClr val="22262D"/>
                </a:solidFill>
                <a:latin typeface="Microsoft JhengHei"/>
              </a:rPr>
              <a:t>Script Automation  →  RPA Workflow  →  GUI 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97312" y="5394960"/>
            <a:ext cx="1024128" cy="292608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97312" y="5404104"/>
            <a:ext cx="102412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295BAA"/>
                </a:solidFill>
                <a:latin typeface="Microsoft JhengHei"/>
              </a:rPr>
              <a:t>PoC / 評估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32004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>
                <a:solidFill>
                  <a:srgbClr val="A0A6AF"/>
                </a:solidFill>
                <a:latin typeface="Microsoft JhengHei"/>
              </a:rPr>
              <a:t>AI × SYSTEM × 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5952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0">
                <a:solidFill>
                  <a:srgbClr val="969CA5"/>
                </a:solidFill>
                <a:latin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9184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>
                <a:solidFill>
                  <a:srgbClr val="295BAA"/>
                </a:solidFill>
                <a:latin typeface="Microsoft JhengHei"/>
              </a:rPr>
              <a:t>PROJECT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50" b="1">
                <a:solidFill>
                  <a:srgbClr val="22262D"/>
                </a:solidFill>
                <a:latin typeface="Microsoft JhengHei"/>
              </a:rPr>
              <a:t>07｜新技術調研－工作流程管理工具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>
                <a:solidFill>
                  <a:srgbClr val="606874"/>
                </a:solidFill>
                <a:latin typeface="Microsoft JhengHei"/>
              </a:rPr>
              <a:t>以低程式碼 Workflow Automation 串接系統、API、資料與 AI 服務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841248" cy="292608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84124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295BAA"/>
                </a:solidFill>
                <a:latin typeface="Microsoft JhengHei"/>
              </a:rPr>
              <a:t>PROJECT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72768" y="1572768"/>
            <a:ext cx="1005840" cy="292608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2768" y="1581912"/>
            <a:ext cx="10058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295BAA"/>
                </a:solidFill>
                <a:latin typeface="Microsoft JhengHei"/>
              </a:rPr>
              <a:t>N8N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66543"/>
            <a:ext cx="10863072" cy="309067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267712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50" b="1">
                <a:solidFill>
                  <a:srgbClr val="22262D"/>
                </a:solidFill>
                <a:latin typeface="Microsoft JhengHei"/>
              </a:rPr>
              <a:t>Workflow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80360"/>
            <a:ext cx="1993392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5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090672"/>
            <a:ext cx="181051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C25447"/>
                </a:solidFill>
                <a:latin typeface="Microsoft JhengHe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493008"/>
            <a:ext cx="1773936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0">
                <a:solidFill>
                  <a:srgbClr val="606874"/>
                </a:solidFill>
                <a:latin typeface="Microsoft JhengHei"/>
              </a:rPr>
              <a:t>Webhook
Schedule
Event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880360"/>
            <a:ext cx="1993392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9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3090672"/>
            <a:ext cx="181051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295BAA"/>
                </a:solidFill>
                <a:latin typeface="Microsoft JhengHei"/>
              </a:rPr>
              <a:t>n8n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493008"/>
            <a:ext cx="1773936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0">
                <a:solidFill>
                  <a:srgbClr val="606874"/>
                </a:solidFill>
                <a:latin typeface="Microsoft JhengHei"/>
              </a:rPr>
              <a:t>條件判斷
資料轉換
流程編排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62472" y="2880360"/>
            <a:ext cx="1993392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9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3912" y="3090672"/>
            <a:ext cx="181051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39959F"/>
                </a:solidFill>
                <a:latin typeface="Microsoft JhengHei"/>
              </a:rPr>
              <a:t>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493008"/>
            <a:ext cx="1773936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0">
                <a:solidFill>
                  <a:srgbClr val="606874"/>
                </a:solidFill>
                <a:latin typeface="Microsoft JhengHei"/>
              </a:rPr>
              <a:t>API / DB / File
Mail /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880360"/>
            <a:ext cx="1993392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6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0" y="3090672"/>
            <a:ext cx="181051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7460C2"/>
                </a:solidFill>
                <a:latin typeface="Microsoft JhengHei"/>
              </a:rPr>
              <a:t>Action /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3493008"/>
            <a:ext cx="1773936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80" b="0">
                <a:solidFill>
                  <a:srgbClr val="606874"/>
                </a:solidFill>
                <a:latin typeface="Microsoft JhengHei"/>
              </a:rPr>
              <a:t>通知 / 寫回
LLM / RAG / Agent</a:t>
            </a:r>
          </a:p>
        </p:txBody>
      </p:sp>
      <p:sp>
        <p:nvSpPr>
          <p:cNvPr id="23" name="Chevron 22"/>
          <p:cNvSpPr/>
          <p:nvPr/>
        </p:nvSpPr>
        <p:spPr>
          <a:xfrm>
            <a:off x="3017520" y="3456432"/>
            <a:ext cx="201168" cy="365760"/>
          </a:xfrm>
          <a:prstGeom prst="chevron">
            <a:avLst/>
          </a:prstGeom>
          <a:solidFill>
            <a:srgbClr val="AA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hevron 23"/>
          <p:cNvSpPr/>
          <p:nvPr/>
        </p:nvSpPr>
        <p:spPr>
          <a:xfrm>
            <a:off x="5715000" y="3456432"/>
            <a:ext cx="201168" cy="365760"/>
          </a:xfrm>
          <a:prstGeom prst="chevron">
            <a:avLst/>
          </a:prstGeom>
          <a:solidFill>
            <a:srgbClr val="AA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hevron 24"/>
          <p:cNvSpPr/>
          <p:nvPr/>
        </p:nvSpPr>
        <p:spPr>
          <a:xfrm>
            <a:off x="8357616" y="3456432"/>
            <a:ext cx="201168" cy="365760"/>
          </a:xfrm>
          <a:prstGeom prst="chevron">
            <a:avLst/>
          </a:prstGeom>
          <a:solidFill>
            <a:srgbClr val="AA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" y="5413248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>
                <a:solidFill>
                  <a:srgbClr val="295BAA"/>
                </a:solidFill>
                <a:latin typeface="Microsoft JhengHei"/>
              </a:rPr>
              <a:t>調研重點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83080" y="5358384"/>
            <a:ext cx="1280160" cy="292608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83080" y="5367528"/>
            <a:ext cx="128016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60" b="1">
                <a:solidFill>
                  <a:srgbClr val="295BAA"/>
                </a:solidFill>
                <a:latin typeface="Microsoft JhengHei"/>
              </a:rPr>
              <a:t>流程編排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82112" y="5358384"/>
            <a:ext cx="1691640" cy="292608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82112" y="5367528"/>
            <a:ext cx="1691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60" b="1">
                <a:solidFill>
                  <a:srgbClr val="295BAA"/>
                </a:solidFill>
                <a:latin typeface="Microsoft JhengHei"/>
              </a:rPr>
              <a:t>API / Webhook 整合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10912" y="5358384"/>
            <a:ext cx="1600200" cy="292608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10912" y="5367528"/>
            <a:ext cx="160020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60" b="1">
                <a:solidFill>
                  <a:srgbClr val="295BAA"/>
                </a:solidFill>
                <a:latin typeface="Microsoft JhengHei"/>
              </a:rPr>
              <a:t>部署與權限管理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39128" y="5358384"/>
            <a:ext cx="1508760" cy="292608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39128" y="5367528"/>
            <a:ext cx="150876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60" b="1">
                <a:solidFill>
                  <a:srgbClr val="295BAA"/>
                </a:solidFill>
                <a:latin typeface="Microsoft JhengHei"/>
              </a:rPr>
              <a:t>AI Workflow 擴充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75904" y="5358384"/>
            <a:ext cx="1691640" cy="292608"/>
          </a:xfrm>
          <a:prstGeom prst="roundRect">
            <a:avLst/>
          </a:prstGeom>
          <a:solidFill>
            <a:srgbClr val="EEF4FC"/>
          </a:solidFill>
          <a:ln w="12700"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75904" y="5367528"/>
            <a:ext cx="1691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60" b="1">
                <a:solidFill>
                  <a:srgbClr val="295BAA"/>
                </a:solidFill>
                <a:latin typeface="Microsoft JhengHei"/>
              </a:rPr>
              <a:t>企業內部系統串接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25312"/>
            <a:ext cx="102412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>
                <a:solidFill>
                  <a:srgbClr val="22262D"/>
                </a:solidFill>
                <a:latin typeface="Microsoft JhengHei"/>
              </a:rPr>
              <a:t>定位：作為低程式碼整合平台候選方案，降低跨系統流程串接門檻並提升自動化彈性。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10528"/>
            <a:ext cx="32004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>
                <a:solidFill>
                  <a:srgbClr val="A0A6AF"/>
                </a:solidFill>
                <a:latin typeface="Microsoft JhengHei"/>
              </a:rPr>
              <a:t>AI × SYSTEM × CLOUD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45952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0">
                <a:solidFill>
                  <a:srgbClr val="969CA5"/>
                </a:solidFill>
                <a:latin typeface="Microsoft JhengHe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</a:majorFont>
      <a:minorFont>
        <a:latin typeface="Noto Sans CJK TC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1271</Words>
  <Application>Microsoft Office PowerPoint</Application>
  <PresentationFormat>寬螢幕</PresentationFormat>
  <Paragraphs>288</Paragraphs>
  <Slides>11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0" baseType="lpstr">
      <vt:lpstr>微软雅黑</vt:lpstr>
      <vt:lpstr>Noto Sans CJK TC</vt:lpstr>
      <vt:lpstr>方正兰亭黑简体</vt:lpstr>
      <vt:lpstr>Microsoft JhengHei</vt:lpstr>
      <vt:lpstr>Arial</vt:lpstr>
      <vt:lpstr>Symbol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韻文 曾</cp:lastModifiedBy>
  <cp:revision>6</cp:revision>
  <dcterms:modified xsi:type="dcterms:W3CDTF">2026-08-24T13:22:33Z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2026-08-24T12:01:29Z</dcterms:created>
  <dc:creator>OpenAI</dc:creator>
  <dc:description/>
  <dc:language>en-US</dc:language>
  <cp:lastModifiedBy>OpenAI</cp:lastModifiedBy>
  <dcterms:modified xsi:type="dcterms:W3CDTF">2026-08-24T12:01:29Z</dcterms:modified>
  <cp:revision>1</cp:revision>
  <dc:subject>自我介紹簡報優化版</dc:subject>
  <dc:title>曾韻文｜AI × 系統開發 × 雲端應用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</vt:r8>
  </property>
  <property fmtid="{D5CDD505-2E9C-101B-9397-08002B2CF9AE}" pid="3" name="PresentationFormat">
    <vt:lpwstr>On-screen Show (16:9)</vt:lpwstr>
  </property>
  <property fmtid="{D5CDD505-2E9C-101B-9397-08002B2CF9AE}" pid="4" name="Slides">
    <vt:r8>5</vt:r8>
  </property>
</Properties>
</file>
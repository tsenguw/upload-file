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97" r:id="rId2"/>
    <p:sldId id="404" r:id="rId3"/>
    <p:sldId id="412" r:id="rId4"/>
    <p:sldId id="410" r:id="rId5"/>
    <p:sldId id="409" r:id="rId6"/>
    <p:sldId id="411" r:id="rId7"/>
    <p:sldId id="414" r:id="rId8"/>
  </p:sldIdLst>
  <p:sldSz cx="12195175"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4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3F5"/>
    <a:srgbClr val="337BB6"/>
    <a:srgbClr val="5B5E77"/>
    <a:srgbClr val="414455"/>
    <a:srgbClr val="202A36"/>
    <a:srgbClr val="4C4F64"/>
    <a:srgbClr val="C00000"/>
    <a:srgbClr val="A6A6A6"/>
    <a:srgbClr val="E20000"/>
    <a:srgbClr val="14B2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68" autoAdjust="0"/>
    <p:restoredTop sz="92503" autoAdjust="0"/>
  </p:normalViewPr>
  <p:slideViewPr>
    <p:cSldViewPr showGuides="1">
      <p:cViewPr varScale="1">
        <p:scale>
          <a:sx n="81" d="100"/>
          <a:sy n="81" d="100"/>
        </p:scale>
        <p:origin x="555" y="57"/>
      </p:cViewPr>
      <p:guideLst>
        <p:guide orient="horz"/>
        <p:guide pos="439"/>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6FEB9A-23AB-4D00-A72E-AD507B0F1653}" type="datetimeFigureOut">
              <a:rPr lang="zh-CN" altLang="en-US" smtClean="0"/>
              <a:t>2026/8/24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E6CF1A-E888-4A07-B96A-456D0CF69483}" type="slidenum">
              <a:rPr lang="zh-CN" altLang="en-US" smtClean="0"/>
              <a:t>‹#›</a:t>
            </a:fld>
            <a:endParaRPr lang="zh-CN" altLang="en-US"/>
          </a:p>
        </p:txBody>
      </p:sp>
    </p:spTree>
    <p:extLst>
      <p:ext uri="{BB962C8B-B14F-4D97-AF65-F5344CB8AC3E}">
        <p14:creationId xmlns:p14="http://schemas.microsoft.com/office/powerpoint/2010/main" val="269886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6CF1A-E888-4A07-B96A-456D0CF69483}" type="slidenum">
              <a:rPr lang="zh-CN" altLang="en-US" smtClean="0"/>
              <a:t>1</a:t>
            </a:fld>
            <a:endParaRPr lang="zh-CN" altLang="en-US"/>
          </a:p>
        </p:txBody>
      </p:sp>
    </p:spTree>
    <p:extLst>
      <p:ext uri="{BB962C8B-B14F-4D97-AF65-F5344CB8AC3E}">
        <p14:creationId xmlns:p14="http://schemas.microsoft.com/office/powerpoint/2010/main" val="1032921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6CF1A-E888-4A07-B96A-456D0CF69483}" type="slidenum">
              <a:rPr lang="zh-CN" altLang="en-US" smtClean="0"/>
              <a:t>2</a:t>
            </a:fld>
            <a:endParaRPr lang="zh-CN" altLang="en-US"/>
          </a:p>
        </p:txBody>
      </p:sp>
    </p:spTree>
    <p:extLst>
      <p:ext uri="{BB962C8B-B14F-4D97-AF65-F5344CB8AC3E}">
        <p14:creationId xmlns:p14="http://schemas.microsoft.com/office/powerpoint/2010/main" val="91318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7C41-2222-2F00-CB10-632832A24C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9BB9E2-E80A-9DC7-A45A-DA88A8F879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E7D04B-0013-717D-FF8B-CE367FBF93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BE2A44-FC04-2E30-B72E-EB71C1721777}"/>
              </a:ext>
            </a:extLst>
          </p:cNvPr>
          <p:cNvSpPr>
            <a:spLocks noGrp="1"/>
          </p:cNvSpPr>
          <p:nvPr>
            <p:ph type="sldNum" sz="quarter" idx="10"/>
          </p:nvPr>
        </p:nvSpPr>
        <p:spPr/>
        <p:txBody>
          <a:bodyPr/>
          <a:lstStyle/>
          <a:p>
            <a:fld id="{84E6CF1A-E888-4A07-B96A-456D0CF69483}" type="slidenum">
              <a:rPr lang="zh-CN" altLang="en-US" smtClean="0"/>
              <a:t>3</a:t>
            </a:fld>
            <a:endParaRPr lang="zh-CN" altLang="en-US"/>
          </a:p>
        </p:txBody>
      </p:sp>
    </p:spTree>
    <p:extLst>
      <p:ext uri="{BB962C8B-B14F-4D97-AF65-F5344CB8AC3E}">
        <p14:creationId xmlns:p14="http://schemas.microsoft.com/office/powerpoint/2010/main" val="3551642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t>4</a:t>
            </a:fld>
            <a:endParaRPr lang="zh-CN" altLang="en-US"/>
          </a:p>
        </p:txBody>
      </p:sp>
    </p:spTree>
    <p:extLst>
      <p:ext uri="{BB962C8B-B14F-4D97-AF65-F5344CB8AC3E}">
        <p14:creationId xmlns:p14="http://schemas.microsoft.com/office/powerpoint/2010/main" val="3661502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4E6CF1A-E888-4A07-B96A-456D0CF69483}" type="slidenum">
              <a:rPr lang="zh-CN" altLang="en-US" smtClean="0"/>
              <a:t>5</a:t>
            </a:fld>
            <a:endParaRPr lang="zh-CN" altLang="en-US"/>
          </a:p>
        </p:txBody>
      </p:sp>
    </p:spTree>
    <p:extLst>
      <p:ext uri="{BB962C8B-B14F-4D97-AF65-F5344CB8AC3E}">
        <p14:creationId xmlns:p14="http://schemas.microsoft.com/office/powerpoint/2010/main" val="2411400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t>6</a:t>
            </a:fld>
            <a:endParaRPr lang="zh-CN" altLang="en-US"/>
          </a:p>
        </p:txBody>
      </p:sp>
    </p:spTree>
    <p:extLst>
      <p:ext uri="{BB962C8B-B14F-4D97-AF65-F5344CB8AC3E}">
        <p14:creationId xmlns:p14="http://schemas.microsoft.com/office/powerpoint/2010/main" val="3744447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5CA1F-09B8-E752-B1BD-B3445BDFB6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CA66BC-E732-F165-1CDF-F4044BE0AD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4ACBBF-41C5-6927-B874-FCD48B7483F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CF8102A-099D-3899-B192-28C493DFDC49}"/>
              </a:ext>
            </a:extLst>
          </p:cNvPr>
          <p:cNvSpPr>
            <a:spLocks noGrp="1"/>
          </p:cNvSpPr>
          <p:nvPr>
            <p:ph type="sldNum" sz="quarter" idx="10"/>
          </p:nvPr>
        </p:nvSpPr>
        <p:spPr/>
        <p:txBody>
          <a:bodyPr/>
          <a:lstStyle/>
          <a:p>
            <a:fld id="{84E6CF1A-E888-4A07-B96A-456D0CF69483}" type="slidenum">
              <a:rPr lang="zh-CN" altLang="en-US" smtClean="0"/>
              <a:t>7</a:t>
            </a:fld>
            <a:endParaRPr lang="zh-CN" altLang="en-US"/>
          </a:p>
        </p:txBody>
      </p:sp>
    </p:spTree>
    <p:extLst>
      <p:ext uri="{BB962C8B-B14F-4D97-AF65-F5344CB8AC3E}">
        <p14:creationId xmlns:p14="http://schemas.microsoft.com/office/powerpoint/2010/main" val="3329771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638" y="2130426"/>
            <a:ext cx="10365899" cy="1470025"/>
          </a:xfrm>
        </p:spPr>
        <p:txBody>
          <a:bodyPr/>
          <a:lstStyle/>
          <a:p>
            <a:r>
              <a:rPr lang="zh-CN" altLang="en-US"/>
              <a:t>单击此处编辑母版标题样式</a:t>
            </a:r>
          </a:p>
        </p:txBody>
      </p:sp>
      <p:sp>
        <p:nvSpPr>
          <p:cNvPr id="3" name="副标题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819766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97503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1"/>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492383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759"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9214"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2216981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541998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104076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70006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2494487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180513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747795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1502" y="274639"/>
            <a:ext cx="2743914"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759" y="274639"/>
            <a:ext cx="802849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327184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brightnessContrast bright="-1000" contrast="11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B1069-3899-470A-8AB1-734237277644}" type="datetimeFigureOut">
              <a:rPr lang="zh-CN" altLang="en-US" smtClean="0"/>
              <a:t>2026/8/24</a:t>
            </a:fld>
            <a:endParaRPr lang="zh-CN" altLang="en-US"/>
          </a:p>
        </p:txBody>
      </p:sp>
      <p:sp>
        <p:nvSpPr>
          <p:cNvPr id="5" name="页脚占位符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C7957-89EC-4DC7-A1B9-6F0B3159CBFA}" type="slidenum">
              <a:rPr lang="zh-CN" altLang="en-US" smtClean="0"/>
              <a:t>‹#›</a:t>
            </a:fld>
            <a:endParaRPr lang="zh-CN" altLang="en-US"/>
          </a:p>
        </p:txBody>
      </p:sp>
    </p:spTree>
    <p:extLst>
      <p:ext uri="{BB962C8B-B14F-4D97-AF65-F5344CB8AC3E}">
        <p14:creationId xmlns:p14="http://schemas.microsoft.com/office/powerpoint/2010/main" val="1033529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23093"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群組 4">
            <a:extLst>
              <a:ext uri="{FF2B5EF4-FFF2-40B4-BE49-F238E27FC236}">
                <a16:creationId xmlns:a16="http://schemas.microsoft.com/office/drawing/2014/main" id="{405E4E96-B063-497E-B9F6-19B061D8E967}"/>
              </a:ext>
            </a:extLst>
          </p:cNvPr>
          <p:cNvGrpSpPr>
            <a:grpSpLocks noChangeAspect="1"/>
          </p:cNvGrpSpPr>
          <p:nvPr/>
        </p:nvGrpSpPr>
        <p:grpSpPr>
          <a:xfrm>
            <a:off x="6738108" y="563336"/>
            <a:ext cx="1197852" cy="1080000"/>
            <a:chOff x="2057839" y="2406733"/>
            <a:chExt cx="1698798" cy="1531660"/>
          </a:xfrm>
        </p:grpSpPr>
        <p:grpSp>
          <p:nvGrpSpPr>
            <p:cNvPr id="48" name="组合 47"/>
            <p:cNvGrpSpPr/>
            <p:nvPr/>
          </p:nvGrpSpPr>
          <p:grpSpPr>
            <a:xfrm>
              <a:off x="2057839" y="2406733"/>
              <a:ext cx="1698798" cy="1531660"/>
              <a:chOff x="3720691" y="2824413"/>
              <a:chExt cx="1341120" cy="1209172"/>
            </a:xfrm>
          </p:grpSpPr>
          <p:sp>
            <p:nvSpPr>
              <p:cNvPr id="49"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51" name="Freeform 5"/>
            <p:cNvSpPr>
              <a:spLocks/>
            </p:cNvSpPr>
            <p:nvPr/>
          </p:nvSpPr>
          <p:spPr bwMode="auto">
            <a:xfrm rot="1855731">
              <a:off x="2174167" y="2511615"/>
              <a:ext cx="1466142" cy="132189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tx2"/>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nvGrpSpPr>
            <p:cNvPr id="52" name="Group 4"/>
            <p:cNvGrpSpPr>
              <a:grpSpLocks noChangeAspect="1"/>
            </p:cNvGrpSpPr>
            <p:nvPr/>
          </p:nvGrpSpPr>
          <p:grpSpPr bwMode="auto">
            <a:xfrm>
              <a:off x="2665152" y="2784571"/>
              <a:ext cx="484172" cy="775984"/>
              <a:chOff x="4638" y="-33"/>
              <a:chExt cx="667" cy="1069"/>
            </a:xfrm>
            <a:solidFill>
              <a:srgbClr val="C00000"/>
            </a:solidFill>
          </p:grpSpPr>
          <p:sp>
            <p:nvSpPr>
              <p:cNvPr id="68" name="Freeform 5"/>
              <p:cNvSpPr>
                <a:spLocks/>
              </p:cNvSpPr>
              <p:nvPr/>
            </p:nvSpPr>
            <p:spPr bwMode="auto">
              <a:xfrm>
                <a:off x="4638" y="556"/>
                <a:ext cx="667" cy="480"/>
              </a:xfrm>
              <a:custGeom>
                <a:avLst/>
                <a:gdLst>
                  <a:gd name="T0" fmla="*/ 67 w 67"/>
                  <a:gd name="T1" fmla="*/ 15 h 49"/>
                  <a:gd name="T2" fmla="*/ 52 w 67"/>
                  <a:gd name="T3" fmla="*/ 0 h 49"/>
                  <a:gd name="T4" fmla="*/ 38 w 67"/>
                  <a:gd name="T5" fmla="*/ 24 h 49"/>
                  <a:gd name="T6" fmla="*/ 36 w 67"/>
                  <a:gd name="T7" fmla="*/ 13 h 49"/>
                  <a:gd name="T8" fmla="*/ 38 w 67"/>
                  <a:gd name="T9" fmla="*/ 9 h 49"/>
                  <a:gd name="T10" fmla="*/ 34 w 67"/>
                  <a:gd name="T11" fmla="*/ 5 h 49"/>
                  <a:gd name="T12" fmla="*/ 30 w 67"/>
                  <a:gd name="T13" fmla="*/ 9 h 49"/>
                  <a:gd name="T14" fmla="*/ 31 w 67"/>
                  <a:gd name="T15" fmla="*/ 13 h 49"/>
                  <a:gd name="T16" fmla="*/ 30 w 67"/>
                  <a:gd name="T17" fmla="*/ 24 h 49"/>
                  <a:gd name="T18" fmla="*/ 16 w 67"/>
                  <a:gd name="T19" fmla="*/ 0 h 49"/>
                  <a:gd name="T20" fmla="*/ 1 w 67"/>
                  <a:gd name="T21" fmla="*/ 15 h 49"/>
                  <a:gd name="T22" fmla="*/ 0 w 67"/>
                  <a:gd name="T23" fmla="*/ 15 h 49"/>
                  <a:gd name="T24" fmla="*/ 0 w 67"/>
                  <a:gd name="T25" fmla="*/ 45 h 49"/>
                  <a:gd name="T26" fmla="*/ 1 w 67"/>
                  <a:gd name="T27" fmla="*/ 45 h 49"/>
                  <a:gd name="T28" fmla="*/ 34 w 67"/>
                  <a:gd name="T29" fmla="*/ 49 h 49"/>
                  <a:gd name="T30" fmla="*/ 66 w 67"/>
                  <a:gd name="T31" fmla="*/ 45 h 49"/>
                  <a:gd name="T32" fmla="*/ 67 w 67"/>
                  <a:gd name="T33" fmla="*/ 45 h 49"/>
                  <a:gd name="T34" fmla="*/ 67 w 67"/>
                  <a:gd name="T35" fmla="*/ 1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49">
                    <a:moveTo>
                      <a:pt x="67" y="15"/>
                    </a:moveTo>
                    <a:cubicBezTo>
                      <a:pt x="66" y="9"/>
                      <a:pt x="60" y="3"/>
                      <a:pt x="52" y="0"/>
                    </a:cubicBezTo>
                    <a:cubicBezTo>
                      <a:pt x="38" y="24"/>
                      <a:pt x="38" y="24"/>
                      <a:pt x="38" y="24"/>
                    </a:cubicBezTo>
                    <a:cubicBezTo>
                      <a:pt x="36" y="13"/>
                      <a:pt x="36" y="13"/>
                      <a:pt x="36" y="13"/>
                    </a:cubicBezTo>
                    <a:cubicBezTo>
                      <a:pt x="37" y="12"/>
                      <a:pt x="38" y="11"/>
                      <a:pt x="38" y="9"/>
                    </a:cubicBezTo>
                    <a:cubicBezTo>
                      <a:pt x="38" y="7"/>
                      <a:pt x="36" y="5"/>
                      <a:pt x="34" y="5"/>
                    </a:cubicBezTo>
                    <a:cubicBezTo>
                      <a:pt x="31" y="5"/>
                      <a:pt x="30" y="7"/>
                      <a:pt x="30" y="9"/>
                    </a:cubicBezTo>
                    <a:cubicBezTo>
                      <a:pt x="30" y="11"/>
                      <a:pt x="30" y="12"/>
                      <a:pt x="31" y="13"/>
                    </a:cubicBezTo>
                    <a:cubicBezTo>
                      <a:pt x="30" y="24"/>
                      <a:pt x="30" y="24"/>
                      <a:pt x="30" y="24"/>
                    </a:cubicBezTo>
                    <a:cubicBezTo>
                      <a:pt x="16" y="0"/>
                      <a:pt x="16" y="0"/>
                      <a:pt x="16" y="0"/>
                    </a:cubicBezTo>
                    <a:cubicBezTo>
                      <a:pt x="8" y="3"/>
                      <a:pt x="2" y="9"/>
                      <a:pt x="1" y="15"/>
                    </a:cubicBezTo>
                    <a:cubicBezTo>
                      <a:pt x="0" y="15"/>
                      <a:pt x="0" y="15"/>
                      <a:pt x="0" y="15"/>
                    </a:cubicBezTo>
                    <a:cubicBezTo>
                      <a:pt x="0" y="45"/>
                      <a:pt x="0" y="45"/>
                      <a:pt x="0" y="45"/>
                    </a:cubicBezTo>
                    <a:cubicBezTo>
                      <a:pt x="1" y="45"/>
                      <a:pt x="1" y="45"/>
                      <a:pt x="1" y="45"/>
                    </a:cubicBezTo>
                    <a:cubicBezTo>
                      <a:pt x="4" y="47"/>
                      <a:pt x="18" y="49"/>
                      <a:pt x="34" y="49"/>
                    </a:cubicBezTo>
                    <a:cubicBezTo>
                      <a:pt x="50" y="49"/>
                      <a:pt x="63" y="47"/>
                      <a:pt x="66" y="45"/>
                    </a:cubicBezTo>
                    <a:cubicBezTo>
                      <a:pt x="67" y="45"/>
                      <a:pt x="67" y="45"/>
                      <a:pt x="67" y="45"/>
                    </a:cubicBezTo>
                    <a:cubicBezTo>
                      <a:pt x="67" y="15"/>
                      <a:pt x="67" y="15"/>
                      <a:pt x="67" y="1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685800"/>
                <a:endParaRPr lang="zh-CN" altLang="en-US" sz="1350">
                  <a:solidFill>
                    <a:prstClr val="black"/>
                  </a:solidFill>
                </a:endParaRPr>
              </a:p>
            </p:txBody>
          </p:sp>
          <p:sp>
            <p:nvSpPr>
              <p:cNvPr id="69" name="Freeform 6"/>
              <p:cNvSpPr>
                <a:spLocks noEditPoints="1"/>
              </p:cNvSpPr>
              <p:nvPr/>
            </p:nvSpPr>
            <p:spPr bwMode="auto">
              <a:xfrm>
                <a:off x="4737" y="-33"/>
                <a:ext cx="449" cy="589"/>
              </a:xfrm>
              <a:custGeom>
                <a:avLst/>
                <a:gdLst>
                  <a:gd name="T0" fmla="*/ 3 w 45"/>
                  <a:gd name="T1" fmla="*/ 38 h 60"/>
                  <a:gd name="T2" fmla="*/ 7 w 45"/>
                  <a:gd name="T3" fmla="*/ 43 h 60"/>
                  <a:gd name="T4" fmla="*/ 23 w 45"/>
                  <a:gd name="T5" fmla="*/ 60 h 60"/>
                  <a:gd name="T6" fmla="*/ 40 w 45"/>
                  <a:gd name="T7" fmla="*/ 43 h 60"/>
                  <a:gd name="T8" fmla="*/ 40 w 45"/>
                  <a:gd name="T9" fmla="*/ 43 h 60"/>
                  <a:gd name="T10" fmla="*/ 44 w 45"/>
                  <a:gd name="T11" fmla="*/ 38 h 60"/>
                  <a:gd name="T12" fmla="*/ 41 w 45"/>
                  <a:gd name="T13" fmla="*/ 33 h 60"/>
                  <a:gd name="T14" fmla="*/ 41 w 45"/>
                  <a:gd name="T15" fmla="*/ 33 h 60"/>
                  <a:gd name="T16" fmla="*/ 36 w 45"/>
                  <a:gd name="T17" fmla="*/ 13 h 60"/>
                  <a:gd name="T18" fmla="*/ 12 w 45"/>
                  <a:gd name="T19" fmla="*/ 10 h 60"/>
                  <a:gd name="T20" fmla="*/ 6 w 45"/>
                  <a:gd name="T21" fmla="*/ 33 h 60"/>
                  <a:gd name="T22" fmla="*/ 6 w 45"/>
                  <a:gd name="T23" fmla="*/ 33 h 60"/>
                  <a:gd name="T24" fmla="*/ 3 w 45"/>
                  <a:gd name="T25" fmla="*/ 38 h 60"/>
                  <a:gd name="T26" fmla="*/ 8 w 45"/>
                  <a:gd name="T27" fmla="*/ 34 h 60"/>
                  <a:gd name="T28" fmla="*/ 8 w 45"/>
                  <a:gd name="T29" fmla="*/ 34 h 60"/>
                  <a:gd name="T30" fmla="*/ 8 w 45"/>
                  <a:gd name="T31" fmla="*/ 34 h 60"/>
                  <a:gd name="T32" fmla="*/ 8 w 45"/>
                  <a:gd name="T33" fmla="*/ 32 h 60"/>
                  <a:gd name="T34" fmla="*/ 9 w 45"/>
                  <a:gd name="T35" fmla="*/ 25 h 60"/>
                  <a:gd name="T36" fmla="*/ 11 w 45"/>
                  <a:gd name="T37" fmla="*/ 23 h 60"/>
                  <a:gd name="T38" fmla="*/ 29 w 45"/>
                  <a:gd name="T39" fmla="*/ 19 h 60"/>
                  <a:gd name="T40" fmla="*/ 38 w 45"/>
                  <a:gd name="T41" fmla="*/ 34 h 60"/>
                  <a:gd name="T42" fmla="*/ 38 w 45"/>
                  <a:gd name="T43" fmla="*/ 34 h 60"/>
                  <a:gd name="T44" fmla="*/ 39 w 45"/>
                  <a:gd name="T45" fmla="*/ 34 h 60"/>
                  <a:gd name="T46" fmla="*/ 40 w 45"/>
                  <a:gd name="T47" fmla="*/ 34 h 60"/>
                  <a:gd name="T48" fmla="*/ 42 w 45"/>
                  <a:gd name="T49" fmla="*/ 35 h 60"/>
                  <a:gd name="T50" fmla="*/ 43 w 45"/>
                  <a:gd name="T51" fmla="*/ 38 h 60"/>
                  <a:gd name="T52" fmla="*/ 42 w 45"/>
                  <a:gd name="T53" fmla="*/ 41 h 60"/>
                  <a:gd name="T54" fmla="*/ 40 w 45"/>
                  <a:gd name="T55" fmla="*/ 42 h 60"/>
                  <a:gd name="T56" fmla="*/ 40 w 45"/>
                  <a:gd name="T57" fmla="*/ 42 h 60"/>
                  <a:gd name="T58" fmla="*/ 39 w 45"/>
                  <a:gd name="T59" fmla="*/ 42 h 60"/>
                  <a:gd name="T60" fmla="*/ 38 w 45"/>
                  <a:gd name="T61" fmla="*/ 43 h 60"/>
                  <a:gd name="T62" fmla="*/ 33 w 45"/>
                  <a:gd name="T63" fmla="*/ 54 h 60"/>
                  <a:gd name="T64" fmla="*/ 29 w 45"/>
                  <a:gd name="T65" fmla="*/ 58 h 60"/>
                  <a:gd name="T66" fmla="*/ 23 w 45"/>
                  <a:gd name="T67" fmla="*/ 59 h 60"/>
                  <a:gd name="T68" fmla="*/ 18 w 45"/>
                  <a:gd name="T69" fmla="*/ 58 h 60"/>
                  <a:gd name="T70" fmla="*/ 14 w 45"/>
                  <a:gd name="T71" fmla="*/ 54 h 60"/>
                  <a:gd name="T72" fmla="*/ 8 w 45"/>
                  <a:gd name="T73" fmla="*/ 43 h 60"/>
                  <a:gd name="T74" fmla="*/ 8 w 45"/>
                  <a:gd name="T75" fmla="*/ 42 h 60"/>
                  <a:gd name="T76" fmla="*/ 7 w 45"/>
                  <a:gd name="T77" fmla="*/ 42 h 60"/>
                  <a:gd name="T78" fmla="*/ 5 w 45"/>
                  <a:gd name="T79" fmla="*/ 38 h 60"/>
                  <a:gd name="T80" fmla="*/ 5 w 45"/>
                  <a:gd name="T81" fmla="*/ 35 h 60"/>
                  <a:gd name="T82" fmla="*/ 8 w 45"/>
                  <a:gd name="T8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5" h="60">
                    <a:moveTo>
                      <a:pt x="3" y="38"/>
                    </a:moveTo>
                    <a:cubicBezTo>
                      <a:pt x="3" y="40"/>
                      <a:pt x="5" y="43"/>
                      <a:pt x="7" y="43"/>
                    </a:cubicBezTo>
                    <a:cubicBezTo>
                      <a:pt x="9" y="53"/>
                      <a:pt x="16" y="60"/>
                      <a:pt x="23" y="60"/>
                    </a:cubicBezTo>
                    <a:cubicBezTo>
                      <a:pt x="31" y="60"/>
                      <a:pt x="38" y="53"/>
                      <a:pt x="40" y="43"/>
                    </a:cubicBezTo>
                    <a:cubicBezTo>
                      <a:pt x="40" y="43"/>
                      <a:pt x="40" y="43"/>
                      <a:pt x="40" y="43"/>
                    </a:cubicBezTo>
                    <a:cubicBezTo>
                      <a:pt x="42" y="43"/>
                      <a:pt x="44" y="41"/>
                      <a:pt x="44" y="38"/>
                    </a:cubicBezTo>
                    <a:cubicBezTo>
                      <a:pt x="44" y="35"/>
                      <a:pt x="43" y="33"/>
                      <a:pt x="41" y="33"/>
                    </a:cubicBezTo>
                    <a:cubicBezTo>
                      <a:pt x="41" y="33"/>
                      <a:pt x="41" y="33"/>
                      <a:pt x="41" y="33"/>
                    </a:cubicBezTo>
                    <a:cubicBezTo>
                      <a:pt x="41" y="33"/>
                      <a:pt x="45" y="18"/>
                      <a:pt x="36" y="13"/>
                    </a:cubicBezTo>
                    <a:cubicBezTo>
                      <a:pt x="35" y="0"/>
                      <a:pt x="12" y="10"/>
                      <a:pt x="12" y="10"/>
                    </a:cubicBezTo>
                    <a:cubicBezTo>
                      <a:pt x="0" y="17"/>
                      <a:pt x="6" y="33"/>
                      <a:pt x="6" y="33"/>
                    </a:cubicBezTo>
                    <a:cubicBezTo>
                      <a:pt x="6" y="33"/>
                      <a:pt x="6" y="33"/>
                      <a:pt x="6" y="33"/>
                    </a:cubicBezTo>
                    <a:cubicBezTo>
                      <a:pt x="4" y="34"/>
                      <a:pt x="3" y="36"/>
                      <a:pt x="3" y="38"/>
                    </a:cubicBezTo>
                    <a:close/>
                    <a:moveTo>
                      <a:pt x="8" y="34"/>
                    </a:moveTo>
                    <a:cubicBezTo>
                      <a:pt x="8" y="34"/>
                      <a:pt x="8" y="34"/>
                      <a:pt x="8" y="34"/>
                    </a:cubicBezTo>
                    <a:cubicBezTo>
                      <a:pt x="8" y="34"/>
                      <a:pt x="8" y="34"/>
                      <a:pt x="8" y="34"/>
                    </a:cubicBezTo>
                    <a:cubicBezTo>
                      <a:pt x="8" y="32"/>
                      <a:pt x="8" y="32"/>
                      <a:pt x="8" y="32"/>
                    </a:cubicBezTo>
                    <a:cubicBezTo>
                      <a:pt x="9" y="25"/>
                      <a:pt x="9" y="25"/>
                      <a:pt x="9" y="25"/>
                    </a:cubicBezTo>
                    <a:cubicBezTo>
                      <a:pt x="10" y="24"/>
                      <a:pt x="11" y="23"/>
                      <a:pt x="11" y="23"/>
                    </a:cubicBezTo>
                    <a:cubicBezTo>
                      <a:pt x="21" y="24"/>
                      <a:pt x="29" y="19"/>
                      <a:pt x="29" y="19"/>
                    </a:cubicBezTo>
                    <a:cubicBezTo>
                      <a:pt x="36" y="13"/>
                      <a:pt x="38" y="34"/>
                      <a:pt x="38" y="34"/>
                    </a:cubicBezTo>
                    <a:cubicBezTo>
                      <a:pt x="38" y="34"/>
                      <a:pt x="38" y="34"/>
                      <a:pt x="38" y="34"/>
                    </a:cubicBezTo>
                    <a:cubicBezTo>
                      <a:pt x="39" y="34"/>
                      <a:pt x="39" y="34"/>
                      <a:pt x="39" y="34"/>
                    </a:cubicBezTo>
                    <a:cubicBezTo>
                      <a:pt x="40" y="34"/>
                      <a:pt x="40" y="34"/>
                      <a:pt x="40" y="34"/>
                    </a:cubicBezTo>
                    <a:cubicBezTo>
                      <a:pt x="41" y="34"/>
                      <a:pt x="41" y="34"/>
                      <a:pt x="42" y="35"/>
                    </a:cubicBezTo>
                    <a:cubicBezTo>
                      <a:pt x="43" y="35"/>
                      <a:pt x="43" y="37"/>
                      <a:pt x="43" y="38"/>
                    </a:cubicBezTo>
                    <a:cubicBezTo>
                      <a:pt x="43" y="39"/>
                      <a:pt x="43" y="40"/>
                      <a:pt x="42" y="41"/>
                    </a:cubicBezTo>
                    <a:cubicBezTo>
                      <a:pt x="41" y="41"/>
                      <a:pt x="41" y="42"/>
                      <a:pt x="40" y="42"/>
                    </a:cubicBezTo>
                    <a:cubicBezTo>
                      <a:pt x="40" y="42"/>
                      <a:pt x="40" y="42"/>
                      <a:pt x="40" y="42"/>
                    </a:cubicBezTo>
                    <a:cubicBezTo>
                      <a:pt x="39" y="42"/>
                      <a:pt x="39" y="42"/>
                      <a:pt x="39" y="42"/>
                    </a:cubicBezTo>
                    <a:cubicBezTo>
                      <a:pt x="38" y="43"/>
                      <a:pt x="38" y="43"/>
                      <a:pt x="38" y="43"/>
                    </a:cubicBezTo>
                    <a:cubicBezTo>
                      <a:pt x="38" y="47"/>
                      <a:pt x="36" y="51"/>
                      <a:pt x="33" y="54"/>
                    </a:cubicBezTo>
                    <a:cubicBezTo>
                      <a:pt x="32" y="56"/>
                      <a:pt x="30" y="57"/>
                      <a:pt x="29" y="58"/>
                    </a:cubicBezTo>
                    <a:cubicBezTo>
                      <a:pt x="27" y="58"/>
                      <a:pt x="25" y="59"/>
                      <a:pt x="23" y="59"/>
                    </a:cubicBezTo>
                    <a:cubicBezTo>
                      <a:pt x="22" y="59"/>
                      <a:pt x="20" y="58"/>
                      <a:pt x="18" y="58"/>
                    </a:cubicBezTo>
                    <a:cubicBezTo>
                      <a:pt x="17" y="57"/>
                      <a:pt x="15" y="56"/>
                      <a:pt x="14" y="54"/>
                    </a:cubicBezTo>
                    <a:cubicBezTo>
                      <a:pt x="11" y="51"/>
                      <a:pt x="9" y="47"/>
                      <a:pt x="8" y="43"/>
                    </a:cubicBezTo>
                    <a:cubicBezTo>
                      <a:pt x="8" y="42"/>
                      <a:pt x="8" y="42"/>
                      <a:pt x="8" y="42"/>
                    </a:cubicBezTo>
                    <a:cubicBezTo>
                      <a:pt x="7" y="42"/>
                      <a:pt x="7" y="42"/>
                      <a:pt x="7" y="42"/>
                    </a:cubicBezTo>
                    <a:cubicBezTo>
                      <a:pt x="6" y="42"/>
                      <a:pt x="5" y="40"/>
                      <a:pt x="5" y="38"/>
                    </a:cubicBezTo>
                    <a:cubicBezTo>
                      <a:pt x="5" y="37"/>
                      <a:pt x="5" y="35"/>
                      <a:pt x="5" y="35"/>
                    </a:cubicBezTo>
                    <a:cubicBezTo>
                      <a:pt x="6" y="34"/>
                      <a:pt x="7" y="34"/>
                      <a:pt x="8" y="3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685800"/>
                <a:endParaRPr lang="zh-CN" altLang="en-US" sz="1350">
                  <a:solidFill>
                    <a:prstClr val="black"/>
                  </a:solidFill>
                </a:endParaRPr>
              </a:p>
            </p:txBody>
          </p:sp>
        </p:grpSp>
      </p:grpSp>
      <p:sp>
        <p:nvSpPr>
          <p:cNvPr id="70" name="矩形 69"/>
          <p:cNvSpPr/>
          <p:nvPr/>
        </p:nvSpPr>
        <p:spPr>
          <a:xfrm>
            <a:off x="1370309" y="620688"/>
            <a:ext cx="3312367" cy="523220"/>
          </a:xfrm>
          <a:prstGeom prst="rect">
            <a:avLst/>
          </a:prstGeom>
        </p:spPr>
        <p:txBody>
          <a:bodyPr wrap="square">
            <a:spAutoFit/>
          </a:bodyPr>
          <a:lstStyle/>
          <a:p>
            <a:pPr algn="dist">
              <a:spcBef>
                <a:spcPts val="500"/>
              </a:spcBef>
              <a:spcAft>
                <a:spcPts val="0"/>
              </a:spcAft>
              <a:defRPr/>
            </a:pPr>
            <a:r>
              <a:rPr lang="zh-TW" altLang="en-US" sz="2800" b="1" kern="100" dirty="0">
                <a:solidFill>
                  <a:schemeClr val="tx2">
                    <a:lumMod val="20000"/>
                    <a:lumOff val="80000"/>
                  </a:schemeClr>
                </a:solidFill>
                <a:latin typeface="微软雅黑" panose="020B0503020204020204" pitchFamily="34" charset="-122"/>
                <a:ea typeface="微软雅黑" panose="020B0503020204020204" pitchFamily="34" charset="-122"/>
                <a:cs typeface="Times New Roman" panose="02020603050405020304" pitchFamily="18" charset="0"/>
              </a:rPr>
              <a:t>個人簡歷</a:t>
            </a:r>
            <a:endParaRPr lang="zh-CN" altLang="zh-CN" kern="100" dirty="0">
              <a:solidFill>
                <a:schemeClr val="tx2">
                  <a:lumMod val="20000"/>
                  <a:lumOff val="8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86" name="文本框 32"/>
          <p:cNvSpPr txBox="1"/>
          <p:nvPr/>
        </p:nvSpPr>
        <p:spPr>
          <a:xfrm>
            <a:off x="7740604" y="2117173"/>
            <a:ext cx="2236510" cy="1815882"/>
          </a:xfrm>
          <a:prstGeom prst="rect">
            <a:avLst/>
          </a:prstGeom>
          <a:noFill/>
        </p:spPr>
        <p:txBody>
          <a:bodyPr wrap="non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zh-TW" altLang="en-US" sz="2000" dirty="0">
                <a:solidFill>
                  <a:schemeClr val="tx2"/>
                </a:solidFill>
              </a:rPr>
              <a:t>研究所</a:t>
            </a:r>
            <a:endParaRPr lang="en-US" altLang="zh-TW" sz="2000" dirty="0">
              <a:solidFill>
                <a:schemeClr val="tx2"/>
              </a:solidFill>
            </a:endParaRPr>
          </a:p>
          <a:p>
            <a:pPr algn="l"/>
            <a:endParaRPr lang="en-US" altLang="zh-TW" sz="1000" b="0" dirty="0">
              <a:solidFill>
                <a:schemeClr val="tx2"/>
              </a:solidFill>
            </a:endParaRPr>
          </a:p>
          <a:p>
            <a:pPr algn="l"/>
            <a:r>
              <a:rPr lang="en-US" altLang="zh-TW" sz="1600" b="0" dirty="0">
                <a:solidFill>
                  <a:schemeClr val="tx2"/>
                </a:solidFill>
              </a:rPr>
              <a:t>2018.09</a:t>
            </a:r>
            <a:r>
              <a:rPr lang="zh-TW" altLang="en-US" sz="1600" b="0" dirty="0">
                <a:solidFill>
                  <a:schemeClr val="tx2"/>
                </a:solidFill>
              </a:rPr>
              <a:t> </a:t>
            </a:r>
            <a:r>
              <a:rPr lang="en-US" altLang="zh-TW" sz="1600" b="0" dirty="0">
                <a:solidFill>
                  <a:schemeClr val="tx2"/>
                </a:solidFill>
              </a:rPr>
              <a:t>~</a:t>
            </a:r>
            <a:r>
              <a:rPr lang="zh-TW" altLang="en-US" sz="1600" b="0" dirty="0">
                <a:solidFill>
                  <a:schemeClr val="tx2"/>
                </a:solidFill>
              </a:rPr>
              <a:t> </a:t>
            </a:r>
            <a:r>
              <a:rPr lang="en-US" altLang="zh-TW" sz="1600" b="0" dirty="0">
                <a:solidFill>
                  <a:schemeClr val="tx2"/>
                </a:solidFill>
              </a:rPr>
              <a:t>2020.06</a:t>
            </a:r>
          </a:p>
          <a:p>
            <a:pPr algn="l"/>
            <a:endParaRPr lang="en-US" altLang="zh-TW" sz="1600" b="0" dirty="0">
              <a:solidFill>
                <a:schemeClr val="tx2"/>
              </a:solidFill>
            </a:endParaRPr>
          </a:p>
          <a:p>
            <a:pPr algn="l">
              <a:spcBef>
                <a:spcPts val="600"/>
              </a:spcBef>
            </a:pPr>
            <a:r>
              <a:rPr lang="zh-TW" altLang="en-US" sz="2000" b="0" dirty="0">
                <a:solidFill>
                  <a:schemeClr val="tx2"/>
                </a:solidFill>
              </a:rPr>
              <a:t>國立雲林科技大學</a:t>
            </a:r>
            <a:endParaRPr lang="en-US" altLang="zh-TW" sz="2000" b="0" dirty="0">
              <a:solidFill>
                <a:schemeClr val="tx2"/>
              </a:solidFill>
            </a:endParaRPr>
          </a:p>
          <a:p>
            <a:pPr algn="l">
              <a:spcBef>
                <a:spcPts val="600"/>
              </a:spcBef>
            </a:pPr>
            <a:r>
              <a:rPr lang="zh-TW" altLang="en-US" sz="2000" b="0" dirty="0">
                <a:solidFill>
                  <a:schemeClr val="tx2"/>
                </a:solidFill>
              </a:rPr>
              <a:t>資訊管理所</a:t>
            </a:r>
            <a:endParaRPr lang="en-US" altLang="zh-TW" sz="2000" b="0" dirty="0">
              <a:solidFill>
                <a:schemeClr val="tx2"/>
              </a:solidFill>
            </a:endParaRPr>
          </a:p>
        </p:txBody>
      </p:sp>
      <p:sp>
        <p:nvSpPr>
          <p:cNvPr id="87" name="文本框 33"/>
          <p:cNvSpPr txBox="1"/>
          <p:nvPr/>
        </p:nvSpPr>
        <p:spPr>
          <a:xfrm>
            <a:off x="7740604" y="4493438"/>
            <a:ext cx="2749471" cy="1815882"/>
          </a:xfrm>
          <a:prstGeom prst="rect">
            <a:avLst/>
          </a:prstGeom>
          <a:noFill/>
        </p:spPr>
        <p:txBody>
          <a:bodyPr wrap="non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zh-TW" altLang="en-US" sz="2000" dirty="0">
                <a:solidFill>
                  <a:schemeClr val="tx2"/>
                </a:solidFill>
              </a:rPr>
              <a:t>大學</a:t>
            </a:r>
            <a:endParaRPr lang="en-US" altLang="zh-TW" sz="2000" dirty="0">
              <a:solidFill>
                <a:schemeClr val="tx2"/>
              </a:solidFill>
            </a:endParaRPr>
          </a:p>
          <a:p>
            <a:pPr algn="l"/>
            <a:endParaRPr lang="en-US" altLang="zh-TW" sz="1000" b="0" dirty="0">
              <a:solidFill>
                <a:schemeClr val="tx2"/>
              </a:solidFill>
            </a:endParaRPr>
          </a:p>
          <a:p>
            <a:pPr algn="l"/>
            <a:r>
              <a:rPr lang="en-US" altLang="zh-TW" sz="1600" b="0" dirty="0">
                <a:solidFill>
                  <a:schemeClr val="tx2"/>
                </a:solidFill>
              </a:rPr>
              <a:t>2014.09</a:t>
            </a:r>
            <a:r>
              <a:rPr lang="zh-TW" altLang="en-US" sz="1600" b="0" dirty="0">
                <a:solidFill>
                  <a:schemeClr val="tx2"/>
                </a:solidFill>
              </a:rPr>
              <a:t> </a:t>
            </a:r>
            <a:r>
              <a:rPr lang="en-US" altLang="zh-TW" sz="1600" b="0" dirty="0">
                <a:solidFill>
                  <a:schemeClr val="tx2"/>
                </a:solidFill>
              </a:rPr>
              <a:t>~</a:t>
            </a:r>
            <a:r>
              <a:rPr lang="zh-TW" altLang="en-US" sz="1600" b="0" dirty="0">
                <a:solidFill>
                  <a:schemeClr val="tx2"/>
                </a:solidFill>
              </a:rPr>
              <a:t> </a:t>
            </a:r>
            <a:r>
              <a:rPr lang="en-US" altLang="zh-TW" sz="1600" b="0" dirty="0">
                <a:solidFill>
                  <a:schemeClr val="tx2"/>
                </a:solidFill>
              </a:rPr>
              <a:t>2018.06</a:t>
            </a:r>
            <a:endParaRPr lang="zh-CN" altLang="en-US" sz="1600" b="0" dirty="0">
              <a:solidFill>
                <a:schemeClr val="tx2"/>
              </a:solidFill>
            </a:endParaRPr>
          </a:p>
          <a:p>
            <a:pPr algn="l"/>
            <a:endParaRPr lang="en-US" altLang="zh-TW" sz="1600" b="0" dirty="0">
              <a:solidFill>
                <a:schemeClr val="tx2"/>
              </a:solidFill>
            </a:endParaRPr>
          </a:p>
          <a:p>
            <a:pPr algn="l">
              <a:spcBef>
                <a:spcPts val="600"/>
              </a:spcBef>
            </a:pPr>
            <a:r>
              <a:rPr lang="zh-TW" altLang="en-US" sz="2000" b="0" dirty="0">
                <a:solidFill>
                  <a:schemeClr val="tx2"/>
                </a:solidFill>
              </a:rPr>
              <a:t>國立高雄第一科技大學</a:t>
            </a:r>
            <a:endParaRPr lang="en-US" altLang="zh-TW" sz="2000" b="0" dirty="0">
              <a:solidFill>
                <a:schemeClr val="tx2"/>
              </a:solidFill>
            </a:endParaRPr>
          </a:p>
          <a:p>
            <a:pPr algn="l">
              <a:spcBef>
                <a:spcPts val="600"/>
              </a:spcBef>
            </a:pPr>
            <a:r>
              <a:rPr lang="zh-TW" altLang="en-US" sz="2000" b="0" dirty="0">
                <a:solidFill>
                  <a:schemeClr val="tx2"/>
                </a:solidFill>
              </a:rPr>
              <a:t>資訊管理系</a:t>
            </a:r>
            <a:endParaRPr lang="en-US" altLang="zh-TW" sz="2000" b="0" dirty="0">
              <a:solidFill>
                <a:schemeClr val="tx2"/>
              </a:solidFill>
            </a:endParaRPr>
          </a:p>
        </p:txBody>
      </p:sp>
      <p:cxnSp>
        <p:nvCxnSpPr>
          <p:cNvPr id="93" name="直接连接符 92"/>
          <p:cNvCxnSpPr>
            <a:cxnSpLocks/>
          </p:cNvCxnSpPr>
          <p:nvPr/>
        </p:nvCxnSpPr>
        <p:spPr>
          <a:xfrm flipV="1">
            <a:off x="7344883" y="2333328"/>
            <a:ext cx="0" cy="1599728"/>
          </a:xfrm>
          <a:prstGeom prst="line">
            <a:avLst/>
          </a:prstGeom>
          <a:ln w="19050">
            <a:solidFill>
              <a:schemeClr val="tx2">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26" name="直接连接符 92">
            <a:extLst>
              <a:ext uri="{FF2B5EF4-FFF2-40B4-BE49-F238E27FC236}">
                <a16:creationId xmlns:a16="http://schemas.microsoft.com/office/drawing/2014/main" id="{52390D70-BF02-4AF7-B165-086763EDDB69}"/>
              </a:ext>
            </a:extLst>
          </p:cNvPr>
          <p:cNvCxnSpPr>
            <a:cxnSpLocks/>
          </p:cNvCxnSpPr>
          <p:nvPr/>
        </p:nvCxnSpPr>
        <p:spPr>
          <a:xfrm flipV="1">
            <a:off x="7344883" y="4715271"/>
            <a:ext cx="0" cy="1594049"/>
          </a:xfrm>
          <a:prstGeom prst="line">
            <a:avLst/>
          </a:prstGeom>
          <a:ln w="19050">
            <a:solidFill>
              <a:schemeClr val="tx2">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A8DBA468-986A-4B16-A046-2E8E54FCCDFA}"/>
              </a:ext>
            </a:extLst>
          </p:cNvPr>
          <p:cNvCxnSpPr/>
          <p:nvPr/>
        </p:nvCxnSpPr>
        <p:spPr>
          <a:xfrm>
            <a:off x="1370309" y="1268760"/>
            <a:ext cx="3312368" cy="0"/>
          </a:xfrm>
          <a:prstGeom prst="line">
            <a:avLst/>
          </a:prstGeom>
          <a:ln w="285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3BB9AB47-7D61-4980-A5A5-F56FF34EF83F}"/>
              </a:ext>
            </a:extLst>
          </p:cNvPr>
          <p:cNvSpPr txBox="1"/>
          <p:nvPr/>
        </p:nvSpPr>
        <p:spPr>
          <a:xfrm>
            <a:off x="7997085" y="943853"/>
            <a:ext cx="1210588" cy="400110"/>
          </a:xfrm>
          <a:prstGeom prst="rect">
            <a:avLst/>
          </a:prstGeom>
          <a:noFill/>
        </p:spPr>
        <p:txBody>
          <a:bodyPr wrap="non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zh-TW" altLang="en-US" sz="2000" dirty="0">
                <a:solidFill>
                  <a:schemeClr val="tx2"/>
                </a:solidFill>
              </a:rPr>
              <a:t>學歷背景</a:t>
            </a:r>
            <a:endParaRPr lang="zh-CN" altLang="en-US" sz="2000" dirty="0">
              <a:solidFill>
                <a:schemeClr val="bg1">
                  <a:lumMod val="95000"/>
                </a:schemeClr>
              </a:solidFill>
            </a:endParaRPr>
          </a:p>
        </p:txBody>
      </p:sp>
      <p:cxnSp>
        <p:nvCxnSpPr>
          <p:cNvPr id="19" name="直線接點 18">
            <a:extLst>
              <a:ext uri="{FF2B5EF4-FFF2-40B4-BE49-F238E27FC236}">
                <a16:creationId xmlns:a16="http://schemas.microsoft.com/office/drawing/2014/main" id="{5E9BB0CC-75CF-45CC-AE2C-F1AA439526E9}"/>
              </a:ext>
            </a:extLst>
          </p:cNvPr>
          <p:cNvCxnSpPr/>
          <p:nvPr/>
        </p:nvCxnSpPr>
        <p:spPr>
          <a:xfrm>
            <a:off x="1370309" y="6165304"/>
            <a:ext cx="3312368" cy="0"/>
          </a:xfrm>
          <a:prstGeom prst="line">
            <a:avLst/>
          </a:prstGeom>
          <a:ln w="285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38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23093"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32"/>
          <p:cNvSpPr txBox="1"/>
          <p:nvPr/>
        </p:nvSpPr>
        <p:spPr>
          <a:xfrm>
            <a:off x="666337" y="1718123"/>
            <a:ext cx="5215226" cy="4585871"/>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en-US" altLang="zh-TW" sz="1800" dirty="0">
                <a:solidFill>
                  <a:schemeClr val="tx2">
                    <a:lumMod val="20000"/>
                    <a:lumOff val="80000"/>
                  </a:schemeClr>
                </a:solidFill>
              </a:rPr>
              <a:t>MES</a:t>
            </a:r>
            <a:r>
              <a:rPr lang="zh-TW" altLang="en-US" sz="1800" dirty="0">
                <a:solidFill>
                  <a:schemeClr val="tx2">
                    <a:lumMod val="20000"/>
                    <a:lumOff val="80000"/>
                  </a:schemeClr>
                </a:solidFill>
              </a:rPr>
              <a:t> 系統開發工程師</a:t>
            </a:r>
          </a:p>
          <a:p>
            <a:pPr algn="l"/>
            <a:endParaRPr lang="en-US" altLang="zh-TW" sz="1000" b="0" dirty="0">
              <a:solidFill>
                <a:schemeClr val="tx2">
                  <a:lumMod val="20000"/>
                  <a:lumOff val="80000"/>
                </a:schemeClr>
              </a:solidFill>
            </a:endParaRPr>
          </a:p>
          <a:p>
            <a:pPr algn="l"/>
            <a:r>
              <a:rPr lang="zh-TW" altLang="en-US" sz="1600" b="0" dirty="0">
                <a:solidFill>
                  <a:schemeClr val="tx2">
                    <a:lumMod val="20000"/>
                    <a:lumOff val="80000"/>
                  </a:schemeClr>
                </a:solidFill>
              </a:rPr>
              <a:t>友達光電股份有限公司 </a:t>
            </a:r>
            <a:r>
              <a:rPr lang="en-US" altLang="zh-TW" sz="1400" b="0" dirty="0">
                <a:solidFill>
                  <a:schemeClr val="tx2">
                    <a:lumMod val="20000"/>
                    <a:lumOff val="80000"/>
                  </a:schemeClr>
                </a:solidFill>
              </a:rPr>
              <a:t>(2022.10</a:t>
            </a:r>
            <a:r>
              <a:rPr lang="zh-TW" altLang="en-US" sz="1400" b="0" dirty="0">
                <a:solidFill>
                  <a:schemeClr val="tx2">
                    <a:lumMod val="20000"/>
                    <a:lumOff val="80000"/>
                  </a:schemeClr>
                </a:solidFill>
              </a:rPr>
              <a:t> </a:t>
            </a:r>
            <a:r>
              <a:rPr lang="en-US" altLang="zh-TW" sz="1400" b="0" dirty="0">
                <a:solidFill>
                  <a:schemeClr val="tx2">
                    <a:lumMod val="20000"/>
                    <a:lumOff val="80000"/>
                  </a:schemeClr>
                </a:solidFill>
              </a:rPr>
              <a:t>~</a:t>
            </a:r>
            <a:r>
              <a:rPr lang="zh-TW" altLang="en-US" sz="1400" b="0" dirty="0">
                <a:solidFill>
                  <a:schemeClr val="tx2">
                    <a:lumMod val="20000"/>
                    <a:lumOff val="80000"/>
                  </a:schemeClr>
                </a:solidFill>
              </a:rPr>
              <a:t> </a:t>
            </a:r>
            <a:r>
              <a:rPr lang="en-US" altLang="zh-TW" sz="1400" b="0" dirty="0">
                <a:solidFill>
                  <a:schemeClr val="tx2">
                    <a:lumMod val="20000"/>
                    <a:lumOff val="80000"/>
                  </a:schemeClr>
                </a:solidFill>
              </a:rPr>
              <a:t>2025.07)</a:t>
            </a:r>
          </a:p>
          <a:p>
            <a:pPr algn="l"/>
            <a:endParaRPr lang="en-US" altLang="zh-TW" sz="2000" b="0" dirty="0">
              <a:solidFill>
                <a:schemeClr val="tx2">
                  <a:lumMod val="20000"/>
                  <a:lumOff val="80000"/>
                </a:schemeClr>
              </a:solidFill>
            </a:endParaRPr>
          </a:p>
          <a:p>
            <a:pPr marL="285750" indent="-285750" algn="l">
              <a:spcBef>
                <a:spcPts val="600"/>
              </a:spcBef>
              <a:buFont typeface="Arial" panose="020B0604020202020204" pitchFamily="34" charset="0"/>
              <a:buChar char="•"/>
            </a:pPr>
            <a:r>
              <a:rPr lang="en-US" altLang="zh-TW" sz="1600" b="0" dirty="0">
                <a:solidFill>
                  <a:schemeClr val="tx2">
                    <a:lumMod val="20000"/>
                    <a:lumOff val="80000"/>
                  </a:schemeClr>
                </a:solidFill>
              </a:rPr>
              <a:t>Micro</a:t>
            </a:r>
            <a:r>
              <a:rPr lang="zh-TW" altLang="en-US" sz="1600" b="0" dirty="0">
                <a:solidFill>
                  <a:schemeClr val="tx2">
                    <a:lumMod val="20000"/>
                    <a:lumOff val="80000"/>
                  </a:schemeClr>
                </a:solidFill>
              </a:rPr>
              <a:t> </a:t>
            </a:r>
            <a:r>
              <a:rPr lang="en-US" altLang="zh-TW" sz="1600" b="0" dirty="0">
                <a:solidFill>
                  <a:schemeClr val="tx2">
                    <a:lumMod val="20000"/>
                    <a:lumOff val="80000"/>
                  </a:schemeClr>
                </a:solidFill>
              </a:rPr>
              <a:t>LED </a:t>
            </a:r>
            <a:r>
              <a:rPr lang="en-US" altLang="zh-TW" sz="1600" dirty="0">
                <a:solidFill>
                  <a:schemeClr val="tx2">
                    <a:lumMod val="20000"/>
                    <a:lumOff val="80000"/>
                  </a:schemeClr>
                </a:solidFill>
              </a:rPr>
              <a:t>AI</a:t>
            </a:r>
            <a:r>
              <a:rPr lang="zh-TW" altLang="en-US" sz="1600" dirty="0">
                <a:solidFill>
                  <a:schemeClr val="tx2">
                    <a:lumMod val="20000"/>
                    <a:lumOff val="80000"/>
                  </a:schemeClr>
                </a:solidFill>
              </a:rPr>
              <a:t>模型校正偏移</a:t>
            </a:r>
            <a:r>
              <a:rPr lang="zh-TW" altLang="en-US" sz="1600" b="0" dirty="0">
                <a:solidFill>
                  <a:schemeClr val="tx2">
                    <a:lumMod val="20000"/>
                    <a:lumOff val="80000"/>
                  </a:schemeClr>
                </a:solidFill>
              </a:rPr>
              <a:t>點位</a:t>
            </a:r>
          </a:p>
          <a:p>
            <a:pPr marL="285750" indent="-285750" algn="l">
              <a:spcBef>
                <a:spcPts val="600"/>
              </a:spcBef>
              <a:buFont typeface="Arial" panose="020B0604020202020204" pitchFamily="34" charset="0"/>
              <a:buChar char="•"/>
            </a:pPr>
            <a:r>
              <a:rPr lang="en-US" altLang="zh-TW" sz="1600" b="0" dirty="0">
                <a:solidFill>
                  <a:schemeClr val="tx2">
                    <a:lumMod val="20000"/>
                    <a:lumOff val="80000"/>
                  </a:schemeClr>
                </a:solidFill>
              </a:rPr>
              <a:t>Micro</a:t>
            </a:r>
            <a:r>
              <a:rPr lang="zh-TW" altLang="en-US" sz="1600" b="0" dirty="0">
                <a:solidFill>
                  <a:schemeClr val="tx2">
                    <a:lumMod val="20000"/>
                    <a:lumOff val="80000"/>
                  </a:schemeClr>
                </a:solidFill>
              </a:rPr>
              <a:t> </a:t>
            </a:r>
            <a:r>
              <a:rPr lang="en-US" altLang="zh-TW" sz="1600" b="0" dirty="0">
                <a:solidFill>
                  <a:schemeClr val="tx2">
                    <a:lumMod val="20000"/>
                    <a:lumOff val="80000"/>
                  </a:schemeClr>
                </a:solidFill>
              </a:rPr>
              <a:t>LED</a:t>
            </a:r>
            <a:r>
              <a:rPr lang="zh-TW" altLang="en-US" sz="1600" b="0" dirty="0">
                <a:solidFill>
                  <a:schemeClr val="tx2">
                    <a:lumMod val="20000"/>
                    <a:lumOff val="80000"/>
                  </a:schemeClr>
                </a:solidFill>
              </a:rPr>
              <a:t>演算法開發：</a:t>
            </a:r>
            <a:r>
              <a:rPr lang="en-US" altLang="zh-TW" sz="1600" b="0" dirty="0">
                <a:solidFill>
                  <a:schemeClr val="tx2">
                    <a:lumMod val="20000"/>
                    <a:lumOff val="80000"/>
                  </a:schemeClr>
                </a:solidFill>
              </a:rPr>
              <a:t>Mass Transfer, Repair, Bonding,</a:t>
            </a:r>
            <a:r>
              <a:rPr lang="zh-TW" altLang="en-US" sz="1600" b="0" dirty="0">
                <a:solidFill>
                  <a:schemeClr val="tx2">
                    <a:lumMod val="20000"/>
                    <a:lumOff val="80000"/>
                  </a:schemeClr>
                </a:solidFill>
              </a:rPr>
              <a:t> </a:t>
            </a:r>
            <a:r>
              <a:rPr lang="en-US" altLang="zh-TW" sz="1600" b="0" dirty="0">
                <a:solidFill>
                  <a:schemeClr val="tx2">
                    <a:lumMod val="20000"/>
                    <a:lumOff val="80000"/>
                  </a:schemeClr>
                </a:solidFill>
              </a:rPr>
              <a:t>Total Pitch</a:t>
            </a:r>
          </a:p>
          <a:p>
            <a:pPr marL="285750" indent="-285750" algn="l">
              <a:spcBef>
                <a:spcPts val="600"/>
              </a:spcBef>
              <a:buFont typeface="Arial" panose="020B0604020202020204" pitchFamily="34" charset="0"/>
              <a:buChar char="•"/>
            </a:pPr>
            <a:r>
              <a:rPr lang="en-US" altLang="zh-TW" sz="1600" dirty="0">
                <a:solidFill>
                  <a:schemeClr val="tx2">
                    <a:lumMod val="20000"/>
                    <a:lumOff val="80000"/>
                  </a:schemeClr>
                </a:solidFill>
              </a:rPr>
              <a:t>Azure</a:t>
            </a:r>
            <a:r>
              <a:rPr lang="zh-TW" altLang="en-US" sz="1600" dirty="0">
                <a:solidFill>
                  <a:schemeClr val="tx2">
                    <a:lumMod val="20000"/>
                    <a:lumOff val="80000"/>
                  </a:schemeClr>
                </a:solidFill>
              </a:rPr>
              <a:t> 雲端</a:t>
            </a:r>
            <a:r>
              <a:rPr lang="zh-TW" altLang="en-US" sz="1600" b="0" dirty="0">
                <a:solidFill>
                  <a:schemeClr val="tx2">
                    <a:lumMod val="20000"/>
                    <a:lumOff val="80000"/>
                  </a:schemeClr>
                </a:solidFill>
              </a:rPr>
              <a:t>技術：</a:t>
            </a:r>
            <a:r>
              <a:rPr lang="en-US" altLang="zh-TW" sz="1600" b="0" dirty="0">
                <a:solidFill>
                  <a:schemeClr val="tx2">
                    <a:lumMod val="20000"/>
                    <a:lumOff val="80000"/>
                  </a:schemeClr>
                </a:solidFill>
              </a:rPr>
              <a:t>App Service, Databricks, Azcopy, Serverless</a:t>
            </a:r>
            <a:r>
              <a:rPr lang="zh-TW" altLang="en-US" sz="1600" b="0" dirty="0">
                <a:solidFill>
                  <a:schemeClr val="tx2">
                    <a:lumMod val="20000"/>
                    <a:lumOff val="80000"/>
                  </a:schemeClr>
                </a:solidFill>
              </a:rPr>
              <a:t> 等應用</a:t>
            </a:r>
          </a:p>
          <a:p>
            <a:pPr marL="285750" indent="-285750" algn="l">
              <a:spcBef>
                <a:spcPts val="600"/>
              </a:spcBef>
              <a:buFont typeface="Arial" panose="020B0604020202020204" pitchFamily="34" charset="0"/>
              <a:buChar char="•"/>
            </a:pPr>
            <a:r>
              <a:rPr lang="zh-TW" altLang="en-US" sz="1600" b="0" dirty="0">
                <a:solidFill>
                  <a:schemeClr val="tx2">
                    <a:lumMod val="20000"/>
                    <a:lumOff val="80000"/>
                  </a:schemeClr>
                </a:solidFill>
              </a:rPr>
              <a:t>進行</a:t>
            </a:r>
            <a:r>
              <a:rPr lang="zh-TW" altLang="en-US" sz="1600" dirty="0">
                <a:solidFill>
                  <a:schemeClr val="tx2">
                    <a:lumMod val="20000"/>
                    <a:lumOff val="80000"/>
                  </a:schemeClr>
                </a:solidFill>
              </a:rPr>
              <a:t>需求與系統分析</a:t>
            </a:r>
            <a:r>
              <a:rPr lang="zh-TW" altLang="en-US" sz="1600" b="0" dirty="0">
                <a:solidFill>
                  <a:schemeClr val="tx2">
                    <a:lumMod val="20000"/>
                    <a:lumOff val="80000"/>
                  </a:schemeClr>
                </a:solidFill>
              </a:rPr>
              <a:t>，確保系統設計符合業務需求</a:t>
            </a:r>
          </a:p>
          <a:p>
            <a:pPr marL="285750" indent="-285750" algn="l">
              <a:spcBef>
                <a:spcPts val="600"/>
              </a:spcBef>
              <a:buFont typeface="Arial" panose="020B0604020202020204" pitchFamily="34" charset="0"/>
              <a:buChar char="•"/>
            </a:pPr>
            <a:r>
              <a:rPr lang="zh-TW" altLang="en-US" sz="1600" b="0" dirty="0">
                <a:solidFill>
                  <a:schemeClr val="tx2">
                    <a:lumMod val="20000"/>
                    <a:lumOff val="80000"/>
                  </a:schemeClr>
                </a:solidFill>
              </a:rPr>
              <a:t>網頁</a:t>
            </a:r>
            <a:r>
              <a:rPr lang="zh-TW" altLang="en-US" sz="1600" dirty="0">
                <a:solidFill>
                  <a:schemeClr val="tx2">
                    <a:lumMod val="20000"/>
                    <a:lumOff val="80000"/>
                  </a:schemeClr>
                </a:solidFill>
              </a:rPr>
              <a:t>全端開發</a:t>
            </a:r>
            <a:r>
              <a:rPr lang="zh-TW" altLang="en-US" sz="1600" b="0" dirty="0">
                <a:solidFill>
                  <a:schemeClr val="tx2">
                    <a:lumMod val="20000"/>
                    <a:lumOff val="80000"/>
                  </a:schemeClr>
                </a:solidFill>
              </a:rPr>
              <a:t>：前端使用 </a:t>
            </a:r>
            <a:r>
              <a:rPr lang="en-US" altLang="zh-TW" sz="1600" b="0" dirty="0">
                <a:solidFill>
                  <a:schemeClr val="tx2">
                    <a:lumMod val="20000"/>
                    <a:lumOff val="80000"/>
                  </a:schemeClr>
                </a:solidFill>
              </a:rPr>
              <a:t>BootstrapVue, JavaScript</a:t>
            </a:r>
            <a:r>
              <a:rPr lang="zh-TW" altLang="en-US" sz="1600" b="0" dirty="0">
                <a:solidFill>
                  <a:schemeClr val="tx2">
                    <a:lumMod val="20000"/>
                    <a:lumOff val="80000"/>
                  </a:schemeClr>
                </a:solidFill>
              </a:rPr>
              <a:t>，後端使用 </a:t>
            </a:r>
            <a:r>
              <a:rPr lang="en-US" altLang="zh-TW" sz="1600" b="0" dirty="0">
                <a:solidFill>
                  <a:schemeClr val="tx2">
                    <a:lumMod val="20000"/>
                    <a:lumOff val="80000"/>
                  </a:schemeClr>
                </a:solidFill>
              </a:rPr>
              <a:t>Java</a:t>
            </a:r>
            <a:r>
              <a:rPr lang="zh-TW" altLang="en-US" sz="1600" b="0" dirty="0">
                <a:solidFill>
                  <a:schemeClr val="tx2">
                    <a:lumMod val="20000"/>
                    <a:lumOff val="80000"/>
                  </a:schemeClr>
                </a:solidFill>
              </a:rPr>
              <a:t> 開發</a:t>
            </a:r>
          </a:p>
          <a:p>
            <a:pPr marL="285750" indent="-285750" algn="l">
              <a:spcBef>
                <a:spcPts val="600"/>
              </a:spcBef>
              <a:buFont typeface="Arial" panose="020B0604020202020204" pitchFamily="34" charset="0"/>
              <a:buChar char="•"/>
            </a:pPr>
            <a:r>
              <a:rPr lang="zh-TW" altLang="en-US" sz="1600" b="0" dirty="0">
                <a:solidFill>
                  <a:schemeClr val="tx2">
                    <a:lumMod val="20000"/>
                    <a:lumOff val="80000"/>
                  </a:schemeClr>
                </a:solidFill>
              </a:rPr>
              <a:t>設計和實作 </a:t>
            </a:r>
            <a:r>
              <a:rPr lang="en-US" altLang="zh-TW" sz="1600" dirty="0">
                <a:solidFill>
                  <a:schemeClr val="tx2">
                    <a:lumMod val="20000"/>
                    <a:lumOff val="80000"/>
                  </a:schemeClr>
                </a:solidFill>
              </a:rPr>
              <a:t>Restful API</a:t>
            </a:r>
            <a:r>
              <a:rPr lang="zh-TW" altLang="en-US" sz="1600" b="0" dirty="0">
                <a:solidFill>
                  <a:schemeClr val="tx2">
                    <a:lumMod val="20000"/>
                    <a:lumOff val="80000"/>
                  </a:schemeClr>
                </a:solidFill>
              </a:rPr>
              <a:t>，使系統間高效互通</a:t>
            </a:r>
          </a:p>
          <a:p>
            <a:pPr marL="285750" indent="-285750" algn="l">
              <a:spcBef>
                <a:spcPts val="600"/>
              </a:spcBef>
              <a:buFont typeface="Arial" panose="020B0604020202020204" pitchFamily="34" charset="0"/>
              <a:buChar char="•"/>
            </a:pPr>
            <a:r>
              <a:rPr lang="zh-TW" altLang="en-US" sz="1600" dirty="0">
                <a:solidFill>
                  <a:schemeClr val="tx2">
                    <a:lumMod val="20000"/>
                    <a:lumOff val="80000"/>
                  </a:schemeClr>
                </a:solidFill>
              </a:rPr>
              <a:t>資料庫</a:t>
            </a:r>
            <a:r>
              <a:rPr lang="zh-TW" altLang="en-US" sz="1600" b="0" dirty="0">
                <a:solidFill>
                  <a:schemeClr val="tx2">
                    <a:lumMod val="20000"/>
                    <a:lumOff val="80000"/>
                  </a:schemeClr>
                </a:solidFill>
              </a:rPr>
              <a:t>應用：</a:t>
            </a:r>
            <a:r>
              <a:rPr lang="en-US" altLang="zh-TW" sz="1600" b="0" dirty="0">
                <a:solidFill>
                  <a:schemeClr val="tx2">
                    <a:lumMod val="20000"/>
                    <a:lumOff val="80000"/>
                  </a:schemeClr>
                </a:solidFill>
              </a:rPr>
              <a:t>Oracle,</a:t>
            </a:r>
            <a:r>
              <a:rPr lang="zh-TW" altLang="en-US" sz="1600" b="0" dirty="0">
                <a:solidFill>
                  <a:schemeClr val="tx2">
                    <a:lumMod val="20000"/>
                    <a:lumOff val="80000"/>
                  </a:schemeClr>
                </a:solidFill>
              </a:rPr>
              <a:t> </a:t>
            </a:r>
            <a:r>
              <a:rPr lang="en-US" altLang="zh-TW" sz="1600" b="0" dirty="0">
                <a:solidFill>
                  <a:schemeClr val="tx2">
                    <a:lumMod val="20000"/>
                    <a:lumOff val="80000"/>
                  </a:schemeClr>
                </a:solidFill>
              </a:rPr>
              <a:t>MongoDB, MS SQL</a:t>
            </a:r>
          </a:p>
          <a:p>
            <a:pPr algn="l">
              <a:spcBef>
                <a:spcPts val="600"/>
              </a:spcBef>
            </a:pPr>
            <a:endParaRPr lang="zh-TW" altLang="en-US" sz="1400" b="0" dirty="0">
              <a:solidFill>
                <a:schemeClr val="tx2">
                  <a:lumMod val="20000"/>
                  <a:lumOff val="80000"/>
                </a:schemeClr>
              </a:solidFill>
            </a:endParaRPr>
          </a:p>
          <a:p>
            <a:pPr algn="l"/>
            <a:r>
              <a:rPr lang="fr-FR" altLang="zh-TW" sz="1400" b="0" dirty="0">
                <a:solidFill>
                  <a:schemeClr val="tx2">
                    <a:lumMod val="20000"/>
                    <a:lumOff val="80000"/>
                  </a:schemeClr>
                </a:solidFill>
              </a:rPr>
              <a:t>#MES #Azure #MicroLED #Java #Python #JavaScript</a:t>
            </a:r>
            <a:endParaRPr lang="en-US" altLang="zh-TW" sz="1400" b="0" dirty="0">
              <a:solidFill>
                <a:schemeClr val="tx2">
                  <a:lumMod val="20000"/>
                  <a:lumOff val="80000"/>
                </a:schemeClr>
              </a:solidFill>
            </a:endParaRPr>
          </a:p>
        </p:txBody>
      </p:sp>
      <p:sp>
        <p:nvSpPr>
          <p:cNvPr id="87" name="文本框 33"/>
          <p:cNvSpPr txBox="1"/>
          <p:nvPr/>
        </p:nvSpPr>
        <p:spPr>
          <a:xfrm>
            <a:off x="6853349" y="1718123"/>
            <a:ext cx="4932871" cy="3893374"/>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en-US" altLang="zh-TW" sz="1800" dirty="0">
                <a:solidFill>
                  <a:schemeClr val="tx2"/>
                </a:solidFill>
              </a:rPr>
              <a:t>AI</a:t>
            </a:r>
            <a:r>
              <a:rPr lang="zh-TW" altLang="en-US" sz="1800" dirty="0">
                <a:solidFill>
                  <a:schemeClr val="tx2"/>
                </a:solidFill>
              </a:rPr>
              <a:t> 軟體工程師</a:t>
            </a:r>
            <a:endParaRPr lang="en-US" altLang="zh-TW" sz="1800" dirty="0">
              <a:solidFill>
                <a:schemeClr val="tx2"/>
              </a:solidFill>
            </a:endParaRPr>
          </a:p>
          <a:p>
            <a:pPr algn="l"/>
            <a:endParaRPr lang="en-US" altLang="zh-TW" sz="1000" b="0" dirty="0">
              <a:solidFill>
                <a:schemeClr val="tx2"/>
              </a:solidFill>
            </a:endParaRPr>
          </a:p>
          <a:p>
            <a:pPr algn="l"/>
            <a:r>
              <a:rPr lang="zh-TW" altLang="en-US" sz="1600" b="0" dirty="0">
                <a:solidFill>
                  <a:schemeClr val="tx2"/>
                </a:solidFill>
              </a:rPr>
              <a:t>杭特電子股份有限公司</a:t>
            </a:r>
            <a:r>
              <a:rPr lang="en-US" altLang="zh-TW" sz="1600" b="0" dirty="0">
                <a:solidFill>
                  <a:schemeClr val="tx2"/>
                </a:solidFill>
              </a:rPr>
              <a:t> </a:t>
            </a:r>
            <a:r>
              <a:rPr lang="en-US" altLang="zh-TW" sz="1400" b="0" dirty="0">
                <a:solidFill>
                  <a:schemeClr val="tx2"/>
                </a:solidFill>
              </a:rPr>
              <a:t>(2020.09</a:t>
            </a:r>
            <a:r>
              <a:rPr lang="zh-TW" altLang="en-US" sz="1400" b="0" dirty="0">
                <a:solidFill>
                  <a:schemeClr val="tx2"/>
                </a:solidFill>
              </a:rPr>
              <a:t> </a:t>
            </a:r>
            <a:r>
              <a:rPr lang="en-US" altLang="zh-TW" sz="1400" b="0" dirty="0">
                <a:solidFill>
                  <a:schemeClr val="tx2"/>
                </a:solidFill>
              </a:rPr>
              <a:t>~</a:t>
            </a:r>
            <a:r>
              <a:rPr lang="zh-TW" altLang="en-US" sz="1400" b="0" dirty="0">
                <a:solidFill>
                  <a:schemeClr val="tx2"/>
                </a:solidFill>
              </a:rPr>
              <a:t> </a:t>
            </a:r>
            <a:r>
              <a:rPr lang="en-US" altLang="zh-TW" sz="1400" b="0" dirty="0">
                <a:solidFill>
                  <a:schemeClr val="tx2"/>
                </a:solidFill>
              </a:rPr>
              <a:t>2022.09)</a:t>
            </a:r>
          </a:p>
          <a:p>
            <a:pPr algn="l"/>
            <a:endParaRPr lang="en-US" altLang="zh-TW" sz="2000" b="0" dirty="0">
              <a:solidFill>
                <a:schemeClr val="tx2"/>
              </a:solidFill>
            </a:endParaRPr>
          </a:p>
          <a:p>
            <a:pPr algn="l">
              <a:spcBef>
                <a:spcPts val="600"/>
              </a:spcBef>
            </a:pPr>
            <a:r>
              <a:rPr lang="zh-TW" altLang="en-US" sz="1600" b="0" dirty="0">
                <a:solidFill>
                  <a:schemeClr val="tx2"/>
                </a:solidFill>
              </a:rPr>
              <a:t>主要負責</a:t>
            </a:r>
            <a:r>
              <a:rPr lang="en-US" altLang="zh-TW" sz="1600" dirty="0">
                <a:solidFill>
                  <a:schemeClr val="tx2"/>
                </a:solidFill>
              </a:rPr>
              <a:t>Edge</a:t>
            </a:r>
            <a:r>
              <a:rPr lang="zh-TW" altLang="en-US" sz="1600" dirty="0">
                <a:solidFill>
                  <a:schemeClr val="tx2"/>
                </a:solidFill>
              </a:rPr>
              <a:t>端</a:t>
            </a:r>
            <a:r>
              <a:rPr lang="zh-TW" altLang="en-US" sz="1600" b="0" dirty="0">
                <a:solidFill>
                  <a:schemeClr val="tx2"/>
                </a:solidFill>
              </a:rPr>
              <a:t>人工智慧</a:t>
            </a:r>
            <a:r>
              <a:rPr lang="zh-TW" altLang="en-US" sz="1600" dirty="0">
                <a:solidFill>
                  <a:schemeClr val="tx2"/>
                </a:solidFill>
              </a:rPr>
              <a:t>影像辨識</a:t>
            </a:r>
            <a:r>
              <a:rPr lang="zh-TW" altLang="en-US" sz="1600" b="0" dirty="0">
                <a:solidFill>
                  <a:schemeClr val="tx2"/>
                </a:solidFill>
              </a:rPr>
              <a:t>功能開發</a:t>
            </a:r>
          </a:p>
          <a:p>
            <a:pPr marL="285750" indent="-285750" algn="l">
              <a:spcBef>
                <a:spcPts val="600"/>
              </a:spcBef>
              <a:buFont typeface="Arial" panose="020B0604020202020204" pitchFamily="34" charset="0"/>
              <a:buChar char="•"/>
            </a:pPr>
            <a:r>
              <a:rPr lang="zh-TW" altLang="en-US" sz="1600" b="0" dirty="0">
                <a:solidFill>
                  <a:schemeClr val="tx2"/>
                </a:solidFill>
              </a:rPr>
              <a:t>與相關廠商合作智慧家庭</a:t>
            </a:r>
            <a:r>
              <a:rPr lang="en-US" altLang="zh-TW" sz="1600" b="0" dirty="0">
                <a:solidFill>
                  <a:schemeClr val="tx2"/>
                </a:solidFill>
              </a:rPr>
              <a:t>(</a:t>
            </a:r>
            <a:r>
              <a:rPr lang="zh-TW" altLang="en-US" sz="1600" dirty="0">
                <a:solidFill>
                  <a:schemeClr val="tx2"/>
                </a:solidFill>
              </a:rPr>
              <a:t>跌倒偵測</a:t>
            </a:r>
            <a:r>
              <a:rPr lang="en-US" altLang="zh-TW" sz="1600" b="0" dirty="0">
                <a:solidFill>
                  <a:schemeClr val="tx2"/>
                </a:solidFill>
              </a:rPr>
              <a:t>)</a:t>
            </a:r>
          </a:p>
          <a:p>
            <a:pPr marL="285750" indent="-285750" algn="l">
              <a:spcBef>
                <a:spcPts val="600"/>
              </a:spcBef>
              <a:buFont typeface="Arial" panose="020B0604020202020204" pitchFamily="34" charset="0"/>
              <a:buChar char="•"/>
            </a:pPr>
            <a:r>
              <a:rPr lang="zh-TW" altLang="en-US" sz="1600" b="0" dirty="0">
                <a:solidFill>
                  <a:schemeClr val="tx2"/>
                </a:solidFill>
              </a:rPr>
              <a:t>開發停車場 </a:t>
            </a:r>
            <a:r>
              <a:rPr lang="en-US" altLang="zh-TW" sz="1600" b="0" dirty="0">
                <a:solidFill>
                  <a:schemeClr val="tx2"/>
                </a:solidFill>
              </a:rPr>
              <a:t>/ </a:t>
            </a:r>
            <a:r>
              <a:rPr lang="zh-TW" altLang="en-US" sz="1600" b="0" dirty="0">
                <a:solidFill>
                  <a:schemeClr val="tx2"/>
                </a:solidFill>
              </a:rPr>
              <a:t>道路行進間</a:t>
            </a:r>
            <a:r>
              <a:rPr lang="zh-TW" altLang="en-US" sz="1600" dirty="0">
                <a:solidFill>
                  <a:schemeClr val="tx2"/>
                </a:solidFill>
              </a:rPr>
              <a:t>車牌辨識</a:t>
            </a:r>
          </a:p>
          <a:p>
            <a:pPr marL="285750" indent="-285750" algn="l">
              <a:spcBef>
                <a:spcPts val="600"/>
              </a:spcBef>
              <a:buFont typeface="Arial" panose="020B0604020202020204" pitchFamily="34" charset="0"/>
              <a:buChar char="•"/>
            </a:pPr>
            <a:r>
              <a:rPr lang="zh-TW" altLang="en-US" sz="1600" b="0" dirty="0">
                <a:solidFill>
                  <a:schemeClr val="tx2"/>
                </a:solidFill>
              </a:rPr>
              <a:t>開發</a:t>
            </a:r>
            <a:r>
              <a:rPr lang="zh-TW" altLang="en-US" sz="1600" dirty="0">
                <a:solidFill>
                  <a:schemeClr val="tx2"/>
                </a:solidFill>
              </a:rPr>
              <a:t>智慧牧場</a:t>
            </a:r>
            <a:r>
              <a:rPr lang="zh-TW" altLang="en-US" sz="1600" b="0" dirty="0">
                <a:solidFill>
                  <a:schemeClr val="tx2"/>
                </a:solidFill>
              </a:rPr>
              <a:t>，配合管理系統</a:t>
            </a:r>
          </a:p>
          <a:p>
            <a:pPr marL="285750" indent="-285750" algn="l">
              <a:spcBef>
                <a:spcPts val="600"/>
              </a:spcBef>
              <a:buFont typeface="Arial" panose="020B0604020202020204" pitchFamily="34" charset="0"/>
              <a:buChar char="•"/>
            </a:pPr>
            <a:r>
              <a:rPr lang="zh-TW" altLang="en-US" sz="1600" b="0" dirty="0">
                <a:solidFill>
                  <a:schemeClr val="tx2"/>
                </a:solidFill>
              </a:rPr>
              <a:t>提供賣場 </a:t>
            </a:r>
            <a:r>
              <a:rPr lang="en-US" altLang="zh-TW" sz="1600" b="0" dirty="0">
                <a:solidFill>
                  <a:schemeClr val="tx2"/>
                </a:solidFill>
              </a:rPr>
              <a:t>/ </a:t>
            </a:r>
            <a:r>
              <a:rPr lang="zh-TW" altLang="en-US" sz="1600" b="0" dirty="0">
                <a:solidFill>
                  <a:schemeClr val="tx2"/>
                </a:solidFill>
              </a:rPr>
              <a:t>大樓入口管制</a:t>
            </a:r>
            <a:r>
              <a:rPr lang="en-US" altLang="zh-TW" sz="1600" b="0" dirty="0">
                <a:solidFill>
                  <a:schemeClr val="tx2"/>
                </a:solidFill>
              </a:rPr>
              <a:t>(</a:t>
            </a:r>
            <a:r>
              <a:rPr lang="zh-TW" altLang="en-US" sz="1600" b="0" dirty="0">
                <a:solidFill>
                  <a:schemeClr val="tx2"/>
                </a:solidFill>
              </a:rPr>
              <a:t>口罩辨識</a:t>
            </a:r>
            <a:r>
              <a:rPr lang="en-US" altLang="zh-TW" sz="1600" b="0" dirty="0">
                <a:solidFill>
                  <a:schemeClr val="tx2"/>
                </a:solidFill>
              </a:rPr>
              <a:t>+</a:t>
            </a:r>
            <a:r>
              <a:rPr lang="zh-TW" altLang="en-US" sz="1600" b="0" dirty="0">
                <a:solidFill>
                  <a:schemeClr val="tx2"/>
                </a:solidFill>
              </a:rPr>
              <a:t>體  溫測量</a:t>
            </a:r>
            <a:r>
              <a:rPr lang="en-US" altLang="zh-TW" sz="1600" b="0" dirty="0">
                <a:solidFill>
                  <a:schemeClr val="tx2"/>
                </a:solidFill>
              </a:rPr>
              <a:t>)</a:t>
            </a:r>
          </a:p>
          <a:p>
            <a:pPr marL="285750" indent="-285750" algn="l">
              <a:spcBef>
                <a:spcPts val="600"/>
              </a:spcBef>
              <a:buFont typeface="Arial" panose="020B0604020202020204" pitchFamily="34" charset="0"/>
              <a:buChar char="•"/>
            </a:pPr>
            <a:r>
              <a:rPr lang="zh-TW" altLang="en-US" sz="1600" b="0" dirty="0">
                <a:solidFill>
                  <a:schemeClr val="tx2"/>
                </a:solidFill>
              </a:rPr>
              <a:t>整合人流計數、電子圍籬、跨線等功能</a:t>
            </a:r>
          </a:p>
          <a:p>
            <a:pPr marL="285750" indent="-285750" algn="l">
              <a:spcBef>
                <a:spcPts val="600"/>
              </a:spcBef>
              <a:buFont typeface="Arial" panose="020B0604020202020204" pitchFamily="34" charset="0"/>
              <a:buChar char="•"/>
            </a:pPr>
            <a:r>
              <a:rPr lang="zh-TW" altLang="en-US" sz="1600" b="0" dirty="0">
                <a:solidFill>
                  <a:schemeClr val="tx2"/>
                </a:solidFill>
              </a:rPr>
              <a:t>提供辦公室打卡系統</a:t>
            </a:r>
            <a:r>
              <a:rPr lang="en-US" altLang="zh-TW" sz="1600" b="0" dirty="0">
                <a:solidFill>
                  <a:schemeClr val="tx2"/>
                </a:solidFill>
              </a:rPr>
              <a:t>(</a:t>
            </a:r>
            <a:r>
              <a:rPr lang="zh-TW" altLang="en-US" sz="1600" dirty="0">
                <a:solidFill>
                  <a:schemeClr val="tx2"/>
                </a:solidFill>
              </a:rPr>
              <a:t>人臉辨識</a:t>
            </a:r>
            <a:r>
              <a:rPr lang="en-US" altLang="zh-TW" sz="1600" b="0" dirty="0">
                <a:solidFill>
                  <a:schemeClr val="tx2"/>
                </a:solidFill>
              </a:rPr>
              <a:t>)</a:t>
            </a:r>
          </a:p>
          <a:p>
            <a:pPr algn="l"/>
            <a:endParaRPr lang="en-US" altLang="zh-TW" sz="1800" b="0" dirty="0">
              <a:solidFill>
                <a:schemeClr val="tx2"/>
              </a:solidFill>
            </a:endParaRPr>
          </a:p>
          <a:p>
            <a:pPr algn="l"/>
            <a:r>
              <a:rPr lang="en-US" altLang="zh-TW" sz="1400" b="0" dirty="0">
                <a:solidFill>
                  <a:schemeClr val="tx2"/>
                </a:solidFill>
              </a:rPr>
              <a:t>#C #Python #Linux</a:t>
            </a:r>
          </a:p>
        </p:txBody>
      </p:sp>
      <p:cxnSp>
        <p:nvCxnSpPr>
          <p:cNvPr id="93" name="直接连接符 92"/>
          <p:cNvCxnSpPr>
            <a:cxnSpLocks/>
          </p:cNvCxnSpPr>
          <p:nvPr/>
        </p:nvCxnSpPr>
        <p:spPr>
          <a:xfrm flipV="1">
            <a:off x="408955" y="1892350"/>
            <a:ext cx="0" cy="4411644"/>
          </a:xfrm>
          <a:prstGeom prst="line">
            <a:avLst/>
          </a:prstGeom>
          <a:ln w="19050">
            <a:solidFill>
              <a:schemeClr val="tx2">
                <a:lumMod val="20000"/>
                <a:lumOff val="8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26" name="直接连接符 92">
            <a:extLst>
              <a:ext uri="{FF2B5EF4-FFF2-40B4-BE49-F238E27FC236}">
                <a16:creationId xmlns:a16="http://schemas.microsoft.com/office/drawing/2014/main" id="{52390D70-BF02-4AF7-B165-086763EDDB69}"/>
              </a:ext>
            </a:extLst>
          </p:cNvPr>
          <p:cNvCxnSpPr>
            <a:cxnSpLocks/>
          </p:cNvCxnSpPr>
          <p:nvPr/>
        </p:nvCxnSpPr>
        <p:spPr>
          <a:xfrm flipV="1">
            <a:off x="6601643" y="1883016"/>
            <a:ext cx="0" cy="3728481"/>
          </a:xfrm>
          <a:prstGeom prst="line">
            <a:avLst/>
          </a:prstGeom>
          <a:ln w="19050">
            <a:solidFill>
              <a:schemeClr val="tx2">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3BB9AB47-7D61-4980-A5A5-F56FF34EF83F}"/>
              </a:ext>
            </a:extLst>
          </p:cNvPr>
          <p:cNvSpPr txBox="1"/>
          <p:nvPr/>
        </p:nvSpPr>
        <p:spPr>
          <a:xfrm>
            <a:off x="1501816" y="706448"/>
            <a:ext cx="1210588" cy="400110"/>
          </a:xfrm>
          <a:prstGeom prst="rect">
            <a:avLst/>
          </a:prstGeom>
          <a:noFill/>
        </p:spPr>
        <p:txBody>
          <a:bodyPr wrap="non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r>
              <a:rPr lang="zh-TW" altLang="en-US" sz="2000" dirty="0">
                <a:solidFill>
                  <a:schemeClr val="tx2">
                    <a:lumMod val="20000"/>
                    <a:lumOff val="80000"/>
                  </a:schemeClr>
                </a:solidFill>
              </a:rPr>
              <a:t>工作經歷</a:t>
            </a:r>
            <a:endParaRPr lang="zh-CN" altLang="en-US" sz="2000" dirty="0">
              <a:solidFill>
                <a:schemeClr val="tx2">
                  <a:lumMod val="20000"/>
                  <a:lumOff val="80000"/>
                </a:schemeClr>
              </a:solidFill>
            </a:endParaRPr>
          </a:p>
        </p:txBody>
      </p:sp>
      <p:grpSp>
        <p:nvGrpSpPr>
          <p:cNvPr id="27" name="群組 26">
            <a:extLst>
              <a:ext uri="{FF2B5EF4-FFF2-40B4-BE49-F238E27FC236}">
                <a16:creationId xmlns:a16="http://schemas.microsoft.com/office/drawing/2014/main" id="{ADD213FB-1614-4C25-A71E-A85F7DD79EC8}"/>
              </a:ext>
            </a:extLst>
          </p:cNvPr>
          <p:cNvGrpSpPr>
            <a:grpSpLocks noChangeAspect="1"/>
          </p:cNvGrpSpPr>
          <p:nvPr/>
        </p:nvGrpSpPr>
        <p:grpSpPr>
          <a:xfrm>
            <a:off x="242839" y="325931"/>
            <a:ext cx="1197852" cy="1080000"/>
            <a:chOff x="2057839" y="2406733"/>
            <a:chExt cx="1698798" cy="1531660"/>
          </a:xfrm>
        </p:grpSpPr>
        <p:grpSp>
          <p:nvGrpSpPr>
            <p:cNvPr id="28" name="组合 47">
              <a:extLst>
                <a:ext uri="{FF2B5EF4-FFF2-40B4-BE49-F238E27FC236}">
                  <a16:creationId xmlns:a16="http://schemas.microsoft.com/office/drawing/2014/main" id="{CE2C0142-B546-4243-8DB6-3940A3F46993}"/>
                </a:ext>
              </a:extLst>
            </p:cNvPr>
            <p:cNvGrpSpPr/>
            <p:nvPr/>
          </p:nvGrpSpPr>
          <p:grpSpPr>
            <a:xfrm>
              <a:off x="2057839" y="2406733"/>
              <a:ext cx="1698798" cy="1531660"/>
              <a:chOff x="3720691" y="2824413"/>
              <a:chExt cx="1341120" cy="1209172"/>
            </a:xfrm>
          </p:grpSpPr>
          <p:sp>
            <p:nvSpPr>
              <p:cNvPr id="34" name="Freeform 5">
                <a:extLst>
                  <a:ext uri="{FF2B5EF4-FFF2-40B4-BE49-F238E27FC236}">
                    <a16:creationId xmlns:a16="http://schemas.microsoft.com/office/drawing/2014/main" id="{E8612692-2FB6-464C-9FB9-C3F35C032918}"/>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5">
                <a:extLst>
                  <a:ext uri="{FF2B5EF4-FFF2-40B4-BE49-F238E27FC236}">
                    <a16:creationId xmlns:a16="http://schemas.microsoft.com/office/drawing/2014/main" id="{0787BCB5-5C86-4037-BE84-A66BB03A81B4}"/>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29" name="Freeform 5">
              <a:extLst>
                <a:ext uri="{FF2B5EF4-FFF2-40B4-BE49-F238E27FC236}">
                  <a16:creationId xmlns:a16="http://schemas.microsoft.com/office/drawing/2014/main" id="{DCE2D84B-8FA5-4F16-B0F9-298B54A0A309}"/>
                </a:ext>
              </a:extLst>
            </p:cNvPr>
            <p:cNvSpPr>
              <a:spLocks/>
            </p:cNvSpPr>
            <p:nvPr/>
          </p:nvSpPr>
          <p:spPr bwMode="auto">
            <a:xfrm rot="1855731">
              <a:off x="2174167" y="2511615"/>
              <a:ext cx="1466142" cy="132189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tx2"/>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4" name="Freeform 145">
            <a:extLst>
              <a:ext uri="{FF2B5EF4-FFF2-40B4-BE49-F238E27FC236}">
                <a16:creationId xmlns:a16="http://schemas.microsoft.com/office/drawing/2014/main" id="{7CEBF22B-2195-4B2B-B6F4-C49BD9D0A405}"/>
              </a:ext>
            </a:extLst>
          </p:cNvPr>
          <p:cNvSpPr>
            <a:spLocks noEditPoints="1"/>
          </p:cNvSpPr>
          <p:nvPr/>
        </p:nvSpPr>
        <p:spPr bwMode="auto">
          <a:xfrm>
            <a:off x="666337" y="644893"/>
            <a:ext cx="400438" cy="603937"/>
          </a:xfrm>
          <a:custGeom>
            <a:avLst/>
            <a:gdLst>
              <a:gd name="T0" fmla="*/ 92 w 122"/>
              <a:gd name="T1" fmla="*/ 98 h 184"/>
              <a:gd name="T2" fmla="*/ 80 w 122"/>
              <a:gd name="T3" fmla="*/ 55 h 184"/>
              <a:gd name="T4" fmla="*/ 111 w 122"/>
              <a:gd name="T5" fmla="*/ 73 h 184"/>
              <a:gd name="T6" fmla="*/ 122 w 122"/>
              <a:gd name="T7" fmla="*/ 117 h 184"/>
              <a:gd name="T8" fmla="*/ 92 w 122"/>
              <a:gd name="T9" fmla="*/ 98 h 184"/>
              <a:gd name="T10" fmla="*/ 31 w 122"/>
              <a:gd name="T11" fmla="*/ 36 h 184"/>
              <a:gd name="T12" fmla="*/ 18 w 122"/>
              <a:gd name="T13" fmla="*/ 0 h 184"/>
              <a:gd name="T14" fmla="*/ 80 w 122"/>
              <a:gd name="T15" fmla="*/ 0 h 184"/>
              <a:gd name="T16" fmla="*/ 67 w 122"/>
              <a:gd name="T17" fmla="*/ 36 h 184"/>
              <a:gd name="T18" fmla="*/ 31 w 122"/>
              <a:gd name="T19" fmla="*/ 36 h 184"/>
              <a:gd name="T20" fmla="*/ 67 w 122"/>
              <a:gd name="T21" fmla="*/ 43 h 184"/>
              <a:gd name="T22" fmla="*/ 89 w 122"/>
              <a:gd name="T23" fmla="*/ 112 h 184"/>
              <a:gd name="T24" fmla="*/ 90 w 122"/>
              <a:gd name="T25" fmla="*/ 112 h 184"/>
              <a:gd name="T26" fmla="*/ 89 w 122"/>
              <a:gd name="T27" fmla="*/ 113 h 184"/>
              <a:gd name="T28" fmla="*/ 98 w 122"/>
              <a:gd name="T29" fmla="*/ 141 h 184"/>
              <a:gd name="T30" fmla="*/ 49 w 122"/>
              <a:gd name="T31" fmla="*/ 184 h 184"/>
              <a:gd name="T32" fmla="*/ 0 w 122"/>
              <a:gd name="T33" fmla="*/ 141 h 184"/>
              <a:gd name="T34" fmla="*/ 31 w 122"/>
              <a:gd name="T35" fmla="*/ 43 h 184"/>
              <a:gd name="T36" fmla="*/ 67 w 122"/>
              <a:gd name="T37" fmla="*/ 43 h 184"/>
              <a:gd name="T38" fmla="*/ 55 w 122"/>
              <a:gd name="T39" fmla="*/ 55 h 184"/>
              <a:gd name="T40" fmla="*/ 43 w 122"/>
              <a:gd name="T41" fmla="*/ 55 h 184"/>
              <a:gd name="T42" fmla="*/ 35 w 122"/>
              <a:gd name="T43" fmla="*/ 81 h 184"/>
              <a:gd name="T44" fmla="*/ 56 w 122"/>
              <a:gd name="T45" fmla="*/ 60 h 184"/>
              <a:gd name="T46" fmla="*/ 55 w 122"/>
              <a:gd name="T47" fmla="*/ 55 h 184"/>
              <a:gd name="T48" fmla="*/ 49 w 122"/>
              <a:gd name="T49" fmla="*/ 166 h 184"/>
              <a:gd name="T50" fmla="*/ 80 w 122"/>
              <a:gd name="T51" fmla="*/ 135 h 184"/>
              <a:gd name="T52" fmla="*/ 77 w 122"/>
              <a:gd name="T53" fmla="*/ 125 h 184"/>
              <a:gd name="T54" fmla="*/ 43 w 122"/>
              <a:gd name="T55" fmla="*/ 160 h 184"/>
              <a:gd name="T56" fmla="*/ 49 w 122"/>
              <a:gd name="T57" fmla="*/ 166 h 184"/>
              <a:gd name="T58" fmla="*/ 33 w 122"/>
              <a:gd name="T59" fmla="*/ 149 h 184"/>
              <a:gd name="T60" fmla="*/ 72 w 122"/>
              <a:gd name="T61" fmla="*/ 110 h 184"/>
              <a:gd name="T62" fmla="*/ 68 w 122"/>
              <a:gd name="T63" fmla="*/ 98 h 184"/>
              <a:gd name="T64" fmla="*/ 25 w 122"/>
              <a:gd name="T65" fmla="*/ 141 h 184"/>
              <a:gd name="T66" fmla="*/ 33 w 122"/>
              <a:gd name="T67" fmla="*/ 149 h 184"/>
              <a:gd name="T68" fmla="*/ 21 w 122"/>
              <a:gd name="T69" fmla="*/ 128 h 184"/>
              <a:gd name="T70" fmla="*/ 64 w 122"/>
              <a:gd name="T71" fmla="*/ 84 h 184"/>
              <a:gd name="T72" fmla="*/ 61 w 122"/>
              <a:gd name="T73" fmla="*/ 73 h 184"/>
              <a:gd name="T74" fmla="*/ 27 w 122"/>
              <a:gd name="T75" fmla="*/ 106 h 184"/>
              <a:gd name="T76" fmla="*/ 21 w 122"/>
              <a:gd name="T77" fmla="*/ 128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2" h="184">
                <a:moveTo>
                  <a:pt x="92" y="98"/>
                </a:moveTo>
                <a:lnTo>
                  <a:pt x="80" y="55"/>
                </a:lnTo>
                <a:lnTo>
                  <a:pt x="111" y="73"/>
                </a:lnTo>
                <a:lnTo>
                  <a:pt x="122" y="117"/>
                </a:lnTo>
                <a:lnTo>
                  <a:pt x="92" y="98"/>
                </a:lnTo>
                <a:close/>
                <a:moveTo>
                  <a:pt x="31" y="36"/>
                </a:moveTo>
                <a:lnTo>
                  <a:pt x="18" y="0"/>
                </a:lnTo>
                <a:lnTo>
                  <a:pt x="80" y="0"/>
                </a:lnTo>
                <a:lnTo>
                  <a:pt x="67" y="36"/>
                </a:lnTo>
                <a:lnTo>
                  <a:pt x="31" y="36"/>
                </a:lnTo>
                <a:close/>
                <a:moveTo>
                  <a:pt x="67" y="43"/>
                </a:moveTo>
                <a:lnTo>
                  <a:pt x="89" y="112"/>
                </a:lnTo>
                <a:lnTo>
                  <a:pt x="90" y="112"/>
                </a:lnTo>
                <a:lnTo>
                  <a:pt x="89" y="113"/>
                </a:lnTo>
                <a:lnTo>
                  <a:pt x="98" y="141"/>
                </a:lnTo>
                <a:lnTo>
                  <a:pt x="49" y="184"/>
                </a:lnTo>
                <a:lnTo>
                  <a:pt x="0" y="141"/>
                </a:lnTo>
                <a:lnTo>
                  <a:pt x="31" y="43"/>
                </a:lnTo>
                <a:lnTo>
                  <a:pt x="67" y="43"/>
                </a:lnTo>
                <a:close/>
                <a:moveTo>
                  <a:pt x="55" y="55"/>
                </a:moveTo>
                <a:lnTo>
                  <a:pt x="43" y="55"/>
                </a:lnTo>
                <a:lnTo>
                  <a:pt x="35" y="81"/>
                </a:lnTo>
                <a:lnTo>
                  <a:pt x="56" y="60"/>
                </a:lnTo>
                <a:lnTo>
                  <a:pt x="55" y="55"/>
                </a:lnTo>
                <a:close/>
                <a:moveTo>
                  <a:pt x="49" y="166"/>
                </a:moveTo>
                <a:lnTo>
                  <a:pt x="80" y="135"/>
                </a:lnTo>
                <a:lnTo>
                  <a:pt x="77" y="125"/>
                </a:lnTo>
                <a:lnTo>
                  <a:pt x="43" y="160"/>
                </a:lnTo>
                <a:lnTo>
                  <a:pt x="49" y="166"/>
                </a:lnTo>
                <a:close/>
                <a:moveTo>
                  <a:pt x="33" y="149"/>
                </a:moveTo>
                <a:lnTo>
                  <a:pt x="72" y="110"/>
                </a:lnTo>
                <a:lnTo>
                  <a:pt x="68" y="98"/>
                </a:lnTo>
                <a:lnTo>
                  <a:pt x="25" y="141"/>
                </a:lnTo>
                <a:lnTo>
                  <a:pt x="33" y="149"/>
                </a:lnTo>
                <a:close/>
                <a:moveTo>
                  <a:pt x="21" y="128"/>
                </a:moveTo>
                <a:lnTo>
                  <a:pt x="64" y="84"/>
                </a:lnTo>
                <a:lnTo>
                  <a:pt x="61" y="73"/>
                </a:lnTo>
                <a:lnTo>
                  <a:pt x="27" y="106"/>
                </a:lnTo>
                <a:lnTo>
                  <a:pt x="21" y="12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70296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6ADB1-8DF7-F245-0B66-E419AE2CDB8A}"/>
            </a:ext>
          </a:extLst>
        </p:cNvPr>
        <p:cNvGrpSpPr/>
        <p:nvPr/>
      </p:nvGrpSpPr>
      <p:grpSpPr>
        <a:xfrm>
          <a:off x="0" y="0"/>
          <a:ext cx="0" cy="0"/>
          <a:chOff x="0" y="0"/>
          <a:chExt cx="0" cy="0"/>
        </a:xfrm>
      </p:grpSpPr>
      <p:sp>
        <p:nvSpPr>
          <p:cNvPr id="73" name="矩形 72">
            <a:extLst>
              <a:ext uri="{FF2B5EF4-FFF2-40B4-BE49-F238E27FC236}">
                <a16:creationId xmlns:a16="http://schemas.microsoft.com/office/drawing/2014/main" id="{00F1BB2F-B15A-C2B6-E38B-D14CD664FC74}"/>
              </a:ext>
            </a:extLst>
          </p:cNvPr>
          <p:cNvSpPr/>
          <p:nvPr/>
        </p:nvSpPr>
        <p:spPr>
          <a:xfrm>
            <a:off x="-23093" y="0"/>
            <a:ext cx="936104"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D7443167-D402-DCC3-0A40-A055B2979277}"/>
              </a:ext>
            </a:extLst>
          </p:cNvPr>
          <p:cNvGrpSpPr/>
          <p:nvPr/>
        </p:nvGrpSpPr>
        <p:grpSpPr>
          <a:xfrm>
            <a:off x="552971" y="188640"/>
            <a:ext cx="670560" cy="604586"/>
            <a:chOff x="5424755" y="1340768"/>
            <a:chExt cx="670560" cy="604586"/>
          </a:xfrm>
        </p:grpSpPr>
        <p:grpSp>
          <p:nvGrpSpPr>
            <p:cNvPr id="16" name="组合 15">
              <a:extLst>
                <a:ext uri="{FF2B5EF4-FFF2-40B4-BE49-F238E27FC236}">
                  <a16:creationId xmlns:a16="http://schemas.microsoft.com/office/drawing/2014/main" id="{95D17E49-F176-7263-9E38-1ED4632213FF}"/>
                </a:ext>
              </a:extLst>
            </p:cNvPr>
            <p:cNvGrpSpPr/>
            <p:nvPr/>
          </p:nvGrpSpPr>
          <p:grpSpPr>
            <a:xfrm>
              <a:off x="5424755" y="1340768"/>
              <a:ext cx="670560" cy="604586"/>
              <a:chOff x="3720691" y="2824413"/>
              <a:chExt cx="1341120" cy="1209172"/>
            </a:xfrm>
          </p:grpSpPr>
          <p:sp>
            <p:nvSpPr>
              <p:cNvPr id="18" name="Freeform 5">
                <a:extLst>
                  <a:ext uri="{FF2B5EF4-FFF2-40B4-BE49-F238E27FC236}">
                    <a16:creationId xmlns:a16="http://schemas.microsoft.com/office/drawing/2014/main" id="{A7305272-0768-BB5A-57E0-B1EB0F8A20BE}"/>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5">
                <a:extLst>
                  <a:ext uri="{FF2B5EF4-FFF2-40B4-BE49-F238E27FC236}">
                    <a16:creationId xmlns:a16="http://schemas.microsoft.com/office/drawing/2014/main" id="{126C6124-4429-76A9-5421-C04D90489CDF}"/>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17" name="Freeform 5">
              <a:extLst>
                <a:ext uri="{FF2B5EF4-FFF2-40B4-BE49-F238E27FC236}">
                  <a16:creationId xmlns:a16="http://schemas.microsoft.com/office/drawing/2014/main" id="{03EF5406-4B96-666F-0A65-127DCB077DC4}"/>
                </a:ext>
              </a:extLst>
            </p:cNvPr>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0" name="文本框 9">
            <a:extLst>
              <a:ext uri="{FF2B5EF4-FFF2-40B4-BE49-F238E27FC236}">
                <a16:creationId xmlns:a16="http://schemas.microsoft.com/office/drawing/2014/main" id="{57CF5960-CCFF-DBD7-21AF-DABC1D9F7923}"/>
              </a:ext>
            </a:extLst>
          </p:cNvPr>
          <p:cNvSpPr txBox="1"/>
          <p:nvPr/>
        </p:nvSpPr>
        <p:spPr>
          <a:xfrm>
            <a:off x="1270163" y="307422"/>
            <a:ext cx="2883208" cy="346249"/>
          </a:xfrm>
          <a:prstGeom prst="rect">
            <a:avLst/>
          </a:prstGeom>
          <a:noFill/>
        </p:spPr>
        <p:txBody>
          <a:bodyPr wrap="square" lIns="68580" tIns="34290" rIns="68580" bIns="34290" rtlCol="0">
            <a:spAutoFit/>
          </a:bodyPr>
          <a:lstStyle/>
          <a:p>
            <a:pPr marL="0" lvl="1"/>
            <a:r>
              <a:rPr lang="zh-TW" altLang="en-US" dirty="0">
                <a:solidFill>
                  <a:srgbClr val="414455"/>
                </a:solidFill>
                <a:latin typeface="微软雅黑" pitchFamily="34" charset="-122"/>
                <a:ea typeface="微软雅黑" pitchFamily="34" charset="-122"/>
              </a:rPr>
              <a:t>碩士論文</a:t>
            </a:r>
            <a:endParaRPr lang="zh-CN" altLang="en-US" dirty="0">
              <a:solidFill>
                <a:srgbClr val="414455"/>
              </a:solidFill>
              <a:latin typeface="微软雅黑" pitchFamily="34" charset="-122"/>
              <a:ea typeface="微软雅黑" pitchFamily="34" charset="-122"/>
            </a:endParaRPr>
          </a:p>
        </p:txBody>
      </p:sp>
      <p:cxnSp>
        <p:nvCxnSpPr>
          <p:cNvPr id="21" name="直接连接符 21">
            <a:extLst>
              <a:ext uri="{FF2B5EF4-FFF2-40B4-BE49-F238E27FC236}">
                <a16:creationId xmlns:a16="http://schemas.microsoft.com/office/drawing/2014/main" id="{C18C70D9-532D-0863-1A6C-BDA6A7ADB0BE}"/>
              </a:ext>
            </a:extLst>
          </p:cNvPr>
          <p:cNvCxnSpPr/>
          <p:nvPr/>
        </p:nvCxnSpPr>
        <p:spPr>
          <a:xfrm>
            <a:off x="1342171" y="667462"/>
            <a:ext cx="9723968"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2">
            <a:extLst>
              <a:ext uri="{FF2B5EF4-FFF2-40B4-BE49-F238E27FC236}">
                <a16:creationId xmlns:a16="http://schemas.microsoft.com/office/drawing/2014/main" id="{02C2F507-B13F-DFFB-D55C-8B770D4D2E17}"/>
              </a:ext>
            </a:extLst>
          </p:cNvPr>
          <p:cNvGrpSpPr/>
          <p:nvPr/>
        </p:nvGrpSpPr>
        <p:grpSpPr>
          <a:xfrm>
            <a:off x="11239467" y="459431"/>
            <a:ext cx="258720" cy="233265"/>
            <a:chOff x="3720691" y="2824413"/>
            <a:chExt cx="1341120" cy="1209172"/>
          </a:xfrm>
        </p:grpSpPr>
        <p:sp>
          <p:nvSpPr>
            <p:cNvPr id="23" name="Freeform 5">
              <a:extLst>
                <a:ext uri="{FF2B5EF4-FFF2-40B4-BE49-F238E27FC236}">
                  <a16:creationId xmlns:a16="http://schemas.microsoft.com/office/drawing/2014/main" id="{60EC9DD6-E391-907F-6484-91F5C0220BD7}"/>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25" name="Freeform 5">
              <a:extLst>
                <a:ext uri="{FF2B5EF4-FFF2-40B4-BE49-F238E27FC236}">
                  <a16:creationId xmlns:a16="http://schemas.microsoft.com/office/drawing/2014/main" id="{C56C1F78-5E9B-C9EA-75FA-A729FA9D83BF}"/>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sp>
        <p:nvSpPr>
          <p:cNvPr id="30" name="文本框 9">
            <a:extLst>
              <a:ext uri="{FF2B5EF4-FFF2-40B4-BE49-F238E27FC236}">
                <a16:creationId xmlns:a16="http://schemas.microsoft.com/office/drawing/2014/main" id="{60EB4630-6256-D492-43FC-BAECE2C66EA0}"/>
              </a:ext>
            </a:extLst>
          </p:cNvPr>
          <p:cNvSpPr txBox="1"/>
          <p:nvPr/>
        </p:nvSpPr>
        <p:spPr>
          <a:xfrm>
            <a:off x="10706099" y="332656"/>
            <a:ext cx="432048" cy="346249"/>
          </a:xfrm>
          <a:prstGeom prst="rect">
            <a:avLst/>
          </a:prstGeom>
          <a:noFill/>
        </p:spPr>
        <p:txBody>
          <a:bodyPr wrap="square" lIns="68580" tIns="34290" rIns="68580" bIns="34290" rtlCol="0">
            <a:spAutoFit/>
          </a:bodyPr>
          <a:lstStyle/>
          <a:p>
            <a:pPr marL="0" lvl="1"/>
            <a:fld id="{019C1566-F6BD-42DB-B252-562BB8CFF26B}" type="slidenum">
              <a:rPr lang="en-US" altLang="zh-CN">
                <a:solidFill>
                  <a:srgbClr val="414455"/>
                </a:solidFill>
                <a:latin typeface="方正兰亭黑简体" panose="02000000000000000000" pitchFamily="2" charset="-122"/>
                <a:ea typeface="方正兰亭黑简体" panose="02000000000000000000" pitchFamily="2" charset="-122"/>
              </a:rPr>
              <a:t>3</a:t>
            </a:fld>
            <a:endParaRPr lang="zh-CN" altLang="en-US" dirty="0">
              <a:solidFill>
                <a:srgbClr val="414455"/>
              </a:solidFill>
              <a:latin typeface="方正兰亭黑简体" panose="02000000000000000000" pitchFamily="2" charset="-122"/>
              <a:ea typeface="方正兰亭黑简体" panose="02000000000000000000" pitchFamily="2" charset="-122"/>
            </a:endParaRPr>
          </a:p>
        </p:txBody>
      </p:sp>
      <p:sp>
        <p:nvSpPr>
          <p:cNvPr id="31" name="Freeform 206">
            <a:extLst>
              <a:ext uri="{FF2B5EF4-FFF2-40B4-BE49-F238E27FC236}">
                <a16:creationId xmlns:a16="http://schemas.microsoft.com/office/drawing/2014/main" id="{81A10E41-8586-B701-D858-87D52E9C5340}"/>
              </a:ext>
            </a:extLst>
          </p:cNvPr>
          <p:cNvSpPr>
            <a:spLocks noChangeAspect="1" noEditPoints="1"/>
          </p:cNvSpPr>
          <p:nvPr/>
        </p:nvSpPr>
        <p:spPr bwMode="auto">
          <a:xfrm>
            <a:off x="778198" y="302246"/>
            <a:ext cx="290724" cy="35142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3" name="文字方塊 2">
            <a:extLst>
              <a:ext uri="{FF2B5EF4-FFF2-40B4-BE49-F238E27FC236}">
                <a16:creationId xmlns:a16="http://schemas.microsoft.com/office/drawing/2014/main" id="{19FA16CF-5559-5FBA-E6B6-21AA63080636}"/>
              </a:ext>
            </a:extLst>
          </p:cNvPr>
          <p:cNvSpPr txBox="1"/>
          <p:nvPr/>
        </p:nvSpPr>
        <p:spPr>
          <a:xfrm>
            <a:off x="1342171" y="1417711"/>
            <a:ext cx="10188909" cy="2120902"/>
          </a:xfrm>
          <a:prstGeom prst="rect">
            <a:avLst/>
          </a:prstGeom>
          <a:noFill/>
        </p:spPr>
        <p:txBody>
          <a:bodyPr wrap="square" rtlCol="0">
            <a:spAutoFit/>
          </a:bodyPr>
          <a:lstStyle/>
          <a:p>
            <a:pPr eaLnBrk="0" fontAlgn="base" hangingPunct="0">
              <a:lnSpc>
                <a:spcPct val="150000"/>
              </a:lnSpc>
              <a:spcBef>
                <a:spcPct val="0"/>
              </a:spcBef>
              <a:spcAft>
                <a:spcPct val="0"/>
              </a:spcAft>
            </a:pPr>
            <a:r>
              <a:rPr lang="zh-TW" altLang="en-US" b="1" dirty="0">
                <a:solidFill>
                  <a:srgbClr val="414455"/>
                </a:solidFill>
                <a:latin typeface="微软雅黑" panose="020B0503020204020204" pitchFamily="34" charset="-122"/>
                <a:ea typeface="微软雅黑" panose="020B0503020204020204" pitchFamily="34" charset="-122"/>
              </a:rPr>
              <a:t>利用深度影像基於長短期記憶網路進行人體動作辨識及異常行為分析</a:t>
            </a:r>
          </a:p>
          <a:p>
            <a:pPr eaLnBrk="0" fontAlgn="base" hangingPunct="0">
              <a:lnSpc>
                <a:spcPct val="150000"/>
              </a:lnSpc>
              <a:spcBef>
                <a:spcPct val="0"/>
              </a:spcBef>
              <a:spcAft>
                <a:spcPct val="0"/>
              </a:spcAft>
            </a:pPr>
            <a:r>
              <a:rPr lang="zh-TW" altLang="en-US" dirty="0">
                <a:solidFill>
                  <a:srgbClr val="414455"/>
                </a:solidFill>
                <a:latin typeface="微软雅黑" panose="020B0503020204020204" pitchFamily="34" charset="-122"/>
                <a:ea typeface="微软雅黑" panose="020B0503020204020204" pitchFamily="34" charset="-122"/>
              </a:rPr>
              <a:t>論文發表於</a:t>
            </a:r>
            <a:r>
              <a:rPr lang="zh-TW" altLang="en-US" dirty="0">
                <a:solidFill>
                  <a:srgbClr val="C00000"/>
                </a:solidFill>
                <a:latin typeface="微软雅黑" panose="020B0503020204020204" pitchFamily="34" charset="-122"/>
                <a:ea typeface="微软雅黑" panose="020B0503020204020204" pitchFamily="34" charset="-122"/>
              </a:rPr>
              <a:t>國際研討會 </a:t>
            </a:r>
            <a:r>
              <a:rPr lang="en-US" altLang="zh-TW" dirty="0">
                <a:solidFill>
                  <a:srgbClr val="C00000"/>
                </a:solidFill>
                <a:latin typeface="微软雅黑" panose="020B0503020204020204" pitchFamily="34" charset="-122"/>
                <a:ea typeface="微软雅黑" panose="020B0503020204020204" pitchFamily="34" charset="-122"/>
              </a:rPr>
              <a:t>(IMP)</a:t>
            </a:r>
            <a:r>
              <a:rPr lang="zh-TW" altLang="en-US" dirty="0">
                <a:solidFill>
                  <a:srgbClr val="414455"/>
                </a:solidFill>
                <a:latin typeface="微软雅黑" panose="020B0503020204020204" pitchFamily="34" charset="-122"/>
                <a:ea typeface="微软雅黑" panose="020B0503020204020204" pitchFamily="34" charset="-122"/>
              </a:rPr>
              <a:t>，研究主題為運用 </a:t>
            </a:r>
            <a:r>
              <a:rPr lang="en-US" altLang="zh-TW" dirty="0">
                <a:solidFill>
                  <a:srgbClr val="414455"/>
                </a:solidFill>
                <a:latin typeface="微软雅黑" panose="020B0503020204020204" pitchFamily="34" charset="-122"/>
                <a:ea typeface="微软雅黑" panose="020B0503020204020204" pitchFamily="34" charset="-122"/>
              </a:rPr>
              <a:t>ToF </a:t>
            </a:r>
            <a:r>
              <a:rPr lang="zh-TW" altLang="en-US" dirty="0">
                <a:solidFill>
                  <a:srgbClr val="414455"/>
                </a:solidFill>
                <a:latin typeface="微软雅黑" panose="020B0503020204020204" pitchFamily="34" charset="-122"/>
                <a:ea typeface="微软雅黑" panose="020B0503020204020204" pitchFamily="34" charset="-122"/>
              </a:rPr>
              <a:t>深度影像感測進行 </a:t>
            </a:r>
            <a:r>
              <a:rPr lang="en-US" altLang="zh-TW" dirty="0">
                <a:solidFill>
                  <a:srgbClr val="414455"/>
                </a:solidFill>
                <a:latin typeface="微软雅黑" panose="020B0503020204020204" pitchFamily="34" charset="-122"/>
                <a:ea typeface="微软雅黑" panose="020B0503020204020204" pitchFamily="34" charset="-122"/>
              </a:rPr>
              <a:t>3D </a:t>
            </a:r>
            <a:r>
              <a:rPr lang="zh-TW" altLang="en-US" dirty="0">
                <a:solidFill>
                  <a:srgbClr val="414455"/>
                </a:solidFill>
                <a:latin typeface="微软雅黑" panose="020B0503020204020204" pitchFamily="34" charset="-122"/>
                <a:ea typeface="微软雅黑" panose="020B0503020204020204" pitchFamily="34" charset="-122"/>
              </a:rPr>
              <a:t>影像辨識，解決隱私問題，並結合 </a:t>
            </a:r>
            <a:r>
              <a:rPr lang="en-US" altLang="zh-TW" dirty="0">
                <a:solidFill>
                  <a:srgbClr val="C00000"/>
                </a:solidFill>
                <a:latin typeface="微软雅黑" panose="020B0503020204020204" pitchFamily="34" charset="-122"/>
                <a:ea typeface="微软雅黑" panose="020B0503020204020204" pitchFamily="34" charset="-122"/>
              </a:rPr>
              <a:t>LSTM </a:t>
            </a:r>
            <a:r>
              <a:rPr lang="zh-TW" altLang="en-US" dirty="0">
                <a:solidFill>
                  <a:srgbClr val="C00000"/>
                </a:solidFill>
                <a:latin typeface="微软雅黑" panose="020B0503020204020204" pitchFamily="34" charset="-122"/>
                <a:ea typeface="微软雅黑" panose="020B0503020204020204" pitchFamily="34" charset="-122"/>
              </a:rPr>
              <a:t>模型</a:t>
            </a:r>
            <a:r>
              <a:rPr lang="zh-TW" altLang="en-US" dirty="0">
                <a:solidFill>
                  <a:srgbClr val="414455"/>
                </a:solidFill>
                <a:latin typeface="微软雅黑" panose="020B0503020204020204" pitchFamily="34" charset="-122"/>
                <a:ea typeface="微软雅黑" panose="020B0503020204020204" pitchFamily="34" charset="-122"/>
              </a:rPr>
              <a:t>進行人體連續動作與</a:t>
            </a:r>
            <a:r>
              <a:rPr lang="zh-TW" altLang="en-US" dirty="0">
                <a:solidFill>
                  <a:srgbClr val="C00000"/>
                </a:solidFill>
                <a:latin typeface="微软雅黑" panose="020B0503020204020204" pitchFamily="34" charset="-122"/>
                <a:ea typeface="微软雅黑" panose="020B0503020204020204" pitchFamily="34" charset="-122"/>
              </a:rPr>
              <a:t>異常行為分析</a:t>
            </a:r>
            <a:r>
              <a:rPr lang="zh-TW" altLang="en-US" dirty="0">
                <a:solidFill>
                  <a:srgbClr val="414455"/>
                </a:solidFill>
                <a:latin typeface="微软雅黑" panose="020B0503020204020204" pitchFamily="34" charset="-122"/>
                <a:ea typeface="微软雅黑" panose="020B0503020204020204" pitchFamily="34" charset="-122"/>
              </a:rPr>
              <a:t>。系統可即時偵測跌倒等異常狀況，目的在於協助長照機構追蹤年長者狀態，降低意外未即時處理的風險，為醫療照護領域提供</a:t>
            </a:r>
            <a:r>
              <a:rPr lang="zh-TW" altLang="en-US" dirty="0">
                <a:solidFill>
                  <a:srgbClr val="C00000"/>
                </a:solidFill>
                <a:latin typeface="微软雅黑" panose="020B0503020204020204" pitchFamily="34" charset="-122"/>
                <a:ea typeface="微软雅黑" panose="020B0503020204020204" pitchFamily="34" charset="-122"/>
              </a:rPr>
              <a:t>智慧化</a:t>
            </a:r>
            <a:r>
              <a:rPr lang="zh-TW" altLang="en-US" dirty="0">
                <a:solidFill>
                  <a:srgbClr val="414455"/>
                </a:solidFill>
                <a:latin typeface="微软雅黑" panose="020B0503020204020204" pitchFamily="34" charset="-122"/>
                <a:ea typeface="微软雅黑" panose="020B0503020204020204" pitchFamily="34" charset="-122"/>
              </a:rPr>
              <a:t>輔助方案，且有與長照機構進行</a:t>
            </a:r>
            <a:r>
              <a:rPr lang="zh-TW" altLang="en-US" dirty="0">
                <a:solidFill>
                  <a:srgbClr val="C00000"/>
                </a:solidFill>
                <a:latin typeface="微软雅黑" panose="020B0503020204020204" pitchFamily="34" charset="-122"/>
                <a:ea typeface="微软雅黑" panose="020B0503020204020204" pitchFamily="34" charset="-122"/>
              </a:rPr>
              <a:t>產學合作</a:t>
            </a:r>
            <a:r>
              <a:rPr lang="zh-TW" altLang="en-US" dirty="0">
                <a:solidFill>
                  <a:srgbClr val="414455"/>
                </a:solidFill>
                <a:latin typeface="微软雅黑" panose="020B0503020204020204" pitchFamily="34" charset="-122"/>
                <a:ea typeface="微软雅黑" panose="020B0503020204020204" pitchFamily="34" charset="-122"/>
              </a:rPr>
              <a:t>。</a:t>
            </a:r>
          </a:p>
        </p:txBody>
      </p:sp>
      <p:pic>
        <p:nvPicPr>
          <p:cNvPr id="4" name="圖片 3">
            <a:extLst>
              <a:ext uri="{FF2B5EF4-FFF2-40B4-BE49-F238E27FC236}">
                <a16:creationId xmlns:a16="http://schemas.microsoft.com/office/drawing/2014/main" id="{57B96A88-16CF-8622-D38A-C1B97F7E885D}"/>
              </a:ext>
            </a:extLst>
          </p:cNvPr>
          <p:cNvPicPr>
            <a:picLocks noChangeAspect="1"/>
          </p:cNvPicPr>
          <p:nvPr/>
        </p:nvPicPr>
        <p:blipFill>
          <a:blip r:embed="rId3"/>
          <a:stretch>
            <a:fillRect/>
          </a:stretch>
        </p:blipFill>
        <p:spPr>
          <a:xfrm>
            <a:off x="6817667" y="3608251"/>
            <a:ext cx="3038475" cy="2257425"/>
          </a:xfrm>
          <a:prstGeom prst="rect">
            <a:avLst/>
          </a:prstGeom>
        </p:spPr>
      </p:pic>
      <p:sp>
        <p:nvSpPr>
          <p:cNvPr id="5" name="文字方塊 4">
            <a:extLst>
              <a:ext uri="{FF2B5EF4-FFF2-40B4-BE49-F238E27FC236}">
                <a16:creationId xmlns:a16="http://schemas.microsoft.com/office/drawing/2014/main" id="{9C1C46DD-F873-0D51-E4B4-787FD385A043}"/>
              </a:ext>
            </a:extLst>
          </p:cNvPr>
          <p:cNvSpPr txBox="1"/>
          <p:nvPr/>
        </p:nvSpPr>
        <p:spPr>
          <a:xfrm>
            <a:off x="8113067" y="4036876"/>
            <a:ext cx="762000" cy="400110"/>
          </a:xfrm>
          <a:prstGeom prst="rect">
            <a:avLst/>
          </a:prstGeom>
          <a:no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頭部</a:t>
            </a:r>
          </a:p>
        </p:txBody>
      </p:sp>
      <p:sp>
        <p:nvSpPr>
          <p:cNvPr id="7" name="文字方塊 6">
            <a:extLst>
              <a:ext uri="{FF2B5EF4-FFF2-40B4-BE49-F238E27FC236}">
                <a16:creationId xmlns:a16="http://schemas.microsoft.com/office/drawing/2014/main" id="{AC4F6607-4984-DA01-7CE7-F229DC00F514}"/>
              </a:ext>
            </a:extLst>
          </p:cNvPr>
          <p:cNvSpPr txBox="1"/>
          <p:nvPr/>
        </p:nvSpPr>
        <p:spPr>
          <a:xfrm>
            <a:off x="8646467" y="4761142"/>
            <a:ext cx="990600" cy="400110"/>
          </a:xfrm>
          <a:prstGeom prst="rect">
            <a:avLst/>
          </a:prstGeom>
          <a:no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上半身</a:t>
            </a:r>
          </a:p>
        </p:txBody>
      </p:sp>
      <p:sp>
        <p:nvSpPr>
          <p:cNvPr id="8" name="文字方塊 7">
            <a:extLst>
              <a:ext uri="{FF2B5EF4-FFF2-40B4-BE49-F238E27FC236}">
                <a16:creationId xmlns:a16="http://schemas.microsoft.com/office/drawing/2014/main" id="{1D87AFD0-967B-6580-DDC5-23ED73B4B726}"/>
              </a:ext>
            </a:extLst>
          </p:cNvPr>
          <p:cNvSpPr txBox="1"/>
          <p:nvPr/>
        </p:nvSpPr>
        <p:spPr>
          <a:xfrm>
            <a:off x="8489111" y="5465566"/>
            <a:ext cx="538356" cy="400110"/>
          </a:xfrm>
          <a:prstGeom prst="rect">
            <a:avLst/>
          </a:prstGeom>
          <a:no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腳</a:t>
            </a:r>
          </a:p>
        </p:txBody>
      </p:sp>
    </p:spTree>
    <p:extLst>
      <p:ext uri="{BB962C8B-B14F-4D97-AF65-F5344CB8AC3E}">
        <p14:creationId xmlns:p14="http://schemas.microsoft.com/office/powerpoint/2010/main" val="721101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23093" y="0"/>
            <a:ext cx="936104"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D02087-9053-465D-A619-8303B3912B43}"/>
              </a:ext>
            </a:extLst>
          </p:cNvPr>
          <p:cNvGrpSpPr/>
          <p:nvPr/>
        </p:nvGrpSpPr>
        <p:grpSpPr>
          <a:xfrm>
            <a:off x="552971" y="188640"/>
            <a:ext cx="670560" cy="604586"/>
            <a:chOff x="5424755" y="1340768"/>
            <a:chExt cx="670560" cy="604586"/>
          </a:xfrm>
        </p:grpSpPr>
        <p:grpSp>
          <p:nvGrpSpPr>
            <p:cNvPr id="16" name="组合 15">
              <a:extLst>
                <a:ext uri="{FF2B5EF4-FFF2-40B4-BE49-F238E27FC236}">
                  <a16:creationId xmlns:a16="http://schemas.microsoft.com/office/drawing/2014/main" id="{4CB3831D-CF2E-47CA-8766-233D062AD6C7}"/>
                </a:ext>
              </a:extLst>
            </p:cNvPr>
            <p:cNvGrpSpPr/>
            <p:nvPr/>
          </p:nvGrpSpPr>
          <p:grpSpPr>
            <a:xfrm>
              <a:off x="5424755" y="1340768"/>
              <a:ext cx="670560" cy="604586"/>
              <a:chOff x="3720691" y="2824413"/>
              <a:chExt cx="1341120" cy="1209172"/>
            </a:xfrm>
          </p:grpSpPr>
          <p:sp>
            <p:nvSpPr>
              <p:cNvPr id="18" name="Freeform 5">
                <a:extLst>
                  <a:ext uri="{FF2B5EF4-FFF2-40B4-BE49-F238E27FC236}">
                    <a16:creationId xmlns:a16="http://schemas.microsoft.com/office/drawing/2014/main" id="{4FA345B5-5BFB-4989-9986-E49DC407D656}"/>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5">
                <a:extLst>
                  <a:ext uri="{FF2B5EF4-FFF2-40B4-BE49-F238E27FC236}">
                    <a16:creationId xmlns:a16="http://schemas.microsoft.com/office/drawing/2014/main" id="{DA84782B-C11B-49FE-B452-367BC1173053}"/>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17" name="Freeform 5">
              <a:extLst>
                <a:ext uri="{FF2B5EF4-FFF2-40B4-BE49-F238E27FC236}">
                  <a16:creationId xmlns:a16="http://schemas.microsoft.com/office/drawing/2014/main" id="{24F62B0F-D8F9-4572-BD53-79CFD2C3A710}"/>
                </a:ext>
              </a:extLst>
            </p:cNvPr>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0" name="文本框 9">
            <a:extLst>
              <a:ext uri="{FF2B5EF4-FFF2-40B4-BE49-F238E27FC236}">
                <a16:creationId xmlns:a16="http://schemas.microsoft.com/office/drawing/2014/main" id="{E99A2E68-AAFA-49FB-8E64-E897361B08A0}"/>
              </a:ext>
            </a:extLst>
          </p:cNvPr>
          <p:cNvSpPr txBox="1"/>
          <p:nvPr/>
        </p:nvSpPr>
        <p:spPr>
          <a:xfrm>
            <a:off x="1270163" y="307422"/>
            <a:ext cx="2379152" cy="346249"/>
          </a:xfrm>
          <a:prstGeom prst="rect">
            <a:avLst/>
          </a:prstGeom>
          <a:noFill/>
        </p:spPr>
        <p:txBody>
          <a:bodyPr wrap="square" lIns="68580" tIns="34290" rIns="68580" bIns="34290" rtlCol="0">
            <a:spAutoFit/>
          </a:bodyPr>
          <a:lstStyle/>
          <a:p>
            <a:pPr marL="0" lvl="1"/>
            <a:r>
              <a:rPr lang="en-US" altLang="zh-TW" dirty="0">
                <a:solidFill>
                  <a:srgbClr val="414455"/>
                </a:solidFill>
                <a:latin typeface="微软雅黑" pitchFamily="34" charset="-122"/>
                <a:ea typeface="微软雅黑" pitchFamily="34" charset="-122"/>
              </a:rPr>
              <a:t>Micro LED </a:t>
            </a:r>
            <a:r>
              <a:rPr lang="zh-TW" altLang="en-US" dirty="0">
                <a:solidFill>
                  <a:srgbClr val="414455"/>
                </a:solidFill>
                <a:latin typeface="微软雅黑" pitchFamily="34" charset="-122"/>
                <a:ea typeface="微软雅黑" pitchFamily="34" charset="-122"/>
              </a:rPr>
              <a:t>專案</a:t>
            </a:r>
            <a:endParaRPr lang="zh-CN" altLang="en-US" dirty="0">
              <a:solidFill>
                <a:srgbClr val="414455"/>
              </a:solidFill>
              <a:latin typeface="微软雅黑" pitchFamily="34" charset="-122"/>
              <a:ea typeface="微软雅黑" pitchFamily="34" charset="-122"/>
            </a:endParaRPr>
          </a:p>
        </p:txBody>
      </p:sp>
      <p:cxnSp>
        <p:nvCxnSpPr>
          <p:cNvPr id="21" name="直接连接符 21">
            <a:extLst>
              <a:ext uri="{FF2B5EF4-FFF2-40B4-BE49-F238E27FC236}">
                <a16:creationId xmlns:a16="http://schemas.microsoft.com/office/drawing/2014/main" id="{D332B124-81B0-4717-B57C-BB7A0C5379D8}"/>
              </a:ext>
            </a:extLst>
          </p:cNvPr>
          <p:cNvCxnSpPr/>
          <p:nvPr/>
        </p:nvCxnSpPr>
        <p:spPr>
          <a:xfrm>
            <a:off x="1342171" y="667462"/>
            <a:ext cx="9723968"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2">
            <a:extLst>
              <a:ext uri="{FF2B5EF4-FFF2-40B4-BE49-F238E27FC236}">
                <a16:creationId xmlns:a16="http://schemas.microsoft.com/office/drawing/2014/main" id="{DB56C549-0BFA-43BC-8689-6924E5B99AD8}"/>
              </a:ext>
            </a:extLst>
          </p:cNvPr>
          <p:cNvGrpSpPr/>
          <p:nvPr/>
        </p:nvGrpSpPr>
        <p:grpSpPr>
          <a:xfrm>
            <a:off x="11239467" y="459431"/>
            <a:ext cx="258720" cy="233265"/>
            <a:chOff x="3720691" y="2824413"/>
            <a:chExt cx="1341120" cy="1209172"/>
          </a:xfrm>
        </p:grpSpPr>
        <p:sp>
          <p:nvSpPr>
            <p:cNvPr id="23" name="Freeform 5">
              <a:extLst>
                <a:ext uri="{FF2B5EF4-FFF2-40B4-BE49-F238E27FC236}">
                  <a16:creationId xmlns:a16="http://schemas.microsoft.com/office/drawing/2014/main" id="{C9CA96A2-D41A-4125-921E-1036C753B85B}"/>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25" name="Freeform 5">
              <a:extLst>
                <a:ext uri="{FF2B5EF4-FFF2-40B4-BE49-F238E27FC236}">
                  <a16:creationId xmlns:a16="http://schemas.microsoft.com/office/drawing/2014/main" id="{FE0FC2FC-CC8A-4CCB-B1FF-93EB83DA6314}"/>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sp>
        <p:nvSpPr>
          <p:cNvPr id="30" name="文本框 9">
            <a:extLst>
              <a:ext uri="{FF2B5EF4-FFF2-40B4-BE49-F238E27FC236}">
                <a16:creationId xmlns:a16="http://schemas.microsoft.com/office/drawing/2014/main" id="{E52831D4-7766-4654-84E8-0224AC375163}"/>
              </a:ext>
            </a:extLst>
          </p:cNvPr>
          <p:cNvSpPr txBox="1"/>
          <p:nvPr/>
        </p:nvSpPr>
        <p:spPr>
          <a:xfrm>
            <a:off x="10706099" y="332656"/>
            <a:ext cx="432048" cy="346249"/>
          </a:xfrm>
          <a:prstGeom prst="rect">
            <a:avLst/>
          </a:prstGeom>
          <a:noFill/>
        </p:spPr>
        <p:txBody>
          <a:bodyPr wrap="square" lIns="68580" tIns="34290" rIns="68580" bIns="34290" rtlCol="0">
            <a:spAutoFit/>
          </a:bodyPr>
          <a:lstStyle/>
          <a:p>
            <a:pPr marL="0" lvl="1"/>
            <a:fld id="{019C1566-F6BD-42DB-B252-562BB8CFF26B}" type="slidenum">
              <a:rPr lang="en-US" altLang="zh-CN">
                <a:solidFill>
                  <a:srgbClr val="414455"/>
                </a:solidFill>
                <a:latin typeface="方正兰亭黑简体" panose="02000000000000000000" pitchFamily="2" charset="-122"/>
                <a:ea typeface="方正兰亭黑简体" panose="02000000000000000000" pitchFamily="2" charset="-122"/>
              </a:rPr>
              <a:t>4</a:t>
            </a:fld>
            <a:endParaRPr lang="zh-CN" altLang="en-US" dirty="0">
              <a:solidFill>
                <a:srgbClr val="414455"/>
              </a:solidFill>
              <a:latin typeface="方正兰亭黑简体" panose="02000000000000000000" pitchFamily="2" charset="-122"/>
              <a:ea typeface="方正兰亭黑简体" panose="02000000000000000000" pitchFamily="2" charset="-122"/>
            </a:endParaRPr>
          </a:p>
        </p:txBody>
      </p:sp>
      <p:sp>
        <p:nvSpPr>
          <p:cNvPr id="31" name="Freeform 206">
            <a:extLst>
              <a:ext uri="{FF2B5EF4-FFF2-40B4-BE49-F238E27FC236}">
                <a16:creationId xmlns:a16="http://schemas.microsoft.com/office/drawing/2014/main" id="{A5CD1D51-65DA-42A8-A481-FDDDB0129A0C}"/>
              </a:ext>
            </a:extLst>
          </p:cNvPr>
          <p:cNvSpPr>
            <a:spLocks noChangeAspect="1" noEditPoints="1"/>
          </p:cNvSpPr>
          <p:nvPr/>
        </p:nvSpPr>
        <p:spPr bwMode="auto">
          <a:xfrm>
            <a:off x="778198" y="302246"/>
            <a:ext cx="290724" cy="35142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pic>
        <p:nvPicPr>
          <p:cNvPr id="2" name="圖片 1">
            <a:extLst>
              <a:ext uri="{FF2B5EF4-FFF2-40B4-BE49-F238E27FC236}">
                <a16:creationId xmlns:a16="http://schemas.microsoft.com/office/drawing/2014/main" id="{4D4F3FB0-FA6D-4D92-B1A1-401FA03DA5D8}"/>
              </a:ext>
            </a:extLst>
          </p:cNvPr>
          <p:cNvPicPr>
            <a:picLocks noChangeAspect="1"/>
          </p:cNvPicPr>
          <p:nvPr/>
        </p:nvPicPr>
        <p:blipFill>
          <a:blip r:embed="rId3"/>
          <a:stretch>
            <a:fillRect/>
          </a:stretch>
        </p:blipFill>
        <p:spPr>
          <a:xfrm>
            <a:off x="8546801" y="2045662"/>
            <a:ext cx="2448272" cy="1371033"/>
          </a:xfrm>
          <a:prstGeom prst="rect">
            <a:avLst/>
          </a:prstGeom>
        </p:spPr>
      </p:pic>
      <p:pic>
        <p:nvPicPr>
          <p:cNvPr id="6" name="圖片 5">
            <a:extLst>
              <a:ext uri="{FF2B5EF4-FFF2-40B4-BE49-F238E27FC236}">
                <a16:creationId xmlns:a16="http://schemas.microsoft.com/office/drawing/2014/main" id="{50626397-3DAE-4445-AD41-76712C72D826}"/>
              </a:ext>
            </a:extLst>
          </p:cNvPr>
          <p:cNvPicPr>
            <a:picLocks noChangeAspect="1"/>
          </p:cNvPicPr>
          <p:nvPr/>
        </p:nvPicPr>
        <p:blipFill>
          <a:blip r:embed="rId4"/>
          <a:stretch>
            <a:fillRect/>
          </a:stretch>
        </p:blipFill>
        <p:spPr>
          <a:xfrm>
            <a:off x="6961682" y="3101795"/>
            <a:ext cx="3738260" cy="3738260"/>
          </a:xfrm>
          <a:prstGeom prst="rect">
            <a:avLst/>
          </a:prstGeom>
        </p:spPr>
      </p:pic>
      <p:sp>
        <p:nvSpPr>
          <p:cNvPr id="100" name="文本框 33">
            <a:extLst>
              <a:ext uri="{FF2B5EF4-FFF2-40B4-BE49-F238E27FC236}">
                <a16:creationId xmlns:a16="http://schemas.microsoft.com/office/drawing/2014/main" id="{E561902E-8B42-475C-A444-789C9E71BC70}"/>
              </a:ext>
            </a:extLst>
          </p:cNvPr>
          <p:cNvSpPr txBox="1"/>
          <p:nvPr/>
        </p:nvSpPr>
        <p:spPr>
          <a:xfrm>
            <a:off x="1793588" y="980728"/>
            <a:ext cx="6717739" cy="499624"/>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lnSpc>
                <a:spcPct val="150000"/>
              </a:lnSpc>
              <a:spcBef>
                <a:spcPts val="600"/>
              </a:spcBef>
            </a:pPr>
            <a:r>
              <a:rPr lang="en-US" altLang="zh-TW" sz="2000" dirty="0">
                <a:solidFill>
                  <a:srgbClr val="414455"/>
                </a:solidFill>
              </a:rPr>
              <a:t>Micro</a:t>
            </a:r>
            <a:r>
              <a:rPr lang="zh-TW" altLang="en-US" sz="2000" dirty="0">
                <a:solidFill>
                  <a:srgbClr val="414455"/>
                </a:solidFill>
              </a:rPr>
              <a:t> </a:t>
            </a:r>
            <a:r>
              <a:rPr lang="en-US" altLang="zh-TW" sz="2000" dirty="0">
                <a:solidFill>
                  <a:srgbClr val="414455"/>
                </a:solidFill>
              </a:rPr>
              <a:t>LED </a:t>
            </a:r>
            <a:r>
              <a:rPr lang="zh-TW" altLang="en-US" sz="2000" dirty="0">
                <a:solidFill>
                  <a:srgbClr val="414455"/>
                </a:solidFill>
              </a:rPr>
              <a:t>演算法：</a:t>
            </a:r>
            <a:r>
              <a:rPr lang="en-US" altLang="zh-TW" sz="2000" dirty="0">
                <a:solidFill>
                  <a:srgbClr val="414455"/>
                </a:solidFill>
              </a:rPr>
              <a:t>Mass Transfer, Repair, Bonding </a:t>
            </a:r>
          </a:p>
        </p:txBody>
      </p:sp>
      <p:cxnSp>
        <p:nvCxnSpPr>
          <p:cNvPr id="101" name="直接连接符 67">
            <a:extLst>
              <a:ext uri="{FF2B5EF4-FFF2-40B4-BE49-F238E27FC236}">
                <a16:creationId xmlns:a16="http://schemas.microsoft.com/office/drawing/2014/main" id="{80679AA7-8606-4403-9694-F4B95556328F}"/>
              </a:ext>
            </a:extLst>
          </p:cNvPr>
          <p:cNvCxnSpPr>
            <a:cxnSpLocks/>
          </p:cNvCxnSpPr>
          <p:nvPr/>
        </p:nvCxnSpPr>
        <p:spPr>
          <a:xfrm>
            <a:off x="1802309" y="1556792"/>
            <a:ext cx="6455518" cy="0"/>
          </a:xfrm>
          <a:prstGeom prst="line">
            <a:avLst/>
          </a:prstGeom>
          <a:ln>
            <a:solidFill>
              <a:srgbClr val="414455"/>
            </a:solidFill>
            <a:prstDash val="sys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02" name="文本框 33">
            <a:extLst>
              <a:ext uri="{FF2B5EF4-FFF2-40B4-BE49-F238E27FC236}">
                <a16:creationId xmlns:a16="http://schemas.microsoft.com/office/drawing/2014/main" id="{FD910A77-219B-48BB-BF96-F3A6AB5A3076}"/>
              </a:ext>
            </a:extLst>
          </p:cNvPr>
          <p:cNvSpPr txBox="1"/>
          <p:nvPr/>
        </p:nvSpPr>
        <p:spPr>
          <a:xfrm>
            <a:off x="1793588" y="1700808"/>
            <a:ext cx="5312111" cy="1936236"/>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285750" indent="-285750" algn="l">
              <a:lnSpc>
                <a:spcPct val="150000"/>
              </a:lnSpc>
              <a:spcBef>
                <a:spcPts val="600"/>
              </a:spcBef>
              <a:buFont typeface="Wingdings" panose="05000000000000000000" pitchFamily="2" charset="2"/>
              <a:buChar char="u"/>
            </a:pPr>
            <a:r>
              <a:rPr lang="en-US" altLang="zh-TW" sz="1800" b="0" dirty="0">
                <a:solidFill>
                  <a:srgbClr val="414455"/>
                </a:solidFill>
              </a:rPr>
              <a:t>LED</a:t>
            </a:r>
            <a:r>
              <a:rPr lang="zh-TW" altLang="en-US" sz="1800" b="0" dirty="0">
                <a:solidFill>
                  <a:srgbClr val="414455"/>
                </a:solidFill>
              </a:rPr>
              <a:t> 巨量轉移時的分佈方式，避免造成 </a:t>
            </a:r>
            <a:r>
              <a:rPr lang="en-US" altLang="zh-TW" sz="1800" b="0" dirty="0">
                <a:solidFill>
                  <a:srgbClr val="414455"/>
                </a:solidFill>
              </a:rPr>
              <a:t>Mura</a:t>
            </a:r>
          </a:p>
          <a:p>
            <a:pPr marL="285750" indent="-285750" algn="l">
              <a:lnSpc>
                <a:spcPct val="150000"/>
              </a:lnSpc>
              <a:spcBef>
                <a:spcPts val="600"/>
              </a:spcBef>
              <a:buFont typeface="Wingdings" panose="05000000000000000000" pitchFamily="2" charset="2"/>
              <a:buChar char="u"/>
            </a:pPr>
            <a:r>
              <a:rPr lang="zh-TW" altLang="en-US" sz="1800" b="0" dirty="0">
                <a:solidFill>
                  <a:srgbClr val="414455"/>
                </a:solidFill>
              </a:rPr>
              <a:t>巨量轉移製程的</a:t>
            </a:r>
            <a:r>
              <a:rPr lang="zh-TW" altLang="en-US" sz="1800" b="0" dirty="0">
                <a:solidFill>
                  <a:srgbClr val="C00000"/>
                </a:solidFill>
              </a:rPr>
              <a:t>最佳路徑</a:t>
            </a:r>
            <a:r>
              <a:rPr lang="zh-TW" altLang="en-US" sz="1800" b="0" dirty="0">
                <a:solidFill>
                  <a:srgbClr val="414455"/>
                </a:solidFill>
              </a:rPr>
              <a:t>，縮短製程時間</a:t>
            </a:r>
            <a:endParaRPr lang="en-US" altLang="zh-TW" sz="1800" b="0" dirty="0">
              <a:solidFill>
                <a:srgbClr val="414455"/>
              </a:solidFill>
            </a:endParaRPr>
          </a:p>
          <a:p>
            <a:pPr marL="285750" indent="-285750" algn="l">
              <a:lnSpc>
                <a:spcPct val="150000"/>
              </a:lnSpc>
              <a:spcBef>
                <a:spcPts val="600"/>
              </a:spcBef>
              <a:buFont typeface="Wingdings" panose="05000000000000000000" pitchFamily="2" charset="2"/>
              <a:buChar char="u"/>
            </a:pPr>
            <a:r>
              <a:rPr lang="zh-TW" altLang="en-US" sz="1800" b="0" dirty="0">
                <a:solidFill>
                  <a:srgbClr val="414455"/>
                </a:solidFill>
              </a:rPr>
              <a:t>巨量修補壞點演算法取得</a:t>
            </a:r>
            <a:r>
              <a:rPr lang="zh-TW" altLang="en-US" sz="1800" b="0" dirty="0">
                <a:solidFill>
                  <a:srgbClr val="C00000"/>
                </a:solidFill>
              </a:rPr>
              <a:t>營業秘密專利</a:t>
            </a:r>
            <a:endParaRPr lang="en-US" altLang="zh-TW" sz="1800" b="0" dirty="0">
              <a:solidFill>
                <a:srgbClr val="C00000"/>
              </a:solidFill>
            </a:endParaRPr>
          </a:p>
          <a:p>
            <a:pPr marL="285750" indent="-285750" algn="l">
              <a:lnSpc>
                <a:spcPct val="150000"/>
              </a:lnSpc>
              <a:spcBef>
                <a:spcPts val="600"/>
              </a:spcBef>
              <a:buFont typeface="Wingdings" panose="05000000000000000000" pitchFamily="2" charset="2"/>
              <a:buChar char="u"/>
            </a:pPr>
            <a:r>
              <a:rPr lang="zh-TW" altLang="en-US" sz="1800" b="0" dirty="0">
                <a:solidFill>
                  <a:srgbClr val="414455"/>
                </a:solidFill>
              </a:rPr>
              <a:t>預先模擬玻璃板對組，加快生產流程</a:t>
            </a:r>
          </a:p>
        </p:txBody>
      </p:sp>
      <p:pic>
        <p:nvPicPr>
          <p:cNvPr id="2054" name="Picture 6" descr="手绘红圈png图片免费下载-素材7yJeeWaeU-新图网">
            <a:extLst>
              <a:ext uri="{FF2B5EF4-FFF2-40B4-BE49-F238E27FC236}">
                <a16:creationId xmlns:a16="http://schemas.microsoft.com/office/drawing/2014/main" id="{2F7A1051-BFEF-4901-B80B-993AF51CE312}"/>
              </a:ext>
            </a:extLst>
          </p:cNvPr>
          <p:cNvPicPr>
            <a:picLocks noChangeAspect="1" noChangeArrowheads="1"/>
          </p:cNvPicPr>
          <p:nvPr/>
        </p:nvPicPr>
        <p:blipFill>
          <a:blip r:embed="rId5"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5894163" y="1402332"/>
            <a:ext cx="1067519" cy="1067519"/>
          </a:xfrm>
          <a:prstGeom prst="rect">
            <a:avLst/>
          </a:prstGeom>
          <a:noFill/>
          <a:extLst>
            <a:ext uri="{909E8E84-426E-40DD-AFC4-6F175D3DCCD1}">
              <a14:hiddenFill xmlns:a14="http://schemas.microsoft.com/office/drawing/2010/main">
                <a:solidFill>
                  <a:srgbClr val="FFFFFF"/>
                </a:solidFill>
              </a14:hiddenFill>
            </a:ext>
          </a:extLst>
        </p:spPr>
      </p:pic>
      <p:cxnSp>
        <p:nvCxnSpPr>
          <p:cNvPr id="103" name="直線單箭頭接點 102">
            <a:extLst>
              <a:ext uri="{FF2B5EF4-FFF2-40B4-BE49-F238E27FC236}">
                <a16:creationId xmlns:a16="http://schemas.microsoft.com/office/drawing/2014/main" id="{EC0921DB-1CFD-4EA9-B762-A34BE0AE546E}"/>
              </a:ext>
            </a:extLst>
          </p:cNvPr>
          <p:cNvCxnSpPr>
            <a:cxnSpLocks/>
          </p:cNvCxnSpPr>
          <p:nvPr/>
        </p:nvCxnSpPr>
        <p:spPr>
          <a:xfrm>
            <a:off x="6812196" y="2103932"/>
            <a:ext cx="1699131" cy="310915"/>
          </a:xfrm>
          <a:prstGeom prst="straightConnector1">
            <a:avLst/>
          </a:prstGeom>
          <a:ln w="38100">
            <a:solidFill>
              <a:srgbClr val="FF0000"/>
            </a:solidFill>
            <a:prstDash val="solid"/>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26" name="圖片 25">
            <a:extLst>
              <a:ext uri="{FF2B5EF4-FFF2-40B4-BE49-F238E27FC236}">
                <a16:creationId xmlns:a16="http://schemas.microsoft.com/office/drawing/2014/main" id="{59281E2D-7BFE-4AB0-8260-C87144A683DB}"/>
              </a:ext>
            </a:extLst>
          </p:cNvPr>
          <p:cNvPicPr>
            <a:picLocks noChangeAspect="1"/>
          </p:cNvPicPr>
          <p:nvPr/>
        </p:nvPicPr>
        <p:blipFill rotWithShape="1">
          <a:blip r:embed="rId6">
            <a:extLst>
              <a:ext uri="{28A0092B-C50C-407E-A947-70E740481C1C}">
                <a14:useLocalDpi xmlns:a14="http://schemas.microsoft.com/office/drawing/2010/main" val="0"/>
              </a:ext>
            </a:extLst>
          </a:blip>
          <a:srcRect b="47900"/>
          <a:stretch/>
        </p:blipFill>
        <p:spPr>
          <a:xfrm>
            <a:off x="1586909" y="3796660"/>
            <a:ext cx="5003042" cy="26833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9575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手繪多邊形: 圖案 3">
            <a:extLst>
              <a:ext uri="{FF2B5EF4-FFF2-40B4-BE49-F238E27FC236}">
                <a16:creationId xmlns:a16="http://schemas.microsoft.com/office/drawing/2014/main" id="{F413DAF7-1488-4436-B7F2-1AE49CE1611E}"/>
              </a:ext>
            </a:extLst>
          </p:cNvPr>
          <p:cNvSpPr/>
          <p:nvPr/>
        </p:nvSpPr>
        <p:spPr>
          <a:xfrm>
            <a:off x="5866420" y="3580028"/>
            <a:ext cx="2828925" cy="2085975"/>
          </a:xfrm>
          <a:custGeom>
            <a:avLst/>
            <a:gdLst>
              <a:gd name="connsiteX0" fmla="*/ 0 w 2828925"/>
              <a:gd name="connsiteY0" fmla="*/ 1619250 h 2085975"/>
              <a:gd name="connsiteX1" fmla="*/ 19050 w 2828925"/>
              <a:gd name="connsiteY1" fmla="*/ 2085975 h 2085975"/>
              <a:gd name="connsiteX2" fmla="*/ 400050 w 2828925"/>
              <a:gd name="connsiteY2" fmla="*/ 2076450 h 2085975"/>
              <a:gd name="connsiteX3" fmla="*/ 2828925 w 2828925"/>
              <a:gd name="connsiteY3" fmla="*/ 1085850 h 2085975"/>
              <a:gd name="connsiteX4" fmla="*/ 2800350 w 2828925"/>
              <a:gd name="connsiteY4" fmla="*/ 9525 h 2085975"/>
              <a:gd name="connsiteX5" fmla="*/ 1752600 w 2828925"/>
              <a:gd name="connsiteY5" fmla="*/ 0 h 2085975"/>
              <a:gd name="connsiteX6" fmla="*/ 0 w 2828925"/>
              <a:gd name="connsiteY6" fmla="*/ 161925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8925" h="2085975">
                <a:moveTo>
                  <a:pt x="0" y="1619250"/>
                </a:moveTo>
                <a:lnTo>
                  <a:pt x="19050" y="2085975"/>
                </a:lnTo>
                <a:lnTo>
                  <a:pt x="400050" y="2076450"/>
                </a:lnTo>
                <a:lnTo>
                  <a:pt x="2828925" y="1085850"/>
                </a:lnTo>
                <a:lnTo>
                  <a:pt x="2800350" y="9525"/>
                </a:lnTo>
                <a:lnTo>
                  <a:pt x="1752600" y="0"/>
                </a:lnTo>
                <a:lnTo>
                  <a:pt x="0" y="161925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p:nvSpPr>
        <p:spPr>
          <a:xfrm>
            <a:off x="-23093" y="0"/>
            <a:ext cx="936104"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D02087-9053-465D-A619-8303B3912B43}"/>
              </a:ext>
            </a:extLst>
          </p:cNvPr>
          <p:cNvGrpSpPr/>
          <p:nvPr/>
        </p:nvGrpSpPr>
        <p:grpSpPr>
          <a:xfrm>
            <a:off x="552971" y="188640"/>
            <a:ext cx="670560" cy="604586"/>
            <a:chOff x="5424755" y="1340768"/>
            <a:chExt cx="670560" cy="604586"/>
          </a:xfrm>
        </p:grpSpPr>
        <p:grpSp>
          <p:nvGrpSpPr>
            <p:cNvPr id="16" name="组合 15">
              <a:extLst>
                <a:ext uri="{FF2B5EF4-FFF2-40B4-BE49-F238E27FC236}">
                  <a16:creationId xmlns:a16="http://schemas.microsoft.com/office/drawing/2014/main" id="{4CB3831D-CF2E-47CA-8766-233D062AD6C7}"/>
                </a:ext>
              </a:extLst>
            </p:cNvPr>
            <p:cNvGrpSpPr/>
            <p:nvPr/>
          </p:nvGrpSpPr>
          <p:grpSpPr>
            <a:xfrm>
              <a:off x="5424755" y="1340768"/>
              <a:ext cx="670560" cy="604586"/>
              <a:chOff x="3720691" y="2824413"/>
              <a:chExt cx="1341120" cy="1209172"/>
            </a:xfrm>
          </p:grpSpPr>
          <p:sp>
            <p:nvSpPr>
              <p:cNvPr id="18" name="Freeform 5">
                <a:extLst>
                  <a:ext uri="{FF2B5EF4-FFF2-40B4-BE49-F238E27FC236}">
                    <a16:creationId xmlns:a16="http://schemas.microsoft.com/office/drawing/2014/main" id="{4FA345B5-5BFB-4989-9986-E49DC407D656}"/>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5">
                <a:extLst>
                  <a:ext uri="{FF2B5EF4-FFF2-40B4-BE49-F238E27FC236}">
                    <a16:creationId xmlns:a16="http://schemas.microsoft.com/office/drawing/2014/main" id="{DA84782B-C11B-49FE-B452-367BC1173053}"/>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17" name="Freeform 5">
              <a:extLst>
                <a:ext uri="{FF2B5EF4-FFF2-40B4-BE49-F238E27FC236}">
                  <a16:creationId xmlns:a16="http://schemas.microsoft.com/office/drawing/2014/main" id="{24F62B0F-D8F9-4572-BD53-79CFD2C3A710}"/>
                </a:ext>
              </a:extLst>
            </p:cNvPr>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0" name="文本框 9">
            <a:extLst>
              <a:ext uri="{FF2B5EF4-FFF2-40B4-BE49-F238E27FC236}">
                <a16:creationId xmlns:a16="http://schemas.microsoft.com/office/drawing/2014/main" id="{E99A2E68-AAFA-49FB-8E64-E897361B08A0}"/>
              </a:ext>
            </a:extLst>
          </p:cNvPr>
          <p:cNvSpPr txBox="1"/>
          <p:nvPr/>
        </p:nvSpPr>
        <p:spPr>
          <a:xfrm>
            <a:off x="1270163" y="307422"/>
            <a:ext cx="1872208" cy="346249"/>
          </a:xfrm>
          <a:prstGeom prst="rect">
            <a:avLst/>
          </a:prstGeom>
          <a:noFill/>
        </p:spPr>
        <p:txBody>
          <a:bodyPr wrap="square" lIns="68580" tIns="34290" rIns="68580" bIns="34290" rtlCol="0">
            <a:spAutoFit/>
          </a:bodyPr>
          <a:lstStyle/>
          <a:p>
            <a:pPr marL="0" lvl="1"/>
            <a:r>
              <a:rPr lang="en-US" altLang="zh-TW" dirty="0">
                <a:solidFill>
                  <a:srgbClr val="414455"/>
                </a:solidFill>
                <a:latin typeface="微软雅黑" pitchFamily="34" charset="-122"/>
                <a:ea typeface="微软雅黑" pitchFamily="34" charset="-122"/>
              </a:rPr>
              <a:t>Micro LED </a:t>
            </a:r>
            <a:r>
              <a:rPr lang="zh-TW" altLang="en-US" dirty="0">
                <a:solidFill>
                  <a:srgbClr val="414455"/>
                </a:solidFill>
                <a:latin typeface="微软雅黑" pitchFamily="34" charset="-122"/>
                <a:ea typeface="微软雅黑" pitchFamily="34" charset="-122"/>
              </a:rPr>
              <a:t>專案</a:t>
            </a:r>
            <a:endParaRPr lang="zh-CN" altLang="en-US" dirty="0">
              <a:solidFill>
                <a:srgbClr val="414455"/>
              </a:solidFill>
              <a:latin typeface="微软雅黑" pitchFamily="34" charset="-122"/>
              <a:ea typeface="微软雅黑" pitchFamily="34" charset="-122"/>
            </a:endParaRPr>
          </a:p>
        </p:txBody>
      </p:sp>
      <p:cxnSp>
        <p:nvCxnSpPr>
          <p:cNvPr id="21" name="直接连接符 21">
            <a:extLst>
              <a:ext uri="{FF2B5EF4-FFF2-40B4-BE49-F238E27FC236}">
                <a16:creationId xmlns:a16="http://schemas.microsoft.com/office/drawing/2014/main" id="{D332B124-81B0-4717-B57C-BB7A0C5379D8}"/>
              </a:ext>
            </a:extLst>
          </p:cNvPr>
          <p:cNvCxnSpPr/>
          <p:nvPr/>
        </p:nvCxnSpPr>
        <p:spPr>
          <a:xfrm>
            <a:off x="1342171" y="667462"/>
            <a:ext cx="9723968"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2">
            <a:extLst>
              <a:ext uri="{FF2B5EF4-FFF2-40B4-BE49-F238E27FC236}">
                <a16:creationId xmlns:a16="http://schemas.microsoft.com/office/drawing/2014/main" id="{DB56C549-0BFA-43BC-8689-6924E5B99AD8}"/>
              </a:ext>
            </a:extLst>
          </p:cNvPr>
          <p:cNvGrpSpPr/>
          <p:nvPr/>
        </p:nvGrpSpPr>
        <p:grpSpPr>
          <a:xfrm>
            <a:off x="11239467" y="459431"/>
            <a:ext cx="258720" cy="233265"/>
            <a:chOff x="3720691" y="2824413"/>
            <a:chExt cx="1341120" cy="1209172"/>
          </a:xfrm>
        </p:grpSpPr>
        <p:sp>
          <p:nvSpPr>
            <p:cNvPr id="23" name="Freeform 5">
              <a:extLst>
                <a:ext uri="{FF2B5EF4-FFF2-40B4-BE49-F238E27FC236}">
                  <a16:creationId xmlns:a16="http://schemas.microsoft.com/office/drawing/2014/main" id="{C9CA96A2-D41A-4125-921E-1036C753B85B}"/>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25" name="Freeform 5">
              <a:extLst>
                <a:ext uri="{FF2B5EF4-FFF2-40B4-BE49-F238E27FC236}">
                  <a16:creationId xmlns:a16="http://schemas.microsoft.com/office/drawing/2014/main" id="{FE0FC2FC-CC8A-4CCB-B1FF-93EB83DA6314}"/>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sp>
        <p:nvSpPr>
          <p:cNvPr id="30" name="文本框 9">
            <a:extLst>
              <a:ext uri="{FF2B5EF4-FFF2-40B4-BE49-F238E27FC236}">
                <a16:creationId xmlns:a16="http://schemas.microsoft.com/office/drawing/2014/main" id="{E52831D4-7766-4654-84E8-0224AC375163}"/>
              </a:ext>
            </a:extLst>
          </p:cNvPr>
          <p:cNvSpPr txBox="1"/>
          <p:nvPr/>
        </p:nvSpPr>
        <p:spPr>
          <a:xfrm>
            <a:off x="10706099" y="332656"/>
            <a:ext cx="432048" cy="346249"/>
          </a:xfrm>
          <a:prstGeom prst="rect">
            <a:avLst/>
          </a:prstGeom>
          <a:noFill/>
        </p:spPr>
        <p:txBody>
          <a:bodyPr wrap="square" lIns="68580" tIns="34290" rIns="68580" bIns="34290" rtlCol="0">
            <a:spAutoFit/>
          </a:bodyPr>
          <a:lstStyle/>
          <a:p>
            <a:pPr marL="0" lvl="1"/>
            <a:fld id="{019C1566-F6BD-42DB-B252-562BB8CFF26B}" type="slidenum">
              <a:rPr lang="en-US" altLang="zh-CN">
                <a:solidFill>
                  <a:srgbClr val="414455"/>
                </a:solidFill>
                <a:latin typeface="方正兰亭黑简体" panose="02000000000000000000" pitchFamily="2" charset="-122"/>
                <a:ea typeface="方正兰亭黑简体" panose="02000000000000000000" pitchFamily="2" charset="-122"/>
              </a:rPr>
              <a:t>5</a:t>
            </a:fld>
            <a:endParaRPr lang="zh-CN" altLang="en-US" dirty="0">
              <a:solidFill>
                <a:srgbClr val="414455"/>
              </a:solidFill>
              <a:latin typeface="方正兰亭黑简体" panose="02000000000000000000" pitchFamily="2" charset="-122"/>
              <a:ea typeface="方正兰亭黑简体" panose="02000000000000000000" pitchFamily="2" charset="-122"/>
            </a:endParaRPr>
          </a:p>
        </p:txBody>
      </p:sp>
      <p:sp>
        <p:nvSpPr>
          <p:cNvPr id="31" name="Freeform 206">
            <a:extLst>
              <a:ext uri="{FF2B5EF4-FFF2-40B4-BE49-F238E27FC236}">
                <a16:creationId xmlns:a16="http://schemas.microsoft.com/office/drawing/2014/main" id="{A5CD1D51-65DA-42A8-A481-FDDDB0129A0C}"/>
              </a:ext>
            </a:extLst>
          </p:cNvPr>
          <p:cNvSpPr>
            <a:spLocks noChangeAspect="1" noEditPoints="1"/>
          </p:cNvSpPr>
          <p:nvPr/>
        </p:nvSpPr>
        <p:spPr bwMode="auto">
          <a:xfrm>
            <a:off x="778198" y="302246"/>
            <a:ext cx="290724" cy="35142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grpSp>
        <p:nvGrpSpPr>
          <p:cNvPr id="5" name="群組 4">
            <a:extLst>
              <a:ext uri="{FF2B5EF4-FFF2-40B4-BE49-F238E27FC236}">
                <a16:creationId xmlns:a16="http://schemas.microsoft.com/office/drawing/2014/main" id="{96FBB96A-8CF3-44F8-BBC5-FF71D99BF20B}"/>
              </a:ext>
            </a:extLst>
          </p:cNvPr>
          <p:cNvGrpSpPr/>
          <p:nvPr/>
        </p:nvGrpSpPr>
        <p:grpSpPr>
          <a:xfrm>
            <a:off x="4171344" y="3627283"/>
            <a:ext cx="2088232" cy="2016222"/>
            <a:chOff x="3649315" y="1844824"/>
            <a:chExt cx="2088232" cy="2016222"/>
          </a:xfrm>
        </p:grpSpPr>
        <p:grpSp>
          <p:nvGrpSpPr>
            <p:cNvPr id="42" name="群組 41">
              <a:extLst>
                <a:ext uri="{FF2B5EF4-FFF2-40B4-BE49-F238E27FC236}">
                  <a16:creationId xmlns:a16="http://schemas.microsoft.com/office/drawing/2014/main" id="{18C73B34-9E16-40C8-8DB3-14C9CCAD366A}"/>
                </a:ext>
              </a:extLst>
            </p:cNvPr>
            <p:cNvGrpSpPr/>
            <p:nvPr/>
          </p:nvGrpSpPr>
          <p:grpSpPr>
            <a:xfrm>
              <a:off x="3751205" y="1987499"/>
              <a:ext cx="1911461" cy="1755205"/>
              <a:chOff x="4795664" y="2008226"/>
              <a:chExt cx="1911461" cy="1755205"/>
            </a:xfrm>
          </p:grpSpPr>
          <p:sp>
            <p:nvSpPr>
              <p:cNvPr id="43" name="橢圓 42">
                <a:extLst>
                  <a:ext uri="{FF2B5EF4-FFF2-40B4-BE49-F238E27FC236}">
                    <a16:creationId xmlns:a16="http://schemas.microsoft.com/office/drawing/2014/main" id="{F9D15B6D-4A50-4C72-95F4-239510CFD03E}"/>
                  </a:ext>
                </a:extLst>
              </p:cNvPr>
              <p:cNvSpPr/>
              <p:nvPr/>
            </p:nvSpPr>
            <p:spPr>
              <a:xfrm>
                <a:off x="4939024" y="21339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4" name="橢圓 43">
                <a:extLst>
                  <a:ext uri="{FF2B5EF4-FFF2-40B4-BE49-F238E27FC236}">
                    <a16:creationId xmlns:a16="http://schemas.microsoft.com/office/drawing/2014/main" id="{4AB5990C-26EE-48AC-B7F2-E37383F1F79C}"/>
                  </a:ext>
                </a:extLst>
              </p:cNvPr>
              <p:cNvSpPr/>
              <p:nvPr/>
            </p:nvSpPr>
            <p:spPr>
              <a:xfrm>
                <a:off x="5337616" y="21339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5" name="橢圓 44">
                <a:extLst>
                  <a:ext uri="{FF2B5EF4-FFF2-40B4-BE49-F238E27FC236}">
                    <a16:creationId xmlns:a16="http://schemas.microsoft.com/office/drawing/2014/main" id="{5C7BEBCA-74DE-41AF-A52A-4AE11733A3EF}"/>
                  </a:ext>
                </a:extLst>
              </p:cNvPr>
              <p:cNvSpPr/>
              <p:nvPr/>
            </p:nvSpPr>
            <p:spPr>
              <a:xfrm>
                <a:off x="5737262" y="21339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6" name="橢圓 45">
                <a:extLst>
                  <a:ext uri="{FF2B5EF4-FFF2-40B4-BE49-F238E27FC236}">
                    <a16:creationId xmlns:a16="http://schemas.microsoft.com/office/drawing/2014/main" id="{219EAB82-009B-4DF8-8AC1-F9A46A770EB0}"/>
                  </a:ext>
                </a:extLst>
              </p:cNvPr>
              <p:cNvSpPr/>
              <p:nvPr/>
            </p:nvSpPr>
            <p:spPr>
              <a:xfrm>
                <a:off x="6131841" y="21339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7" name="橢圓 46">
                <a:extLst>
                  <a:ext uri="{FF2B5EF4-FFF2-40B4-BE49-F238E27FC236}">
                    <a16:creationId xmlns:a16="http://schemas.microsoft.com/office/drawing/2014/main" id="{4435433D-FBB8-4C9A-BA34-3C41521092B2}"/>
                  </a:ext>
                </a:extLst>
              </p:cNvPr>
              <p:cNvSpPr/>
              <p:nvPr/>
            </p:nvSpPr>
            <p:spPr>
              <a:xfrm>
                <a:off x="4939024" y="2494405"/>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8" name="橢圓 47">
                <a:extLst>
                  <a:ext uri="{FF2B5EF4-FFF2-40B4-BE49-F238E27FC236}">
                    <a16:creationId xmlns:a16="http://schemas.microsoft.com/office/drawing/2014/main" id="{8E9D5A79-3836-4E9F-A171-7390CAD5F95C}"/>
                  </a:ext>
                </a:extLst>
              </p:cNvPr>
              <p:cNvSpPr/>
              <p:nvPr/>
            </p:nvSpPr>
            <p:spPr>
              <a:xfrm>
                <a:off x="5337616" y="2494405"/>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9" name="橢圓 48">
                <a:extLst>
                  <a:ext uri="{FF2B5EF4-FFF2-40B4-BE49-F238E27FC236}">
                    <a16:creationId xmlns:a16="http://schemas.microsoft.com/office/drawing/2014/main" id="{577E2261-31A8-4EAA-993B-3C633F1E44A3}"/>
                  </a:ext>
                </a:extLst>
              </p:cNvPr>
              <p:cNvSpPr/>
              <p:nvPr/>
            </p:nvSpPr>
            <p:spPr>
              <a:xfrm>
                <a:off x="5737262" y="2494405"/>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0" name="橢圓 49">
                <a:extLst>
                  <a:ext uri="{FF2B5EF4-FFF2-40B4-BE49-F238E27FC236}">
                    <a16:creationId xmlns:a16="http://schemas.microsoft.com/office/drawing/2014/main" id="{04C1B845-56D1-4A78-9DF5-828ABF28C1A0}"/>
                  </a:ext>
                </a:extLst>
              </p:cNvPr>
              <p:cNvSpPr/>
              <p:nvPr/>
            </p:nvSpPr>
            <p:spPr>
              <a:xfrm>
                <a:off x="6131841" y="2494405"/>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1" name="橢圓 50">
                <a:extLst>
                  <a:ext uri="{FF2B5EF4-FFF2-40B4-BE49-F238E27FC236}">
                    <a16:creationId xmlns:a16="http://schemas.microsoft.com/office/drawing/2014/main" id="{EFA09697-FC07-49EA-8FAD-99892FC9E5DA}"/>
                  </a:ext>
                </a:extLst>
              </p:cNvPr>
              <p:cNvSpPr/>
              <p:nvPr/>
            </p:nvSpPr>
            <p:spPr>
              <a:xfrm>
                <a:off x="4939024" y="2851664"/>
                <a:ext cx="64281" cy="65444"/>
              </a:xfrm>
              <a:prstGeom prst="ellipse">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2" name="橢圓 51">
                <a:extLst>
                  <a:ext uri="{FF2B5EF4-FFF2-40B4-BE49-F238E27FC236}">
                    <a16:creationId xmlns:a16="http://schemas.microsoft.com/office/drawing/2014/main" id="{C0B01B8F-3C8C-47C4-AFDA-50281C6F015E}"/>
                  </a:ext>
                </a:extLst>
              </p:cNvPr>
              <p:cNvSpPr/>
              <p:nvPr/>
            </p:nvSpPr>
            <p:spPr>
              <a:xfrm>
                <a:off x="5337616" y="2851664"/>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3" name="橢圓 52">
                <a:extLst>
                  <a:ext uri="{FF2B5EF4-FFF2-40B4-BE49-F238E27FC236}">
                    <a16:creationId xmlns:a16="http://schemas.microsoft.com/office/drawing/2014/main" id="{8D888882-CE96-4D23-8CE5-4101A30103A9}"/>
                  </a:ext>
                </a:extLst>
              </p:cNvPr>
              <p:cNvSpPr/>
              <p:nvPr/>
            </p:nvSpPr>
            <p:spPr>
              <a:xfrm>
                <a:off x="5737262" y="2851664"/>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4" name="橢圓 53">
                <a:extLst>
                  <a:ext uri="{FF2B5EF4-FFF2-40B4-BE49-F238E27FC236}">
                    <a16:creationId xmlns:a16="http://schemas.microsoft.com/office/drawing/2014/main" id="{9404AC4E-37DF-4194-A58A-7A06E5437820}"/>
                  </a:ext>
                </a:extLst>
              </p:cNvPr>
              <p:cNvSpPr/>
              <p:nvPr/>
            </p:nvSpPr>
            <p:spPr>
              <a:xfrm>
                <a:off x="6131841" y="2851664"/>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5" name="橢圓 54">
                <a:extLst>
                  <a:ext uri="{FF2B5EF4-FFF2-40B4-BE49-F238E27FC236}">
                    <a16:creationId xmlns:a16="http://schemas.microsoft.com/office/drawing/2014/main" id="{314B6F5F-A057-4515-B57F-DEDE169B2561}"/>
                  </a:ext>
                </a:extLst>
              </p:cNvPr>
              <p:cNvSpPr/>
              <p:nvPr/>
            </p:nvSpPr>
            <p:spPr>
              <a:xfrm>
                <a:off x="4939024" y="32216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6" name="橢圓 55">
                <a:extLst>
                  <a:ext uri="{FF2B5EF4-FFF2-40B4-BE49-F238E27FC236}">
                    <a16:creationId xmlns:a16="http://schemas.microsoft.com/office/drawing/2014/main" id="{BCA1EACB-1098-494A-B176-EE9A4D4891B0}"/>
                  </a:ext>
                </a:extLst>
              </p:cNvPr>
              <p:cNvSpPr/>
              <p:nvPr/>
            </p:nvSpPr>
            <p:spPr>
              <a:xfrm>
                <a:off x="5337616" y="32216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7" name="橢圓 56">
                <a:extLst>
                  <a:ext uri="{FF2B5EF4-FFF2-40B4-BE49-F238E27FC236}">
                    <a16:creationId xmlns:a16="http://schemas.microsoft.com/office/drawing/2014/main" id="{CE11D0E2-D457-453F-ADF5-65B5BAC80819}"/>
                  </a:ext>
                </a:extLst>
              </p:cNvPr>
              <p:cNvSpPr/>
              <p:nvPr/>
            </p:nvSpPr>
            <p:spPr>
              <a:xfrm>
                <a:off x="5737262" y="32216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8" name="橢圓 57">
                <a:extLst>
                  <a:ext uri="{FF2B5EF4-FFF2-40B4-BE49-F238E27FC236}">
                    <a16:creationId xmlns:a16="http://schemas.microsoft.com/office/drawing/2014/main" id="{DB0580CF-F550-4CD2-94E1-F4595773BAA0}"/>
                  </a:ext>
                </a:extLst>
              </p:cNvPr>
              <p:cNvSpPr/>
              <p:nvPr/>
            </p:nvSpPr>
            <p:spPr>
              <a:xfrm>
                <a:off x="6131841" y="3221650"/>
                <a:ext cx="64281" cy="6544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9" name="橢圓 58">
                <a:extLst>
                  <a:ext uri="{FF2B5EF4-FFF2-40B4-BE49-F238E27FC236}">
                    <a16:creationId xmlns:a16="http://schemas.microsoft.com/office/drawing/2014/main" id="{93E5A281-A519-4F79-8D0D-75B67CCF8666}"/>
                  </a:ext>
                </a:extLst>
              </p:cNvPr>
              <p:cNvSpPr/>
              <p:nvPr/>
            </p:nvSpPr>
            <p:spPr>
              <a:xfrm>
                <a:off x="4795665" y="285364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0" name="橢圓 59">
                <a:extLst>
                  <a:ext uri="{FF2B5EF4-FFF2-40B4-BE49-F238E27FC236}">
                    <a16:creationId xmlns:a16="http://schemas.microsoft.com/office/drawing/2014/main" id="{23BC5534-7ED8-4606-8F6B-0FB35D4D71BE}"/>
                  </a:ext>
                </a:extLst>
              </p:cNvPr>
              <p:cNvSpPr/>
              <p:nvPr/>
            </p:nvSpPr>
            <p:spPr>
              <a:xfrm>
                <a:off x="4795664" y="2421497"/>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1" name="橢圓 60">
                <a:extLst>
                  <a:ext uri="{FF2B5EF4-FFF2-40B4-BE49-F238E27FC236}">
                    <a16:creationId xmlns:a16="http://schemas.microsoft.com/office/drawing/2014/main" id="{EB82E8F1-4838-4D77-9BD7-D3F47247C604}"/>
                  </a:ext>
                </a:extLst>
              </p:cNvPr>
              <p:cNvSpPr/>
              <p:nvPr/>
            </p:nvSpPr>
            <p:spPr>
              <a:xfrm>
                <a:off x="4795664" y="3293631"/>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A249DE68-162F-4011-8B23-C4E520F6ADF4}"/>
                  </a:ext>
                </a:extLst>
              </p:cNvPr>
              <p:cNvSpPr/>
              <p:nvPr/>
            </p:nvSpPr>
            <p:spPr>
              <a:xfrm>
                <a:off x="4795664" y="3693058"/>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3" name="橢圓 62">
                <a:extLst>
                  <a:ext uri="{FF2B5EF4-FFF2-40B4-BE49-F238E27FC236}">
                    <a16:creationId xmlns:a16="http://schemas.microsoft.com/office/drawing/2014/main" id="{FB8B25C7-C2F3-42E3-B190-8C3E407B3549}"/>
                  </a:ext>
                </a:extLst>
              </p:cNvPr>
              <p:cNvSpPr/>
              <p:nvPr/>
            </p:nvSpPr>
            <p:spPr>
              <a:xfrm>
                <a:off x="6511362" y="2133950"/>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4" name="橢圓 63">
                <a:extLst>
                  <a:ext uri="{FF2B5EF4-FFF2-40B4-BE49-F238E27FC236}">
                    <a16:creationId xmlns:a16="http://schemas.microsoft.com/office/drawing/2014/main" id="{C319D3E1-3CA5-4A74-938B-FB4B635E91BA}"/>
                  </a:ext>
                </a:extLst>
              </p:cNvPr>
              <p:cNvSpPr/>
              <p:nvPr/>
            </p:nvSpPr>
            <p:spPr>
              <a:xfrm>
                <a:off x="6511362" y="2494405"/>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5" name="橢圓 64">
                <a:extLst>
                  <a:ext uri="{FF2B5EF4-FFF2-40B4-BE49-F238E27FC236}">
                    <a16:creationId xmlns:a16="http://schemas.microsoft.com/office/drawing/2014/main" id="{F887AD10-0949-4829-A973-1F0518391DEF}"/>
                  </a:ext>
                </a:extLst>
              </p:cNvPr>
              <p:cNvSpPr/>
              <p:nvPr/>
            </p:nvSpPr>
            <p:spPr>
              <a:xfrm>
                <a:off x="6511362" y="2851664"/>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6" name="橢圓 65">
                <a:extLst>
                  <a:ext uri="{FF2B5EF4-FFF2-40B4-BE49-F238E27FC236}">
                    <a16:creationId xmlns:a16="http://schemas.microsoft.com/office/drawing/2014/main" id="{FA592446-627C-4408-81E1-5030CE128225}"/>
                  </a:ext>
                </a:extLst>
              </p:cNvPr>
              <p:cNvSpPr/>
              <p:nvPr/>
            </p:nvSpPr>
            <p:spPr>
              <a:xfrm>
                <a:off x="6511362" y="3221650"/>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7" name="橢圓 66">
                <a:extLst>
                  <a:ext uri="{FF2B5EF4-FFF2-40B4-BE49-F238E27FC236}">
                    <a16:creationId xmlns:a16="http://schemas.microsoft.com/office/drawing/2014/main" id="{5E6AF896-8974-4378-AF9D-62CE4EF5CF7B}"/>
                  </a:ext>
                </a:extLst>
              </p:cNvPr>
              <p:cNvSpPr/>
              <p:nvPr/>
            </p:nvSpPr>
            <p:spPr>
              <a:xfrm>
                <a:off x="4941131" y="3578909"/>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8" name="橢圓 67">
                <a:extLst>
                  <a:ext uri="{FF2B5EF4-FFF2-40B4-BE49-F238E27FC236}">
                    <a16:creationId xmlns:a16="http://schemas.microsoft.com/office/drawing/2014/main" id="{7DAD8F96-2054-4A13-A25F-26C770758CBC}"/>
                  </a:ext>
                </a:extLst>
              </p:cNvPr>
              <p:cNvSpPr/>
              <p:nvPr/>
            </p:nvSpPr>
            <p:spPr>
              <a:xfrm>
                <a:off x="5339723" y="3578909"/>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9" name="橢圓 68">
                <a:extLst>
                  <a:ext uri="{FF2B5EF4-FFF2-40B4-BE49-F238E27FC236}">
                    <a16:creationId xmlns:a16="http://schemas.microsoft.com/office/drawing/2014/main" id="{4251E80E-5ECB-48A7-8E5C-7BE7EFEBD404}"/>
                  </a:ext>
                </a:extLst>
              </p:cNvPr>
              <p:cNvSpPr/>
              <p:nvPr/>
            </p:nvSpPr>
            <p:spPr>
              <a:xfrm>
                <a:off x="5739369" y="3578909"/>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0" name="橢圓 69">
                <a:extLst>
                  <a:ext uri="{FF2B5EF4-FFF2-40B4-BE49-F238E27FC236}">
                    <a16:creationId xmlns:a16="http://schemas.microsoft.com/office/drawing/2014/main" id="{8B7F46B8-AAAF-45AE-8DC3-7B23A7B8BEE3}"/>
                  </a:ext>
                </a:extLst>
              </p:cNvPr>
              <p:cNvSpPr/>
              <p:nvPr/>
            </p:nvSpPr>
            <p:spPr>
              <a:xfrm>
                <a:off x="6133948" y="3578909"/>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1" name="橢圓 70">
                <a:extLst>
                  <a:ext uri="{FF2B5EF4-FFF2-40B4-BE49-F238E27FC236}">
                    <a16:creationId xmlns:a16="http://schemas.microsoft.com/office/drawing/2014/main" id="{29FC575B-70FB-49F9-8EC8-7B0A811C19EB}"/>
                  </a:ext>
                </a:extLst>
              </p:cNvPr>
              <p:cNvSpPr/>
              <p:nvPr/>
            </p:nvSpPr>
            <p:spPr>
              <a:xfrm>
                <a:off x="5295389" y="2418390"/>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2" name="橢圓 71">
                <a:extLst>
                  <a:ext uri="{FF2B5EF4-FFF2-40B4-BE49-F238E27FC236}">
                    <a16:creationId xmlns:a16="http://schemas.microsoft.com/office/drawing/2014/main" id="{AB18DBA5-0CDA-4294-AB9D-2BFD77F1F7D3}"/>
                  </a:ext>
                </a:extLst>
              </p:cNvPr>
              <p:cNvSpPr/>
              <p:nvPr/>
            </p:nvSpPr>
            <p:spPr>
              <a:xfrm>
                <a:off x="6513469" y="3578909"/>
                <a:ext cx="64281" cy="65444"/>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4" name="橢圓 73">
                <a:extLst>
                  <a:ext uri="{FF2B5EF4-FFF2-40B4-BE49-F238E27FC236}">
                    <a16:creationId xmlns:a16="http://schemas.microsoft.com/office/drawing/2014/main" id="{DF269A7D-2163-4D75-AF81-2BD0133ACC12}"/>
                  </a:ext>
                </a:extLst>
              </p:cNvPr>
              <p:cNvSpPr/>
              <p:nvPr/>
            </p:nvSpPr>
            <p:spPr>
              <a:xfrm>
                <a:off x="5273335" y="200822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5" name="橢圓 74">
                <a:extLst>
                  <a:ext uri="{FF2B5EF4-FFF2-40B4-BE49-F238E27FC236}">
                    <a16:creationId xmlns:a16="http://schemas.microsoft.com/office/drawing/2014/main" id="{D8E80054-4A61-4D92-8760-E2AB3C47B011}"/>
                  </a:ext>
                </a:extLst>
              </p:cNvPr>
              <p:cNvSpPr/>
              <p:nvPr/>
            </p:nvSpPr>
            <p:spPr>
              <a:xfrm>
                <a:off x="5739681" y="200822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6" name="橢圓 75">
                <a:extLst>
                  <a:ext uri="{FF2B5EF4-FFF2-40B4-BE49-F238E27FC236}">
                    <a16:creationId xmlns:a16="http://schemas.microsoft.com/office/drawing/2014/main" id="{E61AE863-80D4-4028-8474-2D2F23A0A4F9}"/>
                  </a:ext>
                </a:extLst>
              </p:cNvPr>
              <p:cNvSpPr/>
              <p:nvPr/>
            </p:nvSpPr>
            <p:spPr>
              <a:xfrm>
                <a:off x="6195095" y="2848739"/>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7" name="橢圓 76">
                <a:extLst>
                  <a:ext uri="{FF2B5EF4-FFF2-40B4-BE49-F238E27FC236}">
                    <a16:creationId xmlns:a16="http://schemas.microsoft.com/office/drawing/2014/main" id="{C6B03346-6F20-415B-80AA-3B9746EA128D}"/>
                  </a:ext>
                </a:extLst>
              </p:cNvPr>
              <p:cNvSpPr/>
              <p:nvPr/>
            </p:nvSpPr>
            <p:spPr>
              <a:xfrm>
                <a:off x="6207333" y="200822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8" name="橢圓 77">
                <a:extLst>
                  <a:ext uri="{FF2B5EF4-FFF2-40B4-BE49-F238E27FC236}">
                    <a16:creationId xmlns:a16="http://schemas.microsoft.com/office/drawing/2014/main" id="{0641C543-9C5C-4A09-BE81-AC3C47BE8726}"/>
                  </a:ext>
                </a:extLst>
              </p:cNvPr>
              <p:cNvSpPr/>
              <p:nvPr/>
            </p:nvSpPr>
            <p:spPr>
              <a:xfrm>
                <a:off x="4795666" y="200822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8C0D0A57-17D5-4C78-ABFB-91D981A19860}"/>
                  </a:ext>
                </a:extLst>
              </p:cNvPr>
              <p:cNvSpPr/>
              <p:nvPr/>
            </p:nvSpPr>
            <p:spPr>
              <a:xfrm>
                <a:off x="6642844" y="200822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1B883EBC-578A-46DE-9A40-D05E25E88B8A}"/>
                  </a:ext>
                </a:extLst>
              </p:cNvPr>
              <p:cNvSpPr/>
              <p:nvPr/>
            </p:nvSpPr>
            <p:spPr>
              <a:xfrm>
                <a:off x="6190473" y="2416407"/>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B0C6511E-7020-40F5-BE34-4C906992262B}"/>
                  </a:ext>
                </a:extLst>
              </p:cNvPr>
              <p:cNvSpPr/>
              <p:nvPr/>
            </p:nvSpPr>
            <p:spPr>
              <a:xfrm>
                <a:off x="6610703" y="2410536"/>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2" name="橢圓 81">
                <a:extLst>
                  <a:ext uri="{FF2B5EF4-FFF2-40B4-BE49-F238E27FC236}">
                    <a16:creationId xmlns:a16="http://schemas.microsoft.com/office/drawing/2014/main" id="{83F9A530-2FE0-41C3-B96B-7467209B995D}"/>
                  </a:ext>
                </a:extLst>
              </p:cNvPr>
              <p:cNvSpPr/>
              <p:nvPr/>
            </p:nvSpPr>
            <p:spPr>
              <a:xfrm>
                <a:off x="5287629" y="3693058"/>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3" name="橢圓 82">
                <a:extLst>
                  <a:ext uri="{FF2B5EF4-FFF2-40B4-BE49-F238E27FC236}">
                    <a16:creationId xmlns:a16="http://schemas.microsoft.com/office/drawing/2014/main" id="{D192809E-ADB9-4576-8E83-3BDB224169C4}"/>
                  </a:ext>
                </a:extLst>
              </p:cNvPr>
              <p:cNvSpPr/>
              <p:nvPr/>
            </p:nvSpPr>
            <p:spPr>
              <a:xfrm>
                <a:off x="6189318" y="3697987"/>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4" name="橢圓 83">
                <a:extLst>
                  <a:ext uri="{FF2B5EF4-FFF2-40B4-BE49-F238E27FC236}">
                    <a16:creationId xmlns:a16="http://schemas.microsoft.com/office/drawing/2014/main" id="{39681155-6092-4BEE-8D09-2889CAB2AC06}"/>
                  </a:ext>
                </a:extLst>
              </p:cNvPr>
              <p:cNvSpPr/>
              <p:nvPr/>
            </p:nvSpPr>
            <p:spPr>
              <a:xfrm>
                <a:off x="5737262" y="2416407"/>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0CAC5A54-870E-4AA1-8AB3-F0B7624523AE}"/>
                  </a:ext>
                </a:extLst>
              </p:cNvPr>
              <p:cNvSpPr/>
              <p:nvPr/>
            </p:nvSpPr>
            <p:spPr>
              <a:xfrm>
                <a:off x="5737262" y="3693225"/>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6" name="橢圓 85">
                <a:extLst>
                  <a:ext uri="{FF2B5EF4-FFF2-40B4-BE49-F238E27FC236}">
                    <a16:creationId xmlns:a16="http://schemas.microsoft.com/office/drawing/2014/main" id="{E03D0C44-F235-48F9-B716-917B842E66D4}"/>
                  </a:ext>
                </a:extLst>
              </p:cNvPr>
              <p:cNvSpPr/>
              <p:nvPr/>
            </p:nvSpPr>
            <p:spPr>
              <a:xfrm>
                <a:off x="6642842" y="3293631"/>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7" name="橢圓 86">
                <a:extLst>
                  <a:ext uri="{FF2B5EF4-FFF2-40B4-BE49-F238E27FC236}">
                    <a16:creationId xmlns:a16="http://schemas.microsoft.com/office/drawing/2014/main" id="{6D78899C-07F7-4AAF-9406-59A3B58DA078}"/>
                  </a:ext>
                </a:extLst>
              </p:cNvPr>
              <p:cNvSpPr/>
              <p:nvPr/>
            </p:nvSpPr>
            <p:spPr>
              <a:xfrm>
                <a:off x="6632883" y="3693058"/>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8" name="橢圓 87">
                <a:extLst>
                  <a:ext uri="{FF2B5EF4-FFF2-40B4-BE49-F238E27FC236}">
                    <a16:creationId xmlns:a16="http://schemas.microsoft.com/office/drawing/2014/main" id="{37D64A09-F35C-4469-A1A9-92BDA0D8AFC2}"/>
                  </a:ext>
                </a:extLst>
              </p:cNvPr>
              <p:cNvSpPr/>
              <p:nvPr/>
            </p:nvSpPr>
            <p:spPr>
              <a:xfrm>
                <a:off x="5737261" y="3294660"/>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9" name="橢圓 88">
                <a:extLst>
                  <a:ext uri="{FF2B5EF4-FFF2-40B4-BE49-F238E27FC236}">
                    <a16:creationId xmlns:a16="http://schemas.microsoft.com/office/drawing/2014/main" id="{3D7A4FD8-42F1-4B60-ADEB-BA4DCE68F5BF}"/>
                  </a:ext>
                </a:extLst>
              </p:cNvPr>
              <p:cNvSpPr/>
              <p:nvPr/>
            </p:nvSpPr>
            <p:spPr>
              <a:xfrm>
                <a:off x="5295388" y="3278725"/>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065FEF9C-182F-493E-BEE7-66BC34C30045}"/>
                  </a:ext>
                </a:extLst>
              </p:cNvPr>
              <p:cNvSpPr/>
              <p:nvPr/>
            </p:nvSpPr>
            <p:spPr>
              <a:xfrm>
                <a:off x="6179134" y="3269474"/>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5126F58C-EF7E-498C-B41C-9E2CEEA2C7C0}"/>
                  </a:ext>
                </a:extLst>
              </p:cNvPr>
              <p:cNvSpPr/>
              <p:nvPr/>
            </p:nvSpPr>
            <p:spPr>
              <a:xfrm>
                <a:off x="6642843" y="2851664"/>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2" name="橢圓 91">
                <a:extLst>
                  <a:ext uri="{FF2B5EF4-FFF2-40B4-BE49-F238E27FC236}">
                    <a16:creationId xmlns:a16="http://schemas.microsoft.com/office/drawing/2014/main" id="{BC0A69D8-C065-4FA3-911B-AD1858767318}"/>
                  </a:ext>
                </a:extLst>
              </p:cNvPr>
              <p:cNvSpPr/>
              <p:nvPr/>
            </p:nvSpPr>
            <p:spPr>
              <a:xfrm>
                <a:off x="5273334" y="2849620"/>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3" name="橢圓 92">
                <a:extLst>
                  <a:ext uri="{FF2B5EF4-FFF2-40B4-BE49-F238E27FC236}">
                    <a16:creationId xmlns:a16="http://schemas.microsoft.com/office/drawing/2014/main" id="{8A25DE8F-877F-4231-9868-697CB6152E07}"/>
                  </a:ext>
                </a:extLst>
              </p:cNvPr>
              <p:cNvSpPr/>
              <p:nvPr/>
            </p:nvSpPr>
            <p:spPr>
              <a:xfrm>
                <a:off x="5734215" y="2829089"/>
                <a:ext cx="64281" cy="65444"/>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sp>
          <p:nvSpPr>
            <p:cNvPr id="3" name="矩形 2">
              <a:extLst>
                <a:ext uri="{FF2B5EF4-FFF2-40B4-BE49-F238E27FC236}">
                  <a16:creationId xmlns:a16="http://schemas.microsoft.com/office/drawing/2014/main" id="{9DA03D34-34B9-4202-BC4A-35BEBDF1B14E}"/>
                </a:ext>
              </a:extLst>
            </p:cNvPr>
            <p:cNvSpPr/>
            <p:nvPr/>
          </p:nvSpPr>
          <p:spPr>
            <a:xfrm>
              <a:off x="3649315" y="1844824"/>
              <a:ext cx="2088232" cy="20162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4" name="文字方塊 93">
            <a:extLst>
              <a:ext uri="{FF2B5EF4-FFF2-40B4-BE49-F238E27FC236}">
                <a16:creationId xmlns:a16="http://schemas.microsoft.com/office/drawing/2014/main" id="{368E64F2-55C3-401C-B35A-F2EC56257B90}"/>
              </a:ext>
            </a:extLst>
          </p:cNvPr>
          <p:cNvSpPr txBox="1"/>
          <p:nvPr/>
        </p:nvSpPr>
        <p:spPr>
          <a:xfrm>
            <a:off x="4310768" y="3111602"/>
            <a:ext cx="1741717" cy="400110"/>
          </a:xfrm>
          <a:prstGeom prst="rect">
            <a:avLst/>
          </a:prstGeom>
          <a:noFill/>
        </p:spPr>
        <p:txBody>
          <a:bodyPr wrap="square" rtlCol="0">
            <a:spAutoFit/>
          </a:bodyPr>
          <a:lstStyle/>
          <a:p>
            <a:pPr algn="ctr"/>
            <a:r>
              <a:rPr lang="en-US" altLang="zh-TW" sz="2000" dirty="0">
                <a:solidFill>
                  <a:srgbClr val="414455"/>
                </a:solidFill>
                <a:latin typeface="微软雅黑" panose="020B0503020204020204" pitchFamily="34" charset="-122"/>
                <a:ea typeface="微软雅黑" panose="020B0503020204020204" pitchFamily="34" charset="-122"/>
              </a:rPr>
              <a:t>LED</a:t>
            </a:r>
            <a:r>
              <a:rPr lang="zh-TW" altLang="en-US" sz="2000" dirty="0">
                <a:solidFill>
                  <a:srgbClr val="414455"/>
                </a:solidFill>
                <a:latin typeface="微软雅黑" panose="020B0503020204020204" pitchFamily="34" charset="-122"/>
                <a:ea typeface="微软雅黑" panose="020B0503020204020204" pitchFamily="34" charset="-122"/>
              </a:rPr>
              <a:t> 偏移</a:t>
            </a:r>
          </a:p>
        </p:txBody>
      </p:sp>
      <p:pic>
        <p:nvPicPr>
          <p:cNvPr id="1026" name="Picture 2" descr="Artificial Intelligence Icon Vector Art, Icons, and Graphics for Free  Download">
            <a:extLst>
              <a:ext uri="{FF2B5EF4-FFF2-40B4-BE49-F238E27FC236}">
                <a16:creationId xmlns:a16="http://schemas.microsoft.com/office/drawing/2014/main" id="{C6D2F36F-DF37-4457-87A4-782B882AE728}"/>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16300" y="3797517"/>
            <a:ext cx="1413944" cy="1413944"/>
          </a:xfrm>
          <a:prstGeom prst="rect">
            <a:avLst/>
          </a:prstGeom>
          <a:noFill/>
          <a:extLst>
            <a:ext uri="{909E8E84-426E-40DD-AFC4-6F175D3DCCD1}">
              <a14:hiddenFill xmlns:a14="http://schemas.microsoft.com/office/drawing/2010/main">
                <a:solidFill>
                  <a:srgbClr val="FFFFFF"/>
                </a:solidFill>
              </a14:hiddenFill>
            </a:ext>
          </a:extLst>
        </p:spPr>
      </p:pic>
      <p:sp>
        <p:nvSpPr>
          <p:cNvPr id="95" name="矩形 94">
            <a:extLst>
              <a:ext uri="{FF2B5EF4-FFF2-40B4-BE49-F238E27FC236}">
                <a16:creationId xmlns:a16="http://schemas.microsoft.com/office/drawing/2014/main" id="{C5A0464B-EE2F-4F4E-99F3-8E07CDCEB3CC}"/>
              </a:ext>
            </a:extLst>
          </p:cNvPr>
          <p:cNvSpPr/>
          <p:nvPr/>
        </p:nvSpPr>
        <p:spPr>
          <a:xfrm>
            <a:off x="5866420" y="5211461"/>
            <a:ext cx="393155" cy="4320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8D1960F1-FE90-45CE-9A07-DF07B7CAC1C4}"/>
              </a:ext>
            </a:extLst>
          </p:cNvPr>
          <p:cNvSpPr/>
          <p:nvPr/>
        </p:nvSpPr>
        <p:spPr>
          <a:xfrm>
            <a:off x="7611293" y="3591336"/>
            <a:ext cx="1080000" cy="108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橢圓 96">
            <a:extLst>
              <a:ext uri="{FF2B5EF4-FFF2-40B4-BE49-F238E27FC236}">
                <a16:creationId xmlns:a16="http://schemas.microsoft.com/office/drawing/2014/main" id="{2A53EE8A-B739-4D5D-84E0-574141801CB5}"/>
              </a:ext>
            </a:extLst>
          </p:cNvPr>
          <p:cNvSpPr/>
          <p:nvPr/>
        </p:nvSpPr>
        <p:spPr>
          <a:xfrm>
            <a:off x="7882644" y="3853126"/>
            <a:ext cx="108000" cy="108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8" name="橢圓 97">
            <a:extLst>
              <a:ext uri="{FF2B5EF4-FFF2-40B4-BE49-F238E27FC236}">
                <a16:creationId xmlns:a16="http://schemas.microsoft.com/office/drawing/2014/main" id="{F20E3806-A3F2-4DDB-AA89-28AB5E52DD64}"/>
              </a:ext>
            </a:extLst>
          </p:cNvPr>
          <p:cNvSpPr/>
          <p:nvPr/>
        </p:nvSpPr>
        <p:spPr>
          <a:xfrm>
            <a:off x="8303077" y="4321581"/>
            <a:ext cx="108000" cy="108000"/>
          </a:xfrm>
          <a:prstGeom prst="ellipse">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7" name="直線單箭頭接點 6">
            <a:extLst>
              <a:ext uri="{FF2B5EF4-FFF2-40B4-BE49-F238E27FC236}">
                <a16:creationId xmlns:a16="http://schemas.microsoft.com/office/drawing/2014/main" id="{5FAEB4FA-F445-47A5-8A8E-627F5D8811E9}"/>
              </a:ext>
            </a:extLst>
          </p:cNvPr>
          <p:cNvCxnSpPr>
            <a:cxnSpLocks/>
            <a:stCxn id="98" idx="1"/>
            <a:endCxn id="97" idx="5"/>
          </p:cNvCxnSpPr>
          <p:nvPr/>
        </p:nvCxnSpPr>
        <p:spPr>
          <a:xfrm flipH="1" flipV="1">
            <a:off x="7974828" y="3945310"/>
            <a:ext cx="344065" cy="392087"/>
          </a:xfrm>
          <a:prstGeom prst="straightConnector1">
            <a:avLst/>
          </a:prstGeom>
          <a:ln>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99" name="文本框 33">
            <a:extLst>
              <a:ext uri="{FF2B5EF4-FFF2-40B4-BE49-F238E27FC236}">
                <a16:creationId xmlns:a16="http://schemas.microsoft.com/office/drawing/2014/main" id="{A7D68B5E-ABE7-41F7-8DC9-82EAE7781FEB}"/>
              </a:ext>
            </a:extLst>
          </p:cNvPr>
          <p:cNvSpPr txBox="1"/>
          <p:nvPr/>
        </p:nvSpPr>
        <p:spPr>
          <a:xfrm>
            <a:off x="1793588" y="1196752"/>
            <a:ext cx="3120705" cy="1038233"/>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algn="l">
              <a:lnSpc>
                <a:spcPct val="150000"/>
              </a:lnSpc>
              <a:spcBef>
                <a:spcPts val="600"/>
              </a:spcBef>
            </a:pPr>
            <a:r>
              <a:rPr lang="en-US" altLang="zh-TW" sz="2000" dirty="0">
                <a:solidFill>
                  <a:srgbClr val="414455"/>
                </a:solidFill>
              </a:rPr>
              <a:t>Micro</a:t>
            </a:r>
            <a:r>
              <a:rPr lang="zh-TW" altLang="en-US" sz="2000" dirty="0">
                <a:solidFill>
                  <a:srgbClr val="414455"/>
                </a:solidFill>
              </a:rPr>
              <a:t> </a:t>
            </a:r>
            <a:r>
              <a:rPr lang="en-US" altLang="zh-TW" sz="2000" dirty="0">
                <a:solidFill>
                  <a:srgbClr val="414455"/>
                </a:solidFill>
              </a:rPr>
              <a:t>LED </a:t>
            </a:r>
            <a:r>
              <a:rPr lang="zh-TW" altLang="en-US" sz="2000" dirty="0">
                <a:solidFill>
                  <a:srgbClr val="414455"/>
                </a:solidFill>
              </a:rPr>
              <a:t>校正偏移點位</a:t>
            </a:r>
          </a:p>
          <a:p>
            <a:pPr algn="l">
              <a:lnSpc>
                <a:spcPct val="150000"/>
              </a:lnSpc>
              <a:spcBef>
                <a:spcPts val="600"/>
              </a:spcBef>
            </a:pPr>
            <a:endParaRPr lang="en-US" altLang="zh-TW" sz="2000" dirty="0">
              <a:solidFill>
                <a:srgbClr val="414455"/>
              </a:solidFill>
            </a:endParaRPr>
          </a:p>
        </p:txBody>
      </p:sp>
      <p:cxnSp>
        <p:nvCxnSpPr>
          <p:cNvPr id="100" name="直接连接符 67">
            <a:extLst>
              <a:ext uri="{FF2B5EF4-FFF2-40B4-BE49-F238E27FC236}">
                <a16:creationId xmlns:a16="http://schemas.microsoft.com/office/drawing/2014/main" id="{2708C17C-353D-4B39-8A9D-AEE5D3DCA444}"/>
              </a:ext>
            </a:extLst>
          </p:cNvPr>
          <p:cNvCxnSpPr>
            <a:cxnSpLocks/>
          </p:cNvCxnSpPr>
          <p:nvPr/>
        </p:nvCxnSpPr>
        <p:spPr>
          <a:xfrm>
            <a:off x="1802309" y="1772816"/>
            <a:ext cx="3111984" cy="0"/>
          </a:xfrm>
          <a:prstGeom prst="line">
            <a:avLst/>
          </a:prstGeom>
          <a:ln>
            <a:solidFill>
              <a:srgbClr val="414455"/>
            </a:solidFill>
            <a:prstDash val="sys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01" name="文本框 33">
            <a:extLst>
              <a:ext uri="{FF2B5EF4-FFF2-40B4-BE49-F238E27FC236}">
                <a16:creationId xmlns:a16="http://schemas.microsoft.com/office/drawing/2014/main" id="{7CCA9AEC-8AED-4132-B17D-7DE28D2FC4BB}"/>
              </a:ext>
            </a:extLst>
          </p:cNvPr>
          <p:cNvSpPr txBox="1"/>
          <p:nvPr/>
        </p:nvSpPr>
        <p:spPr>
          <a:xfrm>
            <a:off x="1793588" y="1916832"/>
            <a:ext cx="3120705" cy="1443793"/>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285750" indent="-285750" algn="l">
              <a:lnSpc>
                <a:spcPct val="150000"/>
              </a:lnSpc>
              <a:spcBef>
                <a:spcPts val="600"/>
              </a:spcBef>
              <a:buFont typeface="Wingdings" panose="05000000000000000000" pitchFamily="2" charset="2"/>
              <a:buChar char="u"/>
            </a:pPr>
            <a:r>
              <a:rPr lang="en-US" altLang="zh-TW" sz="1800" b="0" dirty="0">
                <a:solidFill>
                  <a:srgbClr val="414455"/>
                </a:solidFill>
              </a:rPr>
              <a:t>Wafer </a:t>
            </a:r>
            <a:r>
              <a:rPr lang="zh-TW" altLang="en-US" sz="1800" b="0" dirty="0">
                <a:solidFill>
                  <a:srgbClr val="414455"/>
                </a:solidFill>
              </a:rPr>
              <a:t>來料偏差</a:t>
            </a:r>
            <a:endParaRPr lang="en-US" altLang="zh-TW" sz="1800" b="0" dirty="0">
              <a:solidFill>
                <a:srgbClr val="414455"/>
              </a:solidFill>
            </a:endParaRPr>
          </a:p>
          <a:p>
            <a:pPr marL="285750" indent="-285750" algn="l">
              <a:lnSpc>
                <a:spcPct val="150000"/>
              </a:lnSpc>
              <a:spcBef>
                <a:spcPts val="600"/>
              </a:spcBef>
              <a:buFont typeface="Wingdings" panose="05000000000000000000" pitchFamily="2" charset="2"/>
              <a:buChar char="u"/>
            </a:pPr>
            <a:r>
              <a:rPr lang="en-US" altLang="zh-TW" sz="1800" b="0" dirty="0">
                <a:solidFill>
                  <a:srgbClr val="414455"/>
                </a:solidFill>
              </a:rPr>
              <a:t>TFT </a:t>
            </a:r>
            <a:r>
              <a:rPr lang="zh-TW" altLang="en-US" sz="1800" b="0" dirty="0">
                <a:solidFill>
                  <a:srgbClr val="414455"/>
                </a:solidFill>
              </a:rPr>
              <a:t>玻璃脹縮</a:t>
            </a:r>
          </a:p>
          <a:p>
            <a:pPr marL="285750" indent="-285750" algn="l">
              <a:lnSpc>
                <a:spcPct val="150000"/>
              </a:lnSpc>
              <a:spcBef>
                <a:spcPts val="600"/>
              </a:spcBef>
              <a:buFont typeface="Wingdings" panose="05000000000000000000" pitchFamily="2" charset="2"/>
              <a:buChar char="u"/>
            </a:pPr>
            <a:r>
              <a:rPr lang="zh-TW" altLang="en-US" sz="1800" b="0" dirty="0">
                <a:solidFill>
                  <a:srgbClr val="414455"/>
                </a:solidFill>
              </a:rPr>
              <a:t>巨轉機差</a:t>
            </a:r>
          </a:p>
        </p:txBody>
      </p:sp>
      <p:sp>
        <p:nvSpPr>
          <p:cNvPr id="102" name="文字方塊 101">
            <a:extLst>
              <a:ext uri="{FF2B5EF4-FFF2-40B4-BE49-F238E27FC236}">
                <a16:creationId xmlns:a16="http://schemas.microsoft.com/office/drawing/2014/main" id="{DC33540C-2598-463D-A976-AABAB06D0CDA}"/>
              </a:ext>
            </a:extLst>
          </p:cNvPr>
          <p:cNvSpPr txBox="1"/>
          <p:nvPr/>
        </p:nvSpPr>
        <p:spPr>
          <a:xfrm>
            <a:off x="9252414" y="3160570"/>
            <a:ext cx="1741717" cy="400110"/>
          </a:xfrm>
          <a:prstGeom prst="rect">
            <a:avLst/>
          </a:prstGeom>
          <a:noFill/>
        </p:spPr>
        <p:txBody>
          <a:bodyPr wrap="square" rtlCol="0">
            <a:spAutoFit/>
          </a:bodyPr>
          <a:lstStyle/>
          <a:p>
            <a:pPr algn="ctr"/>
            <a:r>
              <a:rPr lang="zh-TW" altLang="en-US" sz="2000" dirty="0">
                <a:solidFill>
                  <a:srgbClr val="414455"/>
                </a:solidFill>
                <a:latin typeface="微软雅黑" panose="020B0503020204020204" pitchFamily="34" charset="-122"/>
                <a:ea typeface="微软雅黑" panose="020B0503020204020204" pitchFamily="34" charset="-122"/>
              </a:rPr>
              <a:t>回歸模型校正</a:t>
            </a:r>
          </a:p>
        </p:txBody>
      </p:sp>
    </p:spTree>
    <p:extLst>
      <p:ext uri="{BB962C8B-B14F-4D97-AF65-F5344CB8AC3E}">
        <p14:creationId xmlns:p14="http://schemas.microsoft.com/office/powerpoint/2010/main" val="1120748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23093" y="0"/>
            <a:ext cx="936104"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D02087-9053-465D-A619-8303B3912B43}"/>
              </a:ext>
            </a:extLst>
          </p:cNvPr>
          <p:cNvGrpSpPr/>
          <p:nvPr/>
        </p:nvGrpSpPr>
        <p:grpSpPr>
          <a:xfrm>
            <a:off x="552971" y="188640"/>
            <a:ext cx="670560" cy="604586"/>
            <a:chOff x="5424755" y="1340768"/>
            <a:chExt cx="670560" cy="604586"/>
          </a:xfrm>
        </p:grpSpPr>
        <p:grpSp>
          <p:nvGrpSpPr>
            <p:cNvPr id="16" name="组合 15">
              <a:extLst>
                <a:ext uri="{FF2B5EF4-FFF2-40B4-BE49-F238E27FC236}">
                  <a16:creationId xmlns:a16="http://schemas.microsoft.com/office/drawing/2014/main" id="{4CB3831D-CF2E-47CA-8766-233D062AD6C7}"/>
                </a:ext>
              </a:extLst>
            </p:cNvPr>
            <p:cNvGrpSpPr/>
            <p:nvPr/>
          </p:nvGrpSpPr>
          <p:grpSpPr>
            <a:xfrm>
              <a:off x="5424755" y="1340768"/>
              <a:ext cx="670560" cy="604586"/>
              <a:chOff x="3720691" y="2824413"/>
              <a:chExt cx="1341120" cy="1209172"/>
            </a:xfrm>
          </p:grpSpPr>
          <p:sp>
            <p:nvSpPr>
              <p:cNvPr id="18" name="Freeform 5">
                <a:extLst>
                  <a:ext uri="{FF2B5EF4-FFF2-40B4-BE49-F238E27FC236}">
                    <a16:creationId xmlns:a16="http://schemas.microsoft.com/office/drawing/2014/main" id="{4FA345B5-5BFB-4989-9986-E49DC407D656}"/>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5">
                <a:extLst>
                  <a:ext uri="{FF2B5EF4-FFF2-40B4-BE49-F238E27FC236}">
                    <a16:creationId xmlns:a16="http://schemas.microsoft.com/office/drawing/2014/main" id="{DA84782B-C11B-49FE-B452-367BC1173053}"/>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17" name="Freeform 5">
              <a:extLst>
                <a:ext uri="{FF2B5EF4-FFF2-40B4-BE49-F238E27FC236}">
                  <a16:creationId xmlns:a16="http://schemas.microsoft.com/office/drawing/2014/main" id="{24F62B0F-D8F9-4572-BD53-79CFD2C3A710}"/>
                </a:ext>
              </a:extLst>
            </p:cNvPr>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0" name="文本框 9">
            <a:extLst>
              <a:ext uri="{FF2B5EF4-FFF2-40B4-BE49-F238E27FC236}">
                <a16:creationId xmlns:a16="http://schemas.microsoft.com/office/drawing/2014/main" id="{E99A2E68-AAFA-49FB-8E64-E897361B08A0}"/>
              </a:ext>
            </a:extLst>
          </p:cNvPr>
          <p:cNvSpPr txBox="1"/>
          <p:nvPr/>
        </p:nvSpPr>
        <p:spPr>
          <a:xfrm>
            <a:off x="1270163" y="307422"/>
            <a:ext cx="1872208" cy="346249"/>
          </a:xfrm>
          <a:prstGeom prst="rect">
            <a:avLst/>
          </a:prstGeom>
          <a:noFill/>
        </p:spPr>
        <p:txBody>
          <a:bodyPr wrap="square" lIns="68580" tIns="34290" rIns="68580" bIns="34290" rtlCol="0">
            <a:spAutoFit/>
          </a:bodyPr>
          <a:lstStyle/>
          <a:p>
            <a:pPr marL="0" lvl="1"/>
            <a:r>
              <a:rPr lang="zh-TW" altLang="en-US" dirty="0">
                <a:solidFill>
                  <a:srgbClr val="414455"/>
                </a:solidFill>
                <a:latin typeface="微软雅黑" pitchFamily="34" charset="-122"/>
                <a:ea typeface="微软雅黑" pitchFamily="34" charset="-122"/>
              </a:rPr>
              <a:t>公雲應用</a:t>
            </a:r>
            <a:endParaRPr lang="zh-CN" altLang="en-US" dirty="0">
              <a:solidFill>
                <a:srgbClr val="414455"/>
              </a:solidFill>
              <a:latin typeface="微软雅黑" pitchFamily="34" charset="-122"/>
              <a:ea typeface="微软雅黑" pitchFamily="34" charset="-122"/>
            </a:endParaRPr>
          </a:p>
        </p:txBody>
      </p:sp>
      <p:cxnSp>
        <p:nvCxnSpPr>
          <p:cNvPr id="21" name="直接连接符 21">
            <a:extLst>
              <a:ext uri="{FF2B5EF4-FFF2-40B4-BE49-F238E27FC236}">
                <a16:creationId xmlns:a16="http://schemas.microsoft.com/office/drawing/2014/main" id="{D332B124-81B0-4717-B57C-BB7A0C5379D8}"/>
              </a:ext>
            </a:extLst>
          </p:cNvPr>
          <p:cNvCxnSpPr/>
          <p:nvPr/>
        </p:nvCxnSpPr>
        <p:spPr>
          <a:xfrm>
            <a:off x="1342171" y="667462"/>
            <a:ext cx="9723968"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2">
            <a:extLst>
              <a:ext uri="{FF2B5EF4-FFF2-40B4-BE49-F238E27FC236}">
                <a16:creationId xmlns:a16="http://schemas.microsoft.com/office/drawing/2014/main" id="{DB56C549-0BFA-43BC-8689-6924E5B99AD8}"/>
              </a:ext>
            </a:extLst>
          </p:cNvPr>
          <p:cNvGrpSpPr/>
          <p:nvPr/>
        </p:nvGrpSpPr>
        <p:grpSpPr>
          <a:xfrm>
            <a:off x="11239467" y="459431"/>
            <a:ext cx="258720" cy="233265"/>
            <a:chOff x="3720691" y="2824413"/>
            <a:chExt cx="1341120" cy="1209172"/>
          </a:xfrm>
        </p:grpSpPr>
        <p:sp>
          <p:nvSpPr>
            <p:cNvPr id="23" name="Freeform 5">
              <a:extLst>
                <a:ext uri="{FF2B5EF4-FFF2-40B4-BE49-F238E27FC236}">
                  <a16:creationId xmlns:a16="http://schemas.microsoft.com/office/drawing/2014/main" id="{C9CA96A2-D41A-4125-921E-1036C753B85B}"/>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25" name="Freeform 5">
              <a:extLst>
                <a:ext uri="{FF2B5EF4-FFF2-40B4-BE49-F238E27FC236}">
                  <a16:creationId xmlns:a16="http://schemas.microsoft.com/office/drawing/2014/main" id="{FE0FC2FC-CC8A-4CCB-B1FF-93EB83DA6314}"/>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sp>
        <p:nvSpPr>
          <p:cNvPr id="30" name="文本框 9">
            <a:extLst>
              <a:ext uri="{FF2B5EF4-FFF2-40B4-BE49-F238E27FC236}">
                <a16:creationId xmlns:a16="http://schemas.microsoft.com/office/drawing/2014/main" id="{E52831D4-7766-4654-84E8-0224AC375163}"/>
              </a:ext>
            </a:extLst>
          </p:cNvPr>
          <p:cNvSpPr txBox="1"/>
          <p:nvPr/>
        </p:nvSpPr>
        <p:spPr>
          <a:xfrm>
            <a:off x="10706099" y="332656"/>
            <a:ext cx="432048" cy="346249"/>
          </a:xfrm>
          <a:prstGeom prst="rect">
            <a:avLst/>
          </a:prstGeom>
          <a:noFill/>
        </p:spPr>
        <p:txBody>
          <a:bodyPr wrap="square" lIns="68580" tIns="34290" rIns="68580" bIns="34290" rtlCol="0">
            <a:spAutoFit/>
          </a:bodyPr>
          <a:lstStyle/>
          <a:p>
            <a:pPr marL="0" lvl="1"/>
            <a:fld id="{019C1566-F6BD-42DB-B252-562BB8CFF26B}" type="slidenum">
              <a:rPr lang="en-US" altLang="zh-CN">
                <a:solidFill>
                  <a:srgbClr val="414455"/>
                </a:solidFill>
                <a:latin typeface="方正兰亭黑简体" panose="02000000000000000000" pitchFamily="2" charset="-122"/>
                <a:ea typeface="方正兰亭黑简体" panose="02000000000000000000" pitchFamily="2" charset="-122"/>
              </a:rPr>
              <a:t>6</a:t>
            </a:fld>
            <a:endParaRPr lang="zh-CN" altLang="en-US" dirty="0">
              <a:solidFill>
                <a:srgbClr val="414455"/>
              </a:solidFill>
              <a:latin typeface="方正兰亭黑简体" panose="02000000000000000000" pitchFamily="2" charset="-122"/>
              <a:ea typeface="方正兰亭黑简体" panose="02000000000000000000" pitchFamily="2" charset="-122"/>
            </a:endParaRPr>
          </a:p>
        </p:txBody>
      </p:sp>
      <p:sp>
        <p:nvSpPr>
          <p:cNvPr id="31" name="Freeform 206">
            <a:extLst>
              <a:ext uri="{FF2B5EF4-FFF2-40B4-BE49-F238E27FC236}">
                <a16:creationId xmlns:a16="http://schemas.microsoft.com/office/drawing/2014/main" id="{A5CD1D51-65DA-42A8-A481-FDDDB0129A0C}"/>
              </a:ext>
            </a:extLst>
          </p:cNvPr>
          <p:cNvSpPr>
            <a:spLocks noChangeAspect="1" noEditPoints="1"/>
          </p:cNvSpPr>
          <p:nvPr/>
        </p:nvSpPr>
        <p:spPr bwMode="auto">
          <a:xfrm>
            <a:off x="778198" y="302246"/>
            <a:ext cx="290724" cy="35142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pic>
        <p:nvPicPr>
          <p:cNvPr id="2" name="圖片 1">
            <a:extLst>
              <a:ext uri="{FF2B5EF4-FFF2-40B4-BE49-F238E27FC236}">
                <a16:creationId xmlns:a16="http://schemas.microsoft.com/office/drawing/2014/main" id="{ED1435A1-A423-4F5A-13D6-63C5809D8A80}"/>
              </a:ext>
            </a:extLst>
          </p:cNvPr>
          <p:cNvPicPr>
            <a:picLocks noChangeAspect="1"/>
          </p:cNvPicPr>
          <p:nvPr/>
        </p:nvPicPr>
        <p:blipFill>
          <a:blip r:embed="rId3"/>
          <a:stretch>
            <a:fillRect/>
          </a:stretch>
        </p:blipFill>
        <p:spPr>
          <a:xfrm>
            <a:off x="6366005" y="3725315"/>
            <a:ext cx="5508826" cy="2968975"/>
          </a:xfrm>
          <a:prstGeom prst="rect">
            <a:avLst/>
          </a:prstGeom>
        </p:spPr>
      </p:pic>
      <p:sp>
        <p:nvSpPr>
          <p:cNvPr id="3" name="文字方塊 2">
            <a:extLst>
              <a:ext uri="{FF2B5EF4-FFF2-40B4-BE49-F238E27FC236}">
                <a16:creationId xmlns:a16="http://schemas.microsoft.com/office/drawing/2014/main" id="{C335CF32-0F07-841C-31F3-1807E76B06C4}"/>
              </a:ext>
            </a:extLst>
          </p:cNvPr>
          <p:cNvSpPr txBox="1"/>
          <p:nvPr/>
        </p:nvSpPr>
        <p:spPr>
          <a:xfrm>
            <a:off x="1201043" y="947995"/>
            <a:ext cx="10972440" cy="3365345"/>
          </a:xfrm>
          <a:prstGeom prst="rect">
            <a:avLst/>
          </a:prstGeom>
          <a:noFill/>
        </p:spPr>
        <p:txBody>
          <a:bodyPr wrap="square" rtlCol="0">
            <a:spAutoFit/>
          </a:bodyPr>
          <a:lstStyle/>
          <a:p>
            <a:pPr marL="285750"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負責系統架構設計、資料流程規劃與實作開發。</a:t>
            </a:r>
            <a:endParaRPr lang="en-US" altLang="zh-TW" dirty="0">
              <a:solidFill>
                <a:srgbClr val="414455"/>
              </a:solidFill>
              <a:latin typeface="微软雅黑" panose="020B0503020204020204" pitchFamily="34" charset="-122"/>
              <a:ea typeface="微软雅黑" panose="020B0503020204020204" pitchFamily="34" charset="-122"/>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技術應用：</a:t>
            </a:r>
            <a:endParaRPr lang="en-US" altLang="zh-TW" dirty="0">
              <a:solidFill>
                <a:srgbClr val="414455"/>
              </a:solidFill>
              <a:latin typeface="微软雅黑" panose="020B0503020204020204" pitchFamily="34" charset="-122"/>
              <a:ea typeface="微软雅黑" panose="020B0503020204020204" pitchFamily="34" charset="-122"/>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使用 </a:t>
            </a:r>
            <a:r>
              <a:rPr lang="en-US" altLang="zh-TW" dirty="0">
                <a:solidFill>
                  <a:srgbClr val="C00000"/>
                </a:solidFill>
                <a:latin typeface="微软雅黑" panose="020B0503020204020204" pitchFamily="34" charset="-122"/>
                <a:ea typeface="微软雅黑" panose="020B0503020204020204" pitchFamily="34" charset="-122"/>
              </a:rPr>
              <a:t>Azure App Service </a:t>
            </a:r>
            <a:r>
              <a:rPr lang="zh-TW" altLang="en-US" dirty="0">
                <a:solidFill>
                  <a:srgbClr val="414455"/>
                </a:solidFill>
                <a:latin typeface="微软雅黑" panose="020B0503020204020204" pitchFamily="34" charset="-122"/>
                <a:ea typeface="微软雅黑" panose="020B0503020204020204" pitchFamily="34" charset="-122"/>
              </a:rPr>
              <a:t>作為應用程式入口，接收並轉交請求。</a:t>
            </a:r>
            <a:endParaRPr lang="en-US" altLang="zh-TW" dirty="0">
              <a:solidFill>
                <a:srgbClr val="414455"/>
              </a:solidFill>
              <a:latin typeface="微软雅黑" panose="020B0503020204020204" pitchFamily="34" charset="-122"/>
              <a:ea typeface="微软雅黑" panose="020B0503020204020204" pitchFamily="34" charset="-122"/>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整合 </a:t>
            </a:r>
            <a:r>
              <a:rPr lang="en-US" altLang="zh-TW" dirty="0">
                <a:solidFill>
                  <a:srgbClr val="C00000"/>
                </a:solidFill>
                <a:latin typeface="微软雅黑" panose="020B0503020204020204" pitchFamily="34" charset="-122"/>
                <a:ea typeface="微软雅黑" panose="020B0503020204020204" pitchFamily="34" charset="-122"/>
              </a:rPr>
              <a:t>Databricks </a:t>
            </a:r>
            <a:r>
              <a:rPr lang="en-US" altLang="zh-TW" dirty="0">
                <a:solidFill>
                  <a:srgbClr val="414455"/>
                </a:solidFill>
                <a:latin typeface="微软雅黑" panose="020B0503020204020204" pitchFamily="34" charset="-122"/>
                <a:ea typeface="微软雅黑" panose="020B0503020204020204" pitchFamily="34" charset="-122"/>
              </a:rPr>
              <a:t>(Delta Lake) </a:t>
            </a:r>
            <a:r>
              <a:rPr lang="zh-TW" altLang="en-US" dirty="0">
                <a:solidFill>
                  <a:srgbClr val="414455"/>
                </a:solidFill>
                <a:latin typeface="微软雅黑" panose="020B0503020204020204" pitchFamily="34" charset="-122"/>
                <a:ea typeface="微软雅黑" panose="020B0503020204020204" pitchFamily="34" charset="-122"/>
              </a:rPr>
              <a:t>進行數據處理與分析。</a:t>
            </a:r>
            <a:endParaRPr lang="en-US" altLang="zh-TW" dirty="0">
              <a:solidFill>
                <a:srgbClr val="414455"/>
              </a:solidFill>
              <a:latin typeface="微软雅黑" panose="020B0503020204020204" pitchFamily="34" charset="-122"/>
              <a:ea typeface="微软雅黑" panose="020B0503020204020204" pitchFamily="34" charset="-122"/>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透過 </a:t>
            </a:r>
            <a:r>
              <a:rPr lang="en-US" altLang="zh-TW" dirty="0" err="1">
                <a:solidFill>
                  <a:srgbClr val="C00000"/>
                </a:solidFill>
                <a:latin typeface="微软雅黑" panose="020B0503020204020204" pitchFamily="34" charset="-122"/>
                <a:ea typeface="微软雅黑" panose="020B0503020204020204" pitchFamily="34" charset="-122"/>
              </a:rPr>
              <a:t>AzCopy</a:t>
            </a:r>
            <a:r>
              <a:rPr lang="en-US" altLang="zh-TW" dirty="0">
                <a:solidFill>
                  <a:srgbClr val="414455"/>
                </a:solidFill>
                <a:latin typeface="微软雅黑" panose="020B0503020204020204" pitchFamily="34" charset="-122"/>
                <a:ea typeface="微软雅黑" panose="020B0503020204020204" pitchFamily="34" charset="-122"/>
              </a:rPr>
              <a:t> </a:t>
            </a:r>
            <a:r>
              <a:rPr lang="zh-TW" altLang="en-US" dirty="0">
                <a:solidFill>
                  <a:srgbClr val="414455"/>
                </a:solidFill>
                <a:latin typeface="微软雅黑" panose="020B0503020204020204" pitchFamily="34" charset="-122"/>
                <a:ea typeface="微软雅黑" panose="020B0503020204020204" pitchFamily="34" charset="-122"/>
              </a:rPr>
              <a:t>完成檔案上傳 </a:t>
            </a:r>
            <a:r>
              <a:rPr lang="en-US" altLang="zh-TW" dirty="0">
                <a:solidFill>
                  <a:srgbClr val="414455"/>
                </a:solidFill>
                <a:latin typeface="微软雅黑" panose="020B0503020204020204" pitchFamily="34" charset="-122"/>
                <a:ea typeface="微软雅黑" panose="020B0503020204020204" pitchFamily="34" charset="-122"/>
              </a:rPr>
              <a:t>/</a:t>
            </a:r>
            <a:r>
              <a:rPr lang="zh-TW" altLang="en-US" dirty="0">
                <a:solidFill>
                  <a:srgbClr val="414455"/>
                </a:solidFill>
                <a:latin typeface="微软雅黑" panose="020B0503020204020204" pitchFamily="34" charset="-122"/>
                <a:ea typeface="微软雅黑" panose="020B0503020204020204" pitchFamily="34" charset="-122"/>
              </a:rPr>
              <a:t> 下載，並儲存於 </a:t>
            </a:r>
            <a:r>
              <a:rPr lang="en-US" altLang="zh-TW" dirty="0">
                <a:solidFill>
                  <a:srgbClr val="414455"/>
                </a:solidFill>
                <a:latin typeface="微软雅黑" panose="020B0503020204020204" pitchFamily="34" charset="-122"/>
                <a:ea typeface="微软雅黑" panose="020B0503020204020204" pitchFamily="34" charset="-122"/>
              </a:rPr>
              <a:t>Azure </a:t>
            </a:r>
            <a:r>
              <a:rPr lang="en-US" altLang="zh-TW" dirty="0">
                <a:solidFill>
                  <a:srgbClr val="C00000"/>
                </a:solidFill>
                <a:latin typeface="微软雅黑" panose="020B0503020204020204" pitchFamily="34" charset="-122"/>
                <a:ea typeface="微软雅黑" panose="020B0503020204020204" pitchFamily="34" charset="-122"/>
              </a:rPr>
              <a:t>Blob Storage</a:t>
            </a:r>
            <a:r>
              <a:rPr lang="zh-TW" altLang="en-US" dirty="0">
                <a:solidFill>
                  <a:srgbClr val="414455"/>
                </a:solidFill>
                <a:latin typeface="微软雅黑" panose="020B0503020204020204" pitchFamily="34" charset="-122"/>
                <a:ea typeface="微软雅黑" panose="020B0503020204020204" pitchFamily="34" charset="-122"/>
              </a:rPr>
              <a:t>，供雲端運算與後續應用。</a:t>
            </a:r>
            <a:endParaRPr lang="en-US" altLang="zh-TW" dirty="0">
              <a:solidFill>
                <a:srgbClr val="414455"/>
              </a:solidFill>
              <a:latin typeface="微软雅黑" panose="020B0503020204020204" pitchFamily="34" charset="-122"/>
              <a:ea typeface="微软雅黑" panose="020B0503020204020204" pitchFamily="34" charset="-122"/>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成果：</a:t>
            </a:r>
            <a:endParaRPr lang="en-US" altLang="zh-TW" dirty="0">
              <a:solidFill>
                <a:srgbClr val="414455"/>
              </a:solidFill>
              <a:latin typeface="微软雅黑" panose="020B0503020204020204" pitchFamily="34" charset="-122"/>
              <a:ea typeface="微软雅黑" panose="020B0503020204020204" pitchFamily="34" charset="-122"/>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414455"/>
                </a:solidFill>
                <a:latin typeface="微软雅黑" panose="020B0503020204020204" pitchFamily="34" charset="-122"/>
                <a:ea typeface="微软雅黑" panose="020B0503020204020204" pitchFamily="34" charset="-122"/>
              </a:rPr>
              <a:t>成功打通</a:t>
            </a:r>
            <a:r>
              <a:rPr lang="zh-TW" altLang="en-US" dirty="0">
                <a:solidFill>
                  <a:srgbClr val="C00000"/>
                </a:solidFill>
                <a:latin typeface="微软雅黑" panose="020B0503020204020204" pitchFamily="34" charset="-122"/>
                <a:ea typeface="微软雅黑" panose="020B0503020204020204" pitchFamily="34" charset="-122"/>
              </a:rPr>
              <a:t>雲端與地端的數據溝通</a:t>
            </a:r>
            <a:r>
              <a:rPr lang="zh-TW" altLang="en-US" dirty="0">
                <a:solidFill>
                  <a:srgbClr val="414455"/>
                </a:solidFill>
                <a:latin typeface="微软雅黑" panose="020B0503020204020204" pitchFamily="34" charset="-122"/>
                <a:ea typeface="微软雅黑" panose="020B0503020204020204" pitchFamily="34" charset="-122"/>
              </a:rPr>
              <a:t>，建立完整的雲端數據處理解決方案。</a:t>
            </a:r>
            <a:endParaRPr lang="en-US" altLang="zh-TW" dirty="0">
              <a:solidFill>
                <a:srgbClr val="414455"/>
              </a:solidFill>
              <a:latin typeface="微软雅黑" panose="020B0503020204020204" pitchFamily="34" charset="-122"/>
              <a:ea typeface="微软雅黑" panose="020B0503020204020204" pitchFamily="34" charset="-122"/>
            </a:endParaRPr>
          </a:p>
          <a:p>
            <a:pPr marL="742950" lvl="1" indent="-285750" algn="just" eaLnBrk="0" fontAlgn="base" hangingPunct="0">
              <a:lnSpc>
                <a:spcPct val="150000"/>
              </a:lnSpc>
              <a:spcBef>
                <a:spcPct val="0"/>
              </a:spcBef>
              <a:spcAft>
                <a:spcPct val="0"/>
              </a:spcAft>
              <a:buFont typeface="Arial" panose="020B0604020202020204" pitchFamily="34" charset="0"/>
              <a:buChar char="•"/>
            </a:pPr>
            <a:r>
              <a:rPr lang="zh-TW" altLang="en-US" dirty="0">
                <a:solidFill>
                  <a:srgbClr val="C00000"/>
                </a:solidFill>
                <a:latin typeface="微软雅黑" panose="020B0503020204020204" pitchFamily="34" charset="-122"/>
                <a:ea typeface="微软雅黑" panose="020B0503020204020204" pitchFamily="34" charset="-122"/>
              </a:rPr>
              <a:t>提升</a:t>
            </a:r>
            <a:r>
              <a:rPr lang="zh-TW" altLang="en-US" dirty="0">
                <a:solidFill>
                  <a:srgbClr val="414455"/>
                </a:solidFill>
                <a:latin typeface="微软雅黑" panose="020B0503020204020204" pitchFamily="34" charset="-122"/>
                <a:ea typeface="微软雅黑" panose="020B0503020204020204" pitchFamily="34" charset="-122"/>
              </a:rPr>
              <a:t>大數據處理</a:t>
            </a:r>
            <a:r>
              <a:rPr lang="zh-TW" altLang="en-US" dirty="0">
                <a:solidFill>
                  <a:srgbClr val="C00000"/>
                </a:solidFill>
                <a:latin typeface="微软雅黑" panose="020B0503020204020204" pitchFamily="34" charset="-122"/>
                <a:ea typeface="微软雅黑" panose="020B0503020204020204" pitchFamily="34" charset="-122"/>
              </a:rPr>
              <a:t>效率</a:t>
            </a:r>
            <a:r>
              <a:rPr lang="zh-TW" altLang="en-US" dirty="0">
                <a:solidFill>
                  <a:srgbClr val="414455"/>
                </a:solidFill>
                <a:latin typeface="微软雅黑" panose="020B0503020204020204" pitchFamily="34" charset="-122"/>
                <a:ea typeface="微软雅黑" panose="020B0503020204020204" pitchFamily="34" charset="-122"/>
              </a:rPr>
              <a:t>，強化系統的即時性與擴充性。</a:t>
            </a:r>
            <a:endParaRPr lang="en-US" altLang="zh-TW" dirty="0">
              <a:solidFill>
                <a:srgbClr val="414455"/>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632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40A1-DA9B-6C64-DEB1-1A8788069E22}"/>
            </a:ext>
          </a:extLst>
        </p:cNvPr>
        <p:cNvGrpSpPr/>
        <p:nvPr/>
      </p:nvGrpSpPr>
      <p:grpSpPr>
        <a:xfrm>
          <a:off x="0" y="0"/>
          <a:ext cx="0" cy="0"/>
          <a:chOff x="0" y="0"/>
          <a:chExt cx="0" cy="0"/>
        </a:xfrm>
      </p:grpSpPr>
      <p:sp>
        <p:nvSpPr>
          <p:cNvPr id="73" name="矩形 72">
            <a:extLst>
              <a:ext uri="{FF2B5EF4-FFF2-40B4-BE49-F238E27FC236}">
                <a16:creationId xmlns:a16="http://schemas.microsoft.com/office/drawing/2014/main" id="{A6ACCC33-3AC0-2E69-1BDB-3E0E755D20A4}"/>
              </a:ext>
            </a:extLst>
          </p:cNvPr>
          <p:cNvSpPr/>
          <p:nvPr/>
        </p:nvSpPr>
        <p:spPr>
          <a:xfrm>
            <a:off x="-23093" y="0"/>
            <a:ext cx="936104"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2FB1A71F-ED61-B416-3267-4828AE31571A}"/>
              </a:ext>
            </a:extLst>
          </p:cNvPr>
          <p:cNvGrpSpPr/>
          <p:nvPr/>
        </p:nvGrpSpPr>
        <p:grpSpPr>
          <a:xfrm>
            <a:off x="552971" y="188640"/>
            <a:ext cx="670560" cy="604586"/>
            <a:chOff x="5424755" y="1340768"/>
            <a:chExt cx="670560" cy="604586"/>
          </a:xfrm>
        </p:grpSpPr>
        <p:grpSp>
          <p:nvGrpSpPr>
            <p:cNvPr id="16" name="组合 15">
              <a:extLst>
                <a:ext uri="{FF2B5EF4-FFF2-40B4-BE49-F238E27FC236}">
                  <a16:creationId xmlns:a16="http://schemas.microsoft.com/office/drawing/2014/main" id="{1D4D0C19-B6D7-D111-2147-FD3947211C4F}"/>
                </a:ext>
              </a:extLst>
            </p:cNvPr>
            <p:cNvGrpSpPr/>
            <p:nvPr/>
          </p:nvGrpSpPr>
          <p:grpSpPr>
            <a:xfrm>
              <a:off x="5424755" y="1340768"/>
              <a:ext cx="670560" cy="604586"/>
              <a:chOff x="3720691" y="2824413"/>
              <a:chExt cx="1341120" cy="1209172"/>
            </a:xfrm>
          </p:grpSpPr>
          <p:sp>
            <p:nvSpPr>
              <p:cNvPr id="18" name="Freeform 5">
                <a:extLst>
                  <a:ext uri="{FF2B5EF4-FFF2-40B4-BE49-F238E27FC236}">
                    <a16:creationId xmlns:a16="http://schemas.microsoft.com/office/drawing/2014/main" id="{45129B28-1AB4-957F-4C0B-9E74FC464CFB}"/>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5">
                <a:extLst>
                  <a:ext uri="{FF2B5EF4-FFF2-40B4-BE49-F238E27FC236}">
                    <a16:creationId xmlns:a16="http://schemas.microsoft.com/office/drawing/2014/main" id="{F72324B1-FEF1-0AB1-E1F2-28CED4FF33BE}"/>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17" name="Freeform 5">
              <a:extLst>
                <a:ext uri="{FF2B5EF4-FFF2-40B4-BE49-F238E27FC236}">
                  <a16:creationId xmlns:a16="http://schemas.microsoft.com/office/drawing/2014/main" id="{8FFFC4F1-5039-B821-2D7F-B35AA7353763}"/>
                </a:ext>
              </a:extLst>
            </p:cNvPr>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grpSp>
      <p:sp>
        <p:nvSpPr>
          <p:cNvPr id="20" name="文本框 9">
            <a:extLst>
              <a:ext uri="{FF2B5EF4-FFF2-40B4-BE49-F238E27FC236}">
                <a16:creationId xmlns:a16="http://schemas.microsoft.com/office/drawing/2014/main" id="{1B223927-120D-C11C-EF81-96D2DE13E289}"/>
              </a:ext>
            </a:extLst>
          </p:cNvPr>
          <p:cNvSpPr txBox="1"/>
          <p:nvPr/>
        </p:nvSpPr>
        <p:spPr>
          <a:xfrm>
            <a:off x="1270163" y="307422"/>
            <a:ext cx="1872208" cy="346249"/>
          </a:xfrm>
          <a:prstGeom prst="rect">
            <a:avLst/>
          </a:prstGeom>
          <a:noFill/>
        </p:spPr>
        <p:txBody>
          <a:bodyPr wrap="square" lIns="68580" tIns="34290" rIns="68580" bIns="34290" rtlCol="0">
            <a:spAutoFit/>
          </a:bodyPr>
          <a:lstStyle/>
          <a:p>
            <a:pPr marL="0" lvl="1"/>
            <a:r>
              <a:rPr lang="en-US" altLang="zh-TW" dirty="0">
                <a:solidFill>
                  <a:srgbClr val="414455"/>
                </a:solidFill>
                <a:latin typeface="微软雅黑" pitchFamily="34" charset="-122"/>
                <a:ea typeface="微软雅黑" pitchFamily="34" charset="-122"/>
              </a:rPr>
              <a:t>AI</a:t>
            </a:r>
            <a:r>
              <a:rPr lang="zh-TW" altLang="en-US" dirty="0">
                <a:solidFill>
                  <a:srgbClr val="414455"/>
                </a:solidFill>
                <a:latin typeface="微软雅黑" pitchFamily="34" charset="-122"/>
                <a:ea typeface="微软雅黑" pitchFamily="34" charset="-122"/>
              </a:rPr>
              <a:t> 專案經驗</a:t>
            </a:r>
            <a:endParaRPr lang="zh-CN" altLang="en-US" dirty="0">
              <a:solidFill>
                <a:srgbClr val="414455"/>
              </a:solidFill>
              <a:latin typeface="微软雅黑" pitchFamily="34" charset="-122"/>
              <a:ea typeface="微软雅黑" pitchFamily="34" charset="-122"/>
            </a:endParaRPr>
          </a:p>
        </p:txBody>
      </p:sp>
      <p:cxnSp>
        <p:nvCxnSpPr>
          <p:cNvPr id="21" name="直接连接符 21">
            <a:extLst>
              <a:ext uri="{FF2B5EF4-FFF2-40B4-BE49-F238E27FC236}">
                <a16:creationId xmlns:a16="http://schemas.microsoft.com/office/drawing/2014/main" id="{76F4D422-712C-1EFA-CB40-403B80D860ED}"/>
              </a:ext>
            </a:extLst>
          </p:cNvPr>
          <p:cNvCxnSpPr/>
          <p:nvPr/>
        </p:nvCxnSpPr>
        <p:spPr>
          <a:xfrm>
            <a:off x="1342171" y="667462"/>
            <a:ext cx="9723968"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2">
            <a:extLst>
              <a:ext uri="{FF2B5EF4-FFF2-40B4-BE49-F238E27FC236}">
                <a16:creationId xmlns:a16="http://schemas.microsoft.com/office/drawing/2014/main" id="{12FB8480-9ADB-2EC0-4C3D-5261AB2FCEAC}"/>
              </a:ext>
            </a:extLst>
          </p:cNvPr>
          <p:cNvGrpSpPr/>
          <p:nvPr/>
        </p:nvGrpSpPr>
        <p:grpSpPr>
          <a:xfrm>
            <a:off x="11239467" y="459431"/>
            <a:ext cx="258720" cy="233265"/>
            <a:chOff x="3720691" y="2824413"/>
            <a:chExt cx="1341120" cy="1209172"/>
          </a:xfrm>
        </p:grpSpPr>
        <p:sp>
          <p:nvSpPr>
            <p:cNvPr id="23" name="Freeform 5">
              <a:extLst>
                <a:ext uri="{FF2B5EF4-FFF2-40B4-BE49-F238E27FC236}">
                  <a16:creationId xmlns:a16="http://schemas.microsoft.com/office/drawing/2014/main" id="{DC1D4F25-E8C1-D510-D054-9B00114FCD60}"/>
                </a:ext>
              </a:extLst>
            </p:cNvPr>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25" name="Freeform 5">
              <a:extLst>
                <a:ext uri="{FF2B5EF4-FFF2-40B4-BE49-F238E27FC236}">
                  <a16:creationId xmlns:a16="http://schemas.microsoft.com/office/drawing/2014/main" id="{F81B34C8-4AF6-6EED-9AF4-16892271CDE7}"/>
                </a:ext>
              </a:extLst>
            </p:cNvPr>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sp>
        <p:nvSpPr>
          <p:cNvPr id="30" name="文本框 9">
            <a:extLst>
              <a:ext uri="{FF2B5EF4-FFF2-40B4-BE49-F238E27FC236}">
                <a16:creationId xmlns:a16="http://schemas.microsoft.com/office/drawing/2014/main" id="{09899E41-C0A0-2AE5-FCAF-66A0C5747DC3}"/>
              </a:ext>
            </a:extLst>
          </p:cNvPr>
          <p:cNvSpPr txBox="1"/>
          <p:nvPr/>
        </p:nvSpPr>
        <p:spPr>
          <a:xfrm>
            <a:off x="10706099" y="332656"/>
            <a:ext cx="432048" cy="346249"/>
          </a:xfrm>
          <a:prstGeom prst="rect">
            <a:avLst/>
          </a:prstGeom>
          <a:noFill/>
        </p:spPr>
        <p:txBody>
          <a:bodyPr wrap="square" lIns="68580" tIns="34290" rIns="68580" bIns="34290" rtlCol="0">
            <a:spAutoFit/>
          </a:bodyPr>
          <a:lstStyle/>
          <a:p>
            <a:pPr marL="0" lvl="1"/>
            <a:fld id="{019C1566-F6BD-42DB-B252-562BB8CFF26B}" type="slidenum">
              <a:rPr lang="en-US" altLang="zh-CN">
                <a:solidFill>
                  <a:srgbClr val="414455"/>
                </a:solidFill>
                <a:latin typeface="方正兰亭黑简体" panose="02000000000000000000" pitchFamily="2" charset="-122"/>
                <a:ea typeface="方正兰亭黑简体" panose="02000000000000000000" pitchFamily="2" charset="-122"/>
              </a:rPr>
              <a:t>7</a:t>
            </a:fld>
            <a:endParaRPr lang="zh-CN" altLang="en-US" dirty="0">
              <a:solidFill>
                <a:srgbClr val="414455"/>
              </a:solidFill>
              <a:latin typeface="方正兰亭黑简体" panose="02000000000000000000" pitchFamily="2" charset="-122"/>
              <a:ea typeface="方正兰亭黑简体" panose="02000000000000000000" pitchFamily="2" charset="-122"/>
            </a:endParaRPr>
          </a:p>
        </p:txBody>
      </p:sp>
      <p:sp>
        <p:nvSpPr>
          <p:cNvPr id="31" name="Freeform 206">
            <a:extLst>
              <a:ext uri="{FF2B5EF4-FFF2-40B4-BE49-F238E27FC236}">
                <a16:creationId xmlns:a16="http://schemas.microsoft.com/office/drawing/2014/main" id="{2FC436D5-991C-CEE8-18B1-7E0369D6A5A4}"/>
              </a:ext>
            </a:extLst>
          </p:cNvPr>
          <p:cNvSpPr>
            <a:spLocks noChangeAspect="1" noEditPoints="1"/>
          </p:cNvSpPr>
          <p:nvPr/>
        </p:nvSpPr>
        <p:spPr bwMode="auto">
          <a:xfrm>
            <a:off x="778198" y="302246"/>
            <a:ext cx="290724" cy="351425"/>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grpSp>
        <p:nvGrpSpPr>
          <p:cNvPr id="66" name="群組 65">
            <a:extLst>
              <a:ext uri="{FF2B5EF4-FFF2-40B4-BE49-F238E27FC236}">
                <a16:creationId xmlns:a16="http://schemas.microsoft.com/office/drawing/2014/main" id="{17B3B853-82F4-21FC-DB5A-3D76BBA003F4}"/>
              </a:ext>
            </a:extLst>
          </p:cNvPr>
          <p:cNvGrpSpPr/>
          <p:nvPr/>
        </p:nvGrpSpPr>
        <p:grpSpPr>
          <a:xfrm>
            <a:off x="1561083" y="1254548"/>
            <a:ext cx="2043954" cy="4903032"/>
            <a:chOff x="2026906" y="1254548"/>
            <a:chExt cx="2043954" cy="4903032"/>
          </a:xfrm>
        </p:grpSpPr>
        <p:sp>
          <p:nvSpPr>
            <p:cNvPr id="5" name="矩形 4">
              <a:extLst>
                <a:ext uri="{FF2B5EF4-FFF2-40B4-BE49-F238E27FC236}">
                  <a16:creationId xmlns:a16="http://schemas.microsoft.com/office/drawing/2014/main" id="{DF279B48-2B3B-F968-E44F-801BC494EBB3}"/>
                </a:ext>
              </a:extLst>
            </p:cNvPr>
            <p:cNvSpPr/>
            <p:nvPr/>
          </p:nvSpPr>
          <p:spPr>
            <a:xfrm>
              <a:off x="2026907" y="2074006"/>
              <a:ext cx="2043953" cy="408357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just">
                <a:lnSpc>
                  <a:spcPct val="150000"/>
                </a:lnSpc>
                <a:spcBef>
                  <a:spcPts val="600"/>
                </a:spcBef>
                <a:buNone/>
              </a:pP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專案一</a:t>
              </a:r>
              <a:endParaRPr lang="en-US" altLang="zh-TW" sz="1400" dirty="0">
                <a:solidFill>
                  <a:srgbClr val="414455"/>
                </a:solidFill>
                <a:latin typeface="微软雅黑" panose="020B0503020204020204" pitchFamily="34" charset="-122"/>
                <a:ea typeface="微软雅黑" panose="020B0503020204020204" pitchFamily="34" charset="-122"/>
                <a:sym typeface="微软雅黑" pitchFamily="34" charset="-122"/>
              </a:endParaRPr>
            </a:p>
            <a:p>
              <a:pPr algn="just">
                <a:lnSpc>
                  <a:spcPct val="150000"/>
                </a:lnSpc>
                <a:spcBef>
                  <a:spcPts val="600"/>
                </a:spcBef>
                <a:buNone/>
              </a:pP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深度影像辨識</a:t>
              </a:r>
            </a:p>
            <a:p>
              <a:pPr algn="just">
                <a:lnSpc>
                  <a:spcPct val="150000"/>
                </a:lnSpc>
                <a:spcBef>
                  <a:spcPts val="600"/>
                </a:spcBef>
                <a:buNone/>
              </a:pPr>
              <a:r>
                <a:rPr lang="zh-TW" altLang="en-US" sz="1400" dirty="0">
                  <a:solidFill>
                    <a:srgbClr val="C00000"/>
                  </a:solidFill>
                  <a:latin typeface="微软雅黑" panose="020B0503020204020204" pitchFamily="34" charset="-122"/>
                  <a:ea typeface="微软雅黑" panose="020B0503020204020204" pitchFamily="34" charset="-122"/>
                  <a:sym typeface="微软雅黑" pitchFamily="34" charset="-122"/>
                </a:rPr>
                <a:t>動態</a:t>
              </a:r>
              <a:r>
                <a:rPr lang="en-US" altLang="zh-TW" sz="1400" dirty="0">
                  <a:solidFill>
                    <a:srgbClr val="C00000"/>
                  </a:solidFill>
                  <a:latin typeface="微软雅黑" panose="020B0503020204020204" pitchFamily="34" charset="-122"/>
                  <a:ea typeface="微软雅黑" panose="020B0503020204020204" pitchFamily="34" charset="-122"/>
                  <a:sym typeface="微软雅黑" pitchFamily="34" charset="-122"/>
                </a:rPr>
                <a:t>LSTM</a:t>
              </a: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辨識</a:t>
              </a:r>
            </a:p>
            <a:p>
              <a:pPr algn="just">
                <a:lnSpc>
                  <a:spcPct val="150000"/>
                </a:lnSpc>
                <a:spcBef>
                  <a:spcPts val="600"/>
                </a:spcBef>
                <a:buNone/>
              </a:pP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長照產學合作</a:t>
              </a:r>
            </a:p>
            <a:p>
              <a:pPr algn="just">
                <a:lnSpc>
                  <a:spcPct val="150000"/>
                </a:lnSpc>
                <a:spcBef>
                  <a:spcPts val="600"/>
                </a:spcBef>
                <a:buNone/>
              </a:pPr>
              <a:endParaRPr lang="en-US" altLang="zh-TW" sz="1400" dirty="0">
                <a:solidFill>
                  <a:srgbClr val="414455"/>
                </a:solidFill>
                <a:latin typeface="微软雅黑" panose="020B0503020204020204" pitchFamily="34" charset="-122"/>
                <a:ea typeface="微软雅黑" panose="020B0503020204020204" pitchFamily="34" charset="-122"/>
                <a:sym typeface="微软雅黑" pitchFamily="34" charset="-122"/>
              </a:endParaRPr>
            </a:p>
            <a:p>
              <a:pPr algn="just">
                <a:lnSpc>
                  <a:spcPct val="150000"/>
                </a:lnSpc>
                <a:spcBef>
                  <a:spcPts val="600"/>
                </a:spcBef>
                <a:buNone/>
              </a:pP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專案二</a:t>
              </a:r>
              <a:endParaRPr lang="en-US" altLang="zh-TW" sz="1400" dirty="0">
                <a:solidFill>
                  <a:srgbClr val="414455"/>
                </a:solidFill>
                <a:latin typeface="微软雅黑" panose="020B0503020204020204" pitchFamily="34" charset="-122"/>
                <a:ea typeface="微软雅黑" panose="020B0503020204020204" pitchFamily="34" charset="-122"/>
                <a:sym typeface="微软雅黑" pitchFamily="34" charset="-122"/>
              </a:endParaRPr>
            </a:p>
            <a:p>
              <a:pPr algn="just">
                <a:lnSpc>
                  <a:spcPct val="150000"/>
                </a:lnSpc>
                <a:spcBef>
                  <a:spcPts val="600"/>
                </a:spcBef>
                <a:buNone/>
              </a:pPr>
              <a:r>
                <a:rPr lang="en-US" altLang="zh-TW" sz="1400" dirty="0">
                  <a:solidFill>
                    <a:srgbClr val="414455"/>
                  </a:solidFill>
                  <a:latin typeface="微软雅黑" panose="020B0503020204020204" pitchFamily="34" charset="-122"/>
                  <a:ea typeface="微软雅黑" panose="020B0503020204020204" pitchFamily="34" charset="-122"/>
                  <a:sym typeface="微软雅黑" pitchFamily="34" charset="-122"/>
                </a:rPr>
                <a:t>RGB</a:t>
              </a: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影像結合馬賽克</a:t>
              </a:r>
            </a:p>
            <a:p>
              <a:pPr algn="just">
                <a:lnSpc>
                  <a:spcPct val="150000"/>
                </a:lnSpc>
                <a:spcBef>
                  <a:spcPts val="600"/>
                </a:spcBef>
                <a:buNone/>
              </a:pPr>
              <a:r>
                <a:rPr lang="zh-TW" altLang="en-US" sz="1400" dirty="0">
                  <a:solidFill>
                    <a:srgbClr val="C00000"/>
                  </a:solidFill>
                  <a:latin typeface="微软雅黑" panose="020B0503020204020204" pitchFamily="34" charset="-122"/>
                  <a:ea typeface="微软雅黑" panose="020B0503020204020204" pitchFamily="34" charset="-122"/>
                  <a:sym typeface="微软雅黑" pitchFamily="34" charset="-122"/>
                </a:rPr>
                <a:t>靜態</a:t>
              </a:r>
              <a:r>
                <a:rPr lang="en-US" altLang="zh-TW" sz="1400" dirty="0">
                  <a:solidFill>
                    <a:srgbClr val="C00000"/>
                  </a:solidFill>
                  <a:latin typeface="微软雅黑" panose="020B0503020204020204" pitchFamily="34" charset="-122"/>
                  <a:ea typeface="微软雅黑" panose="020B0503020204020204" pitchFamily="34" charset="-122"/>
                  <a:sym typeface="微软雅黑" pitchFamily="34" charset="-122"/>
                </a:rPr>
                <a:t>CNN</a:t>
              </a: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辨識</a:t>
              </a:r>
            </a:p>
            <a:p>
              <a:pPr algn="just">
                <a:lnSpc>
                  <a:spcPct val="150000"/>
                </a:lnSpc>
                <a:spcBef>
                  <a:spcPts val="600"/>
                </a:spcBef>
                <a:buNone/>
              </a:pPr>
              <a:r>
                <a:rPr lang="zh-TW" altLang="en-US" sz="1400" dirty="0">
                  <a:solidFill>
                    <a:srgbClr val="414455"/>
                  </a:solidFill>
                  <a:latin typeface="微软雅黑" panose="020B0503020204020204" pitchFamily="34" charset="-122"/>
                  <a:ea typeface="微软雅黑" panose="020B0503020204020204" pitchFamily="34" charset="-122"/>
                  <a:sym typeface="微软雅黑" pitchFamily="34" charset="-122"/>
                </a:rPr>
                <a:t>醫院及智慧家電整合</a:t>
              </a:r>
            </a:p>
            <a:p>
              <a:pPr algn="just">
                <a:lnSpc>
                  <a:spcPct val="150000"/>
                </a:lnSpc>
                <a:spcBef>
                  <a:spcPts val="600"/>
                </a:spcBef>
                <a:buNone/>
              </a:pPr>
              <a:endParaRPr lang="zh-TW" altLang="en-US" sz="1400" dirty="0">
                <a:solidFill>
                  <a:schemeClr val="tx1"/>
                </a:solidFill>
                <a:sym typeface="微软雅黑" pitchFamily="34" charset="-122"/>
              </a:endParaRPr>
            </a:p>
          </p:txBody>
        </p:sp>
        <p:sp>
          <p:nvSpPr>
            <p:cNvPr id="10" name="矩形 9">
              <a:extLst>
                <a:ext uri="{FF2B5EF4-FFF2-40B4-BE49-F238E27FC236}">
                  <a16:creationId xmlns:a16="http://schemas.microsoft.com/office/drawing/2014/main" id="{CC11779C-0780-8CB4-C571-CA152CA412B4}"/>
                </a:ext>
              </a:extLst>
            </p:cNvPr>
            <p:cNvSpPr/>
            <p:nvPr/>
          </p:nvSpPr>
          <p:spPr>
            <a:xfrm>
              <a:off x="2026906" y="1254548"/>
              <a:ext cx="2043953" cy="819458"/>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TW" altLang="en-US" dirty="0">
                  <a:solidFill>
                    <a:schemeClr val="bg1"/>
                  </a:solidFill>
                  <a:latin typeface="微软雅黑" panose="020B0503020204020204" pitchFamily="34" charset="-122"/>
                  <a:ea typeface="微软雅黑" panose="020B0503020204020204" pitchFamily="34" charset="-122"/>
                </a:rPr>
                <a:t>跌倒偵測</a:t>
              </a:r>
              <a:endParaRPr lang="en-US" altLang="zh-TW" dirty="0">
                <a:solidFill>
                  <a:schemeClr val="bg1"/>
                </a:solidFill>
                <a:latin typeface="微软雅黑" panose="020B0503020204020204" pitchFamily="34" charset="-122"/>
                <a:ea typeface="微软雅黑" panose="020B0503020204020204" pitchFamily="34" charset="-122"/>
              </a:endParaRPr>
            </a:p>
          </p:txBody>
        </p:sp>
      </p:grpSp>
      <p:grpSp>
        <p:nvGrpSpPr>
          <p:cNvPr id="67" name="群組 66">
            <a:extLst>
              <a:ext uri="{FF2B5EF4-FFF2-40B4-BE49-F238E27FC236}">
                <a16:creationId xmlns:a16="http://schemas.microsoft.com/office/drawing/2014/main" id="{5868EC12-3E34-2488-C40B-CA64590B5CB2}"/>
              </a:ext>
            </a:extLst>
          </p:cNvPr>
          <p:cNvGrpSpPr/>
          <p:nvPr/>
        </p:nvGrpSpPr>
        <p:grpSpPr>
          <a:xfrm>
            <a:off x="4134255" y="1254548"/>
            <a:ext cx="2251363" cy="5274344"/>
            <a:chOff x="4278271" y="1254548"/>
            <a:chExt cx="2251363" cy="5274344"/>
          </a:xfrm>
        </p:grpSpPr>
        <p:sp>
          <p:nvSpPr>
            <p:cNvPr id="6" name="矩形 5">
              <a:extLst>
                <a:ext uri="{FF2B5EF4-FFF2-40B4-BE49-F238E27FC236}">
                  <a16:creationId xmlns:a16="http://schemas.microsoft.com/office/drawing/2014/main" id="{B9509EF1-2050-C259-6EAD-7BBAA67BB650}"/>
                </a:ext>
              </a:extLst>
            </p:cNvPr>
            <p:cNvSpPr/>
            <p:nvPr/>
          </p:nvSpPr>
          <p:spPr>
            <a:xfrm>
              <a:off x="4278271" y="2074006"/>
              <a:ext cx="2043953" cy="408357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大樓 </a:t>
              </a:r>
              <a:r>
                <a:rPr lang="en-US" altLang="zh-TW" sz="1400" dirty="0">
                  <a:solidFill>
                    <a:srgbClr val="414455"/>
                  </a:solidFill>
                  <a:latin typeface="微软雅黑" panose="020B0503020204020204" pitchFamily="34" charset="-122"/>
                  <a:ea typeface="微软雅黑" panose="020B0503020204020204" pitchFamily="34" charset="-122"/>
                </a:rPr>
                <a:t>/ </a:t>
              </a:r>
              <a:r>
                <a:rPr lang="zh-TW" altLang="en-US" sz="1400" dirty="0">
                  <a:solidFill>
                    <a:srgbClr val="414455"/>
                  </a:solidFill>
                  <a:latin typeface="微软雅黑" panose="020B0503020204020204" pitchFamily="34" charset="-122"/>
                  <a:ea typeface="微软雅黑" panose="020B0503020204020204" pitchFamily="34" charset="-122"/>
                </a:rPr>
                <a:t>停車場出入口</a:t>
              </a:r>
            </a:p>
            <a:p>
              <a:pPr algn="just">
                <a:lnSpc>
                  <a:spcPct val="150000"/>
                </a:lnSpc>
                <a:spcBef>
                  <a:spcPts val="600"/>
                </a:spcBef>
              </a:pPr>
              <a:r>
                <a:rPr lang="en-US" altLang="zh-TW" sz="1400" dirty="0">
                  <a:solidFill>
                    <a:srgbClr val="414455"/>
                  </a:solidFill>
                  <a:latin typeface="微软雅黑" panose="020B0503020204020204" pitchFamily="34" charset="-122"/>
                  <a:ea typeface="微软雅黑" panose="020B0503020204020204" pitchFamily="34" charset="-122"/>
                </a:rPr>
                <a:t>DB</a:t>
              </a:r>
              <a:r>
                <a:rPr lang="zh-TW" altLang="en-US" sz="1400" dirty="0">
                  <a:solidFill>
                    <a:srgbClr val="414455"/>
                  </a:solidFill>
                  <a:latin typeface="微软雅黑" panose="020B0503020204020204" pitchFamily="34" charset="-122"/>
                  <a:ea typeface="微软雅黑" panose="020B0503020204020204" pitchFamily="34" charset="-122"/>
                </a:rPr>
                <a:t>管理系統</a:t>
              </a:r>
              <a:r>
                <a:rPr lang="en-US" altLang="zh-TW" sz="1400" dirty="0">
                  <a:solidFill>
                    <a:srgbClr val="414455"/>
                  </a:solidFill>
                  <a:latin typeface="微软雅黑" panose="020B0503020204020204" pitchFamily="34" charset="-122"/>
                  <a:ea typeface="微软雅黑" panose="020B0503020204020204" pitchFamily="34" charset="-122"/>
                </a:rPr>
                <a:t>(</a:t>
              </a:r>
              <a:r>
                <a:rPr lang="zh-TW" altLang="en-US" sz="1400" dirty="0">
                  <a:solidFill>
                    <a:srgbClr val="414455"/>
                  </a:solidFill>
                  <a:latin typeface="微软雅黑" panose="020B0503020204020204" pitchFamily="34" charset="-122"/>
                  <a:ea typeface="微软雅黑" panose="020B0503020204020204" pitchFamily="34" charset="-122"/>
                </a:rPr>
                <a:t>黑白名單</a:t>
              </a:r>
              <a:r>
                <a:rPr lang="en-US" altLang="zh-TW" sz="1400" dirty="0">
                  <a:solidFill>
                    <a:srgbClr val="414455"/>
                  </a:solidFill>
                  <a:latin typeface="微软雅黑" panose="020B0503020204020204" pitchFamily="34" charset="-122"/>
                  <a:ea typeface="微软雅黑" panose="020B0503020204020204" pitchFamily="34" charset="-122"/>
                </a:rPr>
                <a:t>)</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模糊搜尋</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注重辨識</a:t>
              </a:r>
              <a:r>
                <a:rPr lang="zh-TW" altLang="en-US" sz="1400" dirty="0">
                  <a:solidFill>
                    <a:srgbClr val="C00000"/>
                  </a:solidFill>
                  <a:latin typeface="微软雅黑" panose="020B0503020204020204" pitchFamily="34" charset="-122"/>
                  <a:ea typeface="微软雅黑" panose="020B0503020204020204" pitchFamily="34" charset="-122"/>
                </a:rPr>
                <a:t>準確度</a:t>
              </a:r>
              <a:endParaRPr lang="en-US" altLang="zh-TW" sz="1400" dirty="0">
                <a:solidFill>
                  <a:srgbClr val="C00000"/>
                </a:solidFill>
                <a:latin typeface="微软雅黑" panose="020B0503020204020204" pitchFamily="34" charset="-122"/>
                <a:ea typeface="微软雅黑" panose="020B0503020204020204" pitchFamily="34" charset="-122"/>
              </a:endParaRPr>
            </a:p>
            <a:p>
              <a:pPr algn="just">
                <a:lnSpc>
                  <a:spcPct val="150000"/>
                </a:lnSpc>
                <a:spcBef>
                  <a:spcPts val="600"/>
                </a:spcBef>
              </a:pPr>
              <a:endParaRPr lang="en-US" altLang="zh-TW" sz="1400" dirty="0">
                <a:solidFill>
                  <a:srgbClr val="414455"/>
                </a:solidFill>
                <a:latin typeface="微软雅黑" panose="020B0503020204020204" pitchFamily="34" charset="-122"/>
                <a:ea typeface="微软雅黑" panose="020B0503020204020204" pitchFamily="34" charset="-122"/>
              </a:endParaRP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道路行進間</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須能夠辨識條件較差的車牌</a:t>
              </a:r>
              <a:r>
                <a:rPr lang="en-US" altLang="zh-TW" sz="1400" dirty="0">
                  <a:solidFill>
                    <a:srgbClr val="414455"/>
                  </a:solidFill>
                  <a:latin typeface="微软雅黑" panose="020B0503020204020204" pitchFamily="34" charset="-122"/>
                  <a:ea typeface="微软雅黑" panose="020B0503020204020204" pitchFamily="34" charset="-122"/>
                </a:rPr>
                <a:t>(</a:t>
              </a:r>
              <a:r>
                <a:rPr lang="zh-TW" altLang="en-US" sz="1400" dirty="0">
                  <a:solidFill>
                    <a:srgbClr val="414455"/>
                  </a:solidFill>
                  <a:latin typeface="微软雅黑" panose="020B0503020204020204" pitchFamily="34" charset="-122"/>
                  <a:ea typeface="微软雅黑" panose="020B0503020204020204" pitchFamily="34" charset="-122"/>
                </a:rPr>
                <a:t>如：傾斜、模糊等</a:t>
              </a:r>
              <a:r>
                <a:rPr lang="en-US" altLang="zh-TW" sz="1400" dirty="0">
                  <a:solidFill>
                    <a:srgbClr val="414455"/>
                  </a:solidFill>
                  <a:latin typeface="微软雅黑" panose="020B0503020204020204" pitchFamily="34" charset="-122"/>
                  <a:ea typeface="微软雅黑" panose="020B0503020204020204" pitchFamily="34" charset="-122"/>
                </a:rPr>
                <a:t>)</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結合區間測速功能</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注重辨識</a:t>
              </a:r>
              <a:r>
                <a:rPr lang="zh-TW" altLang="en-US" sz="1400" dirty="0">
                  <a:solidFill>
                    <a:srgbClr val="C00000"/>
                  </a:solidFill>
                  <a:latin typeface="微软雅黑" panose="020B0503020204020204" pitchFamily="34" charset="-122"/>
                  <a:ea typeface="微软雅黑" panose="020B0503020204020204" pitchFamily="34" charset="-122"/>
                </a:rPr>
                <a:t>速度</a:t>
              </a:r>
            </a:p>
            <a:p>
              <a:pPr algn="just">
                <a:lnSpc>
                  <a:spcPct val="150000"/>
                </a:lnSpc>
                <a:spcBef>
                  <a:spcPts val="600"/>
                </a:spcBef>
              </a:pPr>
              <a:endParaRPr lang="zh-TW" altLang="en-US" sz="1400" dirty="0">
                <a:solidFill>
                  <a:schemeClr val="tx1"/>
                </a:solidFill>
              </a:endParaRPr>
            </a:p>
            <a:p>
              <a:pPr algn="just"/>
              <a:endParaRPr lang="zh-TW" altLang="en-US" sz="1400" dirty="0">
                <a:solidFill>
                  <a:schemeClr val="tx1"/>
                </a:solidFill>
              </a:endParaRPr>
            </a:p>
          </p:txBody>
        </p:sp>
        <p:sp>
          <p:nvSpPr>
            <p:cNvPr id="11" name="矩形 10">
              <a:extLst>
                <a:ext uri="{FF2B5EF4-FFF2-40B4-BE49-F238E27FC236}">
                  <a16:creationId xmlns:a16="http://schemas.microsoft.com/office/drawing/2014/main" id="{51E3A533-BA92-C950-F3A9-EA61DB0E5644}"/>
                </a:ext>
              </a:extLst>
            </p:cNvPr>
            <p:cNvSpPr/>
            <p:nvPr/>
          </p:nvSpPr>
          <p:spPr>
            <a:xfrm>
              <a:off x="4278272" y="1254548"/>
              <a:ext cx="2043953" cy="819458"/>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zh-TW" altLang="en-US" dirty="0">
                  <a:solidFill>
                    <a:schemeClr val="bg1"/>
                  </a:solidFill>
                  <a:latin typeface="微软雅黑" panose="020B0503020204020204" pitchFamily="34" charset="-122"/>
                  <a:ea typeface="微软雅黑" panose="020B0503020204020204" pitchFamily="34" charset="-122"/>
                </a:rPr>
                <a:t>車牌辨識</a:t>
              </a:r>
              <a:endParaRPr lang="en-US" altLang="zh-TW" dirty="0">
                <a:solidFill>
                  <a:schemeClr val="bg1"/>
                </a:solidFill>
                <a:latin typeface="微软雅黑" panose="020B0503020204020204" pitchFamily="34" charset="-122"/>
                <a:ea typeface="微软雅黑" panose="020B0503020204020204" pitchFamily="34" charset="-122"/>
              </a:endParaRPr>
            </a:p>
          </p:txBody>
        </p:sp>
        <p:pic>
          <p:nvPicPr>
            <p:cNvPr id="24" name="Picture 6" descr="停车位icon图标下载免抠素材免费下载_觅元素51yuansu.com">
              <a:extLst>
                <a:ext uri="{FF2B5EF4-FFF2-40B4-BE49-F238E27FC236}">
                  <a16:creationId xmlns:a16="http://schemas.microsoft.com/office/drawing/2014/main" id="{B6A75587-AA42-62FF-9038-2E09069084E8}"/>
                </a:ext>
              </a:extLst>
            </p:cNvPr>
            <p:cNvPicPr>
              <a:picLocks noChangeAspect="1" noChangeArrowheads="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5341136" y="5523240"/>
              <a:ext cx="1188498" cy="10056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群組 2">
            <a:extLst>
              <a:ext uri="{FF2B5EF4-FFF2-40B4-BE49-F238E27FC236}">
                <a16:creationId xmlns:a16="http://schemas.microsoft.com/office/drawing/2014/main" id="{051B6E65-AC55-3C89-32A7-AA5B1A8092D6}"/>
              </a:ext>
            </a:extLst>
          </p:cNvPr>
          <p:cNvGrpSpPr/>
          <p:nvPr/>
        </p:nvGrpSpPr>
        <p:grpSpPr>
          <a:xfrm>
            <a:off x="6717930" y="1254548"/>
            <a:ext cx="2043953" cy="4903032"/>
            <a:chOff x="6529635" y="1254548"/>
            <a:chExt cx="2043953" cy="4903032"/>
          </a:xfrm>
        </p:grpSpPr>
        <p:sp>
          <p:nvSpPr>
            <p:cNvPr id="7" name="矩形 6">
              <a:extLst>
                <a:ext uri="{FF2B5EF4-FFF2-40B4-BE49-F238E27FC236}">
                  <a16:creationId xmlns:a16="http://schemas.microsoft.com/office/drawing/2014/main" id="{2495AF71-1E5D-D643-1E56-704AA96B8C8B}"/>
                </a:ext>
              </a:extLst>
            </p:cNvPr>
            <p:cNvSpPr/>
            <p:nvPr/>
          </p:nvSpPr>
          <p:spPr>
            <a:xfrm>
              <a:off x="6529635" y="2074006"/>
              <a:ext cx="2043953" cy="408357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針對家畜進行智慧健康檢測，及追蹤其活動狀態，配合</a:t>
              </a:r>
              <a:r>
                <a:rPr lang="zh-TW" altLang="en-US" sz="1400" dirty="0">
                  <a:solidFill>
                    <a:srgbClr val="C00000"/>
                  </a:solidFill>
                  <a:latin typeface="微软雅黑" panose="020B0503020204020204" pitchFamily="34" charset="-122"/>
                  <a:ea typeface="微软雅黑" panose="020B0503020204020204" pitchFamily="34" charset="-122"/>
                </a:rPr>
                <a:t>牧場管理</a:t>
              </a:r>
              <a:r>
                <a:rPr lang="zh-TW" altLang="en-US" sz="1400" dirty="0">
                  <a:solidFill>
                    <a:srgbClr val="414455"/>
                  </a:solidFill>
                  <a:latin typeface="微软雅黑" panose="020B0503020204020204" pitchFamily="34" charset="-122"/>
                  <a:ea typeface="微软雅黑" panose="020B0503020204020204" pitchFamily="34" charset="-122"/>
                </a:rPr>
                <a:t>，避免不必要的損失。</a:t>
              </a:r>
            </a:p>
          </p:txBody>
        </p:sp>
        <p:sp>
          <p:nvSpPr>
            <p:cNvPr id="12" name="矩形 11">
              <a:extLst>
                <a:ext uri="{FF2B5EF4-FFF2-40B4-BE49-F238E27FC236}">
                  <a16:creationId xmlns:a16="http://schemas.microsoft.com/office/drawing/2014/main" id="{A90B2F8F-D9DC-9C78-1525-A2A7F972F69C}"/>
                </a:ext>
              </a:extLst>
            </p:cNvPr>
            <p:cNvSpPr/>
            <p:nvPr/>
          </p:nvSpPr>
          <p:spPr>
            <a:xfrm>
              <a:off x="6529635" y="1254548"/>
              <a:ext cx="2043953" cy="819458"/>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TW" altLang="en-US" dirty="0">
                  <a:solidFill>
                    <a:schemeClr val="bg1"/>
                  </a:solidFill>
                  <a:latin typeface="微软雅黑" panose="020B0503020204020204" pitchFamily="34" charset="-122"/>
                  <a:ea typeface="微软雅黑" panose="020B0503020204020204" pitchFamily="34" charset="-122"/>
                </a:rPr>
                <a:t>智慧牧場</a:t>
              </a:r>
              <a:endParaRPr lang="en-US" altLang="zh-TW" dirty="0">
                <a:solidFill>
                  <a:schemeClr val="bg1"/>
                </a:solidFill>
                <a:latin typeface="微软雅黑" panose="020B0503020204020204" pitchFamily="34" charset="-122"/>
                <a:ea typeface="微软雅黑" panose="020B0503020204020204" pitchFamily="34" charset="-122"/>
              </a:endParaRPr>
            </a:p>
          </p:txBody>
        </p:sp>
        <p:grpSp>
          <p:nvGrpSpPr>
            <p:cNvPr id="26" name="群組 25">
              <a:extLst>
                <a:ext uri="{FF2B5EF4-FFF2-40B4-BE49-F238E27FC236}">
                  <a16:creationId xmlns:a16="http://schemas.microsoft.com/office/drawing/2014/main" id="{6E112CBE-C972-D4B0-620E-A8DCD63865BF}"/>
                </a:ext>
              </a:extLst>
            </p:cNvPr>
            <p:cNvGrpSpPr>
              <a:grpSpLocks noChangeAspect="1"/>
            </p:cNvGrpSpPr>
            <p:nvPr/>
          </p:nvGrpSpPr>
          <p:grpSpPr>
            <a:xfrm>
              <a:off x="6979176" y="3861397"/>
              <a:ext cx="816822" cy="768774"/>
              <a:chOff x="6457627" y="4533176"/>
              <a:chExt cx="2376264" cy="2236484"/>
            </a:xfrm>
          </p:grpSpPr>
          <p:pic>
            <p:nvPicPr>
              <p:cNvPr id="27" name="Picture 2" descr="Cow Icon | IconExperience - Professional Icons » O-Collection">
                <a:extLst>
                  <a:ext uri="{FF2B5EF4-FFF2-40B4-BE49-F238E27FC236}">
                    <a16:creationId xmlns:a16="http://schemas.microsoft.com/office/drawing/2014/main" id="{15159B42-0529-0D09-B8FE-DFD53EAC1FF0}"/>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2784" t="4770" r="2555" b="6137"/>
              <a:stretch/>
            </p:blipFill>
            <p:spPr bwMode="auto">
              <a:xfrm>
                <a:off x="6457627" y="4533176"/>
                <a:ext cx="2376264" cy="2236484"/>
              </a:xfrm>
              <a:prstGeom prst="rect">
                <a:avLst/>
              </a:prstGeom>
              <a:noFill/>
              <a:extLst>
                <a:ext uri="{909E8E84-426E-40DD-AFC4-6F175D3DCCD1}">
                  <a14:hiddenFill xmlns:a14="http://schemas.microsoft.com/office/drawing/2010/main">
                    <a:solidFill>
                      <a:srgbClr val="FFFFFF"/>
                    </a:solidFill>
                  </a14:hiddenFill>
                </a:ext>
              </a:extLst>
            </p:spPr>
          </p:pic>
          <p:pic>
            <p:nvPicPr>
              <p:cNvPr id="28" name="圖片 27">
                <a:extLst>
                  <a:ext uri="{FF2B5EF4-FFF2-40B4-BE49-F238E27FC236}">
                    <a16:creationId xmlns:a16="http://schemas.microsoft.com/office/drawing/2014/main" id="{9D3F7016-0DDA-E1C7-2CE1-31F728F8AE21}"/>
                  </a:ext>
                </a:extLst>
              </p:cNvPr>
              <p:cNvPicPr>
                <a:picLocks noChangeAspect="1"/>
              </p:cNvPicPr>
              <p:nvPr/>
            </p:nvPicPr>
            <p:blipFill>
              <a:blip r:embed="rId5">
                <a:clrChange>
                  <a:clrFrom>
                    <a:srgbClr val="FFFFFF"/>
                  </a:clrFrom>
                  <a:clrTo>
                    <a:srgbClr val="FFFFFF">
                      <a:alpha val="0"/>
                    </a:srgbClr>
                  </a:clrTo>
                </a:clrChange>
                <a:duotone>
                  <a:schemeClr val="accent2">
                    <a:shade val="45000"/>
                    <a:satMod val="135000"/>
                  </a:schemeClr>
                  <a:prstClr val="white"/>
                </a:duotone>
              </a:blip>
              <a:stretch>
                <a:fillRect/>
              </a:stretch>
            </p:blipFill>
            <p:spPr>
              <a:xfrm>
                <a:off x="8019885" y="5733256"/>
                <a:ext cx="568145" cy="533502"/>
              </a:xfrm>
              <a:prstGeom prst="rect">
                <a:avLst/>
              </a:prstGeom>
            </p:spPr>
          </p:pic>
        </p:grpSp>
        <p:pic>
          <p:nvPicPr>
            <p:cNvPr id="29" name="Picture 6" descr="cctv camera Icon - Free PNG &amp; SVG 2571053 - Noun Project">
              <a:extLst>
                <a:ext uri="{FF2B5EF4-FFF2-40B4-BE49-F238E27FC236}">
                  <a16:creationId xmlns:a16="http://schemas.microsoft.com/office/drawing/2014/main" id="{765BF83E-D65C-F09E-D23B-2829370C7CD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03409" y="3509982"/>
              <a:ext cx="570179" cy="5701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群組 1">
            <a:extLst>
              <a:ext uri="{FF2B5EF4-FFF2-40B4-BE49-F238E27FC236}">
                <a16:creationId xmlns:a16="http://schemas.microsoft.com/office/drawing/2014/main" id="{5669E272-6C05-0A94-180B-3BC69A97E2B5}"/>
              </a:ext>
            </a:extLst>
          </p:cNvPr>
          <p:cNvGrpSpPr/>
          <p:nvPr/>
        </p:nvGrpSpPr>
        <p:grpSpPr>
          <a:xfrm>
            <a:off x="9310217" y="1254548"/>
            <a:ext cx="2043954" cy="4903031"/>
            <a:chOff x="8780998" y="1254548"/>
            <a:chExt cx="2043954" cy="4903031"/>
          </a:xfrm>
        </p:grpSpPr>
        <p:sp>
          <p:nvSpPr>
            <p:cNvPr id="8" name="矩形 7">
              <a:extLst>
                <a:ext uri="{FF2B5EF4-FFF2-40B4-BE49-F238E27FC236}">
                  <a16:creationId xmlns:a16="http://schemas.microsoft.com/office/drawing/2014/main" id="{AEC0EA4F-9A3C-8105-3B45-6736CB544A70}"/>
                </a:ext>
              </a:extLst>
            </p:cNvPr>
            <p:cNvSpPr/>
            <p:nvPr/>
          </p:nvSpPr>
          <p:spPr>
            <a:xfrm>
              <a:off x="8780999" y="2074005"/>
              <a:ext cx="2043953" cy="408357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人臉辨識</a:t>
              </a:r>
              <a:endParaRPr lang="en-US" altLang="zh-TW" sz="1400" dirty="0">
                <a:solidFill>
                  <a:srgbClr val="414455"/>
                </a:solidFill>
                <a:latin typeface="微软雅黑" panose="020B0503020204020204" pitchFamily="34" charset="-122"/>
                <a:ea typeface="微软雅黑" panose="020B0503020204020204" pitchFamily="34" charset="-122"/>
              </a:endParaRP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公司門口打卡機</a:t>
              </a:r>
            </a:p>
            <a:p>
              <a:pPr algn="just">
                <a:lnSpc>
                  <a:spcPct val="150000"/>
                </a:lnSpc>
                <a:spcBef>
                  <a:spcPts val="600"/>
                </a:spcBef>
              </a:pPr>
              <a:endParaRPr lang="en-US" altLang="zh-TW" sz="1400" dirty="0">
                <a:solidFill>
                  <a:srgbClr val="414455"/>
                </a:solidFill>
                <a:latin typeface="微软雅黑" panose="020B0503020204020204" pitchFamily="34" charset="-122"/>
                <a:ea typeface="微软雅黑" panose="020B0503020204020204" pitchFamily="34" charset="-122"/>
              </a:endParaRP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口罩偵測</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辦公大樓大廳入口</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超商、賣場出入口</a:t>
              </a:r>
            </a:p>
            <a:p>
              <a:pPr algn="just">
                <a:lnSpc>
                  <a:spcPct val="150000"/>
                </a:lnSpc>
                <a:spcBef>
                  <a:spcPts val="600"/>
                </a:spcBef>
              </a:pPr>
              <a:r>
                <a:rPr lang="zh-TW" altLang="en-US" sz="1400" dirty="0">
                  <a:solidFill>
                    <a:srgbClr val="414455"/>
                  </a:solidFill>
                  <a:latin typeface="微软雅黑" panose="020B0503020204020204" pitchFamily="34" charset="-122"/>
                  <a:ea typeface="微软雅黑" panose="020B0503020204020204" pitchFamily="34" charset="-122"/>
                </a:rPr>
                <a:t>*結合體溫檢測</a:t>
              </a:r>
            </a:p>
          </p:txBody>
        </p:sp>
        <p:sp>
          <p:nvSpPr>
            <p:cNvPr id="13" name="矩形 12">
              <a:extLst>
                <a:ext uri="{FF2B5EF4-FFF2-40B4-BE49-F238E27FC236}">
                  <a16:creationId xmlns:a16="http://schemas.microsoft.com/office/drawing/2014/main" id="{DAAE217C-24FC-B529-54EC-8A2D4ECC693D}"/>
                </a:ext>
              </a:extLst>
            </p:cNvPr>
            <p:cNvSpPr/>
            <p:nvPr/>
          </p:nvSpPr>
          <p:spPr>
            <a:xfrm>
              <a:off x="8780998" y="1254548"/>
              <a:ext cx="2043953" cy="819458"/>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zh-TW" altLang="en-US" dirty="0">
                  <a:solidFill>
                    <a:schemeClr val="bg1"/>
                  </a:solidFill>
                  <a:latin typeface="微软雅黑" panose="020B0503020204020204" pitchFamily="34" charset="-122"/>
                  <a:ea typeface="微软雅黑" panose="020B0503020204020204" pitchFamily="34" charset="-122"/>
                </a:rPr>
                <a:t>人臉 </a:t>
              </a:r>
              <a:r>
                <a:rPr lang="en-US" altLang="zh-TW" dirty="0">
                  <a:solidFill>
                    <a:schemeClr val="bg1"/>
                  </a:solidFill>
                  <a:latin typeface="微软雅黑" panose="020B0503020204020204" pitchFamily="34" charset="-122"/>
                  <a:ea typeface="微软雅黑" panose="020B0503020204020204" pitchFamily="34" charset="-122"/>
                </a:rPr>
                <a:t>/ </a:t>
              </a:r>
              <a:r>
                <a:rPr lang="zh-TW" altLang="en-US" dirty="0">
                  <a:solidFill>
                    <a:schemeClr val="bg1"/>
                  </a:solidFill>
                  <a:latin typeface="微软雅黑" panose="020B0503020204020204" pitchFamily="34" charset="-122"/>
                  <a:ea typeface="微软雅黑" panose="020B0503020204020204" pitchFamily="34" charset="-122"/>
                </a:rPr>
                <a:t>口罩辨識</a:t>
              </a:r>
              <a:endParaRPr lang="en-US" altLang="zh-TW" dirty="0">
                <a:solidFill>
                  <a:schemeClr val="bg1"/>
                </a:solidFill>
                <a:latin typeface="微软雅黑" panose="020B0503020204020204" pitchFamily="34" charset="-122"/>
                <a:ea typeface="微软雅黑" panose="020B0503020204020204" pitchFamily="34" charset="-122"/>
              </a:endParaRPr>
            </a:p>
          </p:txBody>
        </p:sp>
        <p:pic>
          <p:nvPicPr>
            <p:cNvPr id="64" name="Picture 6" descr="Facial Recognition Icon #190897 - Free Icons Library">
              <a:extLst>
                <a:ext uri="{FF2B5EF4-FFF2-40B4-BE49-F238E27FC236}">
                  <a16:creationId xmlns:a16="http://schemas.microsoft.com/office/drawing/2014/main" id="{D3B89CF0-9B6E-6E1C-E77E-A116C108AAA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22960" y="212760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智能體溫量測解決方案">
              <a:extLst>
                <a:ext uri="{FF2B5EF4-FFF2-40B4-BE49-F238E27FC236}">
                  <a16:creationId xmlns:a16="http://schemas.microsoft.com/office/drawing/2014/main" id="{3BA36BE8-6484-459E-C9CF-DAAD3D997EB4}"/>
                </a:ext>
              </a:extLst>
            </p:cNvPr>
            <p:cNvPicPr>
              <a:picLocks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22960" y="3319591"/>
              <a:ext cx="360000" cy="36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36825873"/>
      </p:ext>
    </p:extLst>
  </p:cSld>
  <p:clrMapOvr>
    <a:masterClrMapping/>
  </p:clrMapOvr>
</p:sld>
</file>

<file path=ppt/theme/theme1.xml><?xml version="1.0" encoding="utf-8"?>
<a:theme xmlns:a="http://schemas.openxmlformats.org/drawingml/2006/main" name="Office 主题​​">
  <a:themeElements>
    <a:clrScheme name="暖調藍色">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4169</TotalTime>
  <Words>655</Words>
  <Application>Microsoft Office PowerPoint</Application>
  <PresentationFormat>自訂</PresentationFormat>
  <Paragraphs>112</Paragraphs>
  <Slides>7</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7</vt:i4>
      </vt:variant>
    </vt:vector>
  </HeadingPairs>
  <TitlesOfParts>
    <vt:vector size="14" baseType="lpstr">
      <vt:lpstr>微软雅黑</vt:lpstr>
      <vt:lpstr>方正兰亭黑简体</vt:lpstr>
      <vt:lpstr>微軟正黑體</vt:lpstr>
      <vt:lpstr>Arial</vt:lpstr>
      <vt:lpstr>Calibri</vt:lpstr>
      <vt:lpstr>Wingdings</vt:lpstr>
      <vt:lpstr>Office 主题​​</vt:lpstr>
      <vt:lpstr>PowerPoint 簡報</vt:lpstr>
      <vt:lpstr>PowerPoint 簡報</vt:lpstr>
      <vt:lpstr>PowerPoint 簡報</vt:lpstr>
      <vt:lpstr>PowerPoint 簡報</vt:lpstr>
      <vt:lpstr>PowerPoint 簡報</vt:lpstr>
      <vt:lpstr>PowerPoint 簡報</vt:lpstr>
      <vt:lpstr>PowerPoint 簡報</vt:lpstr>
    </vt:vector>
  </TitlesOfParts>
  <Company>http://www.deepbbs.org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哎呀小小草</dc:title>
  <dc:subject>哎呀小小草</dc:subject>
  <dc:creator>user</dc:creator>
  <cp:keywords>user</cp:keywords>
  <dc:description>https://800sucai.taobao.com</dc:description>
  <cp:lastModifiedBy>韻文 曾</cp:lastModifiedBy>
  <cp:revision>579</cp:revision>
  <dcterms:created xsi:type="dcterms:W3CDTF">2015-11-26T04:19:55Z</dcterms:created>
  <dcterms:modified xsi:type="dcterms:W3CDTF">2026-08-24T11:52:46Z</dcterms:modified>
  <cp:category>https://800sucai.taobao.com</cp:category>
</cp:coreProperties>
</file>
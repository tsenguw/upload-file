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1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3055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6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OpenRPA 操作教學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99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99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3B"/>
          </a:solidFill>
          <a:ln w="12700">
            <a:solidFill>
              <a:srgbClr val="0F25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8229600" y="137160"/>
            <a:ext cx="3566160" cy="3566160"/>
          </a:xfrm>
          <a:prstGeom prst="arc">
            <a:avLst/>
          </a:prstGeom>
          <a:solidFill>
            <a:srgbClr val="0F253B">
              <a:alpha val="0"/>
            </a:srgbClr>
          </a:solidFill>
          <a:ln w="50800">
            <a:solidFill>
              <a:srgbClr val="1E496B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100000">
            <a:off x="8778240" y="502920"/>
            <a:ext cx="2926080" cy="2926080"/>
          </a:xfrm>
          <a:prstGeom prst="arc">
            <a:avLst/>
          </a:prstGeom>
          <a:solidFill>
            <a:srgbClr val="0F253B">
              <a:alpha val="0"/>
            </a:srgbClr>
          </a:solidFill>
          <a:ln w="63500">
            <a:solidFill>
              <a:srgbClr val="15B8A6">
                <a:alpha val="8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0920" y="347472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173B58"/>
          </a:solidFill>
          <a:ln w="19050">
            <a:solidFill>
              <a:srgbClr val="4169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36393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Open 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098280" y="278892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173B58"/>
          </a:solidFill>
          <a:ln w="19050">
            <a:solidFill>
              <a:srgbClr val="15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0" y="29535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GetElement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222992" y="379476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173B58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68712" y="395935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Click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41080" y="466344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173B58"/>
          </a:solidFill>
          <a:ln w="19050">
            <a:solidFill>
              <a:srgbClr val="2D9C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482803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TypeText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641080" y="3749040"/>
            <a:ext cx="731520" cy="0"/>
          </a:xfrm>
          <a:prstGeom prst="line">
            <a:avLst/>
          </a:prstGeom>
          <a:noFill/>
          <a:ln w="25400">
            <a:solidFill>
              <a:srgbClr val="15B8A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424160" y="3337560"/>
            <a:ext cx="228600" cy="45720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195560" y="4370832"/>
            <a:ext cx="0" cy="292608"/>
          </a:xfrm>
          <a:prstGeom prst="line">
            <a:avLst/>
          </a:prstGeom>
          <a:noFill/>
          <a:ln w="25400">
            <a:solidFill>
              <a:srgbClr val="2D9CD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58368" y="676656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1D425F"/>
          </a:solidFill>
          <a:ln w="12700">
            <a:solidFill>
              <a:srgbClr val="1D42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726948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E1D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RPA × Workflow Automation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1536192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OpenRPA 操作教學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85800" y="233172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C5D3E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基本操作、常用元件、Web / 桌面自動化與除錯實務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5800" y="32461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3E3D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從第一個 Workflow 到可維護的自動化流程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3886200"/>
            <a:ext cx="5394960" cy="0"/>
          </a:xfrm>
          <a:prstGeom prst="line">
            <a:avLst/>
          </a:prstGeom>
          <a:noFill/>
          <a:ln w="15240">
            <a:solidFill>
              <a:srgbClr val="355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1148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9C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適用：OpenRPA 1.4.x｜Windows 環境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今天會學到什麼？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以「能自己做出一個穩定小流程」為目標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523036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9047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B8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08176" y="147218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介面與 Workflow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08176" y="183794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認識 Toolbox、Designer、Properties、Variables、Output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6272784" y="1325880"/>
            <a:ext cx="523036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7376" y="149047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B8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22592" y="147218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基本操作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022592" y="183794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建立流程、執行、儲存、錄製、Selector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658368" y="2743200"/>
            <a:ext cx="523036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90779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B8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08176" y="288950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常用元件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408176" y="325526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桌面操作、流程控制、資料處理、子流程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6272784" y="2743200"/>
            <a:ext cx="523036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7376" y="290779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B8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22592" y="288950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Web 自動化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022592" y="325526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NM / 瀏覽器擴充與無擴充時的替代做法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658368" y="4160520"/>
            <a:ext cx="523036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32511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B8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08176" y="430682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除錯與穩定性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408176" y="467258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Try/Catch、Timeout、Breakpoint、Logging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6272784" y="4160520"/>
            <a:ext cx="523036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37376" y="432511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B8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22592" y="430682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實作練習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022592" y="467258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記事本自動化 + 可延伸 Web 練習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76656" y="56967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學完後：能從「需求 → 元件 → Selector → 例外處理 → 測試」完成一個可重複執行的流程。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99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OpenRPA 是什麼？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Open Source Robotic Process Automation，透過 Workflow + Activity 組裝自動化流程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0FBF9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25880"/>
            <a:ext cx="73152" cy="1417320"/>
          </a:xfrm>
          <a:prstGeom prst="rect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4904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拖拉式 Workflow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9536" y="1911096"/>
            <a:ext cx="32461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Microsoft Workflow Foundation 的概念組裝 Sequence、If、Loop、Try/Catch 等流程。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15968" y="13258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3F6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15968" y="1325880"/>
            <a:ext cx="73152" cy="1417320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7136" y="14904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UI 自動化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17136" y="1911096"/>
            <a:ext cx="32461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可操作 Windows UI，也可透過 NM（Native Messaging）整合 Chrome / Edge / Firefox 的網頁元素。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73568" y="13258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8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73568" y="1325880"/>
            <a:ext cx="73152" cy="1417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74736" y="14904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可擴充與整合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74736" y="1911096"/>
            <a:ext cx="32461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支援 Office、Database、PDF、JSON、Image/OCR、SAP、Java，以及 OpenIAP / OpenCore 生態系。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246120"/>
            <a:ext cx="107442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5112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RPA 的核心思維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60120" y="4096512"/>
            <a:ext cx="1481328" cy="658368"/>
          </a:xfrm>
          <a:prstGeom prst="roundRect">
            <a:avLst>
              <a:gd name="adj" fmla="val 11111"/>
            </a:avLst>
          </a:prstGeom>
          <a:solidFill>
            <a:srgbClr val="EDF8F7"/>
          </a:solidFill>
          <a:ln w="12700">
            <a:solidFill>
              <a:srgbClr val="B8E7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4197096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觸發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33272" y="4416552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Start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459736" y="4425696"/>
            <a:ext cx="466344" cy="0"/>
          </a:xfrm>
          <a:prstGeom prst="line">
            <a:avLst/>
          </a:prstGeom>
          <a:noFill/>
          <a:ln w="25400">
            <a:solidFill>
              <a:srgbClr val="A7B4C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017520" y="4096512"/>
            <a:ext cx="1481328" cy="658368"/>
          </a:xfrm>
          <a:prstGeom prst="roundRect">
            <a:avLst>
              <a:gd name="adj" fmla="val 11111"/>
            </a:avLst>
          </a:prstGeom>
          <a:solidFill>
            <a:srgbClr val="F2F5FA"/>
          </a:solidFill>
          <a:ln w="12700">
            <a:solidFill>
              <a:srgbClr val="D4DC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90672" y="4197096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090672" y="4416552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GetElement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17136" y="4425696"/>
            <a:ext cx="466344" cy="0"/>
          </a:xfrm>
          <a:prstGeom prst="line">
            <a:avLst/>
          </a:prstGeom>
          <a:noFill/>
          <a:ln w="25400">
            <a:solidFill>
              <a:srgbClr val="A7B4C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074920" y="4096512"/>
            <a:ext cx="1481328" cy="658368"/>
          </a:xfrm>
          <a:prstGeom prst="roundRect">
            <a:avLst>
              <a:gd name="adj" fmla="val 11111"/>
            </a:avLst>
          </a:prstGeom>
          <a:solidFill>
            <a:srgbClr val="EDF8F7"/>
          </a:solidFill>
          <a:ln w="12700">
            <a:solidFill>
              <a:srgbClr val="B8E7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8072" y="4197096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操作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148072" y="4416552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Click / Type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74536" y="4425696"/>
            <a:ext cx="466344" cy="0"/>
          </a:xfrm>
          <a:prstGeom prst="line">
            <a:avLst/>
          </a:prstGeom>
          <a:noFill/>
          <a:ln w="25400">
            <a:solidFill>
              <a:srgbClr val="A7B4C6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132320" y="4096512"/>
            <a:ext cx="1481328" cy="658368"/>
          </a:xfrm>
          <a:prstGeom prst="roundRect">
            <a:avLst>
              <a:gd name="adj" fmla="val 11111"/>
            </a:avLst>
          </a:prstGeom>
          <a:solidFill>
            <a:srgbClr val="F2F5FA"/>
          </a:solidFill>
          <a:ln w="12700">
            <a:solidFill>
              <a:srgbClr val="D4DC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05472" y="4197096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205472" y="4416552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If / Loop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31936" y="4425696"/>
            <a:ext cx="466344" cy="0"/>
          </a:xfrm>
          <a:prstGeom prst="line">
            <a:avLst/>
          </a:prstGeom>
          <a:noFill/>
          <a:ln w="25400">
            <a:solidFill>
              <a:srgbClr val="A7B4C6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189720" y="4096512"/>
            <a:ext cx="1481328" cy="658368"/>
          </a:xfrm>
          <a:prstGeom prst="roundRect">
            <a:avLst>
              <a:gd name="adj" fmla="val 11111"/>
            </a:avLst>
          </a:prstGeom>
          <a:solidFill>
            <a:srgbClr val="EDF8F7"/>
          </a:solidFill>
          <a:ln w="12700">
            <a:solidFill>
              <a:srgbClr val="B8E7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62872" y="4197096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262872" y="4416552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File / DB / API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85216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i="1" dirty="0">
                <a:solidFill>
                  <a:srgbClr val="8994A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資料來源：OpenRPA GitHub README、OpenIAP Documentation（OpenRPA UI / Activities）</a:t>
            </a:r>
            <a:endParaRPr lang="en-US" sz="73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99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介面導覽：先認識 6 個區域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日常開發最常用的是 Toolbox、Workspace、Properties、Variables 與 Output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8229600" cy="4617720"/>
          </a:xfrm>
          <a:prstGeom prst="roundRect">
            <a:avLst>
              <a:gd name="adj" fmla="val 990"/>
            </a:avLst>
          </a:prstGeom>
          <a:solidFill>
            <a:srgbClr val="F3F5F8"/>
          </a:solidFill>
          <a:ln w="15240">
            <a:solidFill>
              <a:srgbClr val="C9D2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8229600" cy="4114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624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OpenRPA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1965960" cy="3611880"/>
          </a:xfrm>
          <a:prstGeom prst="rect">
            <a:avLst/>
          </a:prstGeom>
          <a:solidFill>
            <a:srgbClr val="EEF1F5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4708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Toolbox / Snippets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› OpenRPA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27249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› System.Activities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316382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› OpenRPA.NM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360273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› OpenRPA.Office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404164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› Database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51760" y="1645920"/>
            <a:ext cx="40690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18470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Designer / Workspace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27248" y="2331720"/>
            <a:ext cx="2651760" cy="411480"/>
          </a:xfrm>
          <a:prstGeom prst="roundRect">
            <a:avLst>
              <a:gd name="adj" fmla="val 11111"/>
            </a:avLst>
          </a:prstGeom>
          <a:solidFill>
            <a:srgbClr val="F7FAFC"/>
          </a:solidFill>
          <a:ln w="15240">
            <a:solidFill>
              <a:srgbClr val="15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18688" y="244144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Main Sequence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3456432" y="2944368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F7FAFC"/>
          </a:solidFill>
          <a:ln w="15240">
            <a:solidFill>
              <a:srgbClr val="4169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47872" y="305409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GetElement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3749040" y="3611880"/>
            <a:ext cx="1417320" cy="411480"/>
          </a:xfrm>
          <a:prstGeom prst="roundRect">
            <a:avLst>
              <a:gd name="adj" fmla="val 11111"/>
            </a:avLst>
          </a:prstGeom>
          <a:solidFill>
            <a:srgbClr val="F7FAFC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37216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ClickElement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3456432" y="4279392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F7FAFC"/>
          </a:solidFill>
          <a:ln w="15240">
            <a:solidFill>
              <a:srgbClr val="2D9C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89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WriteLine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720840" y="1645920"/>
            <a:ext cx="2194560" cy="3611880"/>
          </a:xfrm>
          <a:prstGeom prst="rect">
            <a:avLst/>
          </a:prstGeom>
          <a:solidFill>
            <a:srgbClr val="F8FA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18470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Properties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03720" y="23042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DisplayName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26680" y="23042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GetElement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903720" y="27980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Timeout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726680" y="27980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00:00:03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903720" y="32918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MinResults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726680" y="3291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03720" y="37856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MaxResults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726680" y="37856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5800" y="5257800"/>
            <a:ext cx="8229600" cy="594360"/>
          </a:xfrm>
          <a:prstGeom prst="rect">
            <a:avLst/>
          </a:prstGeom>
          <a:solidFill>
            <a:srgbClr val="E8EDF3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4223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Variables   Arguments   Imports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72000" y="542239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Logging   Output   Workflow Instances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281160" y="1353312"/>
            <a:ext cx="438912" cy="43891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81160" y="144018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857232" y="1362456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Toolbox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857232" y="16276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拖拉 Activities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9281160" y="2066544"/>
            <a:ext cx="438912" cy="43891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81160" y="215341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857232" y="2075688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Workspace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857232" y="23408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組裝流程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9281160" y="2779776"/>
            <a:ext cx="438912" cy="43891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81160" y="286664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857232" y="2788920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Properties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57232" y="30540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設定 Activity 參數</a:t>
            </a:r>
            <a:endParaRPr lang="en-US" sz="860" dirty="0"/>
          </a:p>
        </p:txBody>
      </p:sp>
      <p:sp>
        <p:nvSpPr>
          <p:cNvPr id="49" name="Shape 47"/>
          <p:cNvSpPr/>
          <p:nvPr/>
        </p:nvSpPr>
        <p:spPr>
          <a:xfrm>
            <a:off x="9281160" y="3493008"/>
            <a:ext cx="438912" cy="438912"/>
          </a:xfrm>
          <a:prstGeom prst="ellipse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81160" y="357987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857232" y="3502152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Variables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857232" y="3767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儲存流程資料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9281160" y="4206240"/>
            <a:ext cx="438912" cy="438912"/>
          </a:xfrm>
          <a:prstGeom prst="ellipse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81160" y="42931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857232" y="4215384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Output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9857232" y="44805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 Log / Error</a:t>
            </a:r>
            <a:endParaRPr lang="en-US" sz="860" dirty="0"/>
          </a:p>
        </p:txBody>
      </p:sp>
      <p:sp>
        <p:nvSpPr>
          <p:cNvPr id="57" name="Shape 55"/>
          <p:cNvSpPr/>
          <p:nvPr/>
        </p:nvSpPr>
        <p:spPr>
          <a:xfrm>
            <a:off x="9281160" y="4919472"/>
            <a:ext cx="438912" cy="438912"/>
          </a:xfrm>
          <a:prstGeom prst="ellipse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281160" y="500634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857232" y="4928616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Connection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9857232" y="51937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 NM / SAP / OpenCore 狀態</a:t>
            </a:r>
            <a:endParaRPr lang="en-US" sz="860" dirty="0"/>
          </a:p>
        </p:txBody>
      </p:sp>
      <p:sp>
        <p:nvSpPr>
          <p:cNvPr id="61" name="Text 59"/>
          <p:cNvSpPr/>
          <p:nvPr/>
        </p:nvSpPr>
        <p:spPr>
          <a:xfrm>
            <a:off x="585216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i="1" dirty="0">
                <a:solidFill>
                  <a:srgbClr val="8994A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官方文件指出：Workflow 由 Workspace 執行，Properties 設定參數，Output 顯示執行輸出與錯誤，Connection Bar 顯示 NM / SAP 等外掛狀態。</a:t>
            </a:r>
            <a:endParaRPr lang="en-US" sz="730" dirty="0"/>
          </a:p>
        </p:txBody>
      </p:sp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99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第一個 Workflow：從 0 到可以執行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先用最簡單的「Assign → WriteLine」理解變數、元件與執行方式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49808" y="1472184"/>
            <a:ext cx="438912" cy="43891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590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14173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 Project / Workflow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8013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新增一個流程，確保中心區域是 Sequence。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969264" y="1892808"/>
            <a:ext cx="0" cy="576072"/>
          </a:xfrm>
          <a:prstGeom prst="line">
            <a:avLst/>
          </a:prstGeom>
          <a:noFill/>
          <a:ln w="16510">
            <a:solidFill>
              <a:srgbClr val="C5D3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523744"/>
            <a:ext cx="438912" cy="43891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61061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4688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拖入 Assign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8529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建立變數 message，值設為 "Hello OpenRPA"。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969264" y="2944368"/>
            <a:ext cx="0" cy="576072"/>
          </a:xfrm>
          <a:prstGeom prst="line">
            <a:avLst/>
          </a:prstGeom>
          <a:noFill/>
          <a:ln w="16510">
            <a:solidFill>
              <a:srgbClr val="C5D3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575304"/>
            <a:ext cx="438912" cy="43891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66217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35204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拖入 WriteLine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9044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Text 設為 message，讓結果顯示在 Output。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969264" y="3995928"/>
            <a:ext cx="0" cy="576072"/>
          </a:xfrm>
          <a:prstGeom prst="line">
            <a:avLst/>
          </a:prstGeom>
          <a:noFill/>
          <a:ln w="16510">
            <a:solidFill>
              <a:srgbClr val="C5D3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626864"/>
            <a:ext cx="438912" cy="43891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471373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4572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按 F5 / Play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4956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執行流程，確認 Output 正常。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5897880" y="1481328"/>
            <a:ext cx="5376672" cy="4005072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755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Main Sequence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0" y="2331720"/>
            <a:ext cx="347472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20320">
            <a:solidFill>
              <a:srgbClr val="15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24414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Assign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01000" y="244144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message = "Hello OpenRPA"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8595360" y="2999232"/>
            <a:ext cx="0" cy="320040"/>
          </a:xfrm>
          <a:prstGeom prst="line">
            <a:avLst/>
          </a:prstGeom>
          <a:noFill/>
          <a:ln w="25400">
            <a:solidFill>
              <a:srgbClr val="A9B7C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858000" y="3337560"/>
            <a:ext cx="347472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20320">
            <a:solidFill>
              <a:srgbClr val="4169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86600" y="3447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WriteLine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01000" y="344728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Text = message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8595360" y="4005072"/>
            <a:ext cx="0" cy="320040"/>
          </a:xfrm>
          <a:prstGeom prst="line">
            <a:avLst/>
          </a:prstGeom>
          <a:noFill/>
          <a:ln w="25400">
            <a:solidFill>
              <a:srgbClr val="A9B7C8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858000" y="4343400"/>
            <a:ext cx="347472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2032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86600" y="44531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Run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01000" y="445312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F5 / Play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6236208" y="5175504"/>
            <a:ext cx="4617720" cy="310896"/>
          </a:xfrm>
          <a:prstGeom prst="roundRect">
            <a:avLst>
              <a:gd name="adj" fmla="val 23529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5225796"/>
            <a:ext cx="447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169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Tip：元件名稱改成有意義的 DisplayName，之後除錯會容易很多</a:t>
            </a:r>
            <a:endParaRPr lang="en-US" sz="9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99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Recorder 與 Selector：OpenRPA UI 自動化的核心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建議先「錄製」產生 GetElement / Selector，再手動微調，不要一開始就手刻 Selector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1783080" cy="1261872"/>
          </a:xfrm>
          <a:prstGeom prst="roundRect">
            <a:avLst>
              <a:gd name="adj" fmla="val 5797"/>
            </a:avLst>
          </a:prstGeom>
          <a:solidFill>
            <a:srgbClr val="F0FBF9"/>
          </a:solidFill>
          <a:ln w="12700">
            <a:solidFill>
              <a:srgbClr val="BDE9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62763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選中 Sequence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886968" y="20299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Recorder 只會把活動加入可容納活動的區域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2569464" y="2029968"/>
            <a:ext cx="246888" cy="0"/>
          </a:xfrm>
          <a:prstGeom prst="line">
            <a:avLst/>
          </a:prstGeom>
          <a:noFill/>
          <a:ln w="25400">
            <a:solidFill>
              <a:srgbClr val="A6B5C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80360" y="1417320"/>
            <a:ext cx="1783080" cy="1261872"/>
          </a:xfrm>
          <a:prstGeom prst="roundRect">
            <a:avLst>
              <a:gd name="adj" fmla="val 5797"/>
            </a:avLst>
          </a:prstGeom>
          <a:solidFill>
            <a:srgbClr val="F4F7FC"/>
          </a:solidFill>
          <a:ln w="12700">
            <a:solidFill>
              <a:srgbClr val="D6D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0088" y="162763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按 Record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2990088" y="20299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OpenRPA 最小化，開始捕捉點擊與鍵盤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4672584" y="2029968"/>
            <a:ext cx="246888" cy="0"/>
          </a:xfrm>
          <a:prstGeom prst="line">
            <a:avLst/>
          </a:prstGeom>
          <a:noFill/>
          <a:ln w="25400">
            <a:solidFill>
              <a:srgbClr val="A6B5C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83480" y="1417320"/>
            <a:ext cx="1783080" cy="1261872"/>
          </a:xfrm>
          <a:prstGeom prst="roundRect">
            <a:avLst>
              <a:gd name="adj" fmla="val 5797"/>
            </a:avLst>
          </a:prstGeom>
          <a:solidFill>
            <a:srgbClr val="F0FBF9"/>
          </a:solidFill>
          <a:ln w="12700">
            <a:solidFill>
              <a:srgbClr val="BDE9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93208" y="162763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執行目標操作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093208" y="20299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每次點擊停約 1 秒，讓 Recorder 完成解析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6775704" y="2029968"/>
            <a:ext cx="246888" cy="0"/>
          </a:xfrm>
          <a:prstGeom prst="line">
            <a:avLst/>
          </a:prstGeom>
          <a:noFill/>
          <a:ln w="25400">
            <a:solidFill>
              <a:srgbClr val="A6B5C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86600" y="1417320"/>
            <a:ext cx="1783080" cy="1261872"/>
          </a:xfrm>
          <a:prstGeom prst="roundRect">
            <a:avLst>
              <a:gd name="adj" fmla="val 5797"/>
            </a:avLst>
          </a:prstGeom>
          <a:solidFill>
            <a:srgbClr val="F4F7FC"/>
          </a:solidFill>
          <a:ln w="12700">
            <a:solidFill>
              <a:srgbClr val="D6DF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96328" y="162763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4. Esc 停止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7196328" y="20299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回到 Designer 檢查產生的 Activities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749808" y="3154680"/>
            <a:ext cx="10515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34290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Selector = 用一組屬性讓 OpenRPA「唯一找到」畫面上的元素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87552" y="4023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B8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穩定 Selector 原則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87552" y="4407408"/>
            <a:ext cx="5074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優先使用穩定屬性：Name / Class / AutomationId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987552" y="4727448"/>
            <a:ext cx="5074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避免會變動的 Index、隨機 ID、時間戳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987552" y="5047488"/>
            <a:ext cx="5074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用 Open Selector 微調，再用 Highlight 驗證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987552" y="5367528"/>
            <a:ext cx="5074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需要多筆結果時調整 MinResults / MaxResults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537960" y="3840480"/>
            <a:ext cx="4251960" cy="1152144"/>
          </a:xfrm>
          <a:prstGeom prst="roundRect">
            <a:avLst>
              <a:gd name="adj" fmla="val 3968"/>
            </a:avLst>
          </a:prstGeom>
          <a:solidFill>
            <a:srgbClr val="F7FAFC"/>
          </a:solidFill>
          <a:ln w="12700">
            <a:solidFill>
              <a:srgbClr val="CED8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84848" y="407822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F25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{ "process":"notepad.exe"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25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"controltype":"Edit", "name":"*" } 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5216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i="1" dirty="0">
                <a:solidFill>
                  <a:srgbClr val="8994A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官方 Recorder 文件：Record 後會依點擊建立元素定位活動；Esc 可停止錄製；Selector 可在 Open Selector 中調整並用 Highlight 測試。</a:t>
            </a:r>
            <a:endParaRPr lang="en-US" sz="73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99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桌面自動化：6 個最常用元件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先會這 6 個，就能完成大多數 Windows UI 流程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353312"/>
            <a:ext cx="3456432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38912" cy="43891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08176" y="1517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Open Application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212140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開啟指定程式或檔案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245059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使用情境：啟動記事本、ERP、桌面工具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480560" y="1353312"/>
            <a:ext cx="3456432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5152" y="1554480"/>
            <a:ext cx="438912" cy="438912"/>
          </a:xfrm>
          <a:prstGeom prst="ellipse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64592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30368" y="1517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GetElement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12140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 UI 元素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63440" y="245059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使用情境：其他 Click / Input 通常都圍繞它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302752" y="1353312"/>
            <a:ext cx="3456432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67344" y="1554480"/>
            <a:ext cx="438912" cy="43891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67344" y="164592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052560" y="1517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ClickElement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85632" y="212140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對元素點擊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485632" y="245059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使用情境：VirtualClick 可不移動實體滑鼠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8368" y="3438144"/>
            <a:ext cx="3456432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3639312"/>
            <a:ext cx="438912" cy="43891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73075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08176" y="36027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TypeText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" y="42062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送鍵盤字元 / 快捷鍵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41248" y="453542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使用情境：適合 Ctrl+S、Enter 等輸入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480560" y="3438144"/>
            <a:ext cx="3456432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45152" y="3639312"/>
            <a:ext cx="438912" cy="438912"/>
          </a:xfrm>
          <a:prstGeom prst="ellipse">
            <a:avLst/>
          </a:prstGeom>
          <a:solidFill>
            <a:srgbClr val="40B36C"/>
          </a:solidFill>
          <a:ln w="12700">
            <a:solidFill>
              <a:srgbClr val="40B3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373075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30368" y="36027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HighlightElement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63440" y="42062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把找到的元素框起來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63440" y="453542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使用情境：Selector 除錯必備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302752" y="3438144"/>
            <a:ext cx="3456432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67344" y="3639312"/>
            <a:ext cx="438912" cy="438912"/>
          </a:xfrm>
          <a:prstGeom prst="ellipse">
            <a:avLst/>
          </a:prstGeom>
          <a:solidFill>
            <a:srgbClr val="E05666"/>
          </a:solidFill>
          <a:ln w="12700">
            <a:solidFill>
              <a:srgbClr val="E056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67344" y="373075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052560" y="36027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Close Application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485632" y="42062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關閉指定程式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485632" y="453542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使用情境：避免殘留視窗影響下次執行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49808" y="5650992"/>
            <a:ext cx="10287000" cy="310896"/>
          </a:xfrm>
          <a:prstGeom prst="roundRect">
            <a:avLst>
              <a:gd name="adj" fmla="val 23529"/>
            </a:avLst>
          </a:prstGeom>
          <a:solidFill>
            <a:srgbClr val="FFF5E8"/>
          </a:solidFill>
          <a:ln w="12700">
            <a:solidFill>
              <a:srgbClr val="FFF5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5701284"/>
            <a:ext cx="10140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輸入文字時若元素有可直接設定的 Value，通常比 TypeText 更穩定；TypeText 更適合快捷鍵或特殊鍵。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85216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i="1" dirty="0">
                <a:solidFill>
                  <a:srgbClr val="8994A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Basic Activities：GetElement 是主要定位工具；ClickElement 可使用 VirtualClick；TypeText 適合傳送按鍵組合。</a:t>
            </a:r>
            <a:endParaRPr lang="en-US" sz="73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99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Web 自動化：NM（Native Messaging）與瀏覽器擴充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OpenRPA 要直接辨識 DOM / WebElement，通常需要 NM 外掛 + 對應瀏覽器 Extension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1590">
            <a:solidFill>
              <a:srgbClr val="15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2011680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OpenRPA Workflow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941832" y="2359152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OpenURL / GetElement / Click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3017520" y="2286000"/>
            <a:ext cx="713232" cy="0"/>
          </a:xfrm>
          <a:prstGeom prst="line">
            <a:avLst/>
          </a:prstGeom>
          <a:noFill/>
          <a:ln w="25400">
            <a:solidFill>
              <a:srgbClr val="A5B3C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840480" y="182880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1590">
            <a:solidFill>
              <a:srgbClr val="4169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13632" y="2011680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NM Plugin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3913632" y="2359152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Native Messaging Bridge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5989320" y="2286000"/>
            <a:ext cx="713232" cy="0"/>
          </a:xfrm>
          <a:prstGeom prst="line">
            <a:avLst/>
          </a:prstGeom>
          <a:noFill/>
          <a:ln w="25400">
            <a:solidFill>
              <a:srgbClr val="A5B3C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12280" y="182880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159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85432" y="2011680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Browser Extension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6885432" y="2359152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Chrome / Edge / Firefox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8961120" y="2286000"/>
            <a:ext cx="576072" cy="0"/>
          </a:xfrm>
          <a:prstGeom prst="line">
            <a:avLst/>
          </a:prstGeom>
          <a:noFill/>
          <a:ln w="25400">
            <a:solidFill>
              <a:srgbClr val="A5B3C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46920" y="18288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1590">
            <a:solidFill>
              <a:srgbClr val="2D9C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20072" y="2011680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Web DOM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9720072" y="235915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Input / Button / Table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804672" y="342900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0FBF9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3429000"/>
            <a:ext cx="73152" cy="1828800"/>
          </a:xfrm>
          <a:prstGeom prst="rect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5935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擴充可安裝：優先走 Web Element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014216"/>
            <a:ext cx="48463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Connection Bar 確認 NM Online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Record 點網頁元素，產生 NM.GetElement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用 Selector / Highlight 驗證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再加 Click / Value / TypeText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99632" y="342900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FF8EE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99632" y="3429000"/>
            <a:ext cx="73152" cy="1828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5935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擴充不能安裝：可用替代方案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4014216"/>
            <a:ext cx="48463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用 Windows UI Automation 操作瀏覽器視窗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用 TypeText + Tab / Enter 驅動鍵盤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必要時改 Image / OCR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缺點：DOM 不可見，穩定性與可維護性較差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1248" y="5596128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判斷方式：看右下 Connection Bar 的「NM」是否 Online。若 Browser Extension 沒有連上，Recorder 通常無法產生真正的 WebElement selector。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585216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i="1" dirty="0">
                <a:solidFill>
                  <a:srgbClr val="8994A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OpenIAP Selector 文件列出 NM 可支援 Chrome / Firefox / Edge；GitHub 原始碼也顯示 NM 對 chrome / ff / edge 分別處理分頁與 URL。</a:t>
            </a:r>
            <a:endParaRPr lang="en-US" sz="73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99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Variables 與 Arguments：讓流程不再寫死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變數負責「流程內資料」，Arguments 負責「Workflow 之間的輸入/輸出」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0FBF9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73152" cy="1828800"/>
          </a:xfrm>
          <a:prstGeom prst="rect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361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Variables 變數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1956816"/>
            <a:ext cx="48463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儲存中間值：字串、數字、Boolean、DataTable…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OpenRPA / Workflow Foundation 是強型別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在欄位輸入新變數名後可用 Ctrl+K 快速建立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Scope 由所在 Sequence 決定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99632" y="137160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3F6FF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9632" y="1371600"/>
            <a:ext cx="73152" cy="1828800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5361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Arguments 引數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1956816"/>
            <a:ext cx="48463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用在 Workflow 之間傳參數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常見方向：In、Out、In/Out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適合主流程呼叫子流程時傳入設定與回傳結果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讓流程更容易重用與測試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4672" y="36576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範例：把「網址、帳號、輸出檔案路徑」從固定值改成參數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160520"/>
            <a:ext cx="6629400" cy="320040"/>
          </a:xfrm>
          <a:prstGeom prst="roundRect">
            <a:avLst>
              <a:gd name="adj" fmla="val 11429"/>
            </a:avLst>
          </a:prstGeom>
          <a:solidFill>
            <a:srgbClr val="F7FAFC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422452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5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331720" y="42245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169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20440" y="4224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"https://intranet/..."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822960" y="4599432"/>
            <a:ext cx="6629400" cy="320040"/>
          </a:xfrm>
          <a:prstGeom prst="roundRect">
            <a:avLst>
              <a:gd name="adj" fmla="val 11429"/>
            </a:avLst>
          </a:prstGeom>
          <a:solidFill>
            <a:srgbClr val="EFF3F8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6634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5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retryCount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31720" y="46634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169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Int32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20440" y="46634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822960" y="5038344"/>
            <a:ext cx="6629400" cy="320040"/>
          </a:xfrm>
          <a:prstGeom prst="roundRect">
            <a:avLst>
              <a:gd name="adj" fmla="val 11429"/>
            </a:avLst>
          </a:prstGeom>
          <a:solidFill>
            <a:srgbClr val="F7FAFC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51023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5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isSuccess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331720" y="51023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169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Boolean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20440" y="51023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822960" y="5477256"/>
            <a:ext cx="6629400" cy="320040"/>
          </a:xfrm>
          <a:prstGeom prst="roundRect">
            <a:avLst>
              <a:gd name="adj" fmla="val 11429"/>
            </a:avLst>
          </a:prstGeom>
          <a:solidFill>
            <a:srgbClr val="EFF3F8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55412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5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outputPath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331720" y="554126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169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String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20440" y="554126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"D:\RPA\result.csv"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7818120" y="3886200"/>
            <a:ext cx="3337560" cy="1737360"/>
          </a:xfrm>
          <a:prstGeom prst="roundRect">
            <a:avLst>
              <a:gd name="adj" fmla="val 4211"/>
            </a:avLst>
          </a:prstGeom>
          <a:solidFill>
            <a:srgbClr val="FFF8EE"/>
          </a:solidFill>
          <a:ln w="12700">
            <a:solidFill>
              <a:srgbClr val="F5D8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92440" y="4133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命名建議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5537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布林：is / has 開頭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92440" y="4828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集合：xxxList / xxxTable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92440" y="51023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路徑：xxxPath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92440" y="53766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避免 a / b / temp1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5216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i="1" dirty="0">
                <a:solidFill>
                  <a:srgbClr val="8994A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官方 UI 文件：Variables / Arguments 為強型別；Ctrl+K 可建立變數；Arguments 支援 In、Out、In/Out。</a:t>
            </a:r>
            <a:endParaRPr lang="en-US" sz="73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99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流程控制：Sequence、判斷與迴圈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把「人會怎麼做」轉成程式化流程：順序、條件、重複、跳出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389888"/>
            <a:ext cx="34564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78992" cy="265176"/>
          </a:xfrm>
          <a:prstGeom prst="roundRect">
            <a:avLst>
              <a:gd name="adj" fmla="val 20690"/>
            </a:avLst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595628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Sequence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822960" y="19568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順序執行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適合把功能切段，並控制變數 Scope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480560" y="1389888"/>
            <a:ext cx="34564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5152" y="1554480"/>
            <a:ext cx="1078992" cy="265176"/>
          </a:xfrm>
          <a:prstGeom prst="roundRect">
            <a:avLst>
              <a:gd name="adj" fmla="val 20690"/>
            </a:avLst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1595628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If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4645152" y="19568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二選一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45152" y="233172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例如：找到按鈕才點；檔案存在才處理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302752" y="1389888"/>
            <a:ext cx="34564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67344" y="1554480"/>
            <a:ext cx="1078992" cy="265176"/>
          </a:xfrm>
          <a:prstGeom prst="roundRect">
            <a:avLst>
              <a:gd name="adj" fmla="val 20690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1595628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Switch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8467344" y="19568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多分支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67344" y="233172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依狀態碼 / 類別選不同處理路徑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58368" y="3355848"/>
            <a:ext cx="34564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520440"/>
            <a:ext cx="1078992" cy="265176"/>
          </a:xfrm>
          <a:prstGeom prst="roundRect">
            <a:avLst>
              <a:gd name="adj" fmla="val 2069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3561588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While / DoWhile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822960" y="39227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條件式重複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29768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等待畫面完成、輪詢狀態，但要設停止條件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480560" y="3355848"/>
            <a:ext cx="34564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45152" y="3520440"/>
            <a:ext cx="1078992" cy="265176"/>
          </a:xfrm>
          <a:prstGeom prst="roundRect">
            <a:avLst>
              <a:gd name="adj" fmla="val 20690"/>
            </a:avLst>
          </a:prstGeom>
          <a:solidFill>
            <a:srgbClr val="40B36C"/>
          </a:solidFill>
          <a:ln w="12700">
            <a:solidFill>
              <a:srgbClr val="40B3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3561588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ForEach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4645152" y="39227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逐筆處理集合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45152" y="429768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例如逐檔案、逐帳號、逐物件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8302752" y="3355848"/>
            <a:ext cx="34564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67344" y="3520440"/>
            <a:ext cx="1078992" cy="265176"/>
          </a:xfrm>
          <a:prstGeom prst="roundRect">
            <a:avLst>
              <a:gd name="adj" fmla="val 20690"/>
            </a:avLst>
          </a:prstGeom>
          <a:solidFill>
            <a:srgbClr val="E05666"/>
          </a:solidFill>
          <a:ln w="12700">
            <a:solidFill>
              <a:srgbClr val="E056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3561588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ForEachDataRow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8467344" y="39227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逐列 DataTable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67344" y="429768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Excel / DB / JSON 轉成表格後常用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758952" y="5513832"/>
            <a:ext cx="10287000" cy="310896"/>
          </a:xfrm>
          <a:prstGeom prst="roundRect">
            <a:avLst>
              <a:gd name="adj" fmla="val 23529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104" y="5564124"/>
            <a:ext cx="10140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169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迴圈內可使用 Break（直接結束）與 Continue（跳到下一筆），可減少多層 If 巢狀。</a:t>
            </a:r>
            <a:endParaRPr lang="en-US" sz="9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99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資料處理與常用整合元件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RPA 不只「點畫面」，資料讀寫與整合通常才是主流程的核心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94944" y="1463040"/>
            <a:ext cx="2267712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463040"/>
            <a:ext cx="2267712" cy="502920"/>
          </a:xfrm>
          <a:prstGeom prst="rect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62763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DataTable / 迴圈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2677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ForEachDataRow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859536" y="26060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逐列處理表格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859536" y="3026664"/>
            <a:ext cx="1874520" cy="0"/>
          </a:xfrm>
          <a:prstGeom prst="line">
            <a:avLst/>
          </a:prstGeom>
          <a:noFill/>
          <a:ln w="12700">
            <a:solidFill>
              <a:srgbClr val="E4E9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31821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Assign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859536" y="35204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組字串 / 轉型 / 計算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859536" y="3941064"/>
            <a:ext cx="1874520" cy="0"/>
          </a:xfrm>
          <a:prstGeom prst="line">
            <a:avLst/>
          </a:prstGeom>
          <a:noFill/>
          <a:ln w="12700">
            <a:solidFill>
              <a:srgbClr val="E4E9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40965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WriteLine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859536" y="44348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輸出中間資料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3547872" y="1463040"/>
            <a:ext cx="2267712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47872" y="1463040"/>
            <a:ext cx="2267712" cy="502920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9312" y="162763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檔案 / 文字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12464" y="22677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ReadJSON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3712464" y="26060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JSON → DataTable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3712464" y="3026664"/>
            <a:ext cx="1874520" cy="0"/>
          </a:xfrm>
          <a:prstGeom prst="line">
            <a:avLst/>
          </a:prstGeom>
          <a:noFill/>
          <a:ln w="12700">
            <a:solidFill>
              <a:srgbClr val="E4E9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12464" y="31821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ReadPDF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3712464" y="35204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讀取 PDF 文字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3712464" y="3941064"/>
            <a:ext cx="1874520" cy="0"/>
          </a:xfrm>
          <a:prstGeom prst="line">
            <a:avLst/>
          </a:prstGeom>
          <a:noFill/>
          <a:ln w="12700">
            <a:solidFill>
              <a:srgbClr val="E4E9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12464" y="40965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Clipboard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3712464" y="44348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Copy / Insert Clipboard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6400800" y="1463040"/>
            <a:ext cx="2267712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1463040"/>
            <a:ext cx="2267712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162763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Office / Database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65392" y="22677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Office Activities</a:t>
            </a:r>
            <a:endParaRPr lang="en-US" sz="1040" dirty="0"/>
          </a:p>
        </p:txBody>
      </p:sp>
      <p:sp>
        <p:nvSpPr>
          <p:cNvPr id="30" name="Text 28"/>
          <p:cNvSpPr/>
          <p:nvPr/>
        </p:nvSpPr>
        <p:spPr>
          <a:xfrm>
            <a:off x="6565392" y="26060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Excel / Office 操作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6565392" y="3026664"/>
            <a:ext cx="1874520" cy="0"/>
          </a:xfrm>
          <a:prstGeom prst="line">
            <a:avLst/>
          </a:prstGeom>
          <a:noFill/>
          <a:ln w="12700">
            <a:solidFill>
              <a:srgbClr val="E4E9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65392" y="31821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Database Scope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6565392" y="35204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 DB 工作範圍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6565392" y="3941064"/>
            <a:ext cx="1874520" cy="0"/>
          </a:xfrm>
          <a:prstGeom prst="line">
            <a:avLst/>
          </a:prstGeom>
          <a:noFill/>
          <a:ln w="12700">
            <a:solidFill>
              <a:srgbClr val="E4E9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65392" y="40965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Execute Non Query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6565392" y="44348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執行 SQL 寫入 / 更新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9253728" y="1463040"/>
            <a:ext cx="2267712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53728" y="1463040"/>
            <a:ext cx="2267712" cy="50292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45168" y="162763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Image / OCR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418320" y="22677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GetImage</a:t>
            </a:r>
            <a:endParaRPr lang="en-US" sz="1040" dirty="0"/>
          </a:p>
        </p:txBody>
      </p:sp>
      <p:sp>
        <p:nvSpPr>
          <p:cNvPr id="41" name="Text 39"/>
          <p:cNvSpPr/>
          <p:nvPr/>
        </p:nvSpPr>
        <p:spPr>
          <a:xfrm>
            <a:off x="9418320" y="26060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取得相對區域影像</a:t>
            </a:r>
            <a:endParaRPr lang="en-US" sz="840" dirty="0"/>
          </a:p>
        </p:txBody>
      </p:sp>
      <p:sp>
        <p:nvSpPr>
          <p:cNvPr id="42" name="Shape 40"/>
          <p:cNvSpPr/>
          <p:nvPr/>
        </p:nvSpPr>
        <p:spPr>
          <a:xfrm>
            <a:off x="9418320" y="3026664"/>
            <a:ext cx="1874520" cy="0"/>
          </a:xfrm>
          <a:prstGeom prst="line">
            <a:avLst/>
          </a:prstGeom>
          <a:noFill/>
          <a:ln w="12700">
            <a:solidFill>
              <a:srgbClr val="E4E9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18320" y="31821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GetText</a:t>
            </a:r>
            <a:endParaRPr lang="en-US" sz="1040" dirty="0"/>
          </a:p>
        </p:txBody>
      </p:sp>
      <p:sp>
        <p:nvSpPr>
          <p:cNvPr id="44" name="Text 42"/>
          <p:cNvSpPr/>
          <p:nvPr/>
        </p:nvSpPr>
        <p:spPr>
          <a:xfrm>
            <a:off x="9418320" y="35204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OCR 讀取文字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9418320" y="3941064"/>
            <a:ext cx="1874520" cy="0"/>
          </a:xfrm>
          <a:prstGeom prst="line">
            <a:avLst/>
          </a:prstGeom>
          <a:noFill/>
          <a:ln w="12700">
            <a:solidFill>
              <a:srgbClr val="E4E9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18320" y="40965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用途</a:t>
            </a:r>
            <a:endParaRPr lang="en-US" sz="1040" dirty="0"/>
          </a:p>
        </p:txBody>
      </p:sp>
      <p:sp>
        <p:nvSpPr>
          <p:cNvPr id="47" name="Text 45"/>
          <p:cNvSpPr/>
          <p:nvPr/>
        </p:nvSpPr>
        <p:spPr>
          <a:xfrm>
            <a:off x="9418320" y="44348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RDP / Citrix / 無法取元素時</a:t>
            </a:r>
            <a:endParaRPr lang="en-US" sz="840" dirty="0"/>
          </a:p>
        </p:txBody>
      </p:sp>
      <p:sp>
        <p:nvSpPr>
          <p:cNvPr id="48" name="Text 46"/>
          <p:cNvSpPr/>
          <p:nvPr/>
        </p:nvSpPr>
        <p:spPr>
          <a:xfrm>
            <a:off x="585216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i="1" dirty="0">
                <a:solidFill>
                  <a:srgbClr val="8994A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Basic Activities 官方文件包含 ForEachDataRow、ReadJSON、ReadPDF、GetImage、GetText；Database / Office 為 OpenRPA 外掛活動分類。</a:t>
            </a:r>
            <a:endParaRPr lang="en-US" sz="73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99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大型流程不要一條到底：用 InvokeOpenRPA 拆子流程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把可重用功能拆成 Workflow，透過 Arguments 傳入 / 回傳資料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49808" y="1463040"/>
            <a:ext cx="27432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BE3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556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Main.xaml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78992" y="2331720"/>
            <a:ext cx="2057400" cy="347472"/>
          </a:xfrm>
          <a:prstGeom prst="roundRect">
            <a:avLst>
              <a:gd name="adj" fmla="val 13158"/>
            </a:avLst>
          </a:prstGeom>
          <a:solidFill>
            <a:srgbClr val="F2F6F9"/>
          </a:solidFill>
          <a:ln w="12700">
            <a:solidFill>
              <a:srgbClr val="C8D2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42316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初始化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1078992" y="2862072"/>
            <a:ext cx="2057400" cy="347472"/>
          </a:xfrm>
          <a:prstGeom prst="roundRect">
            <a:avLst>
              <a:gd name="adj" fmla="val 13158"/>
            </a:avLst>
          </a:prstGeom>
          <a:solidFill>
            <a:srgbClr val="EEF4FF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95351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Invoke：Login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1078992" y="3392424"/>
            <a:ext cx="2057400" cy="347472"/>
          </a:xfrm>
          <a:prstGeom prst="roundRect">
            <a:avLst>
              <a:gd name="adj" fmla="val 13158"/>
            </a:avLst>
          </a:prstGeom>
          <a:solidFill>
            <a:srgbClr val="EEF4FF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48386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Invoke：Process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1078992" y="3922776"/>
            <a:ext cx="2057400" cy="347472"/>
          </a:xfrm>
          <a:prstGeom prst="roundRect">
            <a:avLst>
              <a:gd name="adj" fmla="val 13158"/>
            </a:avLst>
          </a:prstGeom>
          <a:solidFill>
            <a:srgbClr val="EEF4FF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401421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Invoke：Export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1078992" y="4453128"/>
            <a:ext cx="2057400" cy="347472"/>
          </a:xfrm>
          <a:prstGeom prst="roundRect">
            <a:avLst>
              <a:gd name="adj" fmla="val 13158"/>
            </a:avLst>
          </a:prstGeom>
          <a:solidFill>
            <a:srgbClr val="F2F6F9"/>
          </a:solidFill>
          <a:ln w="12700">
            <a:solidFill>
              <a:srgbClr val="C8D2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54456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清理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3566160" y="3127248"/>
            <a:ext cx="1051560" cy="0"/>
          </a:xfrm>
          <a:prstGeom prst="line">
            <a:avLst/>
          </a:prstGeom>
          <a:noFill/>
          <a:ln w="25400">
            <a:solidFill>
              <a:srgbClr val="4169E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566160" y="3675888"/>
            <a:ext cx="1051560" cy="0"/>
          </a:xfrm>
          <a:prstGeom prst="line">
            <a:avLst/>
          </a:prstGeom>
          <a:noFill/>
          <a:ln w="25400">
            <a:solidFill>
              <a:srgbClr val="4169E1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566160" y="4206240"/>
            <a:ext cx="1051560" cy="594360"/>
          </a:xfrm>
          <a:prstGeom prst="line">
            <a:avLst/>
          </a:prstGeom>
          <a:noFill/>
          <a:ln w="25400">
            <a:solidFill>
              <a:srgbClr val="4169E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709160" y="16002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AFCFE"/>
          </a:solidFill>
          <a:ln w="17780">
            <a:solidFill>
              <a:srgbClr val="15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7647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Login.xaml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13055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In: user, password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Out: isLogin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AFCFE"/>
          </a:solidFill>
          <a:ln w="1778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0906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Process.xaml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4564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In: dataTable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Out: resultTable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709160" y="425196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AFCFE"/>
          </a:solidFill>
          <a:ln w="17780">
            <a:solidFill>
              <a:srgbClr val="2D9C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41655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Export.xaml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478231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In: resultTable, path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406640" y="1572768"/>
            <a:ext cx="3794760" cy="3794760"/>
          </a:xfrm>
          <a:prstGeom prst="roundRect">
            <a:avLst>
              <a:gd name="adj" fmla="val 1928"/>
            </a:avLst>
          </a:prstGeom>
          <a:solidFill>
            <a:srgbClr val="F0FBF9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06640" y="1572768"/>
            <a:ext cx="73152" cy="3794760"/>
          </a:xfrm>
          <a:prstGeom prst="rect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07808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這樣拆的好處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607808" y="2157984"/>
            <a:ext cx="3474720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每個 Workflow 功能單一、容易除錯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Login / Export 可重複被不同流程使用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子流程可單獨測試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Arguments 讓輸入輸出更清楚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未來改版只需改一個地方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85216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i="1" dirty="0">
                <a:solidFill>
                  <a:srgbClr val="8994A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InvokeOpenRPA 官方說明：可呼叫其他 OpenRPA Workflow，目標 Workflow 的 Arguments 可映射到本地變數。</a:t>
            </a:r>
            <a:endParaRPr lang="en-US" sz="73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99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穩定性設計：不要只追求「跑得動」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RPA 最常失敗在畫面等待、元素不存在、焦點錯誤與例外沒有被處理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82296" cy="1097280"/>
          </a:xfrm>
          <a:prstGeom prst="rect">
            <a:avLst/>
          </a:prstGeom>
          <a:solidFill>
            <a:srgbClr val="E05666"/>
          </a:solidFill>
          <a:ln w="12700">
            <a:solidFill>
              <a:srgbClr val="E056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36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Try / Catch</a:t>
            </a:r>
            <a:endParaRPr lang="en-US" sz="1230" dirty="0"/>
          </a:p>
        </p:txBody>
      </p:sp>
      <p:sp>
        <p:nvSpPr>
          <p:cNvPr id="7" name="Text 5"/>
          <p:cNvSpPr/>
          <p:nvPr/>
        </p:nvSpPr>
        <p:spPr>
          <a:xfrm>
            <a:off x="2423160" y="152704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預期可能失敗的區段用 Try 包住；Catch 記錄錯誤或做清理。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371600"/>
            <a:ext cx="82296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536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Timeout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7955280" y="152704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GetElement 不要無限等；依頁面速度設合理 Timeout。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85800" y="278892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788920"/>
            <a:ext cx="82296" cy="109728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9535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MinResults = 0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2423160" y="294436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只是「檢查元素是否存在」時，不要因找不到直接 Throw。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217920" y="278892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788920"/>
            <a:ext cx="82296" cy="1097280"/>
          </a:xfrm>
          <a:prstGeom prst="rect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9535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Delay / 等待條件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7955280" y="294436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UI 切換需要時間；固定 Delay 要克制，能用元素條件更好。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85800" y="420624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206240"/>
            <a:ext cx="82296" cy="1097280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3708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Focus / 狀態確認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2423160" y="436168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TypeText 前先確認視窗與輸入框焦點。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217920" y="420624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4206240"/>
            <a:ext cx="82296" cy="1097280"/>
          </a:xfrm>
          <a:prstGeom prst="rect">
            <a:avLst/>
          </a:prstGeom>
          <a:solidFill>
            <a:srgbClr val="40B36C"/>
          </a:solidFill>
          <a:ln w="12700">
            <a:solidFill>
              <a:srgbClr val="40B3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43708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Finally / Cleanup</a:t>
            </a:r>
            <a:endParaRPr lang="en-US" sz="1230" dirty="0"/>
          </a:p>
        </p:txBody>
      </p:sp>
      <p:sp>
        <p:nvSpPr>
          <p:cNvPr id="27" name="Text 25"/>
          <p:cNvSpPr/>
          <p:nvPr/>
        </p:nvSpPr>
        <p:spPr>
          <a:xfrm>
            <a:off x="7955280" y="436168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不論成功失敗，都要關閉殘留視窗、釋放資源。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86384" y="5687568"/>
            <a:ext cx="10378440" cy="310896"/>
          </a:xfrm>
          <a:prstGeom prst="roundRect">
            <a:avLst>
              <a:gd name="adj" fmla="val 23529"/>
            </a:avLst>
          </a:prstGeom>
          <a:solidFill>
            <a:srgbClr val="F0FBF9"/>
          </a:solidFill>
          <a:ln w="12700">
            <a:solidFill>
              <a:srgbClr val="F0FB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" y="5737860"/>
            <a:ext cx="10232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B8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建議：把「成功條件」明確寫出來，例如登入後一定要看到使用者名稱，而不是只假設按下 Login 就成功。</a:t>
            </a:r>
            <a:endParaRPr lang="en-US" sz="9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99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除錯技巧：F9、F10、F5 + WriteLine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OpenRPA 支援 Breakpoint 與單步執行，搭配 Output 能快速定位問題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719072"/>
            <a:ext cx="777240" cy="502920"/>
          </a:xfrm>
          <a:prstGeom prst="roundRect">
            <a:avLst>
              <a:gd name="adj" fmla="val 9091"/>
            </a:avLst>
          </a:prstGeom>
          <a:solidFill>
            <a:srgbClr val="E05666"/>
          </a:solidFill>
          <a:ln w="12700">
            <a:solidFill>
              <a:srgbClr val="E056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470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0" y="17556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Toggle Breakpoint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914400" y="23957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在選中的 Activity 設定 / 取消中斷點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3566160" y="1508760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1719072"/>
            <a:ext cx="777240" cy="502920"/>
          </a:xfrm>
          <a:prstGeom prst="roundRect">
            <a:avLst>
              <a:gd name="adj" fmla="val 9091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18470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17556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Over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3749040" y="23957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逐步執行下一個 Activity，觀察變數變化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6400800" y="1508760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719072"/>
            <a:ext cx="777240" cy="502920"/>
          </a:xfrm>
          <a:prstGeom prst="roundRect">
            <a:avLst>
              <a:gd name="adj" fmla="val 9091"/>
            </a:avLst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8470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0" y="17556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Continue / Run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6583680" y="23957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繼續執行；也可從頭啟動 Workflow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9235440" y="1508760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FE6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8320" y="1719072"/>
            <a:ext cx="777240" cy="502920"/>
          </a:xfrm>
          <a:prstGeom prst="roundRect">
            <a:avLst>
              <a:gd name="adj" fmla="val 9091"/>
            </a:avLst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0" y="18470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332720" y="17556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Log variable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9418320" y="23957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把關鍵變數、執行階段寫入 Output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841248" y="35021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推薦除錯流程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41248" y="4069080"/>
            <a:ext cx="438912" cy="43891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1559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" y="46177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先看 Output / Exception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1298448" y="4279392"/>
            <a:ext cx="1417320" cy="0"/>
          </a:xfrm>
          <a:prstGeom prst="line">
            <a:avLst/>
          </a:prstGeom>
          <a:noFill/>
          <a:ln w="25400">
            <a:solidFill>
              <a:srgbClr val="A7B5C6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017520" y="4069080"/>
            <a:ext cx="438912" cy="43891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0" y="41559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0" y="46177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 Highlight 驗證 Selector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3474720" y="4279392"/>
            <a:ext cx="1417320" cy="0"/>
          </a:xfrm>
          <a:prstGeom prst="line">
            <a:avLst/>
          </a:prstGeom>
          <a:noFill/>
          <a:ln w="25400">
            <a:solidFill>
              <a:srgbClr val="A7B5C6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193792" y="4069080"/>
            <a:ext cx="438912" cy="43891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93792" y="41559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19472" y="46177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F9 停在可疑 Activity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5650992" y="4279392"/>
            <a:ext cx="1417320" cy="0"/>
          </a:xfrm>
          <a:prstGeom prst="line">
            <a:avLst/>
          </a:prstGeom>
          <a:noFill/>
          <a:ln w="25400">
            <a:solidFill>
              <a:srgbClr val="A7B5C6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370064" y="4069080"/>
            <a:ext cx="438912" cy="43891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70064" y="41559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95744" y="46177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F10 看變數與狀態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7827264" y="4279392"/>
            <a:ext cx="1417320" cy="0"/>
          </a:xfrm>
          <a:prstGeom prst="line">
            <a:avLst/>
          </a:prstGeom>
          <a:noFill/>
          <a:ln w="25400">
            <a:solidFill>
              <a:srgbClr val="A7B5C6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546336" y="4069080"/>
            <a:ext cx="438912" cy="43891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46336" y="415594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272016" y="46177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縮小問題範圍再修</a:t>
            </a:r>
            <a:endParaRPr lang="en-US" sz="860" dirty="0"/>
          </a:p>
        </p:txBody>
      </p:sp>
      <p:sp>
        <p:nvSpPr>
          <p:cNvPr id="44" name="Text 42"/>
          <p:cNvSpPr/>
          <p:nvPr/>
        </p:nvSpPr>
        <p:spPr>
          <a:xfrm>
            <a:off x="585216" y="62453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i="1" dirty="0">
                <a:solidFill>
                  <a:srgbClr val="8994A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官方 Debugging 文件：F9 設 Breakpoint；F10 Step Over；F5 繼續執行；Breakpoint 時可檢查變數與參數。</a:t>
            </a:r>
            <a:endParaRPr lang="en-US" sz="73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99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實作練習：記事本自動化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不依賴 Browser Extension，也能完整練到 Open Application、GetElement、TypeText、Save 與 Try/Catch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F0FBF9"/>
          </a:solidFill>
          <a:ln w="12700">
            <a:solidFill>
              <a:srgbClr val="BFE9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719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B8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87552" y="22128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開啟 Notepad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987552" y="27614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輸入「OpenRPA Test」與目前時間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987552" y="331012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另存成 D:\RPA\openrpa_test.txt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987552" y="38587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若存檔對話框未出現，要記錄錯誤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987552" y="44074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流程結束關閉 Notepad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987552" y="537667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加分題：把文字與輸出路徑改成 Arguments。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6537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719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參考流程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47488" y="2240280"/>
            <a:ext cx="2697480" cy="50292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5240">
            <a:solidFill>
              <a:srgbClr val="15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9784" y="232257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Open Application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6391656" y="232257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notepad.exe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5047488" y="2953512"/>
            <a:ext cx="2697480" cy="50292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5240">
            <a:solidFill>
              <a:srgbClr val="4169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9784" y="303580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GetElement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6391656" y="30358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定位文字輸入區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5047488" y="3666744"/>
            <a:ext cx="2697480" cy="50292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5240">
            <a:solidFill>
              <a:srgbClr val="2D9C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9784" y="374904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TypeText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6391656" y="37490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"OpenRPA Test" + Now.ToString()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5047488" y="4379976"/>
            <a:ext cx="2697480" cy="50292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9784" y="44622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TypeText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6391656" y="44622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Ctrl+Shift+S</a:t>
            </a:r>
            <a:endParaRPr lang="en-US" sz="770" dirty="0"/>
          </a:p>
        </p:txBody>
      </p:sp>
      <p:sp>
        <p:nvSpPr>
          <p:cNvPr id="26" name="Shape 24"/>
          <p:cNvSpPr/>
          <p:nvPr/>
        </p:nvSpPr>
        <p:spPr>
          <a:xfrm>
            <a:off x="8065008" y="2240280"/>
            <a:ext cx="2697480" cy="50292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5240">
            <a:solidFill>
              <a:srgbClr val="4169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47304" y="232257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GetElement + TypeText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9409176" y="232257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輸入檔名 / 路徑</a:t>
            </a:r>
            <a:endParaRPr lang="en-US" sz="770" dirty="0"/>
          </a:p>
        </p:txBody>
      </p:sp>
      <p:sp>
        <p:nvSpPr>
          <p:cNvPr id="29" name="Shape 27"/>
          <p:cNvSpPr/>
          <p:nvPr/>
        </p:nvSpPr>
        <p:spPr>
          <a:xfrm>
            <a:off x="8065008" y="2953512"/>
            <a:ext cx="2697480" cy="50292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47304" y="303580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ClickElement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9409176" y="30358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Save</a:t>
            </a:r>
            <a:endParaRPr lang="en-US" sz="770" dirty="0"/>
          </a:p>
        </p:txBody>
      </p:sp>
      <p:sp>
        <p:nvSpPr>
          <p:cNvPr id="32" name="Shape 30"/>
          <p:cNvSpPr/>
          <p:nvPr/>
        </p:nvSpPr>
        <p:spPr>
          <a:xfrm>
            <a:off x="8065008" y="3666744"/>
            <a:ext cx="2697480" cy="50292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5240">
            <a:solidFill>
              <a:srgbClr val="E056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47304" y="374904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Close Application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9409176" y="37490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Notepad</a:t>
            </a:r>
            <a:endParaRPr lang="en-US" sz="770" dirty="0"/>
          </a:p>
        </p:txBody>
      </p:sp>
      <p:sp>
        <p:nvSpPr>
          <p:cNvPr id="35" name="Shape 33"/>
          <p:cNvSpPr/>
          <p:nvPr/>
        </p:nvSpPr>
        <p:spPr>
          <a:xfrm>
            <a:off x="7882128" y="2240280"/>
            <a:ext cx="0" cy="2651760"/>
          </a:xfrm>
          <a:prstGeom prst="line">
            <a:avLst/>
          </a:prstGeom>
          <a:noFill/>
          <a:ln w="12700">
            <a:solidFill>
              <a:srgbClr val="D0D9E4"/>
            </a:solidFill>
            <a:prstDash val="solid"/>
          </a:ln>
        </p:spPr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99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常見問題與排查順序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遇到問題先分成：Recorder / NM、Selector、Focus、權限與環境五類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3090672" cy="438912"/>
          </a:xfrm>
          <a:prstGeom prst="rect">
            <a:avLst/>
          </a:prstGeom>
          <a:solidFill>
            <a:srgbClr val="1732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53896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問題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822192" y="1325880"/>
            <a:ext cx="3547872" cy="438912"/>
          </a:xfrm>
          <a:prstGeom prst="rect">
            <a:avLst/>
          </a:prstGeom>
          <a:solidFill>
            <a:srgbClr val="274B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13632" y="1453896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可能原因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52360" y="1325880"/>
            <a:ext cx="4069080" cy="438912"/>
          </a:xfrm>
          <a:prstGeom prst="rect">
            <a:avLst/>
          </a:prstGeom>
          <a:solidFill>
            <a:srgbClr val="2F61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3800" y="1453896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建議處理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1764792"/>
            <a:ext cx="309067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FE5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1865376"/>
            <a:ext cx="287121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看不到 Recorder / 錄不到 Web 元素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3822192" y="1764792"/>
            <a:ext cx="354787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FE5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1865376"/>
            <a:ext cx="332841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確認目前選中的是 Sequence；確認 OpenRPA 版本與插件；Web 另外看 NM / Extension。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7452360" y="1764792"/>
            <a:ext cx="406908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FE5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62088" y="1865376"/>
            <a:ext cx="3849624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先用 Windows UI automation 驗證 Recorder 本身是否可用。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658368" y="2478024"/>
            <a:ext cx="3090672" cy="713232"/>
          </a:xfrm>
          <a:prstGeom prst="rect">
            <a:avLst/>
          </a:prstGeom>
          <a:solidFill>
            <a:srgbClr val="F6F8FB"/>
          </a:solidFill>
          <a:ln w="10160">
            <a:solidFill>
              <a:srgbClr val="DFE5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2578608"/>
            <a:ext cx="287121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NM 顯示 Offline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3822192" y="2478024"/>
            <a:ext cx="3547872" cy="713232"/>
          </a:xfrm>
          <a:prstGeom prst="rect">
            <a:avLst/>
          </a:prstGeom>
          <a:solidFill>
            <a:srgbClr val="F6F8FB"/>
          </a:solidFill>
          <a:ln w="10160">
            <a:solidFill>
              <a:srgbClr val="DFE5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2578608"/>
            <a:ext cx="332841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瀏覽器 Extension 未安裝、未啟用或 Native Messaging 未連線。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7452360" y="2478024"/>
            <a:ext cx="4069080" cy="713232"/>
          </a:xfrm>
          <a:prstGeom prst="rect">
            <a:avLst/>
          </a:prstGeom>
          <a:solidFill>
            <a:srgbClr val="F6F8FB"/>
          </a:solidFill>
          <a:ln w="10160">
            <a:solidFill>
              <a:srgbClr val="DFE5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62088" y="2578608"/>
            <a:ext cx="3849624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企業政策不能裝擴充時，改用 Windows UI / Keyboard / Image。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658368" y="3191256"/>
            <a:ext cx="309067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FE5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3291840"/>
            <a:ext cx="287121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GetElement 找不到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3822192" y="3191256"/>
            <a:ext cx="354787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FE5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3291840"/>
            <a:ext cx="332841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Selector 太嚴格、畫面尚未載入、視窗狀態改變。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7452360" y="3191256"/>
            <a:ext cx="406908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FE5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2088" y="3291840"/>
            <a:ext cx="3849624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Open Selector → Highlight → 移除易變屬性 → 調 Timeout。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658368" y="3904488"/>
            <a:ext cx="3090672" cy="713232"/>
          </a:xfrm>
          <a:prstGeom prst="rect">
            <a:avLst/>
          </a:prstGeom>
          <a:solidFill>
            <a:srgbClr val="F6F8FB"/>
          </a:solidFill>
          <a:ln w="10160">
            <a:solidFill>
              <a:srgbClr val="DFE5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005072"/>
            <a:ext cx="287121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TypeText 輸入到錯地方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3822192" y="3904488"/>
            <a:ext cx="3547872" cy="713232"/>
          </a:xfrm>
          <a:prstGeom prst="rect">
            <a:avLst/>
          </a:prstGeom>
          <a:solidFill>
            <a:srgbClr val="F6F8FB"/>
          </a:solidFill>
          <a:ln w="10160">
            <a:solidFill>
              <a:srgbClr val="DFE5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0" y="4005072"/>
            <a:ext cx="332841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焦點不在目標輸入框。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7452360" y="3904488"/>
            <a:ext cx="4069080" cy="713232"/>
          </a:xfrm>
          <a:prstGeom prst="rect">
            <a:avLst/>
          </a:prstGeom>
          <a:solidFill>
            <a:srgbClr val="F6F8FB"/>
          </a:solidFill>
          <a:ln w="10160">
            <a:solidFill>
              <a:srgbClr val="DFE5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62088" y="4005072"/>
            <a:ext cx="3849624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 Click / Focus，再送文字；快捷鍵前確認 active window。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658368" y="4617720"/>
            <a:ext cx="309067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FE5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" y="4718304"/>
            <a:ext cx="287121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流程偶發成功偶發失敗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3822192" y="4617720"/>
            <a:ext cx="354787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FE5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0" y="4718304"/>
            <a:ext cx="332841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固定 Delay 不夠或 UI 有 race condition。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7452360" y="4617720"/>
            <a:ext cx="406908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FE5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62088" y="4718304"/>
            <a:ext cx="3849624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改用「等元素出現」或狀態判斷，並加 Timeout / TryCatch。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658368" y="5330952"/>
            <a:ext cx="3090672" cy="713232"/>
          </a:xfrm>
          <a:prstGeom prst="rect">
            <a:avLst/>
          </a:prstGeom>
          <a:solidFill>
            <a:srgbClr val="F6F8FB"/>
          </a:solidFill>
          <a:ln w="10160">
            <a:solidFill>
              <a:srgbClr val="DFE5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" y="5431536"/>
            <a:ext cx="287121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3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管理員權限視窗操作不到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3822192" y="5330952"/>
            <a:ext cx="3547872" cy="713232"/>
          </a:xfrm>
          <a:prstGeom prst="rect">
            <a:avLst/>
          </a:prstGeom>
          <a:solidFill>
            <a:srgbClr val="F6F8FB"/>
          </a:solidFill>
          <a:ln w="10160">
            <a:solidFill>
              <a:srgbClr val="DFE5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31920" y="5431536"/>
            <a:ext cx="3328416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OpenRPA 與目標程式權限層級不同。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7452360" y="5330952"/>
            <a:ext cx="4069080" cy="713232"/>
          </a:xfrm>
          <a:prstGeom prst="rect">
            <a:avLst/>
          </a:prstGeom>
          <a:solidFill>
            <a:srgbClr val="F6F8FB"/>
          </a:solidFill>
          <a:ln w="10160">
            <a:solidFill>
              <a:srgbClr val="DFE5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62088" y="5431536"/>
            <a:ext cx="3849624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24324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讓兩者使用相同權限層級；避免跨 UAC 安全桌面。</a:t>
            </a:r>
            <a:endParaRPr lang="en-US" sz="83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99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OpenRPA 實務最佳做法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讓流程從「Demo 可以跑」升級成「長期可維護」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13232" y="1417320"/>
            <a:ext cx="5166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56362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B8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54480" y="15453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Selector 穩定優先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938528"/>
            <a:ext cx="3886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少依賴座標；用 Highlight 驗證；避免動態 Index / ID。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6291072" y="1417320"/>
            <a:ext cx="5166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5664" y="156362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B8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0" y="15453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元件名稱要可讀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0" y="1938528"/>
            <a:ext cx="3886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GetElement 1 改成 Get_Login_Button，錯誤訊息才看得懂。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713232" y="2862072"/>
            <a:ext cx="5166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00837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B8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54480" y="2990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流程拆小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54480" y="3383280"/>
            <a:ext cx="3886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Main 只做 orchestrate；Login / Process / Export 各自成 Workflow。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291072" y="2862072"/>
            <a:ext cx="5166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300837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B8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0" y="2990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參數化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3383280"/>
            <a:ext cx="3886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URL、帳號、路徑、Timeout 不要散落在 Activity 裡。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13232" y="4306824"/>
            <a:ext cx="5166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44531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B8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54480" y="4434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Log 關鍵資料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54480" y="4828032"/>
            <a:ext cx="3886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至少記錄開始、輸入筆數、每筆 ID、成功 / 失敗與 Exception。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291072" y="4306824"/>
            <a:ext cx="5166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44531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B8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32320" y="4434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明確成功條件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4828032"/>
            <a:ext cx="3886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點擊不是成功；看到下一頁、產生檔案、DB 有資料才算成功。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1078992" y="5833872"/>
            <a:ext cx="9966960" cy="310896"/>
          </a:xfrm>
          <a:prstGeom prst="roundRect">
            <a:avLst>
              <a:gd name="adj" fmla="val 23529"/>
            </a:avLst>
          </a:prstGeom>
          <a:solidFill>
            <a:srgbClr val="F0FBF9"/>
          </a:solidFill>
          <a:ln w="12700">
            <a:solidFill>
              <a:srgbClr val="F0FB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52144" y="5884164"/>
            <a:ext cx="9820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B8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Rule of thumb：能用元素屬性就不要用座標；能等條件就不要只用 Delay；能拆子流程就不要塞成一條。</a:t>
            </a:r>
            <a:endParaRPr lang="en-US" sz="9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99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重點回顧與參考資料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877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從「定位元素」開始，把流程做成可測試、可重用、可除錯的 Workflow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438912" cy="43891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418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17320" y="147218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GetElement / Selector 是 UI 自動化核心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822960" y="2130552"/>
            <a:ext cx="438912" cy="43891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174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2185416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Recorder 快速建立流程，Highlight 用來驗證 Selector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822960" y="2843784"/>
            <a:ext cx="438912" cy="43891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306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2898648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NM + Browser Extension 才能穩定操作 Web DOM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22960" y="3557016"/>
            <a:ext cx="438912" cy="43891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438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17320" y="3611880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Variables + Arguments 讓流程資料可傳遞、可參數化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822960" y="4270248"/>
            <a:ext cx="438912" cy="43891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35711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17320" y="432511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Try/Catch + Timeout + Breakpoint 是穩定性與除錯基本功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720840" y="1353312"/>
            <a:ext cx="45720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CE4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16642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官方參考資料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59168" y="224028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5B8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OpenRPA GitHub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430768" y="22402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68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github.com/open-rpa/openrpa</a:t>
            </a:r>
            <a:endParaRPr lang="en-US" sz="770" dirty="0"/>
          </a:p>
        </p:txBody>
      </p:sp>
      <p:sp>
        <p:nvSpPr>
          <p:cNvPr id="23" name="Text 21"/>
          <p:cNvSpPr/>
          <p:nvPr/>
        </p:nvSpPr>
        <p:spPr>
          <a:xfrm>
            <a:off x="7059168" y="275234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5B8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OpenRPA UI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430768" y="275234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68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docs.openiap.io/docs/openrpa/OpenRPA-UI.html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7059168" y="326440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5B8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Basic Activities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430768" y="32644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68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docs.openiap.io/docs/activities/Basic-Activities.html</a:t>
            </a:r>
            <a:endParaRPr lang="en-US" sz="770" dirty="0"/>
          </a:p>
        </p:txBody>
      </p:sp>
      <p:sp>
        <p:nvSpPr>
          <p:cNvPr id="27" name="Text 25"/>
          <p:cNvSpPr/>
          <p:nvPr/>
        </p:nvSpPr>
        <p:spPr>
          <a:xfrm>
            <a:off x="7059168" y="37764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5B8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Recording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430768" y="377647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68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docs.openiap.io/docs/openrpa/Recording.html</a:t>
            </a:r>
            <a:endParaRPr lang="en-US" sz="770" dirty="0"/>
          </a:p>
        </p:txBody>
      </p:sp>
      <p:sp>
        <p:nvSpPr>
          <p:cNvPr id="29" name="Text 27"/>
          <p:cNvSpPr/>
          <p:nvPr/>
        </p:nvSpPr>
        <p:spPr>
          <a:xfrm>
            <a:off x="7059168" y="428853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5B8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Selector Window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430768" y="428853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68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docs.openiap.io/docs/openrpa/Selector-Window.html</a:t>
            </a:r>
            <a:endParaRPr lang="en-US" sz="770" dirty="0"/>
          </a:p>
        </p:txBody>
      </p:sp>
      <p:sp>
        <p:nvSpPr>
          <p:cNvPr id="31" name="Text 29"/>
          <p:cNvSpPr/>
          <p:nvPr/>
        </p:nvSpPr>
        <p:spPr>
          <a:xfrm>
            <a:off x="7059168" y="48006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5B8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Debugging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430768" y="48006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6877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docs.openiap.io/docs/openrpa/Debugging.html</a:t>
            </a:r>
            <a:endParaRPr lang="en-US" sz="770" dirty="0"/>
          </a:p>
        </p:txBody>
      </p:sp>
      <p:sp>
        <p:nvSpPr>
          <p:cNvPr id="33" name="Text 31"/>
          <p:cNvSpPr/>
          <p:nvPr/>
        </p:nvSpPr>
        <p:spPr>
          <a:xfrm>
            <a:off x="841248" y="544982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5B8A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 &amp; A</a:t>
            </a:r>
            <a:endParaRPr lang="en-US" sz="26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99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1853</Words>
  <Application>Microsoft Office PowerPoint</Application>
  <PresentationFormat>寬螢幕</PresentationFormat>
  <Paragraphs>461</Paragraphs>
  <Slides>18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2" baseType="lpstr">
      <vt:lpstr>Noto Sans CJK TC</vt:lpstr>
      <vt:lpstr>Arial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OpenRPA 操作教學｜基本操作與常用元件</dc:title>
  <dc:subject>OpenRPA 操作教學</dc:subject>
  <dc:creator>OpenAI</dc:creator>
  <cp:lastModifiedBy>韻文 曾</cp:lastModifiedBy>
  <cp:revision>1</cp:revision>
  <dcterms:created xsi:type="dcterms:W3CDTF">2026-08-24T11:40:17Z</dcterms:created>
  <dcterms:modified xsi:type="dcterms:W3CDTF">2026-08-24T11:59:37Z</dcterms:modified>
</cp:coreProperties>
</file>